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Calibri" panose="020F0502020204030204" pitchFamily="34" charset="0"/>
      <p:regular r:id="rId15"/>
      <p:bold r:id="rId16"/>
      <p:italic r:id="rId17"/>
      <p:boldItalic r:id="rId18"/>
    </p:embeddedFont>
    <p:embeddedFont>
      <p:font typeface="Lato" panose="020F0502020204030203" pitchFamily="34" charset="0"/>
      <p:regular r:id="rId19"/>
      <p:bold r:id="rId20"/>
      <p:italic r:id="rId21"/>
      <p:boldItalic r:id="rId22"/>
    </p:embeddedFont>
    <p:embeddedFont>
      <p:font typeface="Poppins" pitchFamily="2" charset="77"/>
      <p:regular r:id="rId23"/>
      <p:bold r:id="rId24"/>
      <p:italic r:id="rId25"/>
      <p:boldItalic r:id="rId26"/>
    </p:embeddedFont>
    <p:embeddedFont>
      <p:font typeface="Poppins SemiBold" panose="020B060402020202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311944-A04A-40FE-8AF7-3C77D361BA96}">
  <a:tblStyle styleId="{1E311944-A04A-40FE-8AF7-3C77D361BA9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6266"/>
  </p:normalViewPr>
  <p:slideViewPr>
    <p:cSldViewPr snapToGrid="0">
      <p:cViewPr varScale="1">
        <p:scale>
          <a:sx n="121" d="100"/>
          <a:sy n="121" d="100"/>
        </p:scale>
        <p:origin x="440"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Good morning everyone. Today I'll be presenting an analysis of the 1998 paper by Haghani and Chen titled Optimizing Gate Assignments at Airport Terminals. This work addresses a classic combinatorial optimization problem in airport operations and proposes both a rigorous mathematical formulation and an efficient solution algorithm. My presentation will take approximately ten minutes.</a:t>
            </a: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Let me start by explaining why this problem matters. During peak hours, gate shortages create significant operational costs and passenger frustration. The key insight comes from a 1977 study by Braaksma: at Toronto International Airport's Terminal 2, simply changing the gate assignment policy reduced the average walking distance per passenger from 923 feet in 1973 to 800 feet in 1975 — saving over 100 feet per passenger without any changes to the terminal layout. This demonstrates that smarter assignment policies alone can deliver substantial improvements. The challenge is extending this beyond single time periods to handle real-world overlapping flight schedules.</a:t>
            </a: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The paper makes three distinct contributions. First, it formally models the Gate Assignment Problem as a Quadratic Assignment Problem, or QAP. Second, and this is the key innovation, it incorporates a time dimension to handle multi-slot scheduling — something previous models failed to do. Prior work assumed all aircraft were on the ground simultaneously, which is unrealistic. Third, the authors develop a scalable heuristic algorithm that can handle large real-world instances in practical computation time. These three contributions work together as a coherent whole.</a:t>
            </a:r>
          </a:p>
        </p:txBody>
      </p:sp>
      <p:sp>
        <p:nvSpPr>
          <p:cNvPr id="100" name="Google Shape;10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The methodology operates on two levels. The problem is first formulated as a QAP where the cost of assigning a flight to a gate depends on interactions with all other flight-gate assignments — specifically the passenger transfer volumes and inter-gate distances. Because this quadratic structure is hard to solve directly, the authors linearize it by introducing new binary variables, converting the QAP into an integer linear program. The core decision variable X_ijt equals one if flight i is assigned to gate j during time period t, and zero otherwise.</a:t>
            </a:r>
          </a:p>
        </p:txBody>
      </p:sp>
      <p:sp>
        <p:nvSpPr>
          <p:cNvPr id="119" name="Google Shape;11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Looking at the mathematical formulation, the objective function minimizes total passenger walking distance for both transfer and local passengers across all time periods. The quadratic product terms X times X prime are replaced by new variables Y_iji'j', which equal one when flight i is at gate j AND flight i-prime is at gate j-prime simultaneously. This substitution is what allows the problem to be solved as a linear integer program using standard branch-and-bound techniques.</a:t>
            </a:r>
          </a:p>
        </p:txBody>
      </p:sp>
      <p:sp>
        <p:nvSpPr>
          <p:cNvPr id="131" name="Google Shape;13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The model enforces four sets of constraints. First, every flight must be assigned to exactly one gate throughout its entire apron time. Second, no two aircraft can share the same gate when their ground times overlap. Third, each aircraft must remain at the same gate for the full duration of its dwell time — it cannot move between gates. Fourth, conservation constraints ensure logical consistency between the X and Y decision variables. Together, these constraints accurately reflect real airport operational requirements.</a:t>
            </a:r>
          </a:p>
        </p:txBody>
      </p:sp>
      <p:sp>
        <p:nvSpPr>
          <p:cNvPr id="154" name="Google Shape;15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The proposed heuristic operates in four stages. In the initialization step, decision variables corresponding to conflicting flight-gate pairs are eliminated upfront, significantly reducing the search space. Variables are then sorted in ascending order of their cost coefficient — the passenger walking distance. The algorithm greedily selects the cheapest unlabeled variable and checks feasibility against the current partial solution. Multiple feasible solution sets are generated across iterations, and the one with minimum total walking distance is selected. The key advantage is that good solutions are found very early in the search.</a:t>
            </a:r>
          </a:p>
        </p:txBody>
      </p:sp>
      <p:sp>
        <p:nvSpPr>
          <p:cNvPr id="177" name="Google Shape;1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The computational results are striking. For a 6-flight problem, CPLEX finds the optimal solution in 871 seconds while the heuristic finds the identical solution in just 4 seconds — a speedup of over 200 times. For an 8-flight problem the gap widens further: CPLEX takes 12,592 seconds versus only 19 seconds for the heuristic. Critically, both methods reach the exact same objective value in every test case. This means the speed gains come with zero sacrifice in solution quality, which is the key finding for practical applicability.</a:t>
            </a:r>
          </a:p>
        </p:txBody>
      </p:sp>
      <p:sp>
        <p:nvSpPr>
          <p:cNvPr id="201" name="Google Shape;20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The scalability analysis reveals the most important theoretical finding: the time required for the heuristic to find its best solution scales linearly with the number of integer variables. For an NP-hard problem, this is an exceptionally strong result. Furthermore, in virtually all test cases the best solution is found in less than half of the total execution time. This suggests an early stopping rule could be implemented in practice — the algorithm can be terminated well before full convergence and still deliver near-optimal results.</a:t>
            </a:r>
          </a:p>
        </p:txBody>
      </p:sp>
      <p:sp>
        <p:nvSpPr>
          <p:cNvPr id="231" name="Google Shape;23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The paper identifies three directions for future research. First, extending the model to handle real-time gate reassignment when unforeseen delays disrupt the original plan. Second, incorporating comprehensive baggage transport cost functions together with manpower, vehicle, and equipment constraints for a more realistic total cost model. Third, using gate assignment insights as feedback to evaluate and potentially revise airline flight scheduling decisions. Taken together, these extensions would move toward a fully integrated airport management system.</a:t>
            </a:r>
          </a:p>
        </p:txBody>
      </p:sp>
      <p:sp>
        <p:nvSpPr>
          <p:cNvPr id="242" name="Google Shape;24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To summarize: Haghani and Chen formulated the multi-slot Gate Assignment Problem as a binary integer QAP with time constraints, and developed a heuristic algorithm that consistently matches optimal solutions while reducing computation time by two to three orders of magnitude. The linear scalability of the algorithm makes it genuinely practical for large airport operations. This paper is a good example of how operations research can bridge rigorous theory and real-world application. I am happy to take any questions.</a:t>
            </a:r>
          </a:p>
        </p:txBody>
      </p:sp>
      <p:sp>
        <p:nvSpPr>
          <p:cNvPr id="261" name="Google Shape;26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Image sources slide — no need to present this during the talk.</a:t>
            </a:r>
          </a:p>
        </p:txBody>
      </p:sp>
      <p:sp>
        <p:nvSpPr>
          <p:cNvPr id="269" name="Google Shape;269;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0.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1595437" y="2347912"/>
            <a:ext cx="9001125" cy="1462980"/>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1" i="0" u="none" strike="noStrike" cap="none">
                <a:solidFill>
                  <a:srgbClr val="0F172A"/>
                </a:solidFill>
                <a:latin typeface="Poppins"/>
                <a:ea typeface="Poppins"/>
                <a:cs typeface="Poppins"/>
                <a:sym typeface="Poppins"/>
              </a:rPr>
              <a:t xml:space="preserve">Optimizing </a:t>
            </a:r>
            <a:r>
              <a:rPr lang="en-US" sz="4800" b="1" i="0" u="none" strike="noStrike" cap="none">
                <a:solidFill>
                  <a:srgbClr val="0284C7"/>
                </a:solidFill>
                <a:latin typeface="Poppins"/>
                <a:ea typeface="Poppins"/>
                <a:cs typeface="Poppins"/>
                <a:sym typeface="Poppins"/>
              </a:rPr>
              <a:t>Gate Assignments</a:t>
            </a:r>
            <a:endParaRPr/>
          </a:p>
        </p:txBody>
      </p:sp>
      <p:sp>
        <p:nvSpPr>
          <p:cNvPr id="86" name="Google Shape;86;p13"/>
          <p:cNvSpPr txBox="1"/>
          <p:nvPr/>
        </p:nvSpPr>
        <p:spPr>
          <a:xfrm>
            <a:off x="1809750" y="4001392"/>
            <a:ext cx="85725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475569"/>
                </a:solidFill>
                <a:latin typeface="Lato"/>
                <a:ea typeface="Lato"/>
                <a:cs typeface="Lato"/>
                <a:sym typeface="Lato"/>
              </a:rPr>
              <a:t>An Analysis of the Haghani &amp; Chen (1998) Model</a:t>
            </a:r>
            <a:endParaRPr/>
          </a:p>
        </p:txBody>
      </p:sp>
      <p:sp>
        <p:nvSpPr>
          <p:cNvPr id="200" name="Google Shape;200;p13"/>
          <p:cNvSpPr txBox="1"/>
          <p:nvPr/>
        </p:nvSpPr>
        <p:spPr>
          <a:xfrm>
            <a:off x="1809750" y="4500000"/>
            <a:ext cx="8572500" cy="40000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600" b="0" i="0" u="none" strike="noStrike" cap="none">
                <a:solidFill>
                  <a:srgbClr val="0F172A"/>
                </a:solidFill>
                <a:latin typeface="Lato"/>
                <a:ea typeface="Lato"/>
                <a:cs typeface="Lato"/>
                <a:sym typeface="Lato"/>
              </a:rPr>
              <a:t>Ali Baran Kaya  |  Oğuz Kaan Tuğlu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2" name="Google Shape;92;p14"/>
          <p:cNvSpPr txBox="1"/>
          <p:nvPr/>
        </p:nvSpPr>
        <p:spPr>
          <a:xfrm>
            <a:off x="571500" y="571500"/>
            <a:ext cx="5200650" cy="1266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Why Gate Assignment Matters</a:t>
            </a:r>
            <a:endParaRPr/>
          </a:p>
        </p:txBody>
      </p:sp>
      <p:sp>
        <p:nvSpPr>
          <p:cNvPr id="93" name="Google Shape;93;p14"/>
          <p:cNvSpPr/>
          <p:nvPr/>
        </p:nvSpPr>
        <p:spPr>
          <a:xfrm>
            <a:off x="571500" y="1905000"/>
            <a:ext cx="4953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4" name="Google Shape;94;p14" descr="image.png"/>
          <p:cNvPicPr preferRelativeResize="0"/>
          <p:nvPr/>
        </p:nvPicPr>
        <p:blipFill rotWithShape="1">
          <a:blip r:embed="rId4">
            <a:alphaModFix/>
          </a:blip>
          <a:srcRect/>
          <a:stretch/>
        </p:blipFill>
        <p:spPr>
          <a:xfrm>
            <a:off x="6096000" y="0"/>
            <a:ext cx="6096000" cy="6858000"/>
          </a:xfrm>
          <a:prstGeom prst="rect">
            <a:avLst/>
          </a:prstGeom>
          <a:noFill/>
          <a:ln>
            <a:noFill/>
          </a:ln>
        </p:spPr>
      </p:pic>
      <p:sp>
        <p:nvSpPr>
          <p:cNvPr id="95" name="Google Shape;95;p14"/>
          <p:cNvSpPr txBox="1"/>
          <p:nvPr/>
        </p:nvSpPr>
        <p:spPr>
          <a:xfrm>
            <a:off x="571500" y="2562225"/>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Gate shortages during peak operational hours demand highly efficient terminal utilization. Inefficient assignments lead to delays and increased operational costs.</a:t>
            </a:r>
            <a:endParaRPr/>
          </a:p>
        </p:txBody>
      </p:sp>
      <p:sp>
        <p:nvSpPr>
          <p:cNvPr id="96" name="Google Shape;96;p14"/>
          <p:cNvSpPr txBox="1"/>
          <p:nvPr/>
        </p:nvSpPr>
        <p:spPr>
          <a:xfrm>
            <a:off x="571500" y="3619500"/>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 xml:space="preserve">A primary goal for airlines is </a:t>
            </a:r>
            <a:r>
              <a:rPr lang="en-US" sz="1500" b="1" i="0" u="none" strike="noStrike" cap="none">
                <a:solidFill>
                  <a:srgbClr val="334155"/>
                </a:solidFill>
                <a:latin typeface="Lato"/>
                <a:ea typeface="Lato"/>
                <a:cs typeface="Lato"/>
                <a:sym typeface="Lato"/>
              </a:rPr>
              <a:t>minimizing passenger walking distances</a:t>
            </a:r>
            <a:r>
              <a:rPr lang="en-US" sz="1500" b="0" i="0" u="none" strike="noStrike" cap="none">
                <a:solidFill>
                  <a:srgbClr val="334155"/>
                </a:solidFill>
                <a:latin typeface="Lato"/>
                <a:ea typeface="Lato"/>
                <a:cs typeface="Lato"/>
                <a:sym typeface="Lato"/>
              </a:rPr>
              <a:t xml:space="preserve"> across all types of travelers: transfer, terminating, and originating.</a:t>
            </a:r>
            <a:endParaRPr/>
          </a:p>
        </p:txBody>
      </p:sp>
      <p:sp>
        <p:nvSpPr>
          <p:cNvPr id="97" name="Google Shape;97;p14"/>
          <p:cNvSpPr txBox="1"/>
          <p:nvPr/>
        </p:nvSpPr>
        <p:spPr>
          <a:xfrm>
            <a:off x="571500" y="4676775"/>
            <a:ext cx="4953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Historically, existing models focused only on single, isolated time periods, failing to account for complex, multi-period overlapping flight schedules that represent real-world operations.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
        <p:cNvGrpSpPr/>
        <p:nvPr/>
      </p:nvGrpSpPr>
      <p:grpSpPr>
        <a:xfrm>
          <a:off x="0" y="0"/>
          <a:ext cx="0" cy="0"/>
          <a:chOff x="0" y="0"/>
          <a:chExt cx="0" cy="0"/>
        </a:xfrm>
      </p:grpSpPr>
      <p:pic>
        <p:nvPicPr>
          <p:cNvPr id="102" name="Google Shape;10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3" name="Google Shape;103;p15" descr="image.png"/>
          <p:cNvPicPr preferRelativeResize="0"/>
          <p:nvPr/>
        </p:nvPicPr>
        <p:blipFill rotWithShape="1">
          <a:blip r:embed="rId4">
            <a:alphaModFix/>
          </a:blip>
          <a:srcRect/>
          <a:stretch/>
        </p:blipFill>
        <p:spPr>
          <a:xfrm>
            <a:off x="571500" y="2000250"/>
            <a:ext cx="3429000" cy="3981450"/>
          </a:xfrm>
          <a:prstGeom prst="rect">
            <a:avLst/>
          </a:prstGeom>
          <a:noFill/>
          <a:ln>
            <a:noFill/>
          </a:ln>
        </p:spPr>
      </p:pic>
      <p:pic>
        <p:nvPicPr>
          <p:cNvPr id="104" name="Google Shape;104;p15" descr="image.png"/>
          <p:cNvPicPr preferRelativeResize="0"/>
          <p:nvPr/>
        </p:nvPicPr>
        <p:blipFill rotWithShape="1">
          <a:blip r:embed="rId5">
            <a:alphaModFix/>
          </a:blip>
          <a:srcRect/>
          <a:stretch/>
        </p:blipFill>
        <p:spPr>
          <a:xfrm>
            <a:off x="4381500" y="2000250"/>
            <a:ext cx="3429000" cy="3981450"/>
          </a:xfrm>
          <a:prstGeom prst="rect">
            <a:avLst/>
          </a:prstGeom>
          <a:noFill/>
          <a:ln>
            <a:noFill/>
          </a:ln>
        </p:spPr>
      </p:pic>
      <p:pic>
        <p:nvPicPr>
          <p:cNvPr id="105" name="Google Shape;105;p15" descr="image.png"/>
          <p:cNvPicPr preferRelativeResize="0"/>
          <p:nvPr/>
        </p:nvPicPr>
        <p:blipFill rotWithShape="1">
          <a:blip r:embed="rId6">
            <a:alphaModFix/>
          </a:blip>
          <a:srcRect/>
          <a:stretch/>
        </p:blipFill>
        <p:spPr>
          <a:xfrm>
            <a:off x="8191500" y="2000250"/>
            <a:ext cx="3429000" cy="3981450"/>
          </a:xfrm>
          <a:prstGeom prst="rect">
            <a:avLst/>
          </a:prstGeom>
          <a:noFill/>
          <a:ln>
            <a:noFill/>
          </a:ln>
        </p:spPr>
      </p:pic>
      <p:sp>
        <p:nvSpPr>
          <p:cNvPr id="106" name="Google Shape;106;p15"/>
          <p:cNvSpPr txBox="1"/>
          <p:nvPr/>
        </p:nvSpPr>
        <p:spPr>
          <a:xfrm>
            <a:off x="914400" y="3124200"/>
            <a:ext cx="24203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QAP Formulation</a:t>
            </a:r>
            <a:endParaRPr/>
          </a:p>
        </p:txBody>
      </p:sp>
      <p:sp>
        <p:nvSpPr>
          <p:cNvPr id="107" name="Google Shape;107;p15"/>
          <p:cNvSpPr txBox="1"/>
          <p:nvPr/>
        </p:nvSpPr>
        <p:spPr>
          <a:xfrm>
            <a:off x="914400" y="3667125"/>
            <a:ext cx="27432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Successfully formulated a multi-slot Gate Assignment Problem (GAP) as a rigorous Quadratic Assignment Problem (QAP).</a:t>
            </a:r>
            <a:endParaRPr/>
          </a:p>
        </p:txBody>
      </p:sp>
      <p:sp>
        <p:nvSpPr>
          <p:cNvPr id="108" name="Google Shape;108;p15"/>
          <p:cNvSpPr txBox="1"/>
          <p:nvPr/>
        </p:nvSpPr>
        <p:spPr>
          <a:xfrm>
            <a:off x="4724400" y="3124200"/>
            <a:ext cx="23302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Time Dimension</a:t>
            </a:r>
            <a:endParaRPr/>
          </a:p>
        </p:txBody>
      </p:sp>
      <p:sp>
        <p:nvSpPr>
          <p:cNvPr id="109" name="Google Shape;109;p15"/>
          <p:cNvSpPr txBox="1"/>
          <p:nvPr/>
        </p:nvSpPr>
        <p:spPr>
          <a:xfrm>
            <a:off x="4724400" y="3667125"/>
            <a:ext cx="274320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Innovatively incorporated time constraints to effectively handle continuous, overlapping flight schedules across extended periods.</a:t>
            </a:r>
            <a:endParaRPr/>
          </a:p>
        </p:txBody>
      </p:sp>
      <p:sp>
        <p:nvSpPr>
          <p:cNvPr id="110" name="Google Shape;110;p15"/>
          <p:cNvSpPr txBox="1"/>
          <p:nvPr/>
        </p:nvSpPr>
        <p:spPr>
          <a:xfrm>
            <a:off x="8534400" y="3124200"/>
            <a:ext cx="21502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Novel Heuristic</a:t>
            </a:r>
            <a:endParaRPr/>
          </a:p>
        </p:txBody>
      </p:sp>
      <p:sp>
        <p:nvSpPr>
          <p:cNvPr id="111" name="Google Shape;111;p15"/>
          <p:cNvSpPr txBox="1"/>
          <p:nvPr/>
        </p:nvSpPr>
        <p:spPr>
          <a:xfrm>
            <a:off x="8534400" y="3667125"/>
            <a:ext cx="2743200"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Developed an efficient, highly scalable heuristic algorithm capable of solving large-scale assignment problems in a fraction of standard computing times.</a:t>
            </a:r>
            <a:endParaRPr/>
          </a:p>
        </p:txBody>
      </p:sp>
      <p:pic>
        <p:nvPicPr>
          <p:cNvPr id="112" name="Google Shape;112;p15" descr="image.png"/>
          <p:cNvPicPr preferRelativeResize="0"/>
          <p:nvPr/>
        </p:nvPicPr>
        <p:blipFill rotWithShape="1">
          <a:blip r:embed="rId7">
            <a:alphaModFix/>
          </a:blip>
          <a:srcRect/>
          <a:stretch/>
        </p:blipFill>
        <p:spPr>
          <a:xfrm>
            <a:off x="914400" y="2390775"/>
            <a:ext cx="514350" cy="457200"/>
          </a:xfrm>
          <a:prstGeom prst="rect">
            <a:avLst/>
          </a:prstGeom>
          <a:noFill/>
          <a:ln>
            <a:noFill/>
          </a:ln>
        </p:spPr>
      </p:pic>
      <p:pic>
        <p:nvPicPr>
          <p:cNvPr id="113" name="Google Shape;113;p15" descr="image.png"/>
          <p:cNvPicPr preferRelativeResize="0"/>
          <p:nvPr/>
        </p:nvPicPr>
        <p:blipFill rotWithShape="1">
          <a:blip r:embed="rId8">
            <a:alphaModFix/>
          </a:blip>
          <a:srcRect/>
          <a:stretch/>
        </p:blipFill>
        <p:spPr>
          <a:xfrm>
            <a:off x="4724400" y="2390775"/>
            <a:ext cx="457200" cy="457200"/>
          </a:xfrm>
          <a:prstGeom prst="rect">
            <a:avLst/>
          </a:prstGeom>
          <a:noFill/>
          <a:ln>
            <a:noFill/>
          </a:ln>
        </p:spPr>
      </p:pic>
      <p:pic>
        <p:nvPicPr>
          <p:cNvPr id="114" name="Google Shape;114;p15" descr="image.png"/>
          <p:cNvPicPr preferRelativeResize="0"/>
          <p:nvPr/>
        </p:nvPicPr>
        <p:blipFill rotWithShape="1">
          <a:blip r:embed="rId9">
            <a:alphaModFix/>
          </a:blip>
          <a:srcRect/>
          <a:stretch/>
        </p:blipFill>
        <p:spPr>
          <a:xfrm>
            <a:off x="8534400" y="2390775"/>
            <a:ext cx="457200" cy="457200"/>
          </a:xfrm>
          <a:prstGeom prst="rect">
            <a:avLst/>
          </a:prstGeom>
          <a:noFill/>
          <a:ln>
            <a:noFill/>
          </a:ln>
        </p:spPr>
      </p:pic>
      <p:sp>
        <p:nvSpPr>
          <p:cNvPr id="115" name="Google Shape;115;p15"/>
          <p:cNvSpPr txBox="1"/>
          <p:nvPr/>
        </p:nvSpPr>
        <p:spPr>
          <a:xfrm>
            <a:off x="571500" y="571500"/>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Key Contributions</a:t>
            </a:r>
            <a:endParaRPr/>
          </a:p>
        </p:txBody>
      </p:sp>
      <p:sp>
        <p:nvSpPr>
          <p:cNvPr id="116" name="Google Shape;116;p15"/>
          <p:cNvSpPr/>
          <p:nvPr/>
        </p:nvSpPr>
        <p:spPr>
          <a:xfrm>
            <a:off x="571500" y="128587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pic>
        <p:nvPicPr>
          <p:cNvPr id="121" name="Google Shape;121;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2" name="Google Shape;122;p16" descr="image.png"/>
          <p:cNvPicPr preferRelativeResize="0"/>
          <p:nvPr/>
        </p:nvPicPr>
        <p:blipFill rotWithShape="1">
          <a:blip r:embed="rId4">
            <a:alphaModFix/>
          </a:blip>
          <a:srcRect/>
          <a:stretch/>
        </p:blipFill>
        <p:spPr>
          <a:xfrm>
            <a:off x="6381750" y="2085975"/>
            <a:ext cx="5238750" cy="3810000"/>
          </a:xfrm>
          <a:prstGeom prst="rect">
            <a:avLst/>
          </a:prstGeom>
          <a:noFill/>
          <a:ln>
            <a:noFill/>
          </a:ln>
        </p:spPr>
      </p:pic>
      <p:sp>
        <p:nvSpPr>
          <p:cNvPr id="123" name="Google Shape;123;p16"/>
          <p:cNvSpPr txBox="1"/>
          <p:nvPr/>
        </p:nvSpPr>
        <p:spPr>
          <a:xfrm>
            <a:off x="571500" y="2085975"/>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The core methodology maps the complex Quadratic Assignment Problem to a linear integer program (IP), creating a solvable mathematical framework.</a:t>
            </a:r>
            <a:endParaRPr/>
          </a:p>
        </p:txBody>
      </p:sp>
      <p:sp>
        <p:nvSpPr>
          <p:cNvPr id="124" name="Google Shape;124;p16"/>
          <p:cNvSpPr txBox="1"/>
          <p:nvPr/>
        </p:nvSpPr>
        <p:spPr>
          <a:xfrm>
            <a:off x="571500" y="3143250"/>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 xml:space="preserve">The model assumes a </a:t>
            </a:r>
            <a:r>
              <a:rPr lang="en-US" sz="1500" b="1" i="0" u="none" strike="noStrike" cap="none">
                <a:solidFill>
                  <a:srgbClr val="334155"/>
                </a:solidFill>
                <a:latin typeface="Lato"/>
                <a:ea typeface="Lato"/>
                <a:cs typeface="Lato"/>
                <a:sym typeface="Lato"/>
              </a:rPr>
              <a:t>deterministic and static flight schedule</a:t>
            </a:r>
            <a:r>
              <a:rPr lang="en-US" sz="1500" b="0" i="0" u="none" strike="noStrike" cap="none">
                <a:solidFill>
                  <a:srgbClr val="334155"/>
                </a:solidFill>
                <a:latin typeface="Lato"/>
                <a:ea typeface="Lato"/>
                <a:cs typeface="Lato"/>
                <a:sym typeface="Lato"/>
              </a:rPr>
              <a:t>, meaning arrival and departure times are treated as fixed planning parameters.</a:t>
            </a:r>
            <a:endParaRPr/>
          </a:p>
        </p:txBody>
      </p:sp>
      <p:sp>
        <p:nvSpPr>
          <p:cNvPr id="125" name="Google Shape;125;p16"/>
          <p:cNvSpPr txBox="1"/>
          <p:nvPr/>
        </p:nvSpPr>
        <p:spPr>
          <a:xfrm>
            <a:off x="571500" y="4200525"/>
            <a:ext cx="52387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The overarching objective is to minimize total passenger walking distances, carefully distinguishing between the routing needs of transfer passengers and local (originating/terminating) passengers.</a:t>
            </a:r>
            <a:endParaRPr/>
          </a:p>
        </p:txBody>
      </p:sp>
      <p:pic>
        <p:nvPicPr>
          <p:cNvPr id="126" name="Google Shape;126;p16" descr="image.png"/>
          <p:cNvPicPr preferRelativeResize="0"/>
          <p:nvPr/>
        </p:nvPicPr>
        <p:blipFill rotWithShape="1">
          <a:blip r:embed="rId5">
            <a:alphaModFix/>
          </a:blip>
          <a:srcRect/>
          <a:stretch/>
        </p:blipFill>
        <p:spPr>
          <a:xfrm>
            <a:off x="6381750" y="2085975"/>
            <a:ext cx="5238750" cy="3810000"/>
          </a:xfrm>
          <a:prstGeom prst="rect">
            <a:avLst/>
          </a:prstGeom>
          <a:noFill/>
          <a:ln>
            <a:noFill/>
          </a:ln>
        </p:spPr>
      </p:pic>
      <p:sp>
        <p:nvSpPr>
          <p:cNvPr id="127" name="Google Shape;127;p16"/>
          <p:cNvSpPr txBox="1"/>
          <p:nvPr/>
        </p:nvSpPr>
        <p:spPr>
          <a:xfrm>
            <a:off x="571500" y="571500"/>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Methodology: The Approach</a:t>
            </a:r>
            <a:endParaRPr/>
          </a:p>
        </p:txBody>
      </p:sp>
      <p:sp>
        <p:nvSpPr>
          <p:cNvPr id="128" name="Google Shape;128;p16"/>
          <p:cNvSpPr/>
          <p:nvPr/>
        </p:nvSpPr>
        <p:spPr>
          <a:xfrm>
            <a:off x="571500" y="128587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3" name="Google Shape;13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4" name="Google Shape;134;p17" descr="image.png"/>
          <p:cNvPicPr preferRelativeResize="0"/>
          <p:nvPr/>
        </p:nvPicPr>
        <p:blipFill rotWithShape="1">
          <a:blip r:embed="rId4">
            <a:alphaModFix/>
          </a:blip>
          <a:srcRect/>
          <a:stretch/>
        </p:blipFill>
        <p:spPr>
          <a:xfrm>
            <a:off x="571500" y="1493043"/>
            <a:ext cx="5238750" cy="4995862"/>
          </a:xfrm>
          <a:prstGeom prst="rect">
            <a:avLst/>
          </a:prstGeom>
          <a:noFill/>
          <a:ln>
            <a:noFill/>
          </a:ln>
        </p:spPr>
      </p:pic>
      <p:pic>
        <p:nvPicPr>
          <p:cNvPr id="135" name="Google Shape;135;p17" descr="image.png"/>
          <p:cNvPicPr preferRelativeResize="0"/>
          <p:nvPr/>
        </p:nvPicPr>
        <p:blipFill rotWithShape="1">
          <a:blip r:embed="rId5">
            <a:alphaModFix/>
          </a:blip>
          <a:srcRect/>
          <a:stretch/>
        </p:blipFill>
        <p:spPr>
          <a:xfrm>
            <a:off x="6381750" y="1493043"/>
            <a:ext cx="5238750" cy="4995862"/>
          </a:xfrm>
          <a:prstGeom prst="rect">
            <a:avLst/>
          </a:prstGeom>
          <a:noFill/>
          <a:ln>
            <a:noFill/>
          </a:ln>
        </p:spPr>
      </p:pic>
      <p:pic>
        <p:nvPicPr>
          <p:cNvPr id="136" name="Google Shape;136;p17" descr="image.png"/>
          <p:cNvPicPr preferRelativeResize="0"/>
          <p:nvPr/>
        </p:nvPicPr>
        <p:blipFill rotWithShape="1">
          <a:blip r:embed="rId6">
            <a:alphaModFix/>
          </a:blip>
          <a:srcRect/>
          <a:stretch/>
        </p:blipFill>
        <p:spPr>
          <a:xfrm>
            <a:off x="962025" y="3226593"/>
            <a:ext cx="4457700" cy="614362"/>
          </a:xfrm>
          <a:prstGeom prst="rect">
            <a:avLst/>
          </a:prstGeom>
          <a:noFill/>
          <a:ln>
            <a:noFill/>
          </a:ln>
        </p:spPr>
      </p:pic>
      <p:pic>
        <p:nvPicPr>
          <p:cNvPr id="137" name="Google Shape;137;p17" descr="image.png"/>
          <p:cNvPicPr preferRelativeResize="0"/>
          <p:nvPr/>
        </p:nvPicPr>
        <p:blipFill rotWithShape="1">
          <a:blip r:embed="rId6">
            <a:alphaModFix/>
          </a:blip>
          <a:srcRect/>
          <a:stretch/>
        </p:blipFill>
        <p:spPr>
          <a:xfrm>
            <a:off x="962025" y="5279231"/>
            <a:ext cx="4457700" cy="628650"/>
          </a:xfrm>
          <a:prstGeom prst="rect">
            <a:avLst/>
          </a:prstGeom>
          <a:noFill/>
          <a:ln>
            <a:noFill/>
          </a:ln>
        </p:spPr>
      </p:pic>
      <p:pic>
        <p:nvPicPr>
          <p:cNvPr id="138" name="Google Shape;138;p17" descr="image.png"/>
          <p:cNvPicPr preferRelativeResize="0"/>
          <p:nvPr/>
        </p:nvPicPr>
        <p:blipFill rotWithShape="1">
          <a:blip r:embed="rId7">
            <a:alphaModFix/>
          </a:blip>
          <a:srcRect/>
          <a:stretch/>
        </p:blipFill>
        <p:spPr>
          <a:xfrm>
            <a:off x="6772275" y="3674268"/>
            <a:ext cx="4457700" cy="823912"/>
          </a:xfrm>
          <a:prstGeom prst="rect">
            <a:avLst/>
          </a:prstGeom>
          <a:noFill/>
          <a:ln>
            <a:noFill/>
          </a:ln>
        </p:spPr>
      </p:pic>
      <p:sp>
        <p:nvSpPr>
          <p:cNvPr id="139" name="Google Shape;139;p17"/>
          <p:cNvSpPr txBox="1"/>
          <p:nvPr/>
        </p:nvSpPr>
        <p:spPr>
          <a:xfrm>
            <a:off x="962025" y="1883568"/>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Decision Variables</a:t>
            </a:r>
            <a:endParaRPr/>
          </a:p>
        </p:txBody>
      </p:sp>
      <p:sp>
        <p:nvSpPr>
          <p:cNvPr id="140" name="Google Shape;140;p17"/>
          <p:cNvSpPr txBox="1"/>
          <p:nvPr/>
        </p:nvSpPr>
        <p:spPr>
          <a:xfrm>
            <a:off x="962025" y="2426493"/>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The foundation of the model relies on binary decision variables:</a:t>
            </a:r>
            <a:endParaRPr/>
          </a:p>
        </p:txBody>
      </p:sp>
      <p:sp>
        <p:nvSpPr>
          <p:cNvPr id="141" name="Google Shape;141;p17"/>
          <p:cNvSpPr txBox="1"/>
          <p:nvPr/>
        </p:nvSpPr>
        <p:spPr>
          <a:xfrm>
            <a:off x="962025" y="4031456"/>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 xml:space="preserve">if flight </a:t>
            </a:r>
            <a:r>
              <a:rPr lang="en-US" sz="1500" b="0" i="1" u="none" strike="noStrike" cap="none">
                <a:solidFill>
                  <a:srgbClr val="334155"/>
                </a:solidFill>
                <a:latin typeface="Lato"/>
                <a:ea typeface="Lato"/>
                <a:cs typeface="Lato"/>
                <a:sym typeface="Lato"/>
              </a:rPr>
              <a:t>i</a:t>
            </a:r>
            <a:r>
              <a:rPr lang="en-US" sz="1500" b="0" i="0" u="none" strike="noStrike" cap="none">
                <a:solidFill>
                  <a:srgbClr val="334155"/>
                </a:solidFill>
                <a:latin typeface="Lato"/>
                <a:ea typeface="Lato"/>
                <a:cs typeface="Lato"/>
                <a:sym typeface="Lato"/>
              </a:rPr>
              <a:t xml:space="preserve"> is assigned to gate </a:t>
            </a:r>
            <a:r>
              <a:rPr lang="en-US" sz="1500" b="0" i="1" u="none" strike="noStrike" cap="none">
                <a:solidFill>
                  <a:srgbClr val="334155"/>
                </a:solidFill>
                <a:latin typeface="Lato"/>
                <a:ea typeface="Lato"/>
                <a:cs typeface="Lato"/>
                <a:sym typeface="Lato"/>
              </a:rPr>
              <a:t>j</a:t>
            </a:r>
            <a:r>
              <a:rPr lang="en-US" sz="1500" b="0" i="0" u="none" strike="noStrike" cap="none">
                <a:solidFill>
                  <a:srgbClr val="334155"/>
                </a:solidFill>
                <a:latin typeface="Lato"/>
                <a:ea typeface="Lato"/>
                <a:cs typeface="Lato"/>
                <a:sym typeface="Lato"/>
              </a:rPr>
              <a:t xml:space="preserve"> in time period </a:t>
            </a:r>
            <a:r>
              <a:rPr lang="en-US" sz="1500" b="0" i="1" u="none" strike="noStrike" cap="none">
                <a:solidFill>
                  <a:srgbClr val="334155"/>
                </a:solidFill>
                <a:latin typeface="Lato"/>
                <a:ea typeface="Lato"/>
                <a:cs typeface="Lato"/>
                <a:sym typeface="Lato"/>
              </a:rPr>
              <a:t>t</a:t>
            </a:r>
            <a:r>
              <a:rPr lang="en-US" sz="1500" b="0" i="0" u="none" strike="noStrike" cap="none">
                <a:solidFill>
                  <a:srgbClr val="334155"/>
                </a:solidFill>
                <a:latin typeface="Lato"/>
                <a:ea typeface="Lato"/>
                <a:cs typeface="Lato"/>
                <a:sym typeface="Lato"/>
              </a:rPr>
              <a:t>, 0 otherwise.</a:t>
            </a:r>
            <a:endParaRPr/>
          </a:p>
        </p:txBody>
      </p:sp>
      <p:sp>
        <p:nvSpPr>
          <p:cNvPr id="142" name="Google Shape;142;p17"/>
          <p:cNvSpPr txBox="1"/>
          <p:nvPr/>
        </p:nvSpPr>
        <p:spPr>
          <a:xfrm>
            <a:off x="962025" y="4783931"/>
            <a:ext cx="44577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To linearize the model, a new variable was introduced:</a:t>
            </a:r>
            <a:endParaRPr/>
          </a:p>
        </p:txBody>
      </p:sp>
      <p:sp>
        <p:nvSpPr>
          <p:cNvPr id="143" name="Google Shape;143;p17"/>
          <p:cNvSpPr txBox="1"/>
          <p:nvPr/>
        </p:nvSpPr>
        <p:spPr>
          <a:xfrm>
            <a:off x="6772275" y="1883568"/>
            <a:ext cx="468058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Objective Function</a:t>
            </a:r>
            <a:endParaRPr/>
          </a:p>
        </p:txBody>
      </p:sp>
      <p:sp>
        <p:nvSpPr>
          <p:cNvPr id="144" name="Google Shape;144;p17"/>
          <p:cNvSpPr txBox="1"/>
          <p:nvPr/>
        </p:nvSpPr>
        <p:spPr>
          <a:xfrm>
            <a:off x="6772275" y="2426493"/>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The goal is to minimize total passenger walking distance across all time periods.</a:t>
            </a:r>
            <a:endParaRPr/>
          </a:p>
        </p:txBody>
      </p:sp>
      <p:sp>
        <p:nvSpPr>
          <p:cNvPr id="145" name="Google Shape;145;p17"/>
          <p:cNvSpPr txBox="1"/>
          <p:nvPr/>
        </p:nvSpPr>
        <p:spPr>
          <a:xfrm>
            <a:off x="6772275" y="3178968"/>
            <a:ext cx="44577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The objective function is expressed as:</a:t>
            </a:r>
            <a:endParaRPr/>
          </a:p>
        </p:txBody>
      </p:sp>
      <p:sp>
        <p:nvSpPr>
          <p:cNvPr id="146" name="Google Shape;146;p17"/>
          <p:cNvSpPr txBox="1"/>
          <p:nvPr/>
        </p:nvSpPr>
        <p:spPr>
          <a:xfrm>
            <a:off x="6772275" y="4688681"/>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 xml:space="preserve">Where </a:t>
            </a:r>
            <a:r>
              <a:rPr lang="en-US" sz="1500" b="1" i="0" u="none" strike="noStrike" cap="none">
                <a:solidFill>
                  <a:srgbClr val="334155"/>
                </a:solidFill>
                <a:latin typeface="Lato"/>
                <a:ea typeface="Lato"/>
                <a:cs typeface="Lato"/>
                <a:sym typeface="Lato"/>
              </a:rPr>
              <a:t>P</a:t>
            </a:r>
            <a:r>
              <a:rPr lang="en-US" sz="1500" b="0" i="0" u="none" strike="noStrike" cap="none">
                <a:solidFill>
                  <a:srgbClr val="334155"/>
                </a:solidFill>
                <a:latin typeface="Lato"/>
                <a:ea typeface="Lato"/>
                <a:cs typeface="Lato"/>
                <a:sym typeface="Lato"/>
              </a:rPr>
              <a:t xml:space="preserve"> represents the passenger transfer volume between flights, and </a:t>
            </a:r>
            <a:r>
              <a:rPr lang="en-US" sz="1500" b="1" i="0" u="none" strike="noStrike" cap="none">
                <a:solidFill>
                  <a:srgbClr val="334155"/>
                </a:solidFill>
                <a:latin typeface="Lato"/>
                <a:ea typeface="Lato"/>
                <a:cs typeface="Lato"/>
                <a:sym typeface="Lato"/>
              </a:rPr>
              <a:t>D</a:t>
            </a:r>
            <a:r>
              <a:rPr lang="en-US" sz="1500" b="0" i="0" u="none" strike="noStrike" cap="none">
                <a:solidFill>
                  <a:srgbClr val="334155"/>
                </a:solidFill>
                <a:latin typeface="Lato"/>
                <a:ea typeface="Lato"/>
                <a:cs typeface="Lato"/>
                <a:sym typeface="Lato"/>
              </a:rPr>
              <a:t xml:space="preserve"> represents the physical distance between gates.</a:t>
            </a:r>
            <a:endParaRPr/>
          </a:p>
        </p:txBody>
      </p:sp>
      <p:pic>
        <p:nvPicPr>
          <p:cNvPr id="147" name="Google Shape;147;p17" descr="image.png"/>
          <p:cNvPicPr preferRelativeResize="0"/>
          <p:nvPr/>
        </p:nvPicPr>
        <p:blipFill rotWithShape="1">
          <a:blip r:embed="rId8">
            <a:alphaModFix/>
          </a:blip>
          <a:srcRect/>
          <a:stretch/>
        </p:blipFill>
        <p:spPr>
          <a:xfrm>
            <a:off x="2836515" y="3417093"/>
            <a:ext cx="708719" cy="233362"/>
          </a:xfrm>
          <a:prstGeom prst="rect">
            <a:avLst/>
          </a:prstGeom>
          <a:noFill/>
          <a:ln>
            <a:noFill/>
          </a:ln>
        </p:spPr>
      </p:pic>
      <p:pic>
        <p:nvPicPr>
          <p:cNvPr id="148" name="Google Shape;148;p17" descr="image.png"/>
          <p:cNvPicPr preferRelativeResize="0"/>
          <p:nvPr/>
        </p:nvPicPr>
        <p:blipFill rotWithShape="1">
          <a:blip r:embed="rId9">
            <a:alphaModFix/>
          </a:blip>
          <a:srcRect/>
          <a:stretch/>
        </p:blipFill>
        <p:spPr>
          <a:xfrm>
            <a:off x="2334369" y="5469731"/>
            <a:ext cx="1712862" cy="247650"/>
          </a:xfrm>
          <a:prstGeom prst="rect">
            <a:avLst/>
          </a:prstGeom>
          <a:noFill/>
          <a:ln>
            <a:noFill/>
          </a:ln>
        </p:spPr>
      </p:pic>
      <p:pic>
        <p:nvPicPr>
          <p:cNvPr id="149" name="Google Shape;149;p17" descr="image.png"/>
          <p:cNvPicPr preferRelativeResize="0"/>
          <p:nvPr/>
        </p:nvPicPr>
        <p:blipFill rotWithShape="1">
          <a:blip r:embed="rId10">
            <a:alphaModFix/>
          </a:blip>
          <a:srcRect/>
          <a:stretch/>
        </p:blipFill>
        <p:spPr>
          <a:xfrm>
            <a:off x="7606158" y="3864768"/>
            <a:ext cx="2789783" cy="442912"/>
          </a:xfrm>
          <a:prstGeom prst="rect">
            <a:avLst/>
          </a:prstGeom>
          <a:noFill/>
          <a:ln>
            <a:noFill/>
          </a:ln>
        </p:spPr>
      </p:pic>
      <p:sp>
        <p:nvSpPr>
          <p:cNvPr id="150" name="Google Shape;150;p17"/>
          <p:cNvSpPr txBox="1"/>
          <p:nvPr/>
        </p:nvSpPr>
        <p:spPr>
          <a:xfrm>
            <a:off x="571500" y="369093"/>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Mathematical Formulation</a:t>
            </a:r>
            <a:endParaRPr/>
          </a:p>
        </p:txBody>
      </p:sp>
      <p:sp>
        <p:nvSpPr>
          <p:cNvPr id="151" name="Google Shape;151;p17"/>
          <p:cNvSpPr/>
          <p:nvPr/>
        </p:nvSpPr>
        <p:spPr>
          <a:xfrm>
            <a:off x="571500" y="1083468"/>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
        <p:cNvGrpSpPr/>
        <p:nvPr/>
      </p:nvGrpSpPr>
      <p:grpSpPr>
        <a:xfrm>
          <a:off x="0" y="0"/>
          <a:ext cx="0" cy="0"/>
          <a:chOff x="0" y="0"/>
          <a:chExt cx="0" cy="0"/>
        </a:xfrm>
      </p:grpSpPr>
      <p:pic>
        <p:nvPicPr>
          <p:cNvPr id="156" name="Google Shape;15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7" name="Google Shape;157;p18"/>
          <p:cNvSpPr/>
          <p:nvPr/>
        </p:nvSpPr>
        <p:spPr>
          <a:xfrm>
            <a:off x="571500" y="1838325"/>
            <a:ext cx="11049000" cy="685800"/>
          </a:xfrm>
          <a:prstGeom prst="roundRect">
            <a:avLst>
              <a:gd name="adj" fmla="val 11111"/>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8"/>
          <p:cNvSpPr txBox="1"/>
          <p:nvPr/>
        </p:nvSpPr>
        <p:spPr>
          <a:xfrm>
            <a:off x="1143000" y="2028825"/>
            <a:ext cx="10287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Lato"/>
                <a:ea typeface="Lato"/>
                <a:cs typeface="Lato"/>
                <a:sym typeface="Lato"/>
              </a:rPr>
              <a:t>One Gate Per Flight:</a:t>
            </a:r>
            <a:r>
              <a:rPr lang="en-US" sz="1500" b="0" i="0" u="none" strike="noStrike" cap="none">
                <a:solidFill>
                  <a:srgbClr val="334155"/>
                </a:solidFill>
                <a:latin typeface="Lato"/>
                <a:ea typeface="Lato"/>
                <a:cs typeface="Lato"/>
                <a:sym typeface="Lato"/>
              </a:rPr>
              <a:t xml:space="preserve"> Every flight must be assigned to one and exactly one gate during its required apron time.</a:t>
            </a:r>
            <a:endParaRPr/>
          </a:p>
        </p:txBody>
      </p:sp>
      <p:sp>
        <p:nvSpPr>
          <p:cNvPr id="159" name="Google Shape;159;p18"/>
          <p:cNvSpPr/>
          <p:nvPr/>
        </p:nvSpPr>
        <p:spPr>
          <a:xfrm>
            <a:off x="571500" y="1838325"/>
            <a:ext cx="38100" cy="6858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8"/>
          <p:cNvSpPr/>
          <p:nvPr/>
        </p:nvSpPr>
        <p:spPr>
          <a:xfrm>
            <a:off x="571500" y="2762250"/>
            <a:ext cx="11049000" cy="990600"/>
          </a:xfrm>
          <a:prstGeom prst="roundRect">
            <a:avLst>
              <a:gd name="adj" fmla="val 7692"/>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18"/>
          <p:cNvSpPr txBox="1"/>
          <p:nvPr/>
        </p:nvSpPr>
        <p:spPr>
          <a:xfrm>
            <a:off x="1143000" y="2952750"/>
            <a:ext cx="10287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Lato"/>
                <a:ea typeface="Lato"/>
                <a:cs typeface="Lato"/>
                <a:sym typeface="Lato"/>
              </a:rPr>
              <a:t>No Overlap:</a:t>
            </a:r>
            <a:r>
              <a:rPr lang="en-US" sz="1500" b="0" i="0" u="none" strike="noStrike" cap="none">
                <a:solidFill>
                  <a:srgbClr val="334155"/>
                </a:solidFill>
                <a:latin typeface="Lato"/>
                <a:ea typeface="Lato"/>
                <a:cs typeface="Lato"/>
                <a:sym typeface="Lato"/>
              </a:rPr>
              <a:t xml:space="preserve"> Strict enforcement ensuring no two aircraft may be assigned to the same gate when their physical apron times overlap.</a:t>
            </a:r>
            <a:endParaRPr/>
          </a:p>
        </p:txBody>
      </p:sp>
      <p:sp>
        <p:nvSpPr>
          <p:cNvPr id="162" name="Google Shape;162;p18"/>
          <p:cNvSpPr/>
          <p:nvPr/>
        </p:nvSpPr>
        <p:spPr>
          <a:xfrm>
            <a:off x="571500" y="2762250"/>
            <a:ext cx="38100" cy="9906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8"/>
          <p:cNvSpPr/>
          <p:nvPr/>
        </p:nvSpPr>
        <p:spPr>
          <a:xfrm>
            <a:off x="571500" y="3990975"/>
            <a:ext cx="11049000" cy="685800"/>
          </a:xfrm>
          <a:prstGeom prst="roundRect">
            <a:avLst>
              <a:gd name="adj" fmla="val 11111"/>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18"/>
          <p:cNvSpPr txBox="1"/>
          <p:nvPr/>
        </p:nvSpPr>
        <p:spPr>
          <a:xfrm>
            <a:off x="1143000" y="4181475"/>
            <a:ext cx="10287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Lato"/>
                <a:ea typeface="Lato"/>
                <a:cs typeface="Lato"/>
                <a:sym typeface="Lato"/>
              </a:rPr>
              <a:t>Continuous Dwell:</a:t>
            </a:r>
            <a:r>
              <a:rPr lang="en-US" sz="1500" b="0" i="0" u="none" strike="noStrike" cap="none">
                <a:solidFill>
                  <a:srgbClr val="334155"/>
                </a:solidFill>
                <a:latin typeface="Lato"/>
                <a:ea typeface="Lato"/>
                <a:cs typeface="Lato"/>
                <a:sym typeface="Lato"/>
              </a:rPr>
              <a:t xml:space="preserve"> Each aircraft must remain parked at the same assigned gate for the entirety of its scheduled dwell duration.</a:t>
            </a:r>
            <a:endParaRPr/>
          </a:p>
        </p:txBody>
      </p:sp>
      <p:sp>
        <p:nvSpPr>
          <p:cNvPr id="165" name="Google Shape;165;p18"/>
          <p:cNvSpPr/>
          <p:nvPr/>
        </p:nvSpPr>
        <p:spPr>
          <a:xfrm>
            <a:off x="571500" y="3990975"/>
            <a:ext cx="38100" cy="6858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6" name="Google Shape;166;p18"/>
          <p:cNvSpPr/>
          <p:nvPr/>
        </p:nvSpPr>
        <p:spPr>
          <a:xfrm>
            <a:off x="571500" y="4914900"/>
            <a:ext cx="11049000" cy="990600"/>
          </a:xfrm>
          <a:prstGeom prst="roundRect">
            <a:avLst>
              <a:gd name="adj" fmla="val 7692"/>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8"/>
          <p:cNvSpPr txBox="1"/>
          <p:nvPr/>
        </p:nvSpPr>
        <p:spPr>
          <a:xfrm>
            <a:off x="1143000" y="5105400"/>
            <a:ext cx="10287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0F172A"/>
                </a:solidFill>
                <a:latin typeface="Lato"/>
                <a:ea typeface="Lato"/>
                <a:cs typeface="Lato"/>
                <a:sym typeface="Lato"/>
              </a:rPr>
              <a:t>Mathematical Conservation:</a:t>
            </a:r>
            <a:r>
              <a:rPr lang="en-US" sz="1500" b="0" i="0" u="none" strike="noStrike" cap="none">
                <a:solidFill>
                  <a:srgbClr val="334155"/>
                </a:solidFill>
                <a:latin typeface="Lato"/>
                <a:ea typeface="Lato"/>
                <a:cs typeface="Lato"/>
                <a:sym typeface="Lato"/>
              </a:rPr>
              <a:t xml:space="preserve"> Linear constraints ensuring logical consistency between the primary (X) and linearized (Y) decision variables.</a:t>
            </a:r>
            <a:endParaRPr/>
          </a:p>
        </p:txBody>
      </p:sp>
      <p:sp>
        <p:nvSpPr>
          <p:cNvPr id="168" name="Google Shape;168;p18"/>
          <p:cNvSpPr/>
          <p:nvPr/>
        </p:nvSpPr>
        <p:spPr>
          <a:xfrm>
            <a:off x="571500" y="4914900"/>
            <a:ext cx="38100" cy="9906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9" name="Google Shape;169;p18" descr="image.png"/>
          <p:cNvPicPr preferRelativeResize="0"/>
          <p:nvPr/>
        </p:nvPicPr>
        <p:blipFill rotWithShape="1">
          <a:blip r:embed="rId4">
            <a:alphaModFix/>
          </a:blip>
          <a:srcRect/>
          <a:stretch/>
        </p:blipFill>
        <p:spPr>
          <a:xfrm>
            <a:off x="800100" y="2038350"/>
            <a:ext cx="285750" cy="247650"/>
          </a:xfrm>
          <a:prstGeom prst="rect">
            <a:avLst/>
          </a:prstGeom>
          <a:noFill/>
          <a:ln>
            <a:noFill/>
          </a:ln>
        </p:spPr>
      </p:pic>
      <p:pic>
        <p:nvPicPr>
          <p:cNvPr id="170" name="Google Shape;170;p18" descr="image.png"/>
          <p:cNvPicPr preferRelativeResize="0"/>
          <p:nvPr/>
        </p:nvPicPr>
        <p:blipFill rotWithShape="1">
          <a:blip r:embed="rId5">
            <a:alphaModFix/>
          </a:blip>
          <a:srcRect/>
          <a:stretch/>
        </p:blipFill>
        <p:spPr>
          <a:xfrm>
            <a:off x="800100" y="2962275"/>
            <a:ext cx="228600" cy="247650"/>
          </a:xfrm>
          <a:prstGeom prst="rect">
            <a:avLst/>
          </a:prstGeom>
          <a:noFill/>
          <a:ln>
            <a:noFill/>
          </a:ln>
        </p:spPr>
      </p:pic>
      <p:pic>
        <p:nvPicPr>
          <p:cNvPr id="171" name="Google Shape;171;p18" descr="image.png"/>
          <p:cNvPicPr preferRelativeResize="0"/>
          <p:nvPr/>
        </p:nvPicPr>
        <p:blipFill rotWithShape="1">
          <a:blip r:embed="rId6">
            <a:alphaModFix/>
          </a:blip>
          <a:srcRect/>
          <a:stretch/>
        </p:blipFill>
        <p:spPr>
          <a:xfrm>
            <a:off x="800100" y="4191000"/>
            <a:ext cx="200025" cy="247650"/>
          </a:xfrm>
          <a:prstGeom prst="rect">
            <a:avLst/>
          </a:prstGeom>
          <a:noFill/>
          <a:ln>
            <a:noFill/>
          </a:ln>
        </p:spPr>
      </p:pic>
      <p:pic>
        <p:nvPicPr>
          <p:cNvPr id="172" name="Google Shape;172;p18" descr="image.png"/>
          <p:cNvPicPr preferRelativeResize="0"/>
          <p:nvPr/>
        </p:nvPicPr>
        <p:blipFill rotWithShape="1">
          <a:blip r:embed="rId7">
            <a:alphaModFix/>
          </a:blip>
          <a:srcRect/>
          <a:stretch/>
        </p:blipFill>
        <p:spPr>
          <a:xfrm>
            <a:off x="800100" y="5114925"/>
            <a:ext cx="285750" cy="247650"/>
          </a:xfrm>
          <a:prstGeom prst="rect">
            <a:avLst/>
          </a:prstGeom>
          <a:noFill/>
          <a:ln>
            <a:noFill/>
          </a:ln>
        </p:spPr>
      </p:pic>
      <p:sp>
        <p:nvSpPr>
          <p:cNvPr id="173" name="Google Shape;173;p18"/>
          <p:cNvSpPr txBox="1"/>
          <p:nvPr/>
        </p:nvSpPr>
        <p:spPr>
          <a:xfrm>
            <a:off x="571500" y="571500"/>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Model Constraints &amp; Parameters</a:t>
            </a:r>
            <a:endParaRPr/>
          </a:p>
        </p:txBody>
      </p:sp>
      <p:sp>
        <p:nvSpPr>
          <p:cNvPr id="174" name="Google Shape;174;p18"/>
          <p:cNvSpPr/>
          <p:nvPr/>
        </p:nvSpPr>
        <p:spPr>
          <a:xfrm>
            <a:off x="571500" y="128587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8"/>
        <p:cNvGrpSpPr/>
        <p:nvPr/>
      </p:nvGrpSpPr>
      <p:grpSpPr>
        <a:xfrm>
          <a:off x="0" y="0"/>
          <a:ext cx="0" cy="0"/>
          <a:chOff x="0" y="0"/>
          <a:chExt cx="0" cy="0"/>
        </a:xfrm>
      </p:grpSpPr>
      <p:pic>
        <p:nvPicPr>
          <p:cNvPr id="179" name="Google Shape;179;p19" descr="image.png"/>
          <p:cNvPicPr preferRelativeResize="0"/>
          <p:nvPr/>
        </p:nvPicPr>
        <p:blipFill rotWithShape="1">
          <a:blip r:embed="rId3">
            <a:alphaModFix/>
          </a:blip>
          <a:srcRect/>
          <a:stretch/>
        </p:blipFill>
        <p:spPr>
          <a:xfrm>
            <a:off x="0" y="264347"/>
            <a:ext cx="12192000" cy="7605656"/>
          </a:xfrm>
          <a:prstGeom prst="rect">
            <a:avLst/>
          </a:prstGeom>
          <a:noFill/>
          <a:ln>
            <a:noFill/>
          </a:ln>
        </p:spPr>
      </p:pic>
      <p:pic>
        <p:nvPicPr>
          <p:cNvPr id="180" name="Google Shape;180;p19" descr="image.png"/>
          <p:cNvPicPr preferRelativeResize="0"/>
          <p:nvPr/>
        </p:nvPicPr>
        <p:blipFill rotWithShape="1">
          <a:blip r:embed="rId4">
            <a:alphaModFix/>
          </a:blip>
          <a:srcRect/>
          <a:stretch/>
        </p:blipFill>
        <p:spPr>
          <a:xfrm>
            <a:off x="571500" y="4514850"/>
            <a:ext cx="2541240" cy="2609850"/>
          </a:xfrm>
          <a:prstGeom prst="rect">
            <a:avLst/>
          </a:prstGeom>
          <a:noFill/>
          <a:ln>
            <a:noFill/>
          </a:ln>
        </p:spPr>
      </p:pic>
      <p:pic>
        <p:nvPicPr>
          <p:cNvPr id="181" name="Google Shape;181;p19" descr="image.png"/>
          <p:cNvPicPr preferRelativeResize="0"/>
          <p:nvPr/>
        </p:nvPicPr>
        <p:blipFill rotWithShape="1">
          <a:blip r:embed="rId5">
            <a:alphaModFix/>
          </a:blip>
          <a:srcRect/>
          <a:stretch/>
        </p:blipFill>
        <p:spPr>
          <a:xfrm>
            <a:off x="3407419" y="1543050"/>
            <a:ext cx="2541240" cy="2305050"/>
          </a:xfrm>
          <a:prstGeom prst="rect">
            <a:avLst/>
          </a:prstGeom>
          <a:noFill/>
          <a:ln>
            <a:noFill/>
          </a:ln>
        </p:spPr>
      </p:pic>
      <p:pic>
        <p:nvPicPr>
          <p:cNvPr id="182" name="Google Shape;182;p19" descr="image.png"/>
          <p:cNvPicPr preferRelativeResize="0"/>
          <p:nvPr/>
        </p:nvPicPr>
        <p:blipFill rotWithShape="1">
          <a:blip r:embed="rId6">
            <a:alphaModFix/>
          </a:blip>
          <a:srcRect/>
          <a:stretch/>
        </p:blipFill>
        <p:spPr>
          <a:xfrm>
            <a:off x="6243339" y="4514850"/>
            <a:ext cx="2541240" cy="2609850"/>
          </a:xfrm>
          <a:prstGeom prst="rect">
            <a:avLst/>
          </a:prstGeom>
          <a:noFill/>
          <a:ln>
            <a:noFill/>
          </a:ln>
        </p:spPr>
      </p:pic>
      <p:pic>
        <p:nvPicPr>
          <p:cNvPr id="183" name="Google Shape;183;p19" descr="image.png"/>
          <p:cNvPicPr preferRelativeResize="0"/>
          <p:nvPr/>
        </p:nvPicPr>
        <p:blipFill rotWithShape="1">
          <a:blip r:embed="rId7">
            <a:alphaModFix/>
          </a:blip>
          <a:srcRect/>
          <a:stretch/>
        </p:blipFill>
        <p:spPr>
          <a:xfrm>
            <a:off x="9079259" y="1543048"/>
            <a:ext cx="2541240" cy="2305051"/>
          </a:xfrm>
          <a:prstGeom prst="rect">
            <a:avLst/>
          </a:prstGeom>
          <a:noFill/>
          <a:ln>
            <a:noFill/>
          </a:ln>
        </p:spPr>
      </p:pic>
      <p:sp>
        <p:nvSpPr>
          <p:cNvPr id="184" name="Google Shape;184;p19"/>
          <p:cNvSpPr/>
          <p:nvPr/>
        </p:nvSpPr>
        <p:spPr>
          <a:xfrm>
            <a:off x="571500" y="4162425"/>
            <a:ext cx="11049000" cy="381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9"/>
          <p:cNvSpPr txBox="1"/>
          <p:nvPr/>
        </p:nvSpPr>
        <p:spPr>
          <a:xfrm>
            <a:off x="717995" y="4714875"/>
            <a:ext cx="2248249"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1. Initialization</a:t>
            </a:r>
            <a:endParaRPr/>
          </a:p>
        </p:txBody>
      </p:sp>
      <p:sp>
        <p:nvSpPr>
          <p:cNvPr id="186" name="Google Shape;186;p19"/>
          <p:cNvSpPr txBox="1"/>
          <p:nvPr/>
        </p:nvSpPr>
        <p:spPr>
          <a:xfrm>
            <a:off x="771525" y="5257800"/>
            <a:ext cx="214119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Analyze flight schedules to immediately eliminate decision variables with conflicting gate assignments.</a:t>
            </a:r>
            <a:endParaRPr/>
          </a:p>
        </p:txBody>
      </p:sp>
      <p:sp>
        <p:nvSpPr>
          <p:cNvPr id="187" name="Google Shape;187;p19"/>
          <p:cNvSpPr txBox="1"/>
          <p:nvPr/>
        </p:nvSpPr>
        <p:spPr>
          <a:xfrm>
            <a:off x="3553915" y="1743075"/>
            <a:ext cx="2248249"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2. Sorting</a:t>
            </a:r>
            <a:endParaRPr/>
          </a:p>
        </p:txBody>
      </p:sp>
      <p:sp>
        <p:nvSpPr>
          <p:cNvPr id="188" name="Google Shape;188;p19"/>
          <p:cNvSpPr txBox="1"/>
          <p:nvPr/>
        </p:nvSpPr>
        <p:spPr>
          <a:xfrm>
            <a:off x="3607444" y="2286000"/>
            <a:ext cx="214119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334155"/>
                </a:solidFill>
                <a:latin typeface="Lato"/>
                <a:ea typeface="Lato"/>
                <a:cs typeface="Lato"/>
                <a:sym typeface="Lato"/>
              </a:rPr>
              <a:t>List all remaining decision variables in increasing order of their passenger walking distance cost.</a:t>
            </a:r>
            <a:endParaRPr dirty="0"/>
          </a:p>
        </p:txBody>
      </p:sp>
      <p:sp>
        <p:nvSpPr>
          <p:cNvPr id="189" name="Google Shape;189;p19"/>
          <p:cNvSpPr txBox="1"/>
          <p:nvPr/>
        </p:nvSpPr>
        <p:spPr>
          <a:xfrm>
            <a:off x="6389835" y="4714875"/>
            <a:ext cx="2248249"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284C7"/>
                </a:solidFill>
                <a:latin typeface="Poppins SemiBold"/>
                <a:ea typeface="Poppins SemiBold"/>
                <a:cs typeface="Poppins SemiBold"/>
                <a:sym typeface="Poppins SemiBold"/>
              </a:rPr>
              <a:t>3. Feasibility</a:t>
            </a:r>
            <a:endParaRPr/>
          </a:p>
        </p:txBody>
      </p:sp>
      <p:sp>
        <p:nvSpPr>
          <p:cNvPr id="190" name="Google Shape;190;p19"/>
          <p:cNvSpPr txBox="1"/>
          <p:nvPr/>
        </p:nvSpPr>
        <p:spPr>
          <a:xfrm>
            <a:off x="6443364" y="5255202"/>
            <a:ext cx="2141190" cy="184665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334155"/>
                </a:solidFill>
                <a:latin typeface="Lato"/>
                <a:ea typeface="Lato"/>
                <a:cs typeface="Lato"/>
                <a:sym typeface="Lato"/>
              </a:rPr>
              <a:t>Select the cheapest unlabeled variable. Check if its assignment conflicts with the currently built feasible set.</a:t>
            </a:r>
            <a:endParaRPr dirty="0"/>
          </a:p>
        </p:txBody>
      </p:sp>
      <p:sp>
        <p:nvSpPr>
          <p:cNvPr id="191" name="Google Shape;191;p19"/>
          <p:cNvSpPr txBox="1"/>
          <p:nvPr/>
        </p:nvSpPr>
        <p:spPr>
          <a:xfrm>
            <a:off x="9225754" y="1730301"/>
            <a:ext cx="2248249"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284C7"/>
                </a:solidFill>
                <a:latin typeface="Poppins SemiBold"/>
                <a:ea typeface="Poppins SemiBold"/>
                <a:cs typeface="Poppins SemiBold"/>
                <a:sym typeface="Poppins SemiBold"/>
              </a:rPr>
              <a:t>4. Iteration</a:t>
            </a:r>
            <a:endParaRPr dirty="0"/>
          </a:p>
        </p:txBody>
      </p:sp>
      <p:sp>
        <p:nvSpPr>
          <p:cNvPr id="192" name="Google Shape;192;p19"/>
          <p:cNvSpPr txBox="1"/>
          <p:nvPr/>
        </p:nvSpPr>
        <p:spPr>
          <a:xfrm>
            <a:off x="9279284" y="1981200"/>
            <a:ext cx="214119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Add feasible variables. Repeat until all flights are assigned, generating multiple sets, then select the absolute best.</a:t>
            </a:r>
            <a:endParaRPr/>
          </a:p>
        </p:txBody>
      </p:sp>
      <p:sp>
        <p:nvSpPr>
          <p:cNvPr id="193" name="Google Shape;193;p19"/>
          <p:cNvSpPr/>
          <p:nvPr/>
        </p:nvSpPr>
        <p:spPr>
          <a:xfrm>
            <a:off x="1727820" y="4067175"/>
            <a:ext cx="228600" cy="228600"/>
          </a:xfrm>
          <a:prstGeom prst="roundRect">
            <a:avLst>
              <a:gd name="adj" fmla="val 50000"/>
            </a:avLst>
          </a:prstGeom>
          <a:solidFill>
            <a:srgbClr val="FFFFFF"/>
          </a:solidFill>
          <a:ln w="47625" cap="flat" cmpd="sng">
            <a:solidFill>
              <a:srgbClr val="0284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9"/>
          <p:cNvSpPr/>
          <p:nvPr/>
        </p:nvSpPr>
        <p:spPr>
          <a:xfrm>
            <a:off x="4563740" y="4067175"/>
            <a:ext cx="228600" cy="228600"/>
          </a:xfrm>
          <a:prstGeom prst="roundRect">
            <a:avLst>
              <a:gd name="adj" fmla="val 50000"/>
            </a:avLst>
          </a:prstGeom>
          <a:solidFill>
            <a:srgbClr val="FFFFFF"/>
          </a:solidFill>
          <a:ln w="47625" cap="flat" cmpd="sng">
            <a:solidFill>
              <a:srgbClr val="0284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19"/>
          <p:cNvSpPr/>
          <p:nvPr/>
        </p:nvSpPr>
        <p:spPr>
          <a:xfrm>
            <a:off x="7399659" y="4067175"/>
            <a:ext cx="228600" cy="228600"/>
          </a:xfrm>
          <a:prstGeom prst="roundRect">
            <a:avLst>
              <a:gd name="adj" fmla="val 50000"/>
            </a:avLst>
          </a:prstGeom>
          <a:solidFill>
            <a:srgbClr val="FFFFFF"/>
          </a:solidFill>
          <a:ln w="47625" cap="flat" cmpd="sng">
            <a:solidFill>
              <a:srgbClr val="0284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19"/>
          <p:cNvSpPr/>
          <p:nvPr/>
        </p:nvSpPr>
        <p:spPr>
          <a:xfrm>
            <a:off x="10235579" y="4067175"/>
            <a:ext cx="228600" cy="228600"/>
          </a:xfrm>
          <a:prstGeom prst="roundRect">
            <a:avLst>
              <a:gd name="adj" fmla="val 50000"/>
            </a:avLst>
          </a:prstGeom>
          <a:solidFill>
            <a:srgbClr val="FFFFFF"/>
          </a:solidFill>
          <a:ln w="47625" cap="flat" cmpd="sng">
            <a:solidFill>
              <a:srgbClr val="0284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19"/>
          <p:cNvSpPr txBox="1"/>
          <p:nvPr/>
        </p:nvSpPr>
        <p:spPr>
          <a:xfrm>
            <a:off x="571500" y="571500"/>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The Proposed Heuristic Algorithm</a:t>
            </a:r>
            <a:endParaRPr/>
          </a:p>
        </p:txBody>
      </p:sp>
      <p:sp>
        <p:nvSpPr>
          <p:cNvPr id="198" name="Google Shape;198;p19"/>
          <p:cNvSpPr/>
          <p:nvPr/>
        </p:nvSpPr>
        <p:spPr>
          <a:xfrm>
            <a:off x="571500" y="128587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pic>
        <p:nvPicPr>
          <p:cNvPr id="203" name="Google Shape;20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4" name="Google Shape;204;p20"/>
          <p:cNvSpPr txBox="1"/>
          <p:nvPr/>
        </p:nvSpPr>
        <p:spPr>
          <a:xfrm>
            <a:off x="571500" y="5622577"/>
            <a:ext cx="11049000"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475569"/>
                </a:solidFill>
                <a:latin typeface="Lato"/>
                <a:ea typeface="Lato"/>
                <a:cs typeface="Lato"/>
                <a:sym typeface="Lato"/>
              </a:rPr>
              <a:t>The heuristic approach consistently matched the exact optimal solutions while drastically reducing computational overhead.</a:t>
            </a:r>
            <a:endParaRPr/>
          </a:p>
        </p:txBody>
      </p:sp>
      <p:sp>
        <p:nvSpPr>
          <p:cNvPr id="205" name="Google Shape;205;p20"/>
          <p:cNvSpPr/>
          <p:nvPr/>
        </p:nvSpPr>
        <p:spPr>
          <a:xfrm>
            <a:off x="571500" y="1485155"/>
            <a:ext cx="11049000" cy="3851671"/>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06" name="Google Shape;206;p20"/>
          <p:cNvGraphicFramePr/>
          <p:nvPr/>
        </p:nvGraphicFramePr>
        <p:xfrm>
          <a:off x="571500" y="1485155"/>
          <a:ext cx="11039450" cy="3851625"/>
        </p:xfrm>
        <a:graphic>
          <a:graphicData uri="http://schemas.openxmlformats.org/drawingml/2006/table">
            <a:tbl>
              <a:tblPr firstRow="1" bandRow="1">
                <a:noFill/>
                <a:tableStyleId>{1E311944-A04A-40FE-8AF7-3C77D361BA96}</a:tableStyleId>
              </a:tblPr>
              <a:tblGrid>
                <a:gridCol w="1460150">
                  <a:extLst>
                    <a:ext uri="{9D8B030D-6E8A-4147-A177-3AD203B41FA5}">
                      <a16:colId xmlns:a16="http://schemas.microsoft.com/office/drawing/2014/main" val="20000"/>
                    </a:ext>
                  </a:extLst>
                </a:gridCol>
                <a:gridCol w="1952475">
                  <a:extLst>
                    <a:ext uri="{9D8B030D-6E8A-4147-A177-3AD203B41FA5}">
                      <a16:colId xmlns:a16="http://schemas.microsoft.com/office/drawing/2014/main" val="20001"/>
                    </a:ext>
                  </a:extLst>
                </a:gridCol>
                <a:gridCol w="2279900">
                  <a:extLst>
                    <a:ext uri="{9D8B030D-6E8A-4147-A177-3AD203B41FA5}">
                      <a16:colId xmlns:a16="http://schemas.microsoft.com/office/drawing/2014/main" val="20002"/>
                    </a:ext>
                  </a:extLst>
                </a:gridCol>
                <a:gridCol w="2246250">
                  <a:extLst>
                    <a:ext uri="{9D8B030D-6E8A-4147-A177-3AD203B41FA5}">
                      <a16:colId xmlns:a16="http://schemas.microsoft.com/office/drawing/2014/main" val="20003"/>
                    </a:ext>
                  </a:extLst>
                </a:gridCol>
                <a:gridCol w="3100675">
                  <a:extLst>
                    <a:ext uri="{9D8B030D-6E8A-4147-A177-3AD203B41FA5}">
                      <a16:colId xmlns:a16="http://schemas.microsoft.com/office/drawing/2014/main" val="20004"/>
                    </a:ext>
                  </a:extLst>
                </a:gridCol>
              </a:tblGrid>
              <a:tr h="770325">
                <a:tc>
                  <a:txBody>
                    <a:bodyPr/>
                    <a:lstStyle/>
                    <a:p>
                      <a:pPr marL="0" marR="0" lvl="0" indent="0" algn="l" rtl="0">
                        <a:spcBef>
                          <a:spcPts val="0"/>
                        </a:spcBef>
                        <a:spcAft>
                          <a:spcPts val="0"/>
                        </a:spcAft>
                        <a:buNone/>
                      </a:pPr>
                      <a:r>
                        <a:rPr lang="en-US" sz="1650" b="1" i="0" u="none" strike="noStrike" cap="none">
                          <a:solidFill>
                            <a:srgbClr val="FFFFFF"/>
                          </a:solidFill>
                          <a:latin typeface="Poppins SemiBold"/>
                          <a:ea typeface="Poppins SemiBold"/>
                          <a:cs typeface="Poppins SemiBold"/>
                          <a:sym typeface="Poppins SemiBold"/>
                        </a:rPr>
                        <a:t>Test Case 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Poppins SemiBold"/>
                          <a:ea typeface="Poppins SemiBold"/>
                          <a:cs typeface="Poppins SemiBold"/>
                          <a:sym typeface="Poppins SemiBold"/>
                        </a:rPr>
                        <a:t>Number of Flights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Poppins SemiBold"/>
                          <a:ea typeface="Poppins SemiBold"/>
                          <a:cs typeface="Poppins SemiBold"/>
                          <a:sym typeface="Poppins SemiBold"/>
                        </a:rPr>
                        <a:t>CPLEX Optimal Solution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Poppins SemiBold"/>
                          <a:ea typeface="Poppins SemiBold"/>
                          <a:cs typeface="Poppins SemiBold"/>
                          <a:sym typeface="Poppins SemiBold"/>
                        </a:rPr>
                        <a:t>Heuristic Best Solution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Poppins SemiBold"/>
                          <a:ea typeface="Poppins SemiBold"/>
                          <a:cs typeface="Poppins SemiBold"/>
                          <a:sym typeface="Poppins SemiBold"/>
                        </a:rPr>
                        <a:t>Execution Time (Heuristic vs CPLEX)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770325">
                <a:tc>
                  <a:txBody>
                    <a:bodyPr/>
                    <a:lstStyle/>
                    <a:p>
                      <a:pPr marL="0" marR="0" lvl="0" indent="0" algn="l" rtl="0">
                        <a:spcBef>
                          <a:spcPts val="0"/>
                        </a:spcBef>
                        <a:spcAft>
                          <a:spcPts val="0"/>
                        </a:spcAft>
                        <a:buNone/>
                      </a:pPr>
                      <a:r>
                        <a:rPr lang="en-US" sz="1500" b="1" i="0" u="none" strike="noStrike" cap="none">
                          <a:solidFill>
                            <a:srgbClr val="334155"/>
                          </a:solidFill>
                          <a:latin typeface="Lato"/>
                          <a:ea typeface="Lato"/>
                          <a:cs typeface="Lato"/>
                          <a:sym typeface="Lato"/>
                        </a:rPr>
                        <a:t>C6481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210,000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210,000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 xml:space="preserve">4.18s </a:t>
                      </a:r>
                      <a:r>
                        <a:rPr lang="en-US" sz="1500" b="0" i="1" u="none" strike="noStrike" cap="none">
                          <a:solidFill>
                            <a:srgbClr val="334155"/>
                          </a:solidFill>
                          <a:latin typeface="Lato"/>
                          <a:ea typeface="Lato"/>
                          <a:cs typeface="Lato"/>
                          <a:sym typeface="Lato"/>
                        </a:rPr>
                        <a:t>vs</a:t>
                      </a:r>
                      <a:r>
                        <a:rPr lang="en-US" sz="1500" b="0" i="0" u="none" strike="noStrike" cap="none">
                          <a:solidFill>
                            <a:srgbClr val="334155"/>
                          </a:solidFill>
                          <a:latin typeface="Lato"/>
                          <a:ea typeface="Lato"/>
                          <a:cs typeface="Lato"/>
                          <a:sym typeface="Lato"/>
                        </a:rPr>
                        <a:t xml:space="preserve"> 871.60s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70325">
                <a:tc>
                  <a:txBody>
                    <a:bodyPr/>
                    <a:lstStyle/>
                    <a:p>
                      <a:pPr marL="0" marR="0" lvl="0" indent="0" algn="l" rtl="0">
                        <a:spcBef>
                          <a:spcPts val="0"/>
                        </a:spcBef>
                        <a:spcAft>
                          <a:spcPts val="0"/>
                        </a:spcAft>
                        <a:buNone/>
                      </a:pPr>
                      <a:r>
                        <a:rPr lang="en-US" sz="1500" b="1" i="0" u="none" strike="noStrike" cap="none">
                          <a:solidFill>
                            <a:srgbClr val="334155"/>
                          </a:solidFill>
                          <a:latin typeface="Lato"/>
                          <a:ea typeface="Lato"/>
                          <a:cs typeface="Lato"/>
                          <a:sym typeface="Lato"/>
                        </a:rPr>
                        <a:t>C7481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41,310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41,310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 xml:space="preserve">8.41s </a:t>
                      </a:r>
                      <a:r>
                        <a:rPr lang="en-US" sz="1500" b="0" i="1" u="none" strike="noStrike" cap="none">
                          <a:solidFill>
                            <a:srgbClr val="334155"/>
                          </a:solidFill>
                          <a:latin typeface="Lato"/>
                          <a:ea typeface="Lato"/>
                          <a:cs typeface="Lato"/>
                          <a:sym typeface="Lato"/>
                        </a:rPr>
                        <a:t>vs</a:t>
                      </a:r>
                      <a:r>
                        <a:rPr lang="en-US" sz="1500" b="0" i="0" u="none" strike="noStrike" cap="none">
                          <a:solidFill>
                            <a:srgbClr val="334155"/>
                          </a:solidFill>
                          <a:latin typeface="Lato"/>
                          <a:ea typeface="Lato"/>
                          <a:cs typeface="Lato"/>
                          <a:sym typeface="Lato"/>
                        </a:rPr>
                        <a:t xml:space="preserve"> 3776.84s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770325">
                <a:tc>
                  <a:txBody>
                    <a:bodyPr/>
                    <a:lstStyle/>
                    <a:p>
                      <a:pPr marL="0" marR="0" lvl="0" indent="0" algn="l" rtl="0">
                        <a:spcBef>
                          <a:spcPts val="0"/>
                        </a:spcBef>
                        <a:spcAft>
                          <a:spcPts val="0"/>
                        </a:spcAft>
                        <a:buNone/>
                      </a:pPr>
                      <a:r>
                        <a:rPr lang="en-US" sz="1500" b="1" i="0" u="none" strike="noStrike" cap="none">
                          <a:solidFill>
                            <a:srgbClr val="334155"/>
                          </a:solidFill>
                          <a:latin typeface="Lato"/>
                          <a:ea typeface="Lato"/>
                          <a:cs typeface="Lato"/>
                          <a:sym typeface="Lato"/>
                        </a:rPr>
                        <a:t>C8492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53,580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53,580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 xml:space="preserve">19.29s </a:t>
                      </a:r>
                      <a:r>
                        <a:rPr lang="en-US" sz="1500" b="0" i="1" u="none" strike="noStrike" cap="none">
                          <a:solidFill>
                            <a:srgbClr val="334155"/>
                          </a:solidFill>
                          <a:latin typeface="Lato"/>
                          <a:ea typeface="Lato"/>
                          <a:cs typeface="Lato"/>
                          <a:sym typeface="Lato"/>
                        </a:rPr>
                        <a:t>vs</a:t>
                      </a:r>
                      <a:r>
                        <a:rPr lang="en-US" sz="1500" b="0" i="0" u="none" strike="noStrike" cap="none">
                          <a:solidFill>
                            <a:srgbClr val="334155"/>
                          </a:solidFill>
                          <a:latin typeface="Lato"/>
                          <a:ea typeface="Lato"/>
                          <a:cs typeface="Lato"/>
                          <a:sym typeface="Lato"/>
                        </a:rPr>
                        <a:t xml:space="preserve"> 12592.60s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70325">
                <a:tc>
                  <a:txBody>
                    <a:bodyPr/>
                    <a:lstStyle/>
                    <a:p>
                      <a:pPr marL="0" marR="0" lvl="0" indent="0" algn="l" rtl="0">
                        <a:spcBef>
                          <a:spcPts val="0"/>
                        </a:spcBef>
                        <a:spcAft>
                          <a:spcPts val="0"/>
                        </a:spcAft>
                        <a:buNone/>
                      </a:pPr>
                      <a:r>
                        <a:rPr lang="en-US" sz="1500" b="1" i="0" u="none" strike="noStrike" cap="none">
                          <a:solidFill>
                            <a:srgbClr val="334155"/>
                          </a:solidFill>
                          <a:latin typeface="Lato"/>
                          <a:ea typeface="Lato"/>
                          <a:cs typeface="Lato"/>
                          <a:sym typeface="Lato"/>
                        </a:rPr>
                        <a:t>C8495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54,720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54,720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0" i="0" u="none" strike="noStrike" cap="none">
                          <a:solidFill>
                            <a:srgbClr val="334155"/>
                          </a:solidFill>
                          <a:latin typeface="Lato"/>
                          <a:ea typeface="Lato"/>
                          <a:cs typeface="Lato"/>
                          <a:sym typeface="Lato"/>
                        </a:rPr>
                        <a:t xml:space="preserve">17.36s </a:t>
                      </a:r>
                      <a:r>
                        <a:rPr lang="en-US" sz="1500" b="0" i="1" u="none" strike="noStrike" cap="none">
                          <a:solidFill>
                            <a:srgbClr val="334155"/>
                          </a:solidFill>
                          <a:latin typeface="Lato"/>
                          <a:ea typeface="Lato"/>
                          <a:cs typeface="Lato"/>
                          <a:sym typeface="Lato"/>
                        </a:rPr>
                        <a:t>vs</a:t>
                      </a:r>
                      <a:r>
                        <a:rPr lang="en-US" sz="1500" b="0" i="0" u="none" strike="noStrike" cap="none">
                          <a:solidFill>
                            <a:srgbClr val="334155"/>
                          </a:solidFill>
                          <a:latin typeface="Lato"/>
                          <a:ea typeface="Lato"/>
                          <a:cs typeface="Lato"/>
                          <a:sym typeface="Lato"/>
                        </a:rPr>
                        <a:t xml:space="preserve"> 1616.46s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207" name="Google Shape;207;p20"/>
          <p:cNvSpPr/>
          <p:nvPr/>
        </p:nvSpPr>
        <p:spPr>
          <a:xfrm>
            <a:off x="576262" y="2541240"/>
            <a:ext cx="14601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20"/>
          <p:cNvSpPr/>
          <p:nvPr/>
        </p:nvSpPr>
        <p:spPr>
          <a:xfrm>
            <a:off x="2036415" y="2541240"/>
            <a:ext cx="19524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0"/>
          <p:cNvSpPr/>
          <p:nvPr/>
        </p:nvSpPr>
        <p:spPr>
          <a:xfrm>
            <a:off x="3988891" y="2541240"/>
            <a:ext cx="2279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0"/>
          <p:cNvSpPr/>
          <p:nvPr/>
        </p:nvSpPr>
        <p:spPr>
          <a:xfrm>
            <a:off x="6268789" y="2541240"/>
            <a:ext cx="224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p:nvPr/>
        </p:nvSpPr>
        <p:spPr>
          <a:xfrm>
            <a:off x="8515052" y="2541240"/>
            <a:ext cx="31006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p20"/>
          <p:cNvSpPr/>
          <p:nvPr/>
        </p:nvSpPr>
        <p:spPr>
          <a:xfrm>
            <a:off x="576262" y="3236565"/>
            <a:ext cx="14601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0"/>
          <p:cNvSpPr/>
          <p:nvPr/>
        </p:nvSpPr>
        <p:spPr>
          <a:xfrm>
            <a:off x="2036415" y="3236565"/>
            <a:ext cx="19524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0"/>
          <p:cNvSpPr/>
          <p:nvPr/>
        </p:nvSpPr>
        <p:spPr>
          <a:xfrm>
            <a:off x="3988891" y="3236565"/>
            <a:ext cx="2279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0"/>
          <p:cNvSpPr/>
          <p:nvPr/>
        </p:nvSpPr>
        <p:spPr>
          <a:xfrm>
            <a:off x="6268789" y="3236565"/>
            <a:ext cx="224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8515052" y="3236565"/>
            <a:ext cx="31006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0"/>
          <p:cNvSpPr/>
          <p:nvPr/>
        </p:nvSpPr>
        <p:spPr>
          <a:xfrm>
            <a:off x="576262" y="3931890"/>
            <a:ext cx="14601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0"/>
          <p:cNvSpPr/>
          <p:nvPr/>
        </p:nvSpPr>
        <p:spPr>
          <a:xfrm>
            <a:off x="2036415" y="3931890"/>
            <a:ext cx="19524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20"/>
          <p:cNvSpPr/>
          <p:nvPr/>
        </p:nvSpPr>
        <p:spPr>
          <a:xfrm>
            <a:off x="3988891" y="3931890"/>
            <a:ext cx="2279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20"/>
          <p:cNvSpPr/>
          <p:nvPr/>
        </p:nvSpPr>
        <p:spPr>
          <a:xfrm>
            <a:off x="6268789" y="3931890"/>
            <a:ext cx="224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20"/>
          <p:cNvSpPr/>
          <p:nvPr/>
        </p:nvSpPr>
        <p:spPr>
          <a:xfrm>
            <a:off x="8515052" y="3931890"/>
            <a:ext cx="31006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0"/>
          <p:cNvSpPr/>
          <p:nvPr/>
        </p:nvSpPr>
        <p:spPr>
          <a:xfrm>
            <a:off x="576262" y="4627215"/>
            <a:ext cx="14601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20"/>
          <p:cNvSpPr/>
          <p:nvPr/>
        </p:nvSpPr>
        <p:spPr>
          <a:xfrm>
            <a:off x="2036415" y="4627215"/>
            <a:ext cx="19524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0"/>
          <p:cNvSpPr/>
          <p:nvPr/>
        </p:nvSpPr>
        <p:spPr>
          <a:xfrm>
            <a:off x="3988891" y="4627215"/>
            <a:ext cx="2279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20"/>
          <p:cNvSpPr/>
          <p:nvPr/>
        </p:nvSpPr>
        <p:spPr>
          <a:xfrm>
            <a:off x="6268789" y="4627215"/>
            <a:ext cx="22462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20"/>
          <p:cNvSpPr/>
          <p:nvPr/>
        </p:nvSpPr>
        <p:spPr>
          <a:xfrm>
            <a:off x="8515052" y="4627215"/>
            <a:ext cx="31006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0"/>
          <p:cNvSpPr txBox="1"/>
          <p:nvPr/>
        </p:nvSpPr>
        <p:spPr>
          <a:xfrm>
            <a:off x="571500" y="361205"/>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Results: Heuristic vs. Exact Optimal</a:t>
            </a:r>
            <a:endParaRPr/>
          </a:p>
        </p:txBody>
      </p:sp>
      <p:sp>
        <p:nvSpPr>
          <p:cNvPr id="228" name="Google Shape;228;p20"/>
          <p:cNvSpPr/>
          <p:nvPr/>
        </p:nvSpPr>
        <p:spPr>
          <a:xfrm>
            <a:off x="571500" y="1075580"/>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pic>
        <p:nvPicPr>
          <p:cNvPr id="233" name="Google Shape;233;p21" descr="image.png"/>
          <p:cNvPicPr preferRelativeResize="0"/>
          <p:nvPr/>
        </p:nvPicPr>
        <p:blipFill rotWithShape="1">
          <a:blip r:embed="rId3">
            <a:alphaModFix/>
          </a:blip>
          <a:srcRect/>
          <a:stretch/>
        </p:blipFill>
        <p:spPr>
          <a:xfrm>
            <a:off x="0" y="352425"/>
            <a:ext cx="12192000" cy="6858000"/>
          </a:xfrm>
          <a:prstGeom prst="rect">
            <a:avLst/>
          </a:prstGeom>
          <a:noFill/>
          <a:ln>
            <a:noFill/>
          </a:ln>
        </p:spPr>
      </p:pic>
      <p:sp>
        <p:nvSpPr>
          <p:cNvPr id="234" name="Google Shape;234;p21"/>
          <p:cNvSpPr txBox="1"/>
          <p:nvPr/>
        </p:nvSpPr>
        <p:spPr>
          <a:xfrm>
            <a:off x="571500" y="571500"/>
            <a:ext cx="5200650" cy="1266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SemiBold"/>
                <a:ea typeface="Poppins SemiBold"/>
                <a:cs typeface="Poppins SemiBold"/>
                <a:sym typeface="Poppins SemiBold"/>
              </a:rPr>
              <a:t>Key Insights &amp; Scalability</a:t>
            </a:r>
            <a:endParaRPr dirty="0"/>
          </a:p>
        </p:txBody>
      </p:sp>
      <p:sp>
        <p:nvSpPr>
          <p:cNvPr id="235" name="Google Shape;235;p21"/>
          <p:cNvSpPr/>
          <p:nvPr/>
        </p:nvSpPr>
        <p:spPr>
          <a:xfrm>
            <a:off x="571500" y="1905000"/>
            <a:ext cx="4953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6" name="Google Shape;236;p21" descr="image.png"/>
          <p:cNvPicPr preferRelativeResize="0"/>
          <p:nvPr/>
        </p:nvPicPr>
        <p:blipFill rotWithShape="1">
          <a:blip r:embed="rId4">
            <a:alphaModFix/>
          </a:blip>
          <a:srcRect/>
          <a:stretch/>
        </p:blipFill>
        <p:spPr>
          <a:xfrm>
            <a:off x="6096000" y="0"/>
            <a:ext cx="6096000" cy="7210425"/>
          </a:xfrm>
          <a:prstGeom prst="rect">
            <a:avLst/>
          </a:prstGeom>
          <a:noFill/>
          <a:ln>
            <a:noFill/>
          </a:ln>
        </p:spPr>
      </p:pic>
      <p:sp>
        <p:nvSpPr>
          <p:cNvPr id="237" name="Google Shape;237;p21"/>
          <p:cNvSpPr txBox="1"/>
          <p:nvPr/>
        </p:nvSpPr>
        <p:spPr>
          <a:xfrm>
            <a:off x="571500" y="2867025"/>
            <a:ext cx="4953000" cy="2908489"/>
          </a:xfrm>
          <a:prstGeom prst="rect">
            <a:avLst/>
          </a:prstGeom>
          <a:noFill/>
          <a:ln>
            <a:noFill/>
          </a:ln>
        </p:spPr>
        <p:txBody>
          <a:bodyPr spcFirstLastPara="1" wrap="square" lIns="0" tIns="0" rIns="0" bIns="0" anchor="t" anchorCtr="0">
            <a:spAutoFit/>
          </a:bodyPr>
          <a:lstStyle/>
          <a:p>
            <a:pPr algn="l"/>
            <a:r>
              <a:rPr lang="en-US" sz="1500" b="0" i="0" dirty="0">
                <a:solidFill>
                  <a:srgbClr val="334155"/>
                </a:solidFill>
                <a:effectLst/>
                <a:latin typeface="Lato" panose="020F0502020204030203" pitchFamily="34" charset="0"/>
              </a:rPr>
              <a:t>The proposed heuristic algorithm successfully matches the optimal CPLEX solutions for generated test cases, but accomplishes this in a fraction of the time.</a:t>
            </a:r>
          </a:p>
          <a:p>
            <a:pPr algn="l"/>
            <a:endParaRPr lang="en-US" sz="1500" b="0" i="0" dirty="0">
              <a:solidFill>
                <a:srgbClr val="334155"/>
              </a:solidFill>
              <a:effectLst/>
              <a:latin typeface="Lato" panose="020F0502020204030203" pitchFamily="34" charset="0"/>
            </a:endParaRPr>
          </a:p>
          <a:p>
            <a:pPr algn="l"/>
            <a:r>
              <a:rPr lang="en-US" sz="1500" b="0" i="0" dirty="0">
                <a:solidFill>
                  <a:srgbClr val="334155"/>
                </a:solidFill>
                <a:effectLst/>
                <a:latin typeface="Lato" panose="020F0502020204030203" pitchFamily="34" charset="0"/>
              </a:rPr>
              <a:t>A crucial finding is that the execution time required to find the best solution scales linearly with the number of variables.</a:t>
            </a:r>
          </a:p>
          <a:p>
            <a:pPr algn="l"/>
            <a:endParaRPr lang="en-US" sz="1500" b="0" i="0" dirty="0">
              <a:solidFill>
                <a:srgbClr val="334155"/>
              </a:solidFill>
              <a:effectLst/>
              <a:latin typeface="Lato" panose="020F0502020204030203" pitchFamily="34" charset="0"/>
            </a:endParaRPr>
          </a:p>
          <a:p>
            <a:pPr algn="l"/>
            <a:r>
              <a:rPr lang="en-US" sz="1500" b="0" i="0" dirty="0">
                <a:solidFill>
                  <a:srgbClr val="334155"/>
                </a:solidFill>
                <a:effectLst/>
                <a:latin typeface="Lato" panose="020F0502020204030203" pitchFamily="34" charset="0"/>
              </a:rPr>
              <a:t>This linear scalability proves the algorithm's immense practical value and efficiency for large-scale, real-world airport operations where rapid decision-making is critical.</a:t>
            </a:r>
          </a:p>
          <a:p>
            <a:pPr marL="0" marR="0" lvl="0" indent="0" algn="l" rtl="0">
              <a:lnSpc>
                <a:spcPct val="160000"/>
              </a:lnSpc>
              <a:spcBef>
                <a:spcPts val="0"/>
              </a:spcBef>
              <a:spcAft>
                <a:spcPts val="0"/>
              </a:spcAft>
              <a:buNone/>
            </a:pPr>
            <a:endParaRPr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3"/>
        <p:cNvGrpSpPr/>
        <p:nvPr/>
      </p:nvGrpSpPr>
      <p:grpSpPr>
        <a:xfrm>
          <a:off x="0" y="0"/>
          <a:ext cx="0" cy="0"/>
          <a:chOff x="0" y="0"/>
          <a:chExt cx="0" cy="0"/>
        </a:xfrm>
      </p:grpSpPr>
      <p:pic>
        <p:nvPicPr>
          <p:cNvPr id="244" name="Google Shape;244;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5" name="Google Shape;245;p22" descr="image.png"/>
          <p:cNvPicPr preferRelativeResize="0"/>
          <p:nvPr/>
        </p:nvPicPr>
        <p:blipFill rotWithShape="1">
          <a:blip r:embed="rId4">
            <a:alphaModFix/>
          </a:blip>
          <a:srcRect/>
          <a:stretch/>
        </p:blipFill>
        <p:spPr>
          <a:xfrm>
            <a:off x="571500" y="2024062"/>
            <a:ext cx="3429000" cy="1905000"/>
          </a:xfrm>
          <a:prstGeom prst="rect">
            <a:avLst/>
          </a:prstGeom>
          <a:noFill/>
          <a:ln>
            <a:noFill/>
          </a:ln>
        </p:spPr>
      </p:pic>
      <p:pic>
        <p:nvPicPr>
          <p:cNvPr id="246" name="Google Shape;246;p22" descr="image.png"/>
          <p:cNvPicPr preferRelativeResize="0"/>
          <p:nvPr/>
        </p:nvPicPr>
        <p:blipFill rotWithShape="1">
          <a:blip r:embed="rId4">
            <a:alphaModFix/>
          </a:blip>
          <a:srcRect/>
          <a:stretch/>
        </p:blipFill>
        <p:spPr>
          <a:xfrm>
            <a:off x="4381500" y="2024062"/>
            <a:ext cx="3429000" cy="1905000"/>
          </a:xfrm>
          <a:prstGeom prst="rect">
            <a:avLst/>
          </a:prstGeom>
          <a:noFill/>
          <a:ln>
            <a:noFill/>
          </a:ln>
        </p:spPr>
      </p:pic>
      <p:pic>
        <p:nvPicPr>
          <p:cNvPr id="247" name="Google Shape;247;p22" descr="image.png"/>
          <p:cNvPicPr preferRelativeResize="0"/>
          <p:nvPr/>
        </p:nvPicPr>
        <p:blipFill rotWithShape="1">
          <a:blip r:embed="rId4">
            <a:alphaModFix/>
          </a:blip>
          <a:srcRect/>
          <a:stretch/>
        </p:blipFill>
        <p:spPr>
          <a:xfrm>
            <a:off x="8191500" y="2024062"/>
            <a:ext cx="3429000" cy="1905000"/>
          </a:xfrm>
          <a:prstGeom prst="rect">
            <a:avLst/>
          </a:prstGeom>
          <a:noFill/>
          <a:ln>
            <a:noFill/>
          </a:ln>
        </p:spPr>
      </p:pic>
      <p:sp>
        <p:nvSpPr>
          <p:cNvPr id="248" name="Google Shape;248;p22"/>
          <p:cNvSpPr txBox="1"/>
          <p:nvPr/>
        </p:nvSpPr>
        <p:spPr>
          <a:xfrm>
            <a:off x="571500" y="4119562"/>
            <a:ext cx="360045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Poppins SemiBold"/>
                <a:ea typeface="Poppins SemiBold"/>
                <a:cs typeface="Poppins SemiBold"/>
                <a:sym typeface="Poppins SemiBold"/>
              </a:rPr>
              <a:t>Real-Time GAP</a:t>
            </a:r>
            <a:endParaRPr/>
          </a:p>
        </p:txBody>
      </p:sp>
      <p:sp>
        <p:nvSpPr>
          <p:cNvPr id="249" name="Google Shape;249;p22"/>
          <p:cNvSpPr txBox="1"/>
          <p:nvPr/>
        </p:nvSpPr>
        <p:spPr>
          <a:xfrm>
            <a:off x="571500" y="4595812"/>
            <a:ext cx="3429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Extending the model to dynamically re-assign gates in response to unforeseen flight delays and real-time operational disruptions.</a:t>
            </a:r>
            <a:endParaRPr/>
          </a:p>
        </p:txBody>
      </p:sp>
      <p:sp>
        <p:nvSpPr>
          <p:cNvPr id="250" name="Google Shape;250;p22"/>
          <p:cNvSpPr txBox="1"/>
          <p:nvPr/>
        </p:nvSpPr>
        <p:spPr>
          <a:xfrm>
            <a:off x="4381500" y="4119562"/>
            <a:ext cx="360045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Poppins SemiBold"/>
                <a:ea typeface="Poppins SemiBold"/>
                <a:cs typeface="Poppins SemiBold"/>
                <a:sym typeface="Poppins SemiBold"/>
              </a:rPr>
              <a:t>Baggage Handling</a:t>
            </a:r>
            <a:endParaRPr/>
          </a:p>
        </p:txBody>
      </p:sp>
      <p:sp>
        <p:nvSpPr>
          <p:cNvPr id="251" name="Google Shape;251;p22"/>
          <p:cNvSpPr txBox="1"/>
          <p:nvPr/>
        </p:nvSpPr>
        <p:spPr>
          <a:xfrm>
            <a:off x="4381500" y="4595812"/>
            <a:ext cx="3429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Incorporating comprehensive baggage transport cost functions, manpower scheduling, and heavy equipment constraints.</a:t>
            </a:r>
            <a:endParaRPr/>
          </a:p>
        </p:txBody>
      </p:sp>
      <p:sp>
        <p:nvSpPr>
          <p:cNvPr id="252" name="Google Shape;252;p22"/>
          <p:cNvSpPr txBox="1"/>
          <p:nvPr/>
        </p:nvSpPr>
        <p:spPr>
          <a:xfrm>
            <a:off x="8191500" y="4119562"/>
            <a:ext cx="360045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Poppins SemiBold"/>
                <a:ea typeface="Poppins SemiBold"/>
                <a:cs typeface="Poppins SemiBold"/>
                <a:sym typeface="Poppins SemiBold"/>
              </a:rPr>
              <a:t>Schedule Feedback</a:t>
            </a:r>
            <a:endParaRPr/>
          </a:p>
        </p:txBody>
      </p:sp>
      <p:sp>
        <p:nvSpPr>
          <p:cNvPr id="253" name="Google Shape;253;p22"/>
          <p:cNvSpPr txBox="1"/>
          <p:nvPr/>
        </p:nvSpPr>
        <p:spPr>
          <a:xfrm>
            <a:off x="8191500" y="4595812"/>
            <a:ext cx="34290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Evaluating how insights from gate assignment optimization can inform, critique, and improve initial airline flight scheduling.</a:t>
            </a:r>
            <a:endParaRPr/>
          </a:p>
        </p:txBody>
      </p:sp>
      <p:pic>
        <p:nvPicPr>
          <p:cNvPr id="254" name="Google Shape;254;p22" descr="image.png"/>
          <p:cNvPicPr preferRelativeResize="0"/>
          <p:nvPr/>
        </p:nvPicPr>
        <p:blipFill rotWithShape="1">
          <a:blip r:embed="rId5">
            <a:alphaModFix/>
          </a:blip>
          <a:srcRect/>
          <a:stretch/>
        </p:blipFill>
        <p:spPr>
          <a:xfrm>
            <a:off x="571500" y="2024062"/>
            <a:ext cx="3429000" cy="1905000"/>
          </a:xfrm>
          <a:prstGeom prst="rect">
            <a:avLst/>
          </a:prstGeom>
          <a:noFill/>
          <a:ln>
            <a:noFill/>
          </a:ln>
        </p:spPr>
      </p:pic>
      <p:pic>
        <p:nvPicPr>
          <p:cNvPr id="255" name="Google Shape;255;p22" descr="image.png"/>
          <p:cNvPicPr preferRelativeResize="0"/>
          <p:nvPr/>
        </p:nvPicPr>
        <p:blipFill rotWithShape="1">
          <a:blip r:embed="rId6">
            <a:alphaModFix/>
          </a:blip>
          <a:srcRect/>
          <a:stretch/>
        </p:blipFill>
        <p:spPr>
          <a:xfrm>
            <a:off x="4381500" y="2024062"/>
            <a:ext cx="3429000" cy="1905000"/>
          </a:xfrm>
          <a:prstGeom prst="rect">
            <a:avLst/>
          </a:prstGeom>
          <a:noFill/>
          <a:ln>
            <a:noFill/>
          </a:ln>
        </p:spPr>
      </p:pic>
      <p:pic>
        <p:nvPicPr>
          <p:cNvPr id="256" name="Google Shape;256;p22" descr="image.png"/>
          <p:cNvPicPr preferRelativeResize="0"/>
          <p:nvPr/>
        </p:nvPicPr>
        <p:blipFill rotWithShape="1">
          <a:blip r:embed="rId7">
            <a:alphaModFix/>
          </a:blip>
          <a:srcRect/>
          <a:stretch/>
        </p:blipFill>
        <p:spPr>
          <a:xfrm>
            <a:off x="8191500" y="2024062"/>
            <a:ext cx="3429000" cy="1905000"/>
          </a:xfrm>
          <a:prstGeom prst="rect">
            <a:avLst/>
          </a:prstGeom>
          <a:noFill/>
          <a:ln>
            <a:noFill/>
          </a:ln>
        </p:spPr>
      </p:pic>
      <p:sp>
        <p:nvSpPr>
          <p:cNvPr id="257" name="Google Shape;257;p22"/>
          <p:cNvSpPr txBox="1"/>
          <p:nvPr/>
        </p:nvSpPr>
        <p:spPr>
          <a:xfrm>
            <a:off x="571500" y="571500"/>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Future Research Directions</a:t>
            </a:r>
            <a:endParaRPr/>
          </a:p>
        </p:txBody>
      </p:sp>
      <p:sp>
        <p:nvSpPr>
          <p:cNvPr id="258" name="Google Shape;258;p22"/>
          <p:cNvSpPr/>
          <p:nvPr/>
        </p:nvSpPr>
        <p:spPr>
          <a:xfrm>
            <a:off x="571500" y="1285875"/>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2"/>
        <p:cNvGrpSpPr/>
        <p:nvPr/>
      </p:nvGrpSpPr>
      <p:grpSpPr>
        <a:xfrm>
          <a:off x="0" y="0"/>
          <a:ext cx="0" cy="0"/>
          <a:chOff x="0" y="0"/>
          <a:chExt cx="0" cy="0"/>
        </a:xfrm>
      </p:grpSpPr>
      <p:pic>
        <p:nvPicPr>
          <p:cNvPr id="263" name="Google Shape;26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4" name="Google Shape;264;p23"/>
          <p:cNvSpPr txBox="1"/>
          <p:nvPr/>
        </p:nvSpPr>
        <p:spPr>
          <a:xfrm>
            <a:off x="295275" y="2110829"/>
            <a:ext cx="11601450" cy="1028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0284C7"/>
                </a:solidFill>
                <a:latin typeface="Poppins SemiBold"/>
                <a:ea typeface="Poppins SemiBold"/>
                <a:cs typeface="Poppins SemiBold"/>
                <a:sym typeface="Poppins SemiBold"/>
              </a:rPr>
              <a:t>Questions?</a:t>
            </a:r>
            <a:endParaRPr/>
          </a:p>
        </p:txBody>
      </p:sp>
      <p:sp>
        <p:nvSpPr>
          <p:cNvPr id="265" name="Google Shape;265;p23"/>
          <p:cNvSpPr txBox="1"/>
          <p:nvPr/>
        </p:nvSpPr>
        <p:spPr>
          <a:xfrm>
            <a:off x="571500" y="3330029"/>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Lato"/>
                <a:ea typeface="Lato"/>
                <a:cs typeface="Lato"/>
                <a:sym typeface="Lato"/>
              </a:rPr>
              <a:t>Thank you for your attention.</a:t>
            </a:r>
            <a:endParaRPr/>
          </a:p>
        </p:txBody>
      </p:sp>
      <p:sp>
        <p:nvSpPr>
          <p:cNvPr id="266" name="Google Shape;266;p23"/>
          <p:cNvSpPr txBox="1"/>
          <p:nvPr/>
        </p:nvSpPr>
        <p:spPr>
          <a:xfrm>
            <a:off x="571500" y="4015829"/>
            <a:ext cx="11049000"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1" i="0" u="none" strike="noStrike" cap="none">
                <a:solidFill>
                  <a:srgbClr val="475569"/>
                </a:solidFill>
                <a:latin typeface="Lato"/>
                <a:ea typeface="Lato"/>
                <a:cs typeface="Lato"/>
                <a:sym typeface="Lato"/>
              </a:rPr>
              <a:t>Optimizing Gate Assignments at Airport Terminals</a:t>
            </a:r>
            <a:br>
              <a:rPr lang="en-US" sz="1800" b="0" i="0" u="none" strike="noStrike" cap="none">
                <a:solidFill>
                  <a:schemeClr val="dk1"/>
                </a:solidFill>
                <a:latin typeface="Calibri"/>
                <a:ea typeface="Calibri"/>
                <a:cs typeface="Calibri"/>
                <a:sym typeface="Calibri"/>
              </a:rPr>
            </a:br>
            <a:r>
              <a:rPr lang="en-US" sz="1800" b="0" i="0" u="none" strike="noStrike" cap="none">
                <a:solidFill>
                  <a:srgbClr val="475569"/>
                </a:solidFill>
                <a:latin typeface="Lato"/>
                <a:ea typeface="Lato"/>
                <a:cs typeface="Lato"/>
                <a:sym typeface="Lato"/>
              </a:rPr>
              <a:t>Haghani &amp; Chen (1998)</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pic>
        <p:nvPicPr>
          <p:cNvPr id="271" name="Google Shape;271;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2" name="Google Shape;272;p24"/>
          <p:cNvSpPr/>
          <p:nvPr/>
        </p:nvSpPr>
        <p:spPr>
          <a:xfrm>
            <a:off x="571500" y="1443335"/>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p24"/>
          <p:cNvSpPr/>
          <p:nvPr/>
        </p:nvSpPr>
        <p:spPr>
          <a:xfrm>
            <a:off x="571500" y="2426196"/>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24"/>
          <p:cNvSpPr/>
          <p:nvPr/>
        </p:nvSpPr>
        <p:spPr>
          <a:xfrm>
            <a:off x="571500" y="3210966"/>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4"/>
          <p:cNvSpPr/>
          <p:nvPr/>
        </p:nvSpPr>
        <p:spPr>
          <a:xfrm>
            <a:off x="571500" y="3995737"/>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4"/>
          <p:cNvSpPr/>
          <p:nvPr/>
        </p:nvSpPr>
        <p:spPr>
          <a:xfrm>
            <a:off x="571500" y="4780508"/>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4"/>
          <p:cNvSpPr/>
          <p:nvPr/>
        </p:nvSpPr>
        <p:spPr>
          <a:xfrm>
            <a:off x="571500" y="241667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4"/>
          <p:cNvSpPr/>
          <p:nvPr/>
        </p:nvSpPr>
        <p:spPr>
          <a:xfrm>
            <a:off x="571500" y="241667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4"/>
          <p:cNvSpPr/>
          <p:nvPr/>
        </p:nvSpPr>
        <p:spPr>
          <a:xfrm>
            <a:off x="571500" y="320144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4"/>
          <p:cNvSpPr/>
          <p:nvPr/>
        </p:nvSpPr>
        <p:spPr>
          <a:xfrm>
            <a:off x="571500" y="320144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4"/>
          <p:cNvSpPr/>
          <p:nvPr/>
        </p:nvSpPr>
        <p:spPr>
          <a:xfrm>
            <a:off x="571500" y="398621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p24"/>
          <p:cNvSpPr/>
          <p:nvPr/>
        </p:nvSpPr>
        <p:spPr>
          <a:xfrm>
            <a:off x="571500" y="3986212"/>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4"/>
          <p:cNvSpPr/>
          <p:nvPr/>
        </p:nvSpPr>
        <p:spPr>
          <a:xfrm>
            <a:off x="571500" y="477098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4" name="Google Shape;284;p24"/>
          <p:cNvSpPr/>
          <p:nvPr/>
        </p:nvSpPr>
        <p:spPr>
          <a:xfrm>
            <a:off x="571500" y="477098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4"/>
          <p:cNvSpPr/>
          <p:nvPr/>
        </p:nvSpPr>
        <p:spPr>
          <a:xfrm>
            <a:off x="571500" y="555575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24"/>
          <p:cNvSpPr/>
          <p:nvPr/>
        </p:nvSpPr>
        <p:spPr>
          <a:xfrm>
            <a:off x="571500" y="555575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87" name="Google Shape;287;p24" descr="image.png"/>
          <p:cNvPicPr preferRelativeResize="0"/>
          <p:nvPr/>
        </p:nvPicPr>
        <p:blipFill rotWithShape="1">
          <a:blip r:embed="rId4">
            <a:alphaModFix/>
          </a:blip>
          <a:srcRect/>
          <a:stretch/>
        </p:blipFill>
        <p:spPr>
          <a:xfrm>
            <a:off x="571500" y="1691878"/>
            <a:ext cx="857250" cy="476250"/>
          </a:xfrm>
          <a:prstGeom prst="rect">
            <a:avLst/>
          </a:prstGeom>
          <a:noFill/>
          <a:ln>
            <a:noFill/>
          </a:ln>
        </p:spPr>
      </p:pic>
      <p:sp>
        <p:nvSpPr>
          <p:cNvPr id="288" name="Google Shape;288;p24"/>
          <p:cNvSpPr txBox="1"/>
          <p:nvPr/>
        </p:nvSpPr>
        <p:spPr>
          <a:xfrm>
            <a:off x="1666875" y="1586210"/>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Lato"/>
                <a:ea typeface="Lato"/>
                <a:cs typeface="Lato"/>
                <a:sym typeface="Lato"/>
              </a:rPr>
              <a:t>https://media.istockphoto.com/id/1477131540/photo/travelers-walking-with-luggage-at-airport.jpg?s=612x612&amp;w=0&amp;k=20&amp;c=yVFByx0UYFu9mmAxuA2ob45phxjch4LO5Ms820JC3s0=</a:t>
            </a:r>
            <a:endParaRPr/>
          </a:p>
        </p:txBody>
      </p:sp>
      <p:sp>
        <p:nvSpPr>
          <p:cNvPr id="289" name="Google Shape;289;p24"/>
          <p:cNvSpPr txBox="1"/>
          <p:nvPr/>
        </p:nvSpPr>
        <p:spPr>
          <a:xfrm>
            <a:off x="1666875" y="2030015"/>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a:ea typeface="Lato"/>
                <a:cs typeface="Lato"/>
                <a:sym typeface="Lato"/>
              </a:rPr>
              <a:t xml:space="preserve">Source: </a:t>
            </a:r>
            <a:r>
              <a:rPr lang="en-US" sz="1200" b="0" i="0" u="none" strike="noStrike" cap="none">
                <a:solidFill>
                  <a:srgbClr val="4F46E5"/>
                </a:solidFill>
                <a:latin typeface="Lato"/>
                <a:ea typeface="Lato"/>
                <a:cs typeface="Lato"/>
                <a:sym typeface="Lato"/>
              </a:rPr>
              <a:t>www.istockphoto.com</a:t>
            </a:r>
            <a:endParaRPr/>
          </a:p>
        </p:txBody>
      </p:sp>
      <p:pic>
        <p:nvPicPr>
          <p:cNvPr id="290" name="Google Shape;290;p24" descr="image.png"/>
          <p:cNvPicPr preferRelativeResize="0"/>
          <p:nvPr/>
        </p:nvPicPr>
        <p:blipFill rotWithShape="1">
          <a:blip r:embed="rId5">
            <a:alphaModFix/>
          </a:blip>
          <a:srcRect/>
          <a:stretch/>
        </p:blipFill>
        <p:spPr>
          <a:xfrm>
            <a:off x="571500" y="2575619"/>
            <a:ext cx="857250" cy="476250"/>
          </a:xfrm>
          <a:prstGeom prst="rect">
            <a:avLst/>
          </a:prstGeom>
          <a:noFill/>
          <a:ln>
            <a:noFill/>
          </a:ln>
        </p:spPr>
      </p:pic>
      <p:sp>
        <p:nvSpPr>
          <p:cNvPr id="291" name="Google Shape;291;p24"/>
          <p:cNvSpPr txBox="1"/>
          <p:nvPr/>
        </p:nvSpPr>
        <p:spPr>
          <a:xfrm>
            <a:off x="1666875" y="2569071"/>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Lato"/>
                <a:ea typeface="Lato"/>
                <a:cs typeface="Lato"/>
                <a:sym typeface="Lato"/>
              </a:rPr>
              <a:t>https://dfjx2uxqg3cgi.cloudfront.net/img/photo/187086/187086_00_2x.jpg?20190906014217</a:t>
            </a:r>
            <a:endParaRPr/>
          </a:p>
        </p:txBody>
      </p:sp>
      <p:sp>
        <p:nvSpPr>
          <p:cNvPr id="292" name="Google Shape;292;p24"/>
          <p:cNvSpPr txBox="1"/>
          <p:nvPr/>
        </p:nvSpPr>
        <p:spPr>
          <a:xfrm>
            <a:off x="1666875" y="2814786"/>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a:ea typeface="Lato"/>
                <a:cs typeface="Lato"/>
                <a:sym typeface="Lato"/>
              </a:rPr>
              <a:t xml:space="preserve">Source: </a:t>
            </a:r>
            <a:r>
              <a:rPr lang="en-US" sz="1200" b="0" i="0" u="none" strike="noStrike" cap="none">
                <a:solidFill>
                  <a:srgbClr val="4F46E5"/>
                </a:solidFill>
                <a:latin typeface="Lato"/>
                <a:ea typeface="Lato"/>
                <a:cs typeface="Lato"/>
                <a:sym typeface="Lato"/>
              </a:rPr>
              <a:t>www.youworkforthem.com</a:t>
            </a:r>
            <a:endParaRPr/>
          </a:p>
        </p:txBody>
      </p:sp>
      <p:pic>
        <p:nvPicPr>
          <p:cNvPr id="293" name="Google Shape;293;p24" descr="image.png"/>
          <p:cNvPicPr preferRelativeResize="0"/>
          <p:nvPr/>
        </p:nvPicPr>
        <p:blipFill rotWithShape="1">
          <a:blip r:embed="rId6">
            <a:alphaModFix/>
          </a:blip>
          <a:srcRect/>
          <a:stretch/>
        </p:blipFill>
        <p:spPr>
          <a:xfrm>
            <a:off x="571500" y="3360390"/>
            <a:ext cx="857250" cy="476250"/>
          </a:xfrm>
          <a:prstGeom prst="rect">
            <a:avLst/>
          </a:prstGeom>
          <a:noFill/>
          <a:ln>
            <a:noFill/>
          </a:ln>
        </p:spPr>
      </p:pic>
      <p:sp>
        <p:nvSpPr>
          <p:cNvPr id="294" name="Google Shape;294;p24"/>
          <p:cNvSpPr txBox="1"/>
          <p:nvPr/>
        </p:nvSpPr>
        <p:spPr>
          <a:xfrm>
            <a:off x="1666875" y="3353841"/>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Lato"/>
                <a:ea typeface="Lato"/>
                <a:cs typeface="Lato"/>
                <a:sym typeface="Lato"/>
              </a:rPr>
              <a:t>https://png.pngtree.com/thumb_back/fw800/background/20250709/pngtree-abstract-representation-of-digital-data-flow-with-vibrant-colors-and-wave-image_17486979.webp</a:t>
            </a:r>
            <a:endParaRPr/>
          </a:p>
        </p:txBody>
      </p:sp>
      <p:sp>
        <p:nvSpPr>
          <p:cNvPr id="295" name="Google Shape;295;p24"/>
          <p:cNvSpPr txBox="1"/>
          <p:nvPr/>
        </p:nvSpPr>
        <p:spPr>
          <a:xfrm>
            <a:off x="1666875" y="3599557"/>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a:ea typeface="Lato"/>
                <a:cs typeface="Lato"/>
                <a:sym typeface="Lato"/>
              </a:rPr>
              <a:t xml:space="preserve">Source: </a:t>
            </a:r>
            <a:r>
              <a:rPr lang="en-US" sz="1200" b="0" i="0" u="none" strike="noStrike" cap="none">
                <a:solidFill>
                  <a:srgbClr val="4F46E5"/>
                </a:solidFill>
                <a:latin typeface="Lato"/>
                <a:ea typeface="Lato"/>
                <a:cs typeface="Lato"/>
                <a:sym typeface="Lato"/>
              </a:rPr>
              <a:t>pngtree.com</a:t>
            </a:r>
            <a:endParaRPr/>
          </a:p>
        </p:txBody>
      </p:sp>
      <p:pic>
        <p:nvPicPr>
          <p:cNvPr id="296" name="Google Shape;296;p24" descr="image.png"/>
          <p:cNvPicPr preferRelativeResize="0"/>
          <p:nvPr/>
        </p:nvPicPr>
        <p:blipFill rotWithShape="1">
          <a:blip r:embed="rId7">
            <a:alphaModFix/>
          </a:blip>
          <a:srcRect/>
          <a:stretch/>
        </p:blipFill>
        <p:spPr>
          <a:xfrm>
            <a:off x="571500" y="4145160"/>
            <a:ext cx="857250" cy="476250"/>
          </a:xfrm>
          <a:prstGeom prst="rect">
            <a:avLst/>
          </a:prstGeom>
          <a:noFill/>
          <a:ln>
            <a:noFill/>
          </a:ln>
        </p:spPr>
      </p:pic>
      <p:sp>
        <p:nvSpPr>
          <p:cNvPr id="297" name="Google Shape;297;p24"/>
          <p:cNvSpPr txBox="1"/>
          <p:nvPr/>
        </p:nvSpPr>
        <p:spPr>
          <a:xfrm>
            <a:off x="1666875" y="4138612"/>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Lato"/>
                <a:ea typeface="Lato"/>
                <a:cs typeface="Lato"/>
                <a:sym typeface="Lato"/>
              </a:rPr>
              <a:t>https://miro.medium.com/v2/resize:fit:1400/1*EXNiT-NvQ8XSSQPS33DldA@2x.jpeg</a:t>
            </a:r>
            <a:endParaRPr/>
          </a:p>
        </p:txBody>
      </p:sp>
      <p:sp>
        <p:nvSpPr>
          <p:cNvPr id="298" name="Google Shape;298;p24"/>
          <p:cNvSpPr txBox="1"/>
          <p:nvPr/>
        </p:nvSpPr>
        <p:spPr>
          <a:xfrm>
            <a:off x="1666875" y="4384327"/>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a:ea typeface="Lato"/>
                <a:cs typeface="Lato"/>
                <a:sym typeface="Lato"/>
              </a:rPr>
              <a:t xml:space="preserve">Source: </a:t>
            </a:r>
            <a:r>
              <a:rPr lang="en-US" sz="1200" b="0" i="0" u="none" strike="noStrike" cap="none">
                <a:solidFill>
                  <a:srgbClr val="4F46E5"/>
                </a:solidFill>
                <a:latin typeface="Lato"/>
                <a:ea typeface="Lato"/>
                <a:cs typeface="Lato"/>
                <a:sym typeface="Lato"/>
              </a:rPr>
              <a:t>medium.com</a:t>
            </a:r>
            <a:endParaRPr/>
          </a:p>
        </p:txBody>
      </p:sp>
      <p:pic>
        <p:nvPicPr>
          <p:cNvPr id="299" name="Google Shape;299;p24" descr="image.png"/>
          <p:cNvPicPr preferRelativeResize="0"/>
          <p:nvPr/>
        </p:nvPicPr>
        <p:blipFill rotWithShape="1">
          <a:blip r:embed="rId8">
            <a:alphaModFix/>
          </a:blip>
          <a:srcRect/>
          <a:stretch/>
        </p:blipFill>
        <p:spPr>
          <a:xfrm>
            <a:off x="571500" y="4929931"/>
            <a:ext cx="857250" cy="476250"/>
          </a:xfrm>
          <a:prstGeom prst="rect">
            <a:avLst/>
          </a:prstGeom>
          <a:noFill/>
          <a:ln>
            <a:noFill/>
          </a:ln>
        </p:spPr>
      </p:pic>
      <p:sp>
        <p:nvSpPr>
          <p:cNvPr id="300" name="Google Shape;300;p24"/>
          <p:cNvSpPr txBox="1"/>
          <p:nvPr/>
        </p:nvSpPr>
        <p:spPr>
          <a:xfrm>
            <a:off x="1666875" y="4923383"/>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Lato"/>
                <a:ea typeface="Lato"/>
                <a:cs typeface="Lato"/>
                <a:sym typeface="Lato"/>
              </a:rPr>
              <a:t>https://fastsolutions.com/wp-content/uploads/2024/12/enclosed-bravo-cart-768x493.png</a:t>
            </a:r>
            <a:endParaRPr/>
          </a:p>
        </p:txBody>
      </p:sp>
      <p:sp>
        <p:nvSpPr>
          <p:cNvPr id="301" name="Google Shape;301;p24"/>
          <p:cNvSpPr txBox="1"/>
          <p:nvPr/>
        </p:nvSpPr>
        <p:spPr>
          <a:xfrm>
            <a:off x="1666875" y="5169098"/>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a:ea typeface="Lato"/>
                <a:cs typeface="Lato"/>
                <a:sym typeface="Lato"/>
              </a:rPr>
              <a:t xml:space="preserve">Source: </a:t>
            </a:r>
            <a:r>
              <a:rPr lang="en-US" sz="1200" b="0" i="0" u="none" strike="noStrike" cap="none">
                <a:solidFill>
                  <a:srgbClr val="4F46E5"/>
                </a:solidFill>
                <a:latin typeface="Lato"/>
                <a:ea typeface="Lato"/>
                <a:cs typeface="Lato"/>
                <a:sym typeface="Lato"/>
              </a:rPr>
              <a:t>fastsolutions.com</a:t>
            </a:r>
            <a:endParaRPr/>
          </a:p>
        </p:txBody>
      </p:sp>
      <p:pic>
        <p:nvPicPr>
          <p:cNvPr id="302" name="Google Shape;302;p24" descr="image.png"/>
          <p:cNvPicPr preferRelativeResize="0"/>
          <p:nvPr/>
        </p:nvPicPr>
        <p:blipFill rotWithShape="1">
          <a:blip r:embed="rId9">
            <a:alphaModFix/>
          </a:blip>
          <a:srcRect/>
          <a:stretch/>
        </p:blipFill>
        <p:spPr>
          <a:xfrm>
            <a:off x="571500" y="5813821"/>
            <a:ext cx="857250" cy="476250"/>
          </a:xfrm>
          <a:prstGeom prst="rect">
            <a:avLst/>
          </a:prstGeom>
          <a:noFill/>
          <a:ln>
            <a:noFill/>
          </a:ln>
        </p:spPr>
      </p:pic>
      <p:sp>
        <p:nvSpPr>
          <p:cNvPr id="303" name="Google Shape;303;p24"/>
          <p:cNvSpPr txBox="1"/>
          <p:nvPr/>
        </p:nvSpPr>
        <p:spPr>
          <a:xfrm>
            <a:off x="1666875" y="5708153"/>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Lato"/>
                <a:ea typeface="Lato"/>
                <a:cs typeface="Lato"/>
                <a:sym typeface="Lato"/>
              </a:rPr>
              <a:t>https://media.hswstatic.com/eyJidWNrZXQiOiJjb250ZW50Lmhzd3N0YXRpYy5jb20iLCJrZXkiOiJnaWZcL2Fpci10cmFmZmljLWNvbnRyb2wtZWxlbWVudHMuZ2lmIiwiZWRpdHMiOnsicmVzaXplIjp7IndpZHRoIjoyOTB9fX0=</a:t>
            </a:r>
            <a:endParaRPr/>
          </a:p>
        </p:txBody>
      </p:sp>
      <p:sp>
        <p:nvSpPr>
          <p:cNvPr id="304" name="Google Shape;304;p24"/>
          <p:cNvSpPr txBox="1"/>
          <p:nvPr/>
        </p:nvSpPr>
        <p:spPr>
          <a:xfrm>
            <a:off x="1666875" y="6151959"/>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Lato"/>
                <a:ea typeface="Lato"/>
                <a:cs typeface="Lato"/>
                <a:sym typeface="Lato"/>
              </a:rPr>
              <a:t xml:space="preserve">Source: </a:t>
            </a:r>
            <a:r>
              <a:rPr lang="en-US" sz="1200" b="0" i="0" u="none" strike="noStrike" cap="none">
                <a:solidFill>
                  <a:srgbClr val="4F46E5"/>
                </a:solidFill>
                <a:latin typeface="Lato"/>
                <a:ea typeface="Lato"/>
                <a:cs typeface="Lato"/>
                <a:sym typeface="Lato"/>
              </a:rPr>
              <a:t>science.howstuffworks.com</a:t>
            </a:r>
            <a:endParaRPr/>
          </a:p>
        </p:txBody>
      </p:sp>
      <p:sp>
        <p:nvSpPr>
          <p:cNvPr id="305" name="Google Shape;305;p24"/>
          <p:cNvSpPr txBox="1"/>
          <p:nvPr/>
        </p:nvSpPr>
        <p:spPr>
          <a:xfrm>
            <a:off x="571500" y="319385"/>
            <a:ext cx="1160145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SemiBold"/>
                <a:ea typeface="Poppins SemiBold"/>
                <a:cs typeface="Poppins SemiBold"/>
                <a:sym typeface="Poppins SemiBold"/>
              </a:rPr>
              <a:t>Image Sources</a:t>
            </a:r>
            <a:endParaRPr/>
          </a:p>
        </p:txBody>
      </p:sp>
      <p:sp>
        <p:nvSpPr>
          <p:cNvPr id="306" name="Google Shape;306;p24"/>
          <p:cNvSpPr/>
          <p:nvPr/>
        </p:nvSpPr>
        <p:spPr>
          <a:xfrm>
            <a:off x="571500" y="1033760"/>
            <a:ext cx="11049000" cy="2857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877</Words>
  <Application>Microsoft Macintosh PowerPoint</Application>
  <PresentationFormat>Widescreen</PresentationFormat>
  <Paragraphs>96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Lato</vt:lpstr>
      <vt:lpstr>Poppins</vt:lpstr>
      <vt:lpstr>Calibri</vt:lpstr>
      <vt:lpstr>Arial</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3</cp:revision>
  <dcterms:modified xsi:type="dcterms:W3CDTF">2026-04-05T12:54:27Z</dcterms:modified>
</cp:coreProperties>
</file>