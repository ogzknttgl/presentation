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Poppins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  <p:embeddedFont>
      <p:font typeface="Lato Light"/>
      <p:regular r:id="rId30"/>
      <p:bold r:id="rId31"/>
      <p:italic r:id="rId32"/>
      <p:boldItalic r:id="rId33"/>
    </p:embeddedFont>
    <p:embeddedFont>
      <p:font typeface="Lato Black"/>
      <p:bold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E47EA0D-ED17-42DF-B661-C0AC4E5A0F2B}">
  <a:tblStyle styleId="{4E47EA0D-ED17-42DF-B661-C0AC4E5A0F2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oppins-regular.fntdata"/><Relationship Id="rId21" Type="http://schemas.openxmlformats.org/officeDocument/2006/relationships/slide" Target="slides/slide15.xml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Light-bold.fntdata"/><Relationship Id="rId30" Type="http://schemas.openxmlformats.org/officeDocument/2006/relationships/font" Target="fonts/LatoLight-regular.fntdata"/><Relationship Id="rId11" Type="http://schemas.openxmlformats.org/officeDocument/2006/relationships/slide" Target="slides/slide5.xml"/><Relationship Id="rId33" Type="http://schemas.openxmlformats.org/officeDocument/2006/relationships/font" Target="fonts/LatoLight-boldItalic.fntdata"/><Relationship Id="rId10" Type="http://schemas.openxmlformats.org/officeDocument/2006/relationships/slide" Target="slides/slide4.xml"/><Relationship Id="rId32" Type="http://schemas.openxmlformats.org/officeDocument/2006/relationships/font" Target="fonts/LatoLight-italic.fntdata"/><Relationship Id="rId13" Type="http://schemas.openxmlformats.org/officeDocument/2006/relationships/slide" Target="slides/slide7.xml"/><Relationship Id="rId35" Type="http://schemas.openxmlformats.org/officeDocument/2006/relationships/font" Target="fonts/LatoBlack-boldItalic.fntdata"/><Relationship Id="rId12" Type="http://schemas.openxmlformats.org/officeDocument/2006/relationships/slide" Target="slides/slide6.xml"/><Relationship Id="rId34" Type="http://schemas.openxmlformats.org/officeDocument/2006/relationships/font" Target="fonts/LatoBlack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10" Type="http://schemas.openxmlformats.org/officeDocument/2006/relationships/image" Target="../media/image12.png"/><Relationship Id="rId9" Type="http://schemas.openxmlformats.org/officeDocument/2006/relationships/image" Target="../media/image21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22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20.png"/><Relationship Id="rId6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24.png"/><Relationship Id="rId6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495300" y="1624012"/>
            <a:ext cx="11201400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 Model of Classroom Research in Action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557462" y="3624262"/>
            <a:ext cx="70770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Lato Light"/>
                <a:ea typeface="Lato Light"/>
                <a:cs typeface="Lato Light"/>
                <a:sym typeface="Lato Light"/>
              </a:rPr>
              <a:t>Simulation-Action-Research (SAR): Analysis of the 1999 Framework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4757737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Oğuz Kaan Tuğlu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5119687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Course: SEN601 - Review of delMas, Garfield, &amp; Chance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1449050" y="6391275"/>
            <a:ext cx="31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095375" y="3171825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Problem: Statistical Reasoning Gaps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95375" y="3600450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Methodology Part 1: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Diagnosis &amp; Intervention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95375" y="4029075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Methodology Part 2: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Breakthrough Discovery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95375" y="4457700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Methodology Part 3: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Metacognitive Solution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67500" y="3171825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Evidence: Solving the Gap via Prediction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667500" y="3600450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Qualitative Data: Types of Student Reasoning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667500" y="4029075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Scaling: Collaborative Multi-Site Implementation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667500" y="4457700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Strategic Findings for Software Design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62000" y="6858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PRESENTATION AGENDA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62000" y="137160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11449050" y="6391275"/>
            <a:ext cx="31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/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1718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6004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0290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4577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1718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6004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40290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445770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362200"/>
            <a:ext cx="50958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762000" y="2195512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The Failure of Traditional Inference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62000" y="2662237"/>
            <a:ext cx="50958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Despite years of instruction, students fail to understand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Sampling Distributions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The delMas (1999) study identifies three core gaps: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371725"/>
            <a:ext cx="50768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1095375" y="3709987"/>
            <a:ext cx="4762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Representativeness Heuristic: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Expecting a sample to look like a tiny "mirror" of the population.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095375" y="4424362"/>
            <a:ext cx="4762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Static Thinking: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Treating probability as a formula rather than a stochastic process.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095375" y="5138737"/>
            <a:ext cx="4762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Resistance: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Learners filter out visual data that contradicts their initial biases.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762000" y="6858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PROBLEM: PERSISTENT MISCONCEPTIONS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762000" y="137160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11449050" y="6391275"/>
            <a:ext cx="375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/>
          </a:p>
        </p:txBody>
      </p:sp>
      <p:pic>
        <p:nvPicPr>
          <p:cNvPr descr="image.png" id="132" name="Google Shape;13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7099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4243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13873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762000" y="2695575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Stages 1 &amp; 2: Finding the "Action"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762000" y="3162300"/>
            <a:ext cx="5095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first phase of the SAR loop involves identifying the learning block and implementing a technology tool.</a:t>
            </a:r>
            <a:endParaRPr/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2990850"/>
            <a:ext cx="45053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6629400" y="3667125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Researching the source of misconceptions: Are they linguistic, mathematical, or cognitive?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095375" y="3924300"/>
            <a:ext cx="4762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Diagnose: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Using graphics-based pre-tests to uncover why students ignore sampling variability.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095375" y="4638675"/>
            <a:ext cx="4762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Act: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Deploying the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Sampling Distributions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software—a "Microworld" for observation.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762000" y="6858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SAR METHODOLOGY: PART 1 - DIAGNOSIS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762000" y="137160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11449050" y="6391275"/>
            <a:ext cx="35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04</a:t>
            </a:r>
            <a:endParaRPr/>
          </a:p>
        </p:txBody>
      </p:sp>
      <p:pic>
        <p:nvPicPr>
          <p:cNvPr descr="image.png" id="150" name="Google Shape;15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9243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63867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62200"/>
            <a:ext cx="50958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9" name="Google Shape;15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371725"/>
            <a:ext cx="50768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6334125" y="2481262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Stage 3: The Discovery of Failure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334125" y="2947987"/>
            <a:ext cx="5095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is where the "Action Research" aspect becomes critical. The researchers observed that: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667500" y="3709987"/>
            <a:ext cx="4762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Passive Tech: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Version 1 students followed directions like a recipe, but didn't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think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667500" y="4424362"/>
            <a:ext cx="4762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Failed Discovery: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Simply "seeing" the simulation did not change their mental models.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667500" y="5138737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Accuracy: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Post-test results remained at a poor 16%.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762000" y="6858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SAR METHODOLOGY: PART 2 - OBSERVATION</a:t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762000" y="137160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11449050" y="6391275"/>
            <a:ext cx="36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05</a:t>
            </a:r>
            <a:endParaRPr/>
          </a:p>
        </p:txBody>
      </p:sp>
      <p:pic>
        <p:nvPicPr>
          <p:cNvPr descr="image.png" id="168" name="Google Shape;16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7099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4243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513873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38287"/>
            <a:ext cx="10668000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795712"/>
            <a:ext cx="33654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13200" y="3795712"/>
            <a:ext cx="33654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4400" y="3795712"/>
            <a:ext cx="3365599" cy="27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1066800" y="1843087"/>
            <a:ext cx="1056132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65F46"/>
                </a:solidFill>
                <a:latin typeface="Poppins"/>
                <a:ea typeface="Poppins"/>
                <a:cs typeface="Poppins"/>
                <a:sym typeface="Poppins"/>
              </a:rPr>
              <a:t>Stage 4: Refining the Pedagogical Strategy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1066800" y="2443162"/>
            <a:ext cx="10058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Based on the failure of Stage 3, the researchers developed the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Metacognitive Conflict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model. This was the methodological key to solving the learning gap.</a:t>
            </a:r>
            <a:endParaRPr/>
          </a:p>
        </p:txBody>
      </p:sp>
      <p:pic>
        <p:nvPicPr>
          <p:cNvPr descr="image.png" id="183" name="Google Shape;18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4090987"/>
            <a:ext cx="2774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1057275" y="4576762"/>
            <a:ext cx="291364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Cognitive Dissonance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1057275" y="5176837"/>
            <a:ext cx="27749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Forcing the student to confront their bias through forced prediction.</a:t>
            </a:r>
            <a:endParaRPr/>
          </a:p>
        </p:txBody>
      </p:sp>
      <p:pic>
        <p:nvPicPr>
          <p:cNvPr descr="image.png" id="186" name="Google Shape;186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08475" y="4090987"/>
            <a:ext cx="2774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4708475" y="4576762"/>
            <a:ext cx="291364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Process Integration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4708475" y="5176837"/>
            <a:ext cx="27749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Refining the activity from "Watch and See" to "Predict and Evaluate."</a:t>
            </a:r>
            <a:endParaRPr/>
          </a:p>
        </p:txBody>
      </p:sp>
      <p:pic>
        <p:nvPicPr>
          <p:cNvPr descr="image.png" id="189" name="Google Shape;189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59675" y="4090987"/>
            <a:ext cx="2775049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8359675" y="4576762"/>
            <a:ext cx="291380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Empirical Proof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8359675" y="5176837"/>
            <a:ext cx="27750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Using the software as a discrediting evidence tool for misconceptions.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762000" y="452437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SAR METHODOLOGY: PART 3 - THE PIVOT</a:t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762000" y="1138237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11483225" y="6391275"/>
            <a:ext cx="36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6735" y="3100387"/>
            <a:ext cx="8572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0445" y="3100387"/>
            <a:ext cx="8572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54155" y="3100387"/>
            <a:ext cx="8572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27865" y="310038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762000" y="4200525"/>
            <a:ext cx="1066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762000" y="4291012"/>
            <a:ext cx="234687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Predict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Student MUST sketch the histogram guess first.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3535709" y="4291012"/>
            <a:ext cx="234687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Test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Run simulation to generate empirical data.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6309419" y="4291012"/>
            <a:ext cx="234687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Confront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See the "mismatch" between guess and reality.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9083129" y="4291012"/>
            <a:ext cx="234687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Reflect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Resolve the gap via justifications.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762000" y="6858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SOLUTION: THE CONFLICT MODEL</a:t>
            </a:r>
            <a:endParaRPr/>
          </a:p>
        </p:txBody>
      </p:sp>
      <p:sp>
        <p:nvSpPr>
          <p:cNvPr id="211" name="Google Shape;211;p19"/>
          <p:cNvSpPr/>
          <p:nvPr/>
        </p:nvSpPr>
        <p:spPr>
          <a:xfrm>
            <a:off x="762000" y="137160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11449050" y="6391275"/>
            <a:ext cx="296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362200"/>
            <a:ext cx="50958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762000" y="2481262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Based on Posner et al. (1982)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762000" y="2947987"/>
            <a:ext cx="50958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Real conceptual change only occurs when the learner is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Dissatisfied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with their existing view. The SAR methodology solved the problem by:</a:t>
            </a:r>
            <a:endParaRPr/>
          </a:p>
        </p:txBody>
      </p:sp>
      <p:pic>
        <p:nvPicPr>
          <p:cNvPr descr="image.png" id="222" name="Google Shape;22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371725"/>
            <a:ext cx="50768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0"/>
          <p:cNvSpPr txBox="1"/>
          <p:nvPr/>
        </p:nvSpPr>
        <p:spPr>
          <a:xfrm>
            <a:off x="1095375" y="3995737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Creating a personal investment (the prediction).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1095375" y="4424362"/>
            <a:ext cx="4762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Providing an undeniable "Anomaly" (the simulation results).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1095375" y="5138737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Forcing accommodation through graphical comparison.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762000" y="6858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FOUNDATION: CONCEPTUAL CHANGE</a:t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762000" y="137160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11449050" y="6391275"/>
            <a:ext cx="307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08</a:t>
            </a:r>
            <a:endParaRPr/>
          </a:p>
        </p:txBody>
      </p:sp>
      <p:pic>
        <p:nvPicPr>
          <p:cNvPr descr="image.png" id="229" name="Google Shape;22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9957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4243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13873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71650"/>
            <a:ext cx="10668000" cy="451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762000" y="5705475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Quantitative proof that the "Action Research" refinement cycle solved the learning hurdle.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762000" y="6858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EVIDENCE: SOLVING THE GAP</a:t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762000" y="137160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11449050" y="6391275"/>
            <a:ext cx="1714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362200"/>
            <a:ext cx="50958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762000" y="2738437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Key Interface Features</a:t>
            </a:r>
            <a:endParaRPr/>
          </a:p>
        </p:txBody>
      </p:sp>
      <p:pic>
        <p:nvPicPr>
          <p:cNvPr descr="image.png" id="251" name="Google Shape;25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371725"/>
            <a:ext cx="50768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 txBox="1"/>
          <p:nvPr/>
        </p:nvSpPr>
        <p:spPr>
          <a:xfrm>
            <a:off x="1095375" y="3167062"/>
            <a:ext cx="4762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Flexible Population: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Students "push" distributions into irregular shapes.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1095375" y="3881437"/>
            <a:ext cx="4762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Overlay Templates: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Superimposing normal curves over empirical data.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1095375" y="4595812"/>
            <a:ext cx="4762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Numerical Stability: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Real-time comparison of sample standard deviation vs $\sigma/\sqrt{n}$.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762000" y="6858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SAMPLING MICROWORLD TOOL</a:t>
            </a:r>
            <a:endParaRPr/>
          </a:p>
        </p:txBody>
      </p:sp>
      <p:sp>
        <p:nvSpPr>
          <p:cNvPr id="256" name="Google Shape;256;p22"/>
          <p:cNvSpPr/>
          <p:nvPr/>
        </p:nvSpPr>
        <p:spPr>
          <a:xfrm>
            <a:off x="762000" y="137160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11449050" y="6391275"/>
            <a:ext cx="34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10</a:t>
            </a:r>
            <a:endParaRPr/>
          </a:p>
        </p:txBody>
      </p:sp>
      <p:pic>
        <p:nvPicPr>
          <p:cNvPr descr="image.png" id="258" name="Google Shape;25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1670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8814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59581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7" name="Google Shape;267;p23"/>
          <p:cNvGraphicFramePr/>
          <p:nvPr/>
        </p:nvGraphicFramePr>
        <p:xfrm>
          <a:off x="762000" y="25717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{4E47EA0D-ED17-42DF-B661-C0AC4E5A0F2B}</a:tableStyleId>
              </a:tblPr>
              <a:tblGrid>
                <a:gridCol w="2128400"/>
                <a:gridCol w="8539600"/>
              </a:tblGrid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Reasoning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Definition in delMas Study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Correct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Exact identification of shape and variance relative to $n$.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Good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Understands variance decreases as $n$ increases, with minor shape errors.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Representative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Thinking larger samples must look </a:t>
                      </a:r>
                      <a:r>
                        <a:rPr b="0" i="1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more</a:t>
                      </a: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like the irregular population.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 to 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Correctly identifies that Larger samples lead to Smaller variability.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8" name="Google Shape;268;p23"/>
          <p:cNvSpPr/>
          <p:nvPr/>
        </p:nvSpPr>
        <p:spPr>
          <a:xfrm>
            <a:off x="762000" y="3133725"/>
            <a:ext cx="2128391" cy="190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2890391" y="3133725"/>
            <a:ext cx="8539608" cy="190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762000" y="3729037"/>
            <a:ext cx="21283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2890391" y="3729037"/>
            <a:ext cx="85396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762000" y="4310062"/>
            <a:ext cx="21283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2890391" y="4310062"/>
            <a:ext cx="85396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762000" y="4891087"/>
            <a:ext cx="21283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2890391" y="4891087"/>
            <a:ext cx="85396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762000" y="5472112"/>
            <a:ext cx="21283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2890391" y="5472112"/>
            <a:ext cx="85396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 txBox="1"/>
          <p:nvPr/>
        </p:nvSpPr>
        <p:spPr>
          <a:xfrm>
            <a:off x="762000" y="6858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TYPES OF STUDENT REASONING</a:t>
            </a:r>
            <a:endParaRPr/>
          </a:p>
        </p:txBody>
      </p:sp>
      <p:sp>
        <p:nvSpPr>
          <p:cNvPr id="279" name="Google Shape;279;p23"/>
          <p:cNvSpPr/>
          <p:nvPr/>
        </p:nvSpPr>
        <p:spPr>
          <a:xfrm>
            <a:off x="762000" y="137160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 txBox="1"/>
          <p:nvPr/>
        </p:nvSpPr>
        <p:spPr>
          <a:xfrm>
            <a:off x="11449050" y="6391275"/>
            <a:ext cx="31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28825"/>
            <a:ext cx="50958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 txBox="1"/>
          <p:nvPr/>
        </p:nvSpPr>
        <p:spPr>
          <a:xfrm>
            <a:off x="762000" y="5553075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Finding: The methodology solved reasoning gaps regardless of the student's background.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762000" y="2290762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Collaborative Institutional Proof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762000" y="2757487"/>
            <a:ext cx="5095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SAR methodology was not isolated; it was scaled across three diverse educational settings:</a:t>
            </a:r>
            <a:endParaRPr/>
          </a:p>
        </p:txBody>
      </p:sp>
      <p:pic>
        <p:nvPicPr>
          <p:cNvPr descr="image.png" id="291" name="Google Shape;29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38350"/>
            <a:ext cx="50768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4"/>
          <p:cNvSpPr txBox="1"/>
          <p:nvPr/>
        </p:nvSpPr>
        <p:spPr>
          <a:xfrm>
            <a:off x="1095375" y="3519487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U. of the Pacific: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Math Dept (Business/Science majors).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1095375" y="3948112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U. of Minnesota (Ed):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Liberal Arts (Humanities majors).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1095375" y="4376737"/>
            <a:ext cx="4762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General College: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Under-prepared/Non-traditional students.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762000" y="6858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SCALING: THE MULTI-SITE STUDY</a:t>
            </a:r>
            <a:endParaRPr/>
          </a:p>
        </p:txBody>
      </p:sp>
      <p:sp>
        <p:nvSpPr>
          <p:cNvPr id="296" name="Google Shape;296;p24"/>
          <p:cNvSpPr/>
          <p:nvPr/>
        </p:nvSpPr>
        <p:spPr>
          <a:xfrm>
            <a:off x="762000" y="137160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 txBox="1"/>
          <p:nvPr/>
        </p:nvSpPr>
        <p:spPr>
          <a:xfrm>
            <a:off x="11449050" y="6391275"/>
            <a:ext cx="35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12</a:t>
            </a:r>
            <a:endParaRPr/>
          </a:p>
        </p:txBody>
      </p:sp>
      <p:pic>
        <p:nvPicPr>
          <p:cNvPr descr="image.png" id="298" name="Google Shape;29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5194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9481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37673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5" name="Google Shape;30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71650"/>
            <a:ext cx="1066800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5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 txBox="1"/>
          <p:nvPr/>
        </p:nvSpPr>
        <p:spPr>
          <a:xfrm>
            <a:off x="1057275" y="2333625"/>
            <a:ext cx="10077450" cy="746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"Technology is the laboratory, but </a:t>
            </a:r>
            <a:r>
              <a:rPr b="0" i="0" lang="en-US" sz="2100" u="none" cap="none" strike="noStrike">
                <a:solidFill>
                  <a:srgbClr val="334155"/>
                </a:solidFill>
                <a:latin typeface="Lato Black"/>
                <a:ea typeface="Lato Black"/>
                <a:cs typeface="Lato Black"/>
                <a:sym typeface="Lato Black"/>
              </a:rPr>
              <a:t>Metacognitive Pedagogy</a:t>
            </a:r>
            <a:r>
              <a:rPr b="1" i="0" lang="en-US" sz="21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is the catalyst for conceptual change."</a:t>
            </a:r>
            <a:endParaRPr/>
          </a:p>
        </p:txBody>
      </p:sp>
      <p:sp>
        <p:nvSpPr>
          <p:cNvPr id="309" name="Google Shape;309;p25"/>
          <p:cNvSpPr txBox="1"/>
          <p:nvPr/>
        </p:nvSpPr>
        <p:spPr>
          <a:xfrm>
            <a:off x="2886075" y="51435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0" name="Google Shape;310;p25"/>
          <p:cNvSpPr txBox="1"/>
          <p:nvPr/>
        </p:nvSpPr>
        <p:spPr>
          <a:xfrm>
            <a:off x="3000375" y="5143500"/>
            <a:ext cx="6572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SAR is a powerful loop for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debugging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student learning.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2886075" y="54292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3000375" y="5429250"/>
            <a:ext cx="6572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Misconceptions are persistent and require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Conflict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 break.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2886075" y="57150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3000375" y="5715000"/>
            <a:ext cx="6572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Methodological rigor turned software into a transformative educational solution.</a:t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762000" y="6858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316" name="Google Shape;316;p25"/>
          <p:cNvSpPr/>
          <p:nvPr/>
        </p:nvSpPr>
        <p:spPr>
          <a:xfrm>
            <a:off x="762000" y="137160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5"/>
          <p:cNvSpPr txBox="1"/>
          <p:nvPr/>
        </p:nvSpPr>
        <p:spPr>
          <a:xfrm>
            <a:off x="11449050" y="6391275"/>
            <a:ext cx="296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2" name="Google Shape;32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8500" y="3714750"/>
            <a:ext cx="5715000" cy="143827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6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6"/>
          <p:cNvSpPr txBox="1"/>
          <p:nvPr/>
        </p:nvSpPr>
        <p:spPr>
          <a:xfrm>
            <a:off x="495300" y="1819275"/>
            <a:ext cx="11201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Q&amp;A</a:t>
            </a:r>
            <a:endParaRPr/>
          </a:p>
        </p:txBody>
      </p:sp>
      <p:sp>
        <p:nvSpPr>
          <p:cNvPr id="326" name="Google Shape;326;p26"/>
          <p:cNvSpPr txBox="1"/>
          <p:nvPr/>
        </p:nvSpPr>
        <p:spPr>
          <a:xfrm>
            <a:off x="3286125" y="3152775"/>
            <a:ext cx="56197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Lato Light"/>
                <a:ea typeface="Lato Light"/>
                <a:cs typeface="Lato Light"/>
                <a:sym typeface="Lato Light"/>
              </a:rPr>
              <a:t>Exploring the Simulation-Action-Research Framework</a:t>
            </a:r>
            <a:endParaRPr/>
          </a:p>
        </p:txBody>
      </p:sp>
      <p:sp>
        <p:nvSpPr>
          <p:cNvPr id="327" name="Google Shape;327;p26"/>
          <p:cNvSpPr txBox="1"/>
          <p:nvPr/>
        </p:nvSpPr>
        <p:spPr>
          <a:xfrm>
            <a:off x="3238500" y="4200525"/>
            <a:ext cx="5715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Reviewer: Oğuz Kaan Tuğlu</a:t>
            </a:r>
            <a:endParaRPr/>
          </a:p>
        </p:txBody>
      </p:sp>
      <p:sp>
        <p:nvSpPr>
          <p:cNvPr id="328" name="Google Shape;328;p26"/>
          <p:cNvSpPr txBox="1"/>
          <p:nvPr/>
        </p:nvSpPr>
        <p:spPr>
          <a:xfrm>
            <a:off x="3238500" y="4676775"/>
            <a:ext cx="5715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SEN601 - delMas et al. (1999)</a:t>
            </a:r>
            <a:endParaRPr/>
          </a:p>
        </p:txBody>
      </p:sp>
      <p:sp>
        <p:nvSpPr>
          <p:cNvPr id="329" name="Google Shape;329;p26"/>
          <p:cNvSpPr txBox="1"/>
          <p:nvPr/>
        </p:nvSpPr>
        <p:spPr>
          <a:xfrm>
            <a:off x="11449050" y="6391275"/>
            <a:ext cx="31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4" name="Google Shape;33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7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7"/>
          <p:cNvSpPr txBox="1"/>
          <p:nvPr/>
        </p:nvSpPr>
        <p:spPr>
          <a:xfrm>
            <a:off x="762000" y="2933700"/>
            <a:ext cx="1066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delMas, R. C., Garfield, J., &amp; Chance, B. L. (1999).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Model of Classroom Research in Action: Developing Simulation Activities to Improve Students' Statistical Reasoning.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Journal of Statistics Education, 7(3).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DOI: 10.1080/10691898.1999.12131279</a:t>
            </a:r>
            <a:endParaRPr/>
          </a:p>
        </p:txBody>
      </p:sp>
      <p:sp>
        <p:nvSpPr>
          <p:cNvPr id="337" name="Google Shape;337;p27"/>
          <p:cNvSpPr txBox="1"/>
          <p:nvPr/>
        </p:nvSpPr>
        <p:spPr>
          <a:xfrm>
            <a:off x="762000" y="4552950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Theoretical Base: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Posner, G. J., Strike, K. A., Hewson, P. W., &amp; Gertzog, W. A. (1982). Accommodation of a Scientific Conception.</a:t>
            </a:r>
            <a:endParaRPr/>
          </a:p>
        </p:txBody>
      </p:sp>
      <p:sp>
        <p:nvSpPr>
          <p:cNvPr id="338" name="Google Shape;338;p27"/>
          <p:cNvSpPr txBox="1"/>
          <p:nvPr/>
        </p:nvSpPr>
        <p:spPr>
          <a:xfrm>
            <a:off x="762000" y="685800"/>
            <a:ext cx="112014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PRIMARY REFERENCES</a:t>
            </a:r>
            <a:endParaRPr/>
          </a:p>
        </p:txBody>
      </p:sp>
      <p:sp>
        <p:nvSpPr>
          <p:cNvPr id="339" name="Google Shape;339;p27"/>
          <p:cNvSpPr/>
          <p:nvPr/>
        </p:nvSpPr>
        <p:spPr>
          <a:xfrm>
            <a:off x="762000" y="137160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7"/>
          <p:cNvSpPr txBox="1"/>
          <p:nvPr/>
        </p:nvSpPr>
        <p:spPr>
          <a:xfrm>
            <a:off x="11449050" y="6391275"/>
            <a:ext cx="31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