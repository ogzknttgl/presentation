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7"/>
    <p:restoredTop sz="74209"/>
  </p:normalViewPr>
  <p:slideViewPr>
    <p:cSldViewPr snapToGrid="0" snapToObjects="1">
      <p:cViewPr varScale="1">
        <p:scale>
          <a:sx n="92" d="100"/>
          <a:sy n="92" d="100"/>
        </p:scale>
        <p:origin x="1560"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139921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a:t>Slide objective</a:t>
            </a:r>
            <a:endParaRPr lang="en-US"/>
          </a:p>
          <a:p>
            <a:r>
              <a:rPr lang="en-US" sz="1200"/>
              <a:t>Open the presentation by clearly introducing the topic, scope, and systematic review perspective.</a:t>
            </a:r>
            <a:endParaRPr lang="en-US"/>
          </a:p>
          <a:p>
            <a:endParaRPr lang="en-US"/>
          </a:p>
          <a:p>
            <a:r>
              <a:rPr lang="en-US" sz="1200"/>
              <a:t>Speaker note</a:t>
            </a:r>
            <a:endParaRPr lang="en-US"/>
          </a:p>
          <a:p>
            <a:r>
              <a:rPr lang="en-US" sz="1200"/>
              <a:t>In this opening slide, I will introduce the title and the academic scope of the study. The presentation focuses on how digital twin technology is used in intralogistics and warehouse control systems. I should emphasize that this is not a general narrative literature review; it is structured as a systematic review-style synthesis based on explicit research questions, search strategy, screening criteria, PRISMA flow, data extraction, and evidence-based interpretation.</a:t>
            </a:r>
            <a:endParaRPr lang="en-US"/>
          </a:p>
          <a:p>
            <a:endParaRPr lang="en-US"/>
          </a:p>
          <a:p>
            <a:r>
              <a:rPr lang="en-US" sz="1200"/>
              <a:t>The main focus is warehouse and intralogistics control decisions such as order picking, AGV/AMR routing, material handling, internal transport, smart warehouse monitoring, and production-logistics synchronization. Throughout the presentation, I will refer to the included studies using study codes such as S1-S15 for primary studies and R1-R5 for supporting review or contextual studies.</a:t>
            </a:r>
            <a:endParaRPr lang="en-US"/>
          </a:p>
          <a:p>
            <a:endParaRPr lang="en-US"/>
          </a:p>
          <a:p>
            <a:r>
              <a:rPr lang="en-US" sz="1200"/>
              <a:t>Short summary</a:t>
            </a:r>
            <a:endParaRPr lang="en-US"/>
          </a:p>
          <a:p>
            <a:r>
              <a:rPr lang="en-US" sz="1200"/>
              <a:t>This review synthesizes how digital twins are applied to intralogistics and warehouse control, and evaluates the maturity of the available evidence.</a:t>
            </a:r>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a:t>Slide objective</a:t>
            </a:r>
            <a:endParaRPr lang="en-US"/>
          </a:p>
          <a:p>
            <a:r>
              <a:rPr lang="en-US" sz="1200"/>
              <a:t>Give the audience a clear roadmap and show that the presentation follows the expected systematic review structure.</a:t>
            </a:r>
            <a:endParaRPr lang="en-US"/>
          </a:p>
          <a:p>
            <a:endParaRPr lang="en-US"/>
          </a:p>
          <a:p>
            <a:r>
              <a:rPr lang="en-US" sz="1200"/>
              <a:t>Speaker note</a:t>
            </a:r>
            <a:endParaRPr lang="en-US"/>
          </a:p>
          <a:p>
            <a:r>
              <a:rPr lang="en-US" sz="1200"/>
              <a:t>This slide presents the structure of the presentation. I will first explain the research motivation and background problem. Then I will introduce the research questions and the PICOS framework, which define the scope of the review. After that, I will describe the protocol and search strategy, followed by the inclusion and exclusion criteria and PRISMA study selection process.</a:t>
            </a:r>
            <a:endParaRPr lang="en-US"/>
          </a:p>
          <a:p>
            <a:endParaRPr lang="en-US"/>
          </a:p>
          <a:p>
            <a:r>
              <a:rPr lang="en-US" sz="1200"/>
              <a:t>The middle part of the presentation focuses on the characteristics of included studies, data extraction, and quality or evidence strength assessment. The most important part is the results section, where I answer each research question: application areas, enabling technologies, performance objectives, and research maturity. Finally, I will discuss the key findings, research gaps, limitations, conclusions, and implications for practitioners and future researchers.</a:t>
            </a:r>
            <a:endParaRPr lang="en-US"/>
          </a:p>
          <a:p>
            <a:endParaRPr lang="en-US"/>
          </a:p>
          <a:p>
            <a:r>
              <a:rPr lang="en-US" sz="1200"/>
              <a:t>Short summary</a:t>
            </a:r>
            <a:endParaRPr lang="en-US"/>
          </a:p>
          <a:p>
            <a:r>
              <a:rPr lang="en-US" sz="1200"/>
              <a:t>The presentation follows a systematic review logic: research questions, protocol, study selection, data extraction, quality assessment, results, discussion, and conclusion.</a:t>
            </a:r>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a:t>Slide objective</a:t>
            </a:r>
            <a:endParaRPr lang="en-US"/>
          </a:p>
          <a:p>
            <a:r>
              <a:rPr lang="en-US" sz="1200"/>
              <a:t>Define the practical problem and explain why digital twins matter in modern warehouse and intralogistics systems.</a:t>
            </a:r>
            <a:endParaRPr lang="en-US"/>
          </a:p>
          <a:p>
            <a:endParaRPr lang="en-US"/>
          </a:p>
          <a:p>
            <a:r>
              <a:rPr lang="en-US" sz="1200"/>
              <a:t>Speaker note</a:t>
            </a:r>
            <a:endParaRPr lang="en-US"/>
          </a:p>
          <a:p>
            <a:r>
              <a:rPr lang="en-US" sz="1200"/>
              <a:t>The main problem is that modern warehouses are no longer simple storage facilities. They are cyber-physical intralogistics systems where physical flows, data flows, human operators, robots, sensors, WMS/WCS software, and operational decisions interact continuously. This makes control decisions more dynamic and more complex than in traditional warehouse environments.</a:t>
            </a:r>
            <a:endParaRPr lang="en-US"/>
          </a:p>
          <a:p>
            <a:endParaRPr lang="en-US"/>
          </a:p>
          <a:p>
            <a:r>
              <a:rPr lang="en-US" sz="1200"/>
              <a:t>Traditional rule-based or static control approaches may be insufficient when the system includes AGVs, AMRs, conveyors, automated storage, real-time sensor data, and changing order priorities. Digital twins offer a potential solution by creating a dynamic digital representation of the physical warehouse system. This representation can support monitoring, simulation, prediction, optimization, and in more mature cases, adaptive control.</a:t>
            </a:r>
            <a:endParaRPr lang="en-US"/>
          </a:p>
          <a:p>
            <a:endParaRPr lang="en-US"/>
          </a:p>
          <a:p>
            <a:r>
              <a:rPr lang="en-US" sz="1200"/>
              <a:t>The literature is fragmented across Industry 4.0, simulation, artificial intelligence, warehouse logistics, production logistics, and systems engineering. Therefore, a systematic synthesis is useful to understand what has actually been studied, what evidence exists, and where the research gaps remain.</a:t>
            </a:r>
            <a:endParaRPr lang="en-US"/>
          </a:p>
          <a:p>
            <a:endParaRPr lang="en-US"/>
          </a:p>
          <a:p>
            <a:r>
              <a:rPr lang="en-US" sz="1200"/>
              <a:t>Short summary</a:t>
            </a:r>
            <a:endParaRPr lang="en-US"/>
          </a:p>
          <a:p>
            <a:r>
              <a:rPr lang="en-US" sz="1200"/>
              <a:t>The problem is operational complexity and fragmented evidence; digital twins are a promising decision-support and control capability for warehouse systems.</a:t>
            </a:r>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a:t>Slide objective</a:t>
            </a:r>
            <a:endParaRPr lang="en-US"/>
          </a:p>
          <a:p>
            <a:r>
              <a:rPr lang="en-US" sz="1200"/>
              <a:t>Present the research questions and explain how the PICOS framework defines the boundaries of the review.</a:t>
            </a:r>
            <a:endParaRPr lang="en-US"/>
          </a:p>
          <a:p>
            <a:endParaRPr lang="en-US"/>
          </a:p>
          <a:p>
            <a:r>
              <a:rPr lang="en-US" sz="1200"/>
              <a:t>Speaker note</a:t>
            </a:r>
            <a:endParaRPr lang="en-US"/>
          </a:p>
          <a:p>
            <a:r>
              <a:rPr lang="en-US" sz="1200"/>
              <a:t>This slide is the methodological foundation of the review. The research questions guide what I am trying to find in the literature. RQ1 asks which application areas digital twins address in intralogistics and warehouse control. RQ2 asks which enabling technologies and architectures support these applications. RQ3 focuses on the performance objectives and operational outcomes measured in the studies. RQ4 examines the maturity level of the evidence, especially whether studies remain conceptual, simulation-based, prototype-based, case-based, or closer to real industrial implementation.</a:t>
            </a:r>
            <a:endParaRPr lang="en-US"/>
          </a:p>
          <a:p>
            <a:endParaRPr lang="en-US"/>
          </a:p>
          <a:p>
            <a:r>
              <a:rPr lang="en-US" sz="1200"/>
              <a:t>The PICOS framework helps clarify the scope. The population or context includes warehouses, intralogistics systems, production logistics, order picking, AGV/AMR systems, and material handling systems. The intervention is the use of digital twins, digital shadows, cyber-physical models, simulation-based digital twins, or AI-enhanced digital twin approaches. The outcomes include throughput, travel distance, waiting time, picking time, congestion, utilization, cost, energy, and resilience. The study design includes empirical studies, simulations, prototypes, case studies, and system architecture studies.</a:t>
            </a:r>
            <a:endParaRPr lang="en-US"/>
          </a:p>
          <a:p>
            <a:endParaRPr lang="en-US"/>
          </a:p>
          <a:p>
            <a:r>
              <a:rPr lang="en-US" sz="1200"/>
              <a:t>Short summary</a:t>
            </a:r>
            <a:endParaRPr lang="en-US"/>
          </a:p>
          <a:p>
            <a:r>
              <a:rPr lang="en-US" sz="1200"/>
              <a:t>PICOS makes the review scope defensible and connects the research questions to study selection and data extraction.</a:t>
            </a:r>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a:t>Slide objective</a:t>
            </a:r>
            <a:endParaRPr lang="en-US"/>
          </a:p>
          <a:p>
            <a:r>
              <a:rPr lang="en-US" sz="1200"/>
              <a:t>Explain the search protocol in a transparent and repeatable way.</a:t>
            </a:r>
            <a:endParaRPr lang="en-US"/>
          </a:p>
          <a:p>
            <a:endParaRPr lang="en-US"/>
          </a:p>
          <a:p>
            <a:r>
              <a:rPr lang="en-US" sz="1200"/>
              <a:t>Speaker note</a:t>
            </a:r>
            <a:endParaRPr lang="en-US"/>
          </a:p>
          <a:p>
            <a:r>
              <a:rPr lang="en-US" sz="1200"/>
              <a:t>This slide explains how the search strategy was constructed. The search logic combines three groups of terms. Group A captures the digital twin concept, including terms such as digital twin, digital twins, digital shadow, and cyber-physical system. Group B captures the warehouse and intralogistics context, including warehouse, warehouse logistics, warehouse control, intralogistics, and material handling. Group C captures operational processes and automated resources, including order picking, AGV, automated guided vehicle, AMR, and autonomous mobile robot.</a:t>
            </a:r>
            <a:endParaRPr lang="en-US"/>
          </a:p>
          <a:p>
            <a:endParaRPr lang="en-US"/>
          </a:p>
          <a:p>
            <a:r>
              <a:rPr lang="en-US" sz="1200"/>
              <a:t>The combined logic is: Group A AND (Group B OR Group C). This prevents the search from becoming too broad while still capturing relevant warehouse and intralogistics control studies. The main focus is the recent literature, especially the last five years, because digital twin applications in logistics have accelerated with Industry 4.0, AI, IoT, and autonomous mobile robot technologies.</a:t>
            </a:r>
            <a:endParaRPr lang="en-US"/>
          </a:p>
          <a:p>
            <a:endParaRPr lang="en-US"/>
          </a:p>
          <a:p>
            <a:r>
              <a:rPr lang="en-US" sz="1200"/>
              <a:t>The most important point to say here is that the search strategy was designed to identify studies where digital twins are linked to warehouse or intralogistics decision-making, not merely generic Industry 4.0 discussions.</a:t>
            </a:r>
            <a:endParaRPr lang="en-US"/>
          </a:p>
          <a:p>
            <a:endParaRPr lang="en-US"/>
          </a:p>
          <a:p>
            <a:r>
              <a:rPr lang="en-US" sz="1200"/>
              <a:t>Short summary</a:t>
            </a:r>
            <a:endParaRPr lang="en-US"/>
          </a:p>
          <a:p>
            <a:r>
              <a:rPr lang="en-US" sz="1200"/>
              <a:t>The search strategy combines digital twin terms with warehouse, intralogistics, and operational control terms to form a controlled and relevant corpus.</a:t>
            </a:r>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a:t>Slide objective</a:t>
            </a:r>
            <a:endParaRPr lang="en-US"/>
          </a:p>
          <a:p>
            <a:r>
              <a:rPr lang="en-US" sz="1200"/>
              <a:t>Explain why studies were included or excluded, and show that the study selection process was not arbitrary.</a:t>
            </a:r>
            <a:endParaRPr lang="en-US"/>
          </a:p>
          <a:p>
            <a:endParaRPr lang="en-US"/>
          </a:p>
          <a:p>
            <a:r>
              <a:rPr lang="en-US" sz="1200"/>
              <a:t>Speaker note</a:t>
            </a:r>
            <a:endParaRPr lang="en-US"/>
          </a:p>
          <a:p>
            <a:r>
              <a:rPr lang="en-US" sz="1200"/>
              <a:t>This slide describes the inclusion and exclusion criteria. Studies were included if they were peer-reviewed, written in English, and directly related to warehouse logistics, intralogistics, material handling, order picking, AGV/AMR systems, or warehouse control. They also needed to include a clear digital twin, digital shadow, cyber-physical model, simulation-based DT, or architecture-oriented DT contribution.</a:t>
            </a:r>
            <a:endParaRPr lang="en-US"/>
          </a:p>
          <a:p>
            <a:endParaRPr lang="en-US"/>
          </a:p>
          <a:p>
            <a:r>
              <a:rPr lang="en-US" sz="1200"/>
              <a:t>Studies were excluded if they were generic Industry 4.0 or supply chain papers without a clear intralogistics or warehouse control focus. Papers were also excluded if they only mentioned digital twins superficially, if they were not academic sources, if they were purely conceptual without sufficient methodological detail, or if they did not provide evidence related to control, performance, or decision support.</a:t>
            </a:r>
            <a:endParaRPr lang="en-US"/>
          </a:p>
          <a:p>
            <a:endParaRPr lang="en-US"/>
          </a:p>
          <a:p>
            <a:r>
              <a:rPr lang="en-US" sz="1200"/>
              <a:t>A strong sentence to use here is: I did not include every paper that used the phrase digital twin; I included studies that provided evidence relevant to warehouse or intralogistics control.</a:t>
            </a:r>
            <a:endParaRPr lang="en-US"/>
          </a:p>
          <a:p>
            <a:endParaRPr lang="en-US"/>
          </a:p>
          <a:p>
            <a:r>
              <a:rPr lang="en-US" sz="1200"/>
              <a:t>Short summary</a:t>
            </a:r>
            <a:endParaRPr lang="en-US"/>
          </a:p>
          <a:p>
            <a:r>
              <a:rPr lang="en-US" sz="1200"/>
              <a:t>The criteria protect the scope of the review and ensure that included papers directly support the research questions.</a:t>
            </a:r>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a:t>Slide objective</a:t>
            </a:r>
            <a:endParaRPr lang="en-US"/>
          </a:p>
          <a:p>
            <a:r>
              <a:rPr lang="en-US" sz="1200"/>
              <a:t>Walk through the PRISMA flow and explain how the final evidence base was obtained.</a:t>
            </a:r>
            <a:endParaRPr lang="en-US"/>
          </a:p>
          <a:p>
            <a:endParaRPr lang="en-US"/>
          </a:p>
          <a:p>
            <a:r>
              <a:rPr lang="en-US" sz="1200"/>
              <a:t>Speaker note</a:t>
            </a:r>
            <a:endParaRPr lang="en-US"/>
          </a:p>
          <a:p>
            <a:r>
              <a:rPr lang="en-US" sz="1200"/>
              <a:t>This slide presents the PRISMA 2020 study selection flow. I will explain it step by step. In the identification stage, records were collected from database searches using the predefined search strings. After removing duplicates and irrelevant non-academic items, the remaining records were screened by title and abstract.</a:t>
            </a:r>
            <a:endParaRPr lang="en-US"/>
          </a:p>
          <a:p>
            <a:endParaRPr lang="en-US"/>
          </a:p>
          <a:p>
            <a:r>
              <a:rPr lang="en-US" sz="1200"/>
              <a:t>During title and abstract screening, records were excluded if they were generic digital twin papers, non-logistics papers, non-warehouse papers, or insufficiently related to intralogistics control. The remaining papers were then assessed for eligibility based on whether they provided relevant evidence for the research questions. Finally, the corpus was divided into primary studies and supporting review/context papers.</a:t>
            </a:r>
            <a:endParaRPr lang="en-US"/>
          </a:p>
          <a:p>
            <a:endParaRPr lang="en-US"/>
          </a:p>
          <a:p>
            <a:r>
              <a:rPr lang="en-US" sz="1200"/>
              <a:t>In this review, S1-S15 represent the primary studies used directly in the qualitative synthesis, while R1-R5 represent supporting reviews or contextual studies. I should also be transparent that this is a coursework-level systematic review with abstract-level systematic screening; a publishable full systematic review would require broader database exports, full-text appraisal, and ideally multiple independent reviewers.</a:t>
            </a:r>
            <a:endParaRPr lang="en-US"/>
          </a:p>
          <a:p>
            <a:endParaRPr lang="en-US"/>
          </a:p>
          <a:p>
            <a:r>
              <a:rPr lang="en-US" sz="1200"/>
              <a:t>Short summary</a:t>
            </a:r>
            <a:endParaRPr lang="en-US"/>
          </a:p>
          <a:p>
            <a:r>
              <a:rPr lang="en-US" sz="1200"/>
              <a:t>The PRISMA flow shows how the review moved from the initial search records to the final primary study corpus in a transparent way.</a:t>
            </a:r>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a:t>Slide objective</a:t>
            </a:r>
            <a:endParaRPr lang="en-US"/>
          </a:p>
          <a:p>
            <a:r>
              <a:rPr lang="en-US" sz="1200"/>
              <a:t>Characterize the included studies by evidence type and show what kind of corpus the review is based on.</a:t>
            </a:r>
            <a:endParaRPr lang="en-US"/>
          </a:p>
          <a:p>
            <a:endParaRPr lang="en-US"/>
          </a:p>
          <a:p>
            <a:r>
              <a:rPr lang="en-US" sz="1200"/>
              <a:t>Speaker note</a:t>
            </a:r>
            <a:endParaRPr lang="en-US"/>
          </a:p>
          <a:p>
            <a:r>
              <a:rPr lang="en-US" sz="1200"/>
              <a:t>This slide summarizes the general characteristics of the included studies. The final evidence base includes primary studies and supporting review papers. The primary studies are not all of the same type. Some are industrial case studies, some are simulation and optimization studies, some are prototype or laboratory implementations, and some are architecture or roadmap-oriented studies.</a:t>
            </a:r>
            <a:endParaRPr lang="en-US"/>
          </a:p>
          <a:p>
            <a:endParaRPr lang="en-US"/>
          </a:p>
          <a:p>
            <a:r>
              <a:rPr lang="en-US" sz="1200"/>
              <a:t>This distinction is important because it tells us not only what has been studied, but also how mature the evidence is. For example, simulation-based studies can provide strong analytical insights, but they do not necessarily prove industrial readiness. Prototype studies show feasibility, but not always scalability. Industrial case studies provide stronger practical relevance, but they may be context-specific.</a:t>
            </a:r>
            <a:endParaRPr lang="en-US"/>
          </a:p>
          <a:p>
            <a:endParaRPr lang="en-US"/>
          </a:p>
          <a:p>
            <a:r>
              <a:rPr lang="en-US" sz="1200"/>
              <a:t>The general finding is that the literature is growing, but the evidence is still concentrated around simulation, prototypes, and limited case studies rather than long-term, closed-loop, real-time industrial deployment.</a:t>
            </a:r>
            <a:endParaRPr lang="en-US"/>
          </a:p>
          <a:p>
            <a:endParaRPr lang="en-US"/>
          </a:p>
          <a:p>
            <a:r>
              <a:rPr lang="en-US" sz="1200"/>
              <a:t>Short summary</a:t>
            </a:r>
            <a:endParaRPr lang="en-US"/>
          </a:p>
          <a:p>
            <a:r>
              <a:rPr lang="en-US" sz="1200"/>
              <a:t>The corpus includes different evidence types, and the overall maturity of the field is promising but still limited.</a:t>
            </a:r>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a:t>Slide objective</a:t>
            </a:r>
            <a:endParaRPr lang="en-US"/>
          </a:p>
          <a:p>
            <a:r>
              <a:rPr lang="en-US" sz="1200"/>
              <a:t>Introduce the study matrix and directly connect the review findings to specific papers.</a:t>
            </a:r>
            <a:endParaRPr lang="en-US"/>
          </a:p>
          <a:p>
            <a:endParaRPr lang="en-US"/>
          </a:p>
          <a:p>
            <a:r>
              <a:rPr lang="en-US" sz="1200"/>
              <a:t>Speaker note</a:t>
            </a:r>
            <a:endParaRPr lang="en-US"/>
          </a:p>
          <a:p>
            <a:r>
              <a:rPr lang="en-US" sz="1200"/>
              <a:t>This slide is important because it makes the evidence base visible. The study codes S1-S15 identify the primary studies used in the review. For example, S1 by Kawczynski et al. focuses on automated order picking and fulfillment using digital twin concepts. S2 by Legato and Mazza examines manual order picking through digital shadow or digital twin logic. S3 by Guerrazzi et al. focuses on balancing picking and outbound loading in an automated warehouse context.</a:t>
            </a:r>
            <a:endParaRPr lang="en-US"/>
          </a:p>
          <a:p>
            <a:endParaRPr lang="en-US"/>
          </a:p>
          <a:p>
            <a:r>
              <a:rPr lang="en-US" sz="1200"/>
              <a:t>S4 by Zhang et al. connects digital twin technology with deep reinforcement learning for AGV dispatching and routing. S5 by Yao et al. discusses smart warehouse digital twin standardization. S6 by Felix-Cigalat and Domingo focuses on internal transport optimization. S7 by Liu et al. addresses production-logistics synchronization. S8 by Zhao et al. uses a spatial-temporal knowledge graph for production logistics. S10 by Ferrari et al. proposes a roadmap for automated warehouse digital twins, while S15 by Zhang et al. moves toward opti-state control in smart warehousing.</a:t>
            </a:r>
            <a:endParaRPr lang="en-US"/>
          </a:p>
          <a:p>
            <a:endParaRPr lang="en-US"/>
          </a:p>
          <a:p>
            <a:r>
              <a:rPr lang="en-US" sz="1200"/>
              <a:t>The key message is that the included papers cover different layers of warehouse control, rather than a single narrow warehouse problem.</a:t>
            </a:r>
            <a:endParaRPr lang="en-US"/>
          </a:p>
          <a:p>
            <a:endParaRPr lang="en-US"/>
          </a:p>
          <a:p>
            <a:r>
              <a:rPr lang="en-US" sz="1200"/>
              <a:t>Short summary</a:t>
            </a:r>
            <a:endParaRPr lang="en-US"/>
          </a:p>
          <a:p>
            <a:r>
              <a:rPr lang="en-US" sz="1200"/>
              <a:t>The study matrix links each result to specific primary studies and makes the evidence traceable.</a:t>
            </a:r>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a:t>Slide objective</a:t>
            </a:r>
            <a:endParaRPr lang="en-US"/>
          </a:p>
          <a:p>
            <a:r>
              <a:rPr lang="en-US" sz="1200"/>
              <a:t>Explain how information was extracted from the studies in a structured way.</a:t>
            </a:r>
            <a:endParaRPr lang="en-US"/>
          </a:p>
          <a:p>
            <a:endParaRPr lang="en-US"/>
          </a:p>
          <a:p>
            <a:r>
              <a:rPr lang="en-US" sz="1200"/>
              <a:t>Speaker note</a:t>
            </a:r>
            <a:endParaRPr lang="en-US"/>
          </a:p>
          <a:p>
            <a:r>
              <a:rPr lang="en-US" sz="1200"/>
              <a:t>This slide explains the data extraction process. For each included study, I extracted bibliographic information, study characteristics, digital twin architecture features, performance outcomes, and quality indicators. Bibliographic information includes the author, year, publication venue, and domain. Study characteristics include evidence type, warehouse or intralogistics context, system boundary, and maturity level.</a:t>
            </a:r>
            <a:endParaRPr lang="en-US"/>
          </a:p>
          <a:p>
            <a:endParaRPr lang="en-US"/>
          </a:p>
          <a:p>
            <a:r>
              <a:rPr lang="en-US" sz="1200"/>
              <a:t>For the digital twin architecture, I checked whether the study described a digital twin, digital shadow, simulation model, cyber-physical integration, AI component, data synchronization mechanism, or connection to WMS/WCS/ERP systems. For outcomes, I recorded the operational objective, evaluation method, performance metrics, and reported direction of improvement.</a:t>
            </a:r>
            <a:endParaRPr lang="en-US"/>
          </a:p>
          <a:p>
            <a:endParaRPr lang="en-US"/>
          </a:p>
          <a:p>
            <a:r>
              <a:rPr lang="en-US" sz="1200"/>
              <a:t>If information was clearly inferable from context, it was recorded with a note. If the information was absent, it was marked as not specified. This is important because data extraction makes the comparison across studies more systematic rather than impression-based.</a:t>
            </a:r>
            <a:endParaRPr lang="en-US"/>
          </a:p>
          <a:p>
            <a:endParaRPr lang="en-US"/>
          </a:p>
          <a:p>
            <a:r>
              <a:rPr lang="en-US" sz="1200"/>
              <a:t>Short summary</a:t>
            </a:r>
            <a:endParaRPr lang="en-US"/>
          </a:p>
          <a:p>
            <a:r>
              <a:rPr lang="en-US" sz="1200"/>
              <a:t>The data extraction form supports structured comparison across architecture, method, outcomes, and evidence strength.</a:t>
            </a:r>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a:t>Slide objective</a:t>
            </a:r>
            <a:endParaRPr lang="en-US"/>
          </a:p>
          <a:p>
            <a:r>
              <a:rPr lang="en-US" sz="1200"/>
              <a:t>Present the quality or evidence strength assessment and explain how evidence maturity was judged.</a:t>
            </a:r>
            <a:endParaRPr lang="en-US"/>
          </a:p>
          <a:p>
            <a:endParaRPr lang="en-US"/>
          </a:p>
          <a:p>
            <a:r>
              <a:rPr lang="en-US" sz="1200"/>
              <a:t>Speaker note</a:t>
            </a:r>
            <a:endParaRPr lang="en-US"/>
          </a:p>
          <a:p>
            <a:r>
              <a:rPr lang="en-US" sz="1200"/>
              <a:t>This slide presents the quality and evidence strength assessment. The scoring rubric uses seven criteria. These include whether the research objectives are clear, whether the digital twin scope is explicitly defined, whether the architecture or model is sufficiently described, whether data connection or synchronization is addressed, whether the evaluation technique is clear, whether performance metrics are reported, and whether limitations or threats are discussed.</a:t>
            </a:r>
            <a:endParaRPr lang="en-US"/>
          </a:p>
          <a:p>
            <a:endParaRPr lang="en-US"/>
          </a:p>
          <a:p>
            <a:r>
              <a:rPr lang="en-US" sz="1200"/>
              <a:t>Each criterion can be scored from 0 to 2, giving a maximum score of 14. Studies scoring 11 to 14 are considered strong in evidence description, 7 to 10 are moderate, and 0 to 6 are weak. It is important to state that this is an evidence description assessment, not a definitive full methodological risk-of-bias assessment, because the review is based mainly on abstract-level and accessible study information.</a:t>
            </a:r>
            <a:endParaRPr lang="en-US"/>
          </a:p>
          <a:p>
            <a:endParaRPr lang="en-US"/>
          </a:p>
          <a:p>
            <a:r>
              <a:rPr lang="en-US" sz="1200"/>
              <a:t>The purpose of this scoring is to avoid treating all studies as equally mature. Some papers provide concrete architectures, data sources, and metrics; others remain conceptual or partially described.</a:t>
            </a:r>
            <a:endParaRPr lang="en-US"/>
          </a:p>
          <a:p>
            <a:endParaRPr lang="en-US"/>
          </a:p>
          <a:p>
            <a:r>
              <a:rPr lang="en-US" sz="1200"/>
              <a:t>Short summary</a:t>
            </a:r>
            <a:endParaRPr lang="en-US"/>
          </a:p>
          <a:p>
            <a:r>
              <a:rPr lang="en-US" sz="1200"/>
              <a:t>The quality rubric helps distinguish between strong, moderate, and weak evidence descriptions within the corpus.</a:t>
            </a:r>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a:t>Slide objective</a:t>
            </a:r>
            <a:endParaRPr lang="en-US"/>
          </a:p>
          <a:p>
            <a:r>
              <a:rPr lang="en-US" sz="1200"/>
              <a:t>Answer RQ1 by explaining where digital twins are applied in warehouse and intralogistics control.</a:t>
            </a:r>
            <a:endParaRPr lang="en-US"/>
          </a:p>
          <a:p>
            <a:endParaRPr lang="en-US"/>
          </a:p>
          <a:p>
            <a:r>
              <a:rPr lang="en-US" sz="1200"/>
              <a:t>Speaker note</a:t>
            </a:r>
            <a:endParaRPr lang="en-US"/>
          </a:p>
          <a:p>
            <a:r>
              <a:rPr lang="en-US" sz="1200"/>
              <a:t>This slide answers RQ1. The first major application cluster is order picking and fulfillment. Studies such as S1, S2, S3, and S13 show that digital twins can support picking path planning, fulfillment coordination, scenario testing, and balancing of picking and outbound loading operations.</a:t>
            </a:r>
            <a:endParaRPr lang="en-US"/>
          </a:p>
          <a:p>
            <a:endParaRPr lang="en-US"/>
          </a:p>
          <a:p>
            <a:r>
              <a:rPr lang="en-US" sz="1200"/>
              <a:t>The second cluster is AGV and AMR dispatching and routing. Studies such as S4, S5, and S12 link digital twins to automated transport resources, route planning, task dispatching, and control of material handling operations. The third cluster is internal transport and material handling, represented by studies such as S6, S11, and S12. The fourth cluster is production-logistics synchronization, where S7, S8, S9, and S14 focus on coordinating material flow between production and logistics processes. The fifth cluster is smart warehouse monitoring and opti-state control, where S10 and S15 are especially relevant.</a:t>
            </a:r>
            <a:endParaRPr lang="en-US"/>
          </a:p>
          <a:p>
            <a:endParaRPr lang="en-US"/>
          </a:p>
          <a:p>
            <a:r>
              <a:rPr lang="en-US" sz="1200"/>
              <a:t>The overall finding is that digital twins are not restricted to visualization. They are used across several decision layers of warehouse control.</a:t>
            </a:r>
            <a:endParaRPr lang="en-US"/>
          </a:p>
          <a:p>
            <a:endParaRPr lang="en-US"/>
          </a:p>
          <a:p>
            <a:r>
              <a:rPr lang="en-US" sz="1200"/>
              <a:t>Short summary</a:t>
            </a:r>
            <a:endParaRPr lang="en-US"/>
          </a:p>
          <a:p>
            <a:r>
              <a:rPr lang="en-US" sz="1200"/>
              <a:t>Digital twins are most often applied to picking, dispatching/routing, material handling, synchronization, and smart warehouse control.</a:t>
            </a:r>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a:t>Slide objective</a:t>
            </a:r>
            <a:endParaRPr lang="en-US"/>
          </a:p>
          <a:p>
            <a:r>
              <a:rPr lang="en-US" sz="1200"/>
              <a:t>Answer RQ2 by connecting enabling technologies to the digital twin applications.</a:t>
            </a:r>
            <a:endParaRPr lang="en-US"/>
          </a:p>
          <a:p>
            <a:endParaRPr lang="en-US"/>
          </a:p>
          <a:p>
            <a:r>
              <a:rPr lang="en-US" sz="1200"/>
              <a:t>Speaker note</a:t>
            </a:r>
            <a:endParaRPr lang="en-US"/>
          </a:p>
          <a:p>
            <a:r>
              <a:rPr lang="en-US" sz="1200"/>
              <a:t>This slide answers RQ2. The most common enabling technology is simulation, especially discrete-event simulation and 3D simulation. Studies such as S1, S2, S3, S6, and S10 use simulation-based approaches to test scenarios, evaluate alternatives, and support warehouse decision-making.</a:t>
            </a:r>
            <a:endParaRPr lang="en-US"/>
          </a:p>
          <a:p>
            <a:endParaRPr lang="en-US"/>
          </a:p>
          <a:p>
            <a:r>
              <a:rPr lang="en-US" sz="1200"/>
              <a:t>The second technology group is cyber-physical and IoT integration. Sensors, PLCs, robot telemetry, RFID, barcode data, and WMS/WCS logs create the data connection between the physical warehouse and the digital representation. S5, S11, and S12 are important examples here.</a:t>
            </a:r>
            <a:endParaRPr lang="en-US"/>
          </a:p>
          <a:p>
            <a:endParaRPr lang="en-US"/>
          </a:p>
          <a:p>
            <a:r>
              <a:rPr lang="en-US" sz="1200"/>
              <a:t>The third group is AI and optimization. S4 uses deep reinforcement learning for AGV dispatching and routing. S8 uses a spatial-temporal knowledge graph for state representation. S15 moves toward smart warehouse opti-state control. However, enterprise integration with WMS, WCS, and ERP systems is often underdeveloped. This means the technologies exist, but validated and interoperable architectures are still limited.</a:t>
            </a:r>
            <a:endParaRPr lang="en-US"/>
          </a:p>
          <a:p>
            <a:endParaRPr lang="en-US"/>
          </a:p>
          <a:p>
            <a:r>
              <a:rPr lang="en-US" sz="1200"/>
              <a:t>Short summary</a:t>
            </a:r>
            <a:endParaRPr lang="en-US"/>
          </a:p>
          <a:p>
            <a:r>
              <a:rPr lang="en-US" sz="1200"/>
              <a:t>The main enabling technologies are simulation, IoT/CPS integration, AI/optimization, and enterprise system integration, but integration maturity remains limited.</a:t>
            </a:r>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a:t>Slide objective</a:t>
            </a:r>
            <a:endParaRPr lang="en-US"/>
          </a:p>
          <a:p>
            <a:r>
              <a:rPr lang="en-US" sz="1200"/>
              <a:t>Answer RQ3 by explaining which performance objectives are measured in the studies.</a:t>
            </a:r>
            <a:endParaRPr lang="en-US"/>
          </a:p>
          <a:p>
            <a:endParaRPr lang="en-US"/>
          </a:p>
          <a:p>
            <a:r>
              <a:rPr lang="en-US" sz="1200"/>
              <a:t>Speaker note</a:t>
            </a:r>
            <a:endParaRPr lang="en-US"/>
          </a:p>
          <a:p>
            <a:r>
              <a:rPr lang="en-US" sz="1200"/>
              <a:t>This slide answers RQ3 by focusing on performance objectives. The most frequently discussed outcomes are operational performance metrics. Picking efficiency appears in studies such as S1, S2, S3, and S13, where the emphasis is on picking time, path length, fulfillment flow, and operational coordination.</a:t>
            </a:r>
            <a:endParaRPr lang="en-US"/>
          </a:p>
          <a:p>
            <a:endParaRPr lang="en-US"/>
          </a:p>
          <a:p>
            <a:r>
              <a:rPr lang="en-US" sz="1200"/>
              <a:t>Travel distance and internal transport reduction are discussed in S4, S5, and S6 through routing, dispatching, congestion reduction, and storage or resource allocation. Resource utilization appears in S5, S8, and S15, especially in relation to AGV capacity, logistics resource usage, and warehouse state control. Cost and energy appear in studies such as S4, S6, and S15, often as indirect results of shorter movements, better routing, or improved scheduling. Resilience and disturbance response are more visible in production-logistics synchronization studies such as S7, S14, and S15.</a:t>
            </a:r>
            <a:endParaRPr lang="en-US"/>
          </a:p>
          <a:p>
            <a:endParaRPr lang="en-US"/>
          </a:p>
          <a:p>
            <a:r>
              <a:rPr lang="en-US" sz="1200"/>
              <a:t>A key interpretation is that most papers focus on operational KPIs. Human workload, lifecycle cost, sustainability, cybersecurity, and resilience metrics are still less consistently measured.</a:t>
            </a:r>
            <a:endParaRPr lang="en-US"/>
          </a:p>
          <a:p>
            <a:endParaRPr lang="en-US"/>
          </a:p>
          <a:p>
            <a:r>
              <a:rPr lang="en-US" sz="1200"/>
              <a:t>Short summary</a:t>
            </a:r>
            <a:endParaRPr lang="en-US"/>
          </a:p>
          <a:p>
            <a:r>
              <a:rPr lang="en-US" sz="1200"/>
              <a:t>Digital twin studies mainly measure operational KPIs such as picking time, travel distance, utilization, cost, energy, and synchronization performance.</a:t>
            </a:r>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a:t>Slide objective</a:t>
            </a:r>
            <a:endParaRPr lang="en-US"/>
          </a:p>
          <a:p>
            <a:r>
              <a:rPr lang="en-US" sz="1200"/>
              <a:t>Answer RQ4 by explaining the maturity level of the research evidence.</a:t>
            </a:r>
            <a:endParaRPr lang="en-US"/>
          </a:p>
          <a:p>
            <a:endParaRPr lang="en-US"/>
          </a:p>
          <a:p>
            <a:r>
              <a:rPr lang="en-US" sz="1200"/>
              <a:t>Speaker note</a:t>
            </a:r>
            <a:endParaRPr lang="en-US"/>
          </a:p>
          <a:p>
            <a:r>
              <a:rPr lang="en-US" sz="1200"/>
              <a:t>This slide answers RQ4. The maturity of the evidence is mixed. Some studies provide industrial or case-study evidence, which is valuable because it is closer to real operational environments. Other studies are simulation or optimization studies, which are useful for exploring alternatives and evaluating decisions under controlled assumptions. Several studies are prototype or laboratory implementations, showing technical feasibility but not necessarily industrial scalability. There are also conceptual or roadmap studies that provide useful direction but limited empirical validation.</a:t>
            </a:r>
            <a:endParaRPr lang="en-US"/>
          </a:p>
          <a:p>
            <a:endParaRPr lang="en-US"/>
          </a:p>
          <a:p>
            <a:r>
              <a:rPr lang="en-US" sz="1200"/>
              <a:t>The main interpretation is that digital twin research in intralogistics is moving from simulation toward adaptive and AI-enhanced warehouse control, but fully mature industrial deployment is still limited. Very few studies demonstrate long-term, real-time, bidirectional, closed-loop digital twin control in operational warehouses.</a:t>
            </a:r>
            <a:endParaRPr lang="en-US"/>
          </a:p>
          <a:p>
            <a:endParaRPr lang="en-US"/>
          </a:p>
          <a:p>
            <a:r>
              <a:rPr lang="en-US" sz="1200"/>
              <a:t>From a systems engineering perspective, this matters because a mature digital twin is not just a model. It must be validated, interoperable, maintainable, secure, and useful across the system lifecycle.</a:t>
            </a:r>
            <a:endParaRPr lang="en-US"/>
          </a:p>
          <a:p>
            <a:endParaRPr lang="en-US"/>
          </a:p>
          <a:p>
            <a:r>
              <a:rPr lang="en-US" sz="1200"/>
              <a:t>Short summary</a:t>
            </a:r>
            <a:endParaRPr lang="en-US"/>
          </a:p>
          <a:p>
            <a:r>
              <a:rPr lang="en-US" sz="1200"/>
              <a:t>The field is promising but not fully mature; most studies remain simulation, prototype, or limited case-study based.</a:t>
            </a:r>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a:t>Slide objective</a:t>
            </a:r>
            <a:endParaRPr lang="en-US"/>
          </a:p>
          <a:p>
            <a:r>
              <a:rPr lang="en-US" sz="1200"/>
              <a:t>Synthesize the paper-level findings by application cluster.</a:t>
            </a:r>
            <a:endParaRPr lang="en-US"/>
          </a:p>
          <a:p>
            <a:endParaRPr lang="en-US"/>
          </a:p>
          <a:p>
            <a:r>
              <a:rPr lang="en-US" sz="1200"/>
              <a:t>Speaker note</a:t>
            </a:r>
            <a:endParaRPr lang="en-US"/>
          </a:p>
          <a:p>
            <a:r>
              <a:rPr lang="en-US" sz="1200"/>
              <a:t>This slide brings the results together at the paper level. For the order picking and fulfillment cluster, studies such as Kawczynski et al., Legato and Mazza, Guerrazzi et al., and Cao and Lei show that digital twins can support scenario analysis, path planning, picking coordination, and fulfillment optimization.</a:t>
            </a:r>
            <a:endParaRPr lang="en-US"/>
          </a:p>
          <a:p>
            <a:endParaRPr lang="en-US"/>
          </a:p>
          <a:p>
            <a:r>
              <a:rPr lang="en-US" sz="1200"/>
              <a:t>For the transport, AGV, and material handling cluster, studies such as Zhang et al., Yao et al., Felix-Cigalat and Domingo, Vachalek et al., and Rigo et al. demonstrate the role of digital twins in routing, dispatching, sensor/PLC integration, capacity planning, and laboratory validation.</a:t>
            </a:r>
            <a:endParaRPr lang="en-US"/>
          </a:p>
          <a:p>
            <a:endParaRPr lang="en-US"/>
          </a:p>
          <a:p>
            <a:r>
              <a:rPr lang="en-US" sz="1200"/>
              <a:t>For the production-logistics synchronization cluster, Liu et al., Zhao et al., Li et al., and Hong et al. show that digital twins can connect production flow and logistics flow, which is important for system-level coordination. For smart warehouse state control, Ferrari et al. and Zhang et al. indicate that the field is moving toward adaptive control and operational state optimization.</a:t>
            </a:r>
            <a:endParaRPr lang="en-US"/>
          </a:p>
          <a:p>
            <a:endParaRPr lang="en-US"/>
          </a:p>
          <a:p>
            <a:r>
              <a:rPr lang="en-US" sz="1200"/>
              <a:t>Short summary</a:t>
            </a:r>
            <a:endParaRPr lang="en-US"/>
          </a:p>
          <a:p>
            <a:r>
              <a:rPr lang="en-US" sz="1200"/>
              <a:t>The evidence shows that digital twins support multiple intralogistics decision clusters, from picking to smart warehouse state control.</a:t>
            </a:r>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a:t>Slide objective</a:t>
            </a:r>
            <a:endParaRPr lang="en-US"/>
          </a:p>
          <a:p>
            <a:r>
              <a:rPr lang="en-US" sz="1200"/>
              <a:t>Interpret the findings rather than simply repeating the results.</a:t>
            </a:r>
            <a:endParaRPr lang="en-US"/>
          </a:p>
          <a:p>
            <a:endParaRPr lang="en-US"/>
          </a:p>
          <a:p>
            <a:r>
              <a:rPr lang="en-US" sz="1200"/>
              <a:t>Speaker note</a:t>
            </a:r>
            <a:endParaRPr lang="en-US"/>
          </a:p>
          <a:p>
            <a:r>
              <a:rPr lang="en-US" sz="1200"/>
              <a:t>This slide is the discussion synthesis. The first key finding is that digital twins are mostly used as decision-support artifacts. They improve visibility, simulation, planning, and optimization, but most are not yet fully autonomous control systems.</a:t>
            </a:r>
            <a:endParaRPr lang="en-US"/>
          </a:p>
          <a:p>
            <a:endParaRPr lang="en-US"/>
          </a:p>
          <a:p>
            <a:r>
              <a:rPr lang="en-US" sz="1200"/>
              <a:t>The second finding is that simulation remains the methodological core of the field. Many studies use discrete-event simulation, 3D simulation, or digital shadow logic. The third finding is that AI-enhanced control is emerging, especially through deep reinforcement learning, genetic algorithms, and knowledge graphs. The fourth finding is that systems engineering aspects are often underdeveloped. Stakeholder needs, system boundaries, interfaces, validation, traceability, cybersecurity, and lifecycle governance are not always explicitly addressed.</a:t>
            </a:r>
            <a:endParaRPr lang="en-US"/>
          </a:p>
          <a:p>
            <a:endParaRPr lang="en-US"/>
          </a:p>
          <a:p>
            <a:r>
              <a:rPr lang="en-US" sz="1200"/>
              <a:t>The fifth finding is that human-in-the-loop design is a major gap. Warehouse operators, planners, supervisors, and managers are often mentioned indirectly but not deeply evaluated. The sixth finding is that industrial deployment is still limited. I can summarize the interpretation as: the promise is high, but the maturity is moderate.</a:t>
            </a:r>
            <a:endParaRPr lang="en-US"/>
          </a:p>
          <a:p>
            <a:endParaRPr lang="en-US"/>
          </a:p>
          <a:p>
            <a:r>
              <a:rPr lang="en-US" sz="1200"/>
              <a:t>Short summary</a:t>
            </a:r>
            <a:endParaRPr lang="en-US"/>
          </a:p>
          <a:p>
            <a:r>
              <a:rPr lang="en-US" sz="1200"/>
              <a:t>The literature is technically promising, but it still lacks strong systems engineering treatment, human-centered evaluation, and long-term industrial validation.</a:t>
            </a:r>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a:t>Slide objective</a:t>
            </a:r>
            <a:endParaRPr lang="en-US"/>
          </a:p>
          <a:p>
            <a:r>
              <a:rPr lang="en-US" sz="1200"/>
              <a:t>Present the systems engineering-oriented digital twin framework as the synthesis contribution of the review.</a:t>
            </a:r>
            <a:endParaRPr lang="en-US"/>
          </a:p>
          <a:p>
            <a:endParaRPr lang="en-US"/>
          </a:p>
          <a:p>
            <a:r>
              <a:rPr lang="en-US" sz="1200"/>
              <a:t>Speaker note</a:t>
            </a:r>
            <a:endParaRPr lang="en-US"/>
          </a:p>
          <a:p>
            <a:r>
              <a:rPr lang="en-US" sz="1200"/>
              <a:t>This slide presents my synthesized framework. The physical layer includes the actual warehouse elements: layout, racks, conveyors, AGVs, AMRs, workers, docks, and material flows. The data acquisition layer includes RFID, barcode systems, IoT sensors, PLCs, WMS logs, WCS logs, and robot telemetry. These elements provide the real-time or near-real-time data required for the digital twin.</a:t>
            </a:r>
            <a:endParaRPr lang="en-US"/>
          </a:p>
          <a:p>
            <a:endParaRPr lang="en-US"/>
          </a:p>
          <a:p>
            <a:r>
              <a:rPr lang="en-US" sz="1200"/>
              <a:t>The integration layer connects the physical and digital sides through APIs, event streaming, databases, semantic mapping, or middleware. The modeling layer includes discrete-event simulation, 3D simulation, process models, resource models, and spatial models. The analytics and control layer includes forecasting, optimization, dispatching, routing, adaptive rescheduling, and decision support.</a:t>
            </a:r>
            <a:endParaRPr lang="en-US"/>
          </a:p>
          <a:p>
            <a:endParaRPr lang="en-US"/>
          </a:p>
          <a:p>
            <a:r>
              <a:rPr lang="en-US" sz="1200"/>
              <a:t>The top layer is governance and lifecycle management. This includes cybersecurity, validation, traceability, requirements, maintenance, and lifecycle updates. The main message is that a mature warehouse digital twin should not be treated as only a visualization or simulation model; it should be treated as a validated and governed system capability.</a:t>
            </a:r>
            <a:endParaRPr lang="en-US"/>
          </a:p>
          <a:p>
            <a:endParaRPr lang="en-US"/>
          </a:p>
          <a:p>
            <a:r>
              <a:rPr lang="en-US" sz="1200"/>
              <a:t>Short summary</a:t>
            </a:r>
            <a:endParaRPr lang="en-US"/>
          </a:p>
          <a:p>
            <a:r>
              <a:rPr lang="en-US" sz="1200"/>
              <a:t>The framework transforms the digital twin from a technical model into a lifecycle-managed systems engineering capability.</a:t>
            </a:r>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a:t>Slide objective</a:t>
            </a:r>
            <a:endParaRPr lang="en-US"/>
          </a:p>
          <a:p>
            <a:r>
              <a:rPr lang="en-US" sz="1200"/>
              <a:t>Identify the most important research gaps and future research directions.</a:t>
            </a:r>
            <a:endParaRPr lang="en-US"/>
          </a:p>
          <a:p>
            <a:endParaRPr lang="en-US"/>
          </a:p>
          <a:p>
            <a:r>
              <a:rPr lang="en-US" sz="1200"/>
              <a:t>Speaker note</a:t>
            </a:r>
            <a:endParaRPr lang="en-US"/>
          </a:p>
          <a:p>
            <a:r>
              <a:rPr lang="en-US" sz="1200"/>
              <a:t>This slide presents the research gaps. The first gap is real-time synchronization. Many studies still operate at a simulation or digital-shadow level rather than a fully synchronized digital twin connected to live WMS, WCS, robot fleet, and sensor data. The second gap is verification and validation. Many studies do not clearly explain how accurately the digital twin represents the real warehouse. Future work should define model accuracy, scenario validity, and confidence thresholds.</a:t>
            </a:r>
            <a:endParaRPr lang="en-US"/>
          </a:p>
          <a:p>
            <a:endParaRPr lang="en-US"/>
          </a:p>
          <a:p>
            <a:r>
              <a:rPr lang="en-US" sz="1200"/>
              <a:t>The third gap is interoperability. Warehouses involve WMS, WCS, ERP, IoT platforms, PLCs, AGVs, and AMRs. More reference architectures and open interfaces are needed. The fourth gap is human factors. Operator trust, usability, decision authority, and human workload are rarely evaluated in depth. The fifth gap is cybersecurity and governance because digital twins increase system connectivity and data dependency. The sixth gap is sustainability and lifecycle metrics, including energy, emissions, resilience, and lifecycle cost.</a:t>
            </a:r>
            <a:endParaRPr lang="en-US"/>
          </a:p>
          <a:p>
            <a:endParaRPr lang="en-US"/>
          </a:p>
          <a:p>
            <a:r>
              <a:rPr lang="en-US" sz="1200"/>
              <a:t>The message is that the next step should not only be more demos; the field needs reliable, validated, secure, and integrated industrial systems.</a:t>
            </a:r>
            <a:endParaRPr lang="en-US"/>
          </a:p>
          <a:p>
            <a:endParaRPr lang="en-US"/>
          </a:p>
          <a:p>
            <a:r>
              <a:rPr lang="en-US" sz="1200"/>
              <a:t>Short summary</a:t>
            </a:r>
            <a:endParaRPr lang="en-US"/>
          </a:p>
          <a:p>
            <a:r>
              <a:rPr lang="en-US" sz="1200"/>
              <a:t>Future research should focus on real-time integration, V&amp;V, interoperability, human factors, cybersecurity, sustainability, and lifecycle governance.</a:t>
            </a:r>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a:t>Slide objective</a:t>
            </a:r>
            <a:endParaRPr lang="en-US"/>
          </a:p>
          <a:p>
            <a:r>
              <a:rPr lang="en-US" sz="1200"/>
              <a:t>Report the limitations honestly and show methodological awareness.</a:t>
            </a:r>
            <a:endParaRPr lang="en-US"/>
          </a:p>
          <a:p>
            <a:endParaRPr lang="en-US"/>
          </a:p>
          <a:p>
            <a:r>
              <a:rPr lang="en-US" sz="1200"/>
              <a:t>Speaker note</a:t>
            </a:r>
            <a:endParaRPr lang="en-US"/>
          </a:p>
          <a:p>
            <a:r>
              <a:rPr lang="en-US" sz="1200"/>
              <a:t>This slide presents the limitations and threats to validity. The first limitation is that this review is based on abstract-level systematic screening. Therefore, it is suitable for coursework and qualitative synthesis, but a publishable full systematic review would require full-text screening and more detailed appraisal.</a:t>
            </a:r>
            <a:endParaRPr lang="en-US"/>
          </a:p>
          <a:p>
            <a:endParaRPr lang="en-US"/>
          </a:p>
          <a:p>
            <a:r>
              <a:rPr lang="en-US" sz="1200"/>
              <a:t>The second limitation is database scope. A stronger review would export records from databases such as Scopus, Web of Science, ScienceDirect, IEEE Xplore, SpringerLink, Taylor &amp; Francis, and ACM Digital Library. The third limitation is heterogeneity. The included studies differ in domain, method, outcome metrics, validation depth, and maturity level, which makes direct comparison and meta-analysis difficult.</a:t>
            </a:r>
            <a:endParaRPr lang="en-US"/>
          </a:p>
          <a:p>
            <a:endParaRPr lang="en-US"/>
          </a:p>
          <a:p>
            <a:r>
              <a:rPr lang="en-US" sz="1200"/>
              <a:t>The fourth limitation is that the quality scoring is indicative rather than definitive. Full-text appraisal could change the scores. The fifth limitation is scope boundary. Some studies are closer to production-logistics synchronization than pure warehouse control, but they were included because they are relevant to intralogistics systems engineering.</a:t>
            </a:r>
            <a:endParaRPr lang="en-US"/>
          </a:p>
          <a:p>
            <a:endParaRPr lang="en-US"/>
          </a:p>
          <a:p>
            <a:r>
              <a:rPr lang="en-US" sz="1200"/>
              <a:t>Short summary</a:t>
            </a:r>
            <a:endParaRPr lang="en-US"/>
          </a:p>
          <a:p>
            <a:r>
              <a:rPr lang="en-US" sz="1200"/>
              <a:t>The limitations are openly reported to define the interpretation boundary and increase the transparency of the review.</a:t>
            </a:r>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a:t>Slide objective</a:t>
            </a:r>
            <a:endParaRPr lang="en-US"/>
          </a:p>
          <a:p>
            <a:r>
              <a:rPr lang="en-US" sz="1200"/>
              <a:t>State the main conclusion and separate practical implications from future research implications.</a:t>
            </a:r>
            <a:endParaRPr lang="en-US"/>
          </a:p>
          <a:p>
            <a:endParaRPr lang="en-US"/>
          </a:p>
          <a:p>
            <a:r>
              <a:rPr lang="en-US" sz="1200"/>
              <a:t>Speaker note</a:t>
            </a:r>
            <a:endParaRPr lang="en-US"/>
          </a:p>
          <a:p>
            <a:r>
              <a:rPr lang="en-US" sz="1200"/>
              <a:t>This slide presents the main conclusion. The reviewed primary studies suggest that digital twins can improve decision quality in intralogistics by supporting simulation-based analysis, resource allocation, routing and dispatching optimization, production-logistics synchronization, and smart warehouse control. However, the evidence base is still mainly simulation, prototype, and case-study oriented. Mature, closed-loop, long-term industrial deployment remains limited.</a:t>
            </a:r>
            <a:endParaRPr lang="en-US"/>
          </a:p>
          <a:p>
            <a:endParaRPr lang="en-US"/>
          </a:p>
          <a:p>
            <a:r>
              <a:rPr lang="en-US" sz="1200"/>
              <a:t>For practitioners, the implication is to start with high-value pain points such as picking efficiency, routing, congestion, resource utilization, and synchronization. Digital twin outputs should initially be used as decision support until the model is sufficiently validated. WMS/WCS/ERP integration and operator-facing dashboards should be prioritized.</a:t>
            </a:r>
            <a:endParaRPr lang="en-US"/>
          </a:p>
          <a:p>
            <a:endParaRPr lang="en-US"/>
          </a:p>
          <a:p>
            <a:r>
              <a:rPr lang="en-US" sz="1200"/>
              <a:t>For future research, the key needs are longitudinal industrial studies, formal verification and validation protocols, reference architectures, human-in-the-loop digital twin design, cybersecurity analysis, and sustainability metrics.</a:t>
            </a:r>
            <a:endParaRPr lang="en-US"/>
          </a:p>
          <a:p>
            <a:endParaRPr lang="en-US"/>
          </a:p>
          <a:p>
            <a:r>
              <a:rPr lang="en-US" sz="1200"/>
              <a:t>Short summary</a:t>
            </a:r>
            <a:endParaRPr lang="en-US"/>
          </a:p>
          <a:p>
            <a:r>
              <a:rPr lang="en-US" sz="1200"/>
              <a:t>Digital twins offer strong decision-support potential for intralogistics, but industrial maturity requires validation, integration, governance, and human-centered design.</a:t>
            </a:r>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a:t>Slide objective</a:t>
            </a:r>
            <a:endParaRPr lang="en-US"/>
          </a:p>
          <a:p>
            <a:r>
              <a:rPr lang="en-US" sz="1200"/>
              <a:t>Show the first part of the reference list and make the evidence base traceable.</a:t>
            </a:r>
            <a:endParaRPr lang="en-US"/>
          </a:p>
          <a:p>
            <a:endParaRPr lang="en-US"/>
          </a:p>
          <a:p>
            <a:r>
              <a:rPr lang="en-US" sz="1200"/>
              <a:t>Speaker note</a:t>
            </a:r>
            <a:endParaRPr lang="en-US"/>
          </a:p>
          <a:p>
            <a:r>
              <a:rPr lang="en-US" sz="1200"/>
              <a:t>This slide lists the first part of the primary studies. I do not need to read every reference in detail during the presentation. Instead, I should explain that the study codes used throughout the results section are expanded here. This makes the synthesis traceable and shows that each claim in the results section is linked to specific studies.</a:t>
            </a:r>
            <a:endParaRPr lang="en-US"/>
          </a:p>
          <a:p>
            <a:endParaRPr lang="en-US"/>
          </a:p>
          <a:p>
            <a:r>
              <a:rPr lang="en-US" sz="1200"/>
              <a:t>For example, S1, S2, and S3 are mainly used for order picking and fulfillment evidence. S4 is important for AGV dispatching and routing. S5 contributes to smart warehouse digital twin standardization. S6 supports internal transport optimization. S7 and S8 support production-logistics synchronization and knowledge-graph-based state representation.</a:t>
            </a:r>
            <a:endParaRPr lang="en-US"/>
          </a:p>
          <a:p>
            <a:endParaRPr lang="en-US"/>
          </a:p>
          <a:p>
            <a:r>
              <a:rPr lang="en-US" sz="1200"/>
              <a:t>Short summary</a:t>
            </a:r>
            <a:endParaRPr lang="en-US"/>
          </a:p>
          <a:p>
            <a:r>
              <a:rPr lang="en-US" sz="1200"/>
              <a:t>The reference slide supports traceability between the findings and the primary studies.</a:t>
            </a:r>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a:t>Slide objective</a:t>
            </a:r>
            <a:endParaRPr lang="en-US"/>
          </a:p>
          <a:p>
            <a:r>
              <a:rPr lang="en-US" sz="1200"/>
              <a:t>Show the remaining primary studies and supporting review/context studies.</a:t>
            </a:r>
            <a:endParaRPr lang="en-US"/>
          </a:p>
          <a:p>
            <a:endParaRPr lang="en-US"/>
          </a:p>
          <a:p>
            <a:r>
              <a:rPr lang="en-US" sz="1200"/>
              <a:t>Speaker note</a:t>
            </a:r>
            <a:endParaRPr lang="en-US"/>
          </a:p>
          <a:p>
            <a:r>
              <a:rPr lang="en-US" sz="1200"/>
              <a:t>This slide shows the remaining primary studies and the supporting review or context studies. S9 addresses operation twins, S10 focuses on a roadmap for automated warehouse digital twins, S11 and S12 relate to cyber-physical testing and material handling, S13 addresses picking path planning, S14 focuses on cross-enterprise production and delivery synchronization, and S15 discusses opti-state control in smart warehousing.</a:t>
            </a:r>
            <a:endParaRPr lang="en-US"/>
          </a:p>
          <a:p>
            <a:endParaRPr lang="en-US"/>
          </a:p>
          <a:p>
            <a:r>
              <a:rPr lang="en-US" sz="1200"/>
              <a:t>The R-coded sources represent supporting reviews or contextual studies. These were not mixed with the primary evidence in the synthesis, but they helped frame the broader literature on digital twins in intralogistics, AI-based warehouse digital twins, and smart logistics.</a:t>
            </a:r>
            <a:endParaRPr lang="en-US"/>
          </a:p>
          <a:p>
            <a:endParaRPr lang="en-US"/>
          </a:p>
          <a:p>
            <a:r>
              <a:rPr lang="en-US" sz="1200"/>
              <a:t>A good sentence here is: S1-S15 form the primary evidence base, while R1-R5 support the broader research context.</a:t>
            </a:r>
            <a:endParaRPr lang="en-US"/>
          </a:p>
          <a:p>
            <a:endParaRPr lang="en-US"/>
          </a:p>
          <a:p>
            <a:r>
              <a:rPr lang="en-US" sz="1200"/>
              <a:t>Short summary</a:t>
            </a:r>
            <a:endParaRPr lang="en-US"/>
          </a:p>
          <a:p>
            <a:r>
              <a:rPr lang="en-US" sz="1200"/>
              <a:t>The final reference slide clarifies the distinction between primary evidence and supporting literature.</a:t>
            </a:r>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a:t>Slide objective</a:t>
            </a:r>
            <a:endParaRPr lang="en-US"/>
          </a:p>
          <a:p>
            <a:r>
              <a:rPr lang="en-US" sz="1200"/>
              <a:t>Close the presentation professionally and invite questions.</a:t>
            </a:r>
            <a:endParaRPr lang="en-US"/>
          </a:p>
          <a:p>
            <a:endParaRPr lang="en-US"/>
          </a:p>
          <a:p>
            <a:r>
              <a:rPr lang="en-US" sz="1200"/>
              <a:t>Speaker note</a:t>
            </a:r>
            <a:endParaRPr lang="en-US"/>
          </a:p>
          <a:p>
            <a:r>
              <a:rPr lang="en-US" sz="1200"/>
              <a:t>This final slide closes the presentation. I should keep the closing brief and professional. A suitable closing sentence is: Thank you for listening. I would be happy to discuss the methodology, the PRISMA study selection process, the included studies, or the main findings on digital twin-enabled intralogistics and warehouse control systems.</a:t>
            </a:r>
            <a:endParaRPr lang="en-US"/>
          </a:p>
          <a:p>
            <a:endParaRPr lang="en-US"/>
          </a:p>
          <a:p>
            <a:r>
              <a:rPr lang="en-US" sz="1200"/>
              <a:t>The slide also provides my name, institutional affiliation, program, and contact information. The English institutional title is Hacettepe University - Graduate School of Informatics. The program is M.Sc. Systems Engineering. I should not add a long explanation here; this slide is for transition into the question and answer section.</a:t>
            </a:r>
            <a:endParaRPr lang="en-US"/>
          </a:p>
          <a:p>
            <a:endParaRPr lang="en-US"/>
          </a:p>
          <a:p>
            <a:r>
              <a:rPr lang="en-US" sz="1200"/>
              <a:t>Short summary</a:t>
            </a:r>
            <a:endParaRPr lang="en-US"/>
          </a:p>
          <a:p>
            <a:r>
              <a:rPr lang="en-US" sz="1200"/>
              <a:t>Professional closing slide with author, affiliation, program, and contact information.</a:t>
            </a:r>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C2E"/>
        </a:solidFill>
        <a:effectLst/>
      </p:bgPr>
    </p:bg>
    <p:spTree>
      <p:nvGrpSpPr>
        <p:cNvPr id="1" name=""/>
        <p:cNvGrpSpPr/>
        <p:nvPr/>
      </p:nvGrpSpPr>
      <p:grpSpPr>
        <a:xfrm>
          <a:off x="0" y="0"/>
          <a:ext cx="0" cy="0"/>
          <a:chOff x="0" y="0"/>
          <a:chExt cx="0" cy="0"/>
        </a:xfrm>
      </p:grpSpPr>
      <p:sp>
        <p:nvSpPr>
          <p:cNvPr id="2" name="AccentBar"/>
          <p:cNvSpPr/>
          <p:nvPr/>
        </p:nvSpPr>
        <p:spPr>
          <a:xfrm>
            <a:off x="548640" y="548640"/>
            <a:ext cx="45720" cy="3657600"/>
          </a:xfrm>
          <a:prstGeom prst="rect">
            <a:avLst/>
          </a:prstGeom>
          <a:solidFill>
            <a:srgbClr val="2F6BD8"/>
          </a:solidFill>
          <a:ln>
            <a:noFill/>
          </a:ln>
        </p:spPr>
      </p:sp>
      <p:sp>
        <p:nvSpPr>
          <p:cNvPr id="3" name="SLRlabel"/>
          <p:cNvSpPr/>
          <p:nvPr/>
        </p:nvSpPr>
        <p:spPr>
          <a:xfrm>
            <a:off x="731520" y="822960"/>
            <a:ext cx="7315200" cy="228600"/>
          </a:xfrm>
          <a:prstGeom prst="rect">
            <a:avLst/>
          </a:prstGeom>
          <a:noFill/>
          <a:ln>
            <a:noFill/>
          </a:ln>
        </p:spPr>
        <p:txBody>
          <a:bodyPr wrap="square" lIns="0" tIns="0" rIns="0" bIns="0" rtlCol="0" anchor="ctr"/>
          <a:lstStyle/>
          <a:p>
            <a:pPr marL="0" indent="0">
              <a:buNone/>
            </a:pPr>
            <a:r>
              <a:rPr lang="en-US" sz="900" b="0" spc="200" dirty="0">
                <a:solidFill>
                  <a:srgbClr val="5B8DD9"/>
                </a:solidFill>
                <a:latin typeface="Aptos"/>
              </a:rPr>
              <a:t>SYSTEMATIC LITERATURE REVIEW</a:t>
            </a:r>
          </a:p>
        </p:txBody>
      </p:sp>
      <p:sp>
        <p:nvSpPr>
          <p:cNvPr id="4" name="MainTitle"/>
          <p:cNvSpPr/>
          <p:nvPr/>
        </p:nvSpPr>
        <p:spPr>
          <a:xfrm>
            <a:off x="731520" y="1097280"/>
            <a:ext cx="8657280" cy="1828800"/>
          </a:xfrm>
          <a:prstGeom prst="rect">
            <a:avLst/>
          </a:prstGeom>
          <a:noFill/>
          <a:ln>
            <a:noFill/>
          </a:ln>
        </p:spPr>
        <p:txBody>
          <a:bodyPr wrap="square" lIns="0" tIns="0" rIns="0" bIns="0" rtlCol="0" anchor="t">
            <a:normAutofit/>
          </a:bodyPr>
          <a:lstStyle/>
          <a:p>
            <a:pPr marL="0" indent="0">
              <a:buNone/>
            </a:pPr>
            <a:r>
              <a:rPr lang="en-US" sz="4000" b="1" dirty="0">
                <a:solidFill>
                  <a:srgbClr val="FFFFFF"/>
                </a:solidFill>
                <a:latin typeface="Aptos Display"/>
              </a:rPr>
              <a:t>Digital Twin-Enabled Intralogistics</a:t>
            </a:r>
          </a:p>
          <a:p>
            <a:pPr marL="0" indent="0">
              <a:buNone/>
            </a:pPr>
            <a:r>
              <a:rPr lang="en-US" sz="4000" b="1" dirty="0">
                <a:solidFill>
                  <a:srgbClr val="FFFFFF"/>
                </a:solidFill>
                <a:latin typeface="Aptos Display"/>
              </a:rPr>
              <a:t>and Warehouse Control Systems</a:t>
            </a:r>
          </a:p>
        </p:txBody>
      </p:sp>
      <p:sp>
        <p:nvSpPr>
          <p:cNvPr id="5" name="Divider"/>
          <p:cNvSpPr/>
          <p:nvPr/>
        </p:nvSpPr>
        <p:spPr>
          <a:xfrm>
            <a:off x="731520" y="3017520"/>
            <a:ext cx="3200400" cy="9144"/>
          </a:xfrm>
          <a:prstGeom prst="rect">
            <a:avLst/>
          </a:prstGeom>
          <a:solidFill>
            <a:srgbClr val="2F6BD8"/>
          </a:solidFill>
          <a:ln>
            <a:noFill/>
          </a:ln>
        </p:spPr>
      </p:sp>
      <p:sp>
        <p:nvSpPr>
          <p:cNvPr id="6" name="Subtitle"/>
          <p:cNvSpPr/>
          <p:nvPr/>
        </p:nvSpPr>
        <p:spPr>
          <a:xfrm>
            <a:off x="731520" y="3072960"/>
            <a:ext cx="7315200" cy="274320"/>
          </a:xfrm>
          <a:prstGeom prst="rect">
            <a:avLst/>
          </a:prstGeom>
          <a:noFill/>
          <a:ln>
            <a:noFill/>
          </a:ln>
        </p:spPr>
        <p:txBody>
          <a:bodyPr wrap="square" lIns="0" tIns="0" rIns="0" bIns="0" rtlCol="0" anchor="ctr"/>
          <a:lstStyle/>
          <a:p>
            <a:pPr marL="0" indent="0">
              <a:buNone/>
            </a:pPr>
            <a:r>
              <a:rPr lang="en-US" sz="1300" i="1" dirty="0">
                <a:solidFill>
                  <a:srgbClr val="8BAED4"/>
                </a:solidFill>
                <a:latin typeface="Aptos"/>
              </a:rPr>
              <a:t>15 primary studies  ·  5 supporting reviews  ·  4 research questions</a:t>
            </a:r>
          </a:p>
        </p:txBody>
      </p:sp>
      <p:sp>
        <p:nvSpPr>
          <p:cNvPr id="7" name="HSep"/>
          <p:cNvSpPr/>
          <p:nvPr/>
        </p:nvSpPr>
        <p:spPr>
          <a:xfrm>
            <a:off x="731520" y="4389360"/>
            <a:ext cx="10789920" cy="9144"/>
          </a:xfrm>
          <a:prstGeom prst="rect">
            <a:avLst/>
          </a:prstGeom>
          <a:solidFill>
            <a:srgbClr val="1E3A5F"/>
          </a:solidFill>
          <a:ln>
            <a:noFill/>
          </a:ln>
        </p:spPr>
      </p:sp>
      <p:sp>
        <p:nvSpPr>
          <p:cNvPr id="8" name="AuthorName"/>
          <p:cNvSpPr/>
          <p:nvPr/>
        </p:nvSpPr>
        <p:spPr>
          <a:xfrm>
            <a:off x="731520" y="4480560"/>
            <a:ext cx="6400800" cy="310896"/>
          </a:xfrm>
          <a:prstGeom prst="rect">
            <a:avLst/>
          </a:prstGeom>
          <a:noFill/>
          <a:ln>
            <a:noFill/>
          </a:ln>
        </p:spPr>
        <p:txBody>
          <a:bodyPr wrap="square" lIns="0" tIns="0" rIns="0" bIns="0" rtlCol="0" anchor="ctr"/>
          <a:lstStyle/>
          <a:p>
            <a:pPr marL="0" indent="0">
              <a:buNone/>
            </a:pPr>
            <a:r>
              <a:rPr lang="tr-TR" sz="1600" b="1" dirty="0">
                <a:solidFill>
                  <a:srgbClr val="FFFFFF"/>
                </a:solidFill>
                <a:latin typeface="Aptos"/>
              </a:rPr>
              <a:t>Oğuz Kaan Tuğlu</a:t>
            </a:r>
          </a:p>
        </p:txBody>
      </p:sp>
      <p:sp>
        <p:nvSpPr>
          <p:cNvPr id="9" name="Affiliation"/>
          <p:cNvSpPr/>
          <p:nvPr/>
        </p:nvSpPr>
        <p:spPr>
          <a:xfrm>
            <a:off x="731520" y="4828320"/>
            <a:ext cx="6400800" cy="548640"/>
          </a:xfrm>
          <a:prstGeom prst="rect">
            <a:avLst/>
          </a:prstGeom>
          <a:noFill/>
          <a:ln>
            <a:noFill/>
          </a:ln>
        </p:spPr>
        <p:txBody>
          <a:bodyPr wrap="square" lIns="0" tIns="0" rIns="0" bIns="0" rtlCol="0" anchor="t">
            <a:normAutofit/>
          </a:bodyPr>
          <a:lstStyle/>
          <a:p>
            <a:pPr marL="0" indent="0">
              <a:buNone/>
            </a:pPr>
            <a:r>
              <a:rPr lang="en-US" sz="1100" dirty="0">
                <a:solidFill>
                  <a:srgbClr val="8BAED4"/>
                </a:solidFill>
                <a:latin typeface="Aptos"/>
              </a:rPr>
              <a:t>M.Sc. Systems Engineering  ·  Graduate School of Informatics</a:t>
            </a:r>
          </a:p>
          <a:p>
            <a:pPr marL="0" indent="0">
              <a:buNone/>
            </a:pPr>
            <a:r>
              <a:rPr lang="en-US" sz="1100" dirty="0">
                <a:solidFill>
                  <a:srgbClr val="8BAED4"/>
                </a:solidFill>
                <a:latin typeface="Aptos"/>
              </a:rPr>
              <a:t>Hacettepe University  ·  May 2026</a:t>
            </a:r>
          </a:p>
        </p:txBody>
      </p:sp>
      <p:sp>
        <p:nvSpPr>
          <p:cNvPr id="10" name="CourseInfo"/>
          <p:cNvSpPr/>
          <p:nvPr/>
        </p:nvSpPr>
        <p:spPr>
          <a:xfrm>
            <a:off x="8229600" y="4480560"/>
            <a:ext cx="3200400" cy="548640"/>
          </a:xfrm>
          <a:prstGeom prst="rect">
            <a:avLst/>
          </a:prstGeom>
          <a:noFill/>
          <a:ln>
            <a:noFill/>
          </a:ln>
        </p:spPr>
        <p:txBody>
          <a:bodyPr wrap="square" lIns="0" tIns="0" rIns="0" bIns="0" rtlCol="0" anchor="t">
            <a:normAutofit/>
          </a:bodyPr>
          <a:lstStyle/>
          <a:p>
            <a:pPr marL="0" indent="0" algn="r">
              <a:buNone/>
            </a:pPr>
            <a:r>
              <a:rPr lang="en-US" sz="1000" dirty="0">
                <a:solidFill>
                  <a:srgbClr val="4A6A8A"/>
                </a:solidFill>
                <a:latin typeface="Aptos"/>
              </a:rPr>
              <a:t>SEN601 Research Techniques</a:t>
            </a:r>
          </a:p>
          <a:p>
            <a:pPr marL="0" indent="0" algn="r">
              <a:buNone/>
            </a:pPr>
            <a:r>
              <a:rPr lang="en-US" sz="1000" dirty="0">
                <a:solidFill>
                  <a:srgbClr val="4A6A8A"/>
                </a:solidFill>
                <a:latin typeface="Aptos"/>
              </a:rPr>
              <a:t>and Publication Ethics</a:t>
            </a:r>
          </a:p>
        </p:txBody>
      </p:sp>
      <p:sp>
        <p:nvSpPr>
          <p:cNvPr id="11" name="FooterBar"/>
          <p:cNvSpPr/>
          <p:nvPr/>
        </p:nvSpPr>
        <p:spPr>
          <a:xfrm>
            <a:off x="0" y="6510528"/>
            <a:ext cx="12191695" cy="347472"/>
          </a:xfrm>
          <a:prstGeom prst="rect">
            <a:avLst/>
          </a:prstGeom>
          <a:solidFill>
            <a:srgbClr val="0D1526"/>
          </a:solidFill>
          <a:ln>
            <a:noFill/>
          </a:ln>
        </p:spPr>
      </p:sp>
      <p:sp>
        <p:nvSpPr>
          <p:cNvPr id="12" name="FooterText"/>
          <p:cNvSpPr/>
          <p:nvPr/>
        </p:nvSpPr>
        <p:spPr>
          <a:xfrm>
            <a:off x="320040" y="6547104"/>
            <a:ext cx="6583680" cy="137160"/>
          </a:xfrm>
          <a:prstGeom prst="rect">
            <a:avLst/>
          </a:prstGeom>
          <a:noFill/>
          <a:ln>
            <a:noFill/>
          </a:ln>
        </p:spPr>
        <p:txBody>
          <a:bodyPr wrap="square" lIns="0" tIns="0" rIns="0" bIns="0" rtlCol="0" anchor="ctr"/>
          <a:lstStyle/>
          <a:p>
            <a:pPr marL="0" indent="0">
              <a:buNone/>
            </a:pPr>
            <a:r>
              <a:rPr lang="en-US" sz="750" i="1" dirty="0">
                <a:solidFill>
                  <a:srgbClr val="3A5A7A"/>
                </a:solidFill>
                <a:latin typeface="Aptos"/>
              </a:rPr>
              <a:t>Digital Twin-Enabled Intralogistics — Systematic Review  |  SEN601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7F9"/>
        </a:solidFill>
        <a:effectLst/>
      </p:bgPr>
    </p:bg>
    <p:spTree>
      <p:nvGrpSpPr>
        <p:cNvPr id="1" name=""/>
        <p:cNvGrpSpPr/>
        <p:nvPr/>
      </p:nvGrpSpPr>
      <p:grpSpPr>
        <a:xfrm>
          <a:off x="0" y="0"/>
          <a:ext cx="0" cy="0"/>
          <a:chOff x="0" y="0"/>
          <a:chExt cx="0" cy="0"/>
        </a:xfrm>
      </p:grpSpPr>
      <p:sp>
        <p:nvSpPr>
          <p:cNvPr id="2" name="Shape 0"/>
          <p:cNvSpPr/>
          <p:nvPr/>
        </p:nvSpPr>
        <p:spPr>
          <a:xfrm>
            <a:off x="347472" y="329184"/>
            <a:ext cx="73152" cy="438912"/>
          </a:xfrm>
          <a:prstGeom prst="rect">
            <a:avLst/>
          </a:prstGeom>
          <a:solidFill>
            <a:srgbClr val="2F6BD8"/>
          </a:solidFill>
          <a:ln w="12700">
            <a:solidFill>
              <a:srgbClr val="2F6BD8"/>
            </a:solidFill>
            <a:prstDash val="solid"/>
          </a:ln>
        </p:spPr>
      </p:sp>
      <p:sp>
        <p:nvSpPr>
          <p:cNvPr id="3" name="Text 1"/>
          <p:cNvSpPr/>
          <p:nvPr/>
        </p:nvSpPr>
        <p:spPr>
          <a:xfrm>
            <a:off x="512064" y="292608"/>
            <a:ext cx="10789920" cy="502920"/>
          </a:xfrm>
          <a:prstGeom prst="rect">
            <a:avLst/>
          </a:prstGeom>
          <a:noFill/>
          <a:ln/>
        </p:spPr>
        <p:txBody>
          <a:bodyPr wrap="square" lIns="0" tIns="0" rIns="0" bIns="0" rtlCol="0" anchor="ctr"/>
          <a:lstStyle/>
          <a:p>
            <a:pPr marL="0" indent="0">
              <a:buNone/>
            </a:pPr>
            <a:r>
              <a:rPr lang="en-US" sz="2700" b="1" dirty="0">
                <a:solidFill>
                  <a:srgbClr val="303846"/>
                </a:solidFill>
                <a:latin typeface="Aptos Display" pitchFamily="34" charset="0"/>
                <a:ea typeface="Aptos Display" pitchFamily="34" charset="-122"/>
                <a:cs typeface="Aptos Display" pitchFamily="34" charset="-120"/>
              </a:rPr>
              <a:t>Presentation Overview</a:t>
            </a:r>
            <a:endParaRPr lang="en-US" sz="2700" dirty="0"/>
          </a:p>
        </p:txBody>
      </p:sp>
      <p:sp>
        <p:nvSpPr>
          <p:cNvPr id="4" name="Shape 2"/>
          <p:cNvSpPr/>
          <p:nvPr/>
        </p:nvSpPr>
        <p:spPr>
          <a:xfrm>
            <a:off x="0" y="6510528"/>
            <a:ext cx="12191695" cy="347472"/>
          </a:xfrm>
          <a:prstGeom prst="rect">
            <a:avLst/>
          </a:prstGeom>
          <a:solidFill>
            <a:srgbClr val="303846"/>
          </a:solidFill>
          <a:ln w="12700">
            <a:solidFill>
              <a:srgbClr val="303846"/>
            </a:solidFill>
            <a:prstDash val="solid"/>
          </a:ln>
        </p:spPr>
      </p:sp>
      <p:sp>
        <p:nvSpPr>
          <p:cNvPr id="5" name="Text 3"/>
          <p:cNvSpPr/>
          <p:nvPr/>
        </p:nvSpPr>
        <p:spPr>
          <a:xfrm>
            <a:off x="320040" y="6592824"/>
            <a:ext cx="6583680" cy="137160"/>
          </a:xfrm>
          <a:prstGeom prst="rect">
            <a:avLst/>
          </a:prstGeom>
          <a:noFill/>
          <a:ln/>
        </p:spPr>
        <p:txBody>
          <a:bodyPr wrap="square" lIns="0" tIns="0" rIns="0" bIns="0" rtlCol="0" anchor="ctr"/>
          <a:lstStyle/>
          <a:p>
            <a:pPr marL="0" indent="0">
              <a:buNone/>
            </a:pPr>
            <a:r>
              <a:rPr lang="en-US" sz="750" i="1" dirty="0">
                <a:solidFill>
                  <a:srgbClr val="F2F4F7"/>
                </a:solidFill>
              </a:rPr>
              <a:t>Digital Twin-Enabled Intralogistics — Systematic Review | SEN601</a:t>
            </a:r>
            <a:endParaRPr lang="en-US" sz="750" dirty="0"/>
          </a:p>
        </p:txBody>
      </p:sp>
      <p:sp>
        <p:nvSpPr>
          <p:cNvPr id="6" name="Text 4"/>
          <p:cNvSpPr/>
          <p:nvPr/>
        </p:nvSpPr>
        <p:spPr>
          <a:xfrm>
            <a:off x="10195560" y="6592824"/>
            <a:ext cx="1280160" cy="137160"/>
          </a:xfrm>
          <a:prstGeom prst="rect">
            <a:avLst/>
          </a:prstGeom>
          <a:noFill/>
          <a:ln/>
        </p:spPr>
        <p:txBody>
          <a:bodyPr wrap="square" lIns="0" tIns="0" rIns="0" bIns="0" rtlCol="0" anchor="ctr"/>
          <a:lstStyle/>
          <a:p>
            <a:pPr marL="0" indent="0" algn="r">
              <a:buNone/>
            </a:pPr>
            <a:r>
              <a:rPr lang="en-US" sz="750" dirty="0">
                <a:solidFill>
                  <a:srgbClr val="F2F4F7"/>
                </a:solidFill>
              </a:rPr>
              <a:t>Overview</a:t>
            </a:r>
            <a:endParaRPr lang="en-US" sz="750" dirty="0"/>
          </a:p>
        </p:txBody>
      </p:sp>
      <p:sp>
        <p:nvSpPr>
          <p:cNvPr id="7" name="Text 5"/>
          <p:cNvSpPr/>
          <p:nvPr/>
        </p:nvSpPr>
        <p:spPr>
          <a:xfrm>
            <a:off x="11539728" y="6583680"/>
            <a:ext cx="329184" cy="146304"/>
          </a:xfrm>
          <a:prstGeom prst="rect">
            <a:avLst/>
          </a:prstGeom>
          <a:noFill/>
          <a:ln/>
        </p:spPr>
        <p:txBody>
          <a:bodyPr wrap="square" lIns="0" tIns="0" rIns="0" bIns="0" rtlCol="0" anchor="ctr"/>
          <a:lstStyle/>
          <a:p>
            <a:pPr marL="0" indent="0" algn="r">
              <a:buNone/>
            </a:pPr>
            <a:r>
              <a:rPr lang="en-US" sz="850" dirty="0">
                <a:solidFill>
                  <a:srgbClr val="F2F4F7"/>
                </a:solidFill>
              </a:rPr>
              <a:t>1</a:t>
            </a:r>
            <a:endParaRPr lang="en-US" sz="850" dirty="0"/>
          </a:p>
        </p:txBody>
      </p:sp>
      <p:sp>
        <p:nvSpPr>
          <p:cNvPr id="8" name="Shape 6"/>
          <p:cNvSpPr/>
          <p:nvPr/>
        </p:nvSpPr>
        <p:spPr>
          <a:xfrm>
            <a:off x="594360" y="1005840"/>
            <a:ext cx="5212080" cy="768096"/>
          </a:xfrm>
          <a:prstGeom prst="roundRect">
            <a:avLst>
              <a:gd name="adj" fmla="val 4762"/>
            </a:avLst>
          </a:prstGeom>
          <a:solidFill>
            <a:srgbClr val="FFFFFF"/>
          </a:solidFill>
          <a:ln w="12700">
            <a:solidFill>
              <a:srgbClr val="E8ECF2"/>
            </a:solidFill>
            <a:prstDash val="solid"/>
          </a:ln>
        </p:spPr>
      </p:sp>
      <p:sp>
        <p:nvSpPr>
          <p:cNvPr id="9" name="Shape 7"/>
          <p:cNvSpPr/>
          <p:nvPr/>
        </p:nvSpPr>
        <p:spPr>
          <a:xfrm>
            <a:off x="594360" y="1005840"/>
            <a:ext cx="566928" cy="768096"/>
          </a:xfrm>
          <a:prstGeom prst="rect">
            <a:avLst/>
          </a:prstGeom>
          <a:solidFill>
            <a:srgbClr val="303846"/>
          </a:solidFill>
          <a:ln w="12700">
            <a:solidFill>
              <a:srgbClr val="303846"/>
            </a:solidFill>
            <a:prstDash val="solid"/>
          </a:ln>
        </p:spPr>
      </p:sp>
      <p:sp>
        <p:nvSpPr>
          <p:cNvPr id="10" name="Text 8"/>
          <p:cNvSpPr/>
          <p:nvPr/>
        </p:nvSpPr>
        <p:spPr>
          <a:xfrm>
            <a:off x="640080" y="1188720"/>
            <a:ext cx="475488" cy="320040"/>
          </a:xfrm>
          <a:prstGeom prst="rect">
            <a:avLst/>
          </a:prstGeom>
          <a:noFill/>
          <a:ln/>
        </p:spPr>
        <p:txBody>
          <a:bodyPr wrap="square" lIns="0" tIns="0" rIns="0" bIns="0" rtlCol="0" anchor="ctr"/>
          <a:lstStyle/>
          <a:p>
            <a:pPr marL="0" indent="0" algn="ctr">
              <a:buNone/>
            </a:pPr>
            <a:r>
              <a:rPr lang="en-US" sz="1900" b="1" dirty="0">
                <a:solidFill>
                  <a:srgbClr val="FFFFFF"/>
                </a:solidFill>
              </a:rPr>
              <a:t>01</a:t>
            </a:r>
            <a:endParaRPr lang="en-US" sz="1900" dirty="0"/>
          </a:p>
        </p:txBody>
      </p:sp>
      <p:sp>
        <p:nvSpPr>
          <p:cNvPr id="11" name="Text 9"/>
          <p:cNvSpPr/>
          <p:nvPr/>
        </p:nvSpPr>
        <p:spPr>
          <a:xfrm>
            <a:off x="1307592" y="1124712"/>
            <a:ext cx="4343400" cy="256032"/>
          </a:xfrm>
          <a:prstGeom prst="rect">
            <a:avLst/>
          </a:prstGeom>
          <a:noFill/>
          <a:ln/>
        </p:spPr>
        <p:txBody>
          <a:bodyPr wrap="square" lIns="254" tIns="254" rIns="254" bIns="254" rtlCol="0" anchor="ctr"/>
          <a:lstStyle/>
          <a:p>
            <a:pPr marL="0" indent="0">
              <a:buNone/>
            </a:pPr>
            <a:r>
              <a:rPr lang="en-US" sz="1400" b="1" dirty="0">
                <a:solidFill>
                  <a:srgbClr val="303846"/>
                </a:solidFill>
              </a:rPr>
              <a:t>Introduction &amp; Background</a:t>
            </a:r>
            <a:endParaRPr lang="en-US" sz="1400" dirty="0"/>
          </a:p>
        </p:txBody>
      </p:sp>
      <p:sp>
        <p:nvSpPr>
          <p:cNvPr id="12" name="Text 10"/>
          <p:cNvSpPr/>
          <p:nvPr/>
        </p:nvSpPr>
        <p:spPr>
          <a:xfrm>
            <a:off x="1307592" y="1481328"/>
            <a:ext cx="4343400" cy="301752"/>
          </a:xfrm>
          <a:prstGeom prst="rect">
            <a:avLst/>
          </a:prstGeom>
          <a:noFill/>
          <a:ln/>
        </p:spPr>
        <p:txBody>
          <a:bodyPr wrap="square" lIns="254" tIns="254" rIns="254" bIns="254" rtlCol="0" anchor="ctr">
            <a:normAutofit/>
          </a:bodyPr>
          <a:lstStyle/>
          <a:p>
            <a:pPr marL="0" indent="0">
              <a:buNone/>
            </a:pPr>
            <a:r>
              <a:rPr lang="en-US" sz="1120" dirty="0">
                <a:solidFill>
                  <a:srgbClr val="667085"/>
                </a:solidFill>
              </a:rPr>
              <a:t>Why digital twins for warehouse control?</a:t>
            </a:r>
            <a:endParaRPr lang="en-US" sz="1120" dirty="0"/>
          </a:p>
        </p:txBody>
      </p:sp>
      <p:sp>
        <p:nvSpPr>
          <p:cNvPr id="13" name="Shape 11"/>
          <p:cNvSpPr/>
          <p:nvPr/>
        </p:nvSpPr>
        <p:spPr>
          <a:xfrm>
            <a:off x="594360" y="1993392"/>
            <a:ext cx="5212080" cy="768096"/>
          </a:xfrm>
          <a:prstGeom prst="roundRect">
            <a:avLst>
              <a:gd name="adj" fmla="val 4762"/>
            </a:avLst>
          </a:prstGeom>
          <a:solidFill>
            <a:srgbClr val="FFFFFF"/>
          </a:solidFill>
          <a:ln w="12700">
            <a:solidFill>
              <a:srgbClr val="E8ECF2"/>
            </a:solidFill>
            <a:prstDash val="solid"/>
          </a:ln>
        </p:spPr>
      </p:sp>
      <p:sp>
        <p:nvSpPr>
          <p:cNvPr id="14" name="Shape 12"/>
          <p:cNvSpPr/>
          <p:nvPr/>
        </p:nvSpPr>
        <p:spPr>
          <a:xfrm>
            <a:off x="594360" y="1993392"/>
            <a:ext cx="566928" cy="768096"/>
          </a:xfrm>
          <a:prstGeom prst="rect">
            <a:avLst/>
          </a:prstGeom>
          <a:solidFill>
            <a:srgbClr val="2F6BD8"/>
          </a:solidFill>
          <a:ln w="12700">
            <a:solidFill>
              <a:srgbClr val="2F6BD8"/>
            </a:solidFill>
            <a:prstDash val="solid"/>
          </a:ln>
        </p:spPr>
      </p:sp>
      <p:sp>
        <p:nvSpPr>
          <p:cNvPr id="15" name="Text 13"/>
          <p:cNvSpPr/>
          <p:nvPr/>
        </p:nvSpPr>
        <p:spPr>
          <a:xfrm>
            <a:off x="640080" y="2176272"/>
            <a:ext cx="475488" cy="320040"/>
          </a:xfrm>
          <a:prstGeom prst="rect">
            <a:avLst/>
          </a:prstGeom>
          <a:noFill/>
          <a:ln/>
        </p:spPr>
        <p:txBody>
          <a:bodyPr wrap="square" lIns="0" tIns="0" rIns="0" bIns="0" rtlCol="0" anchor="ctr"/>
          <a:lstStyle/>
          <a:p>
            <a:pPr marL="0" indent="0" algn="ctr">
              <a:buNone/>
            </a:pPr>
            <a:r>
              <a:rPr lang="en-US" sz="1900" b="1" dirty="0">
                <a:solidFill>
                  <a:srgbClr val="FFFFFF"/>
                </a:solidFill>
              </a:rPr>
              <a:t>02</a:t>
            </a:r>
            <a:endParaRPr lang="en-US" sz="1900" dirty="0"/>
          </a:p>
        </p:txBody>
      </p:sp>
      <p:sp>
        <p:nvSpPr>
          <p:cNvPr id="16" name="Text 14"/>
          <p:cNvSpPr/>
          <p:nvPr/>
        </p:nvSpPr>
        <p:spPr>
          <a:xfrm>
            <a:off x="1307592" y="2112264"/>
            <a:ext cx="4343400" cy="256032"/>
          </a:xfrm>
          <a:prstGeom prst="rect">
            <a:avLst/>
          </a:prstGeom>
          <a:noFill/>
          <a:ln/>
        </p:spPr>
        <p:txBody>
          <a:bodyPr wrap="square" lIns="254" tIns="254" rIns="254" bIns="254" rtlCol="0" anchor="ctr"/>
          <a:lstStyle/>
          <a:p>
            <a:pPr marL="0" indent="0">
              <a:buNone/>
            </a:pPr>
            <a:r>
              <a:rPr lang="en-US" sz="1400" b="1" dirty="0">
                <a:solidFill>
                  <a:srgbClr val="303846"/>
                </a:solidFill>
              </a:rPr>
              <a:t>Research Questions &amp; PICOS</a:t>
            </a:r>
            <a:endParaRPr lang="en-US" sz="1400" dirty="0"/>
          </a:p>
        </p:txBody>
      </p:sp>
      <p:sp>
        <p:nvSpPr>
          <p:cNvPr id="17" name="Text 15"/>
          <p:cNvSpPr/>
          <p:nvPr/>
        </p:nvSpPr>
        <p:spPr>
          <a:xfrm>
            <a:off x="1307592" y="2468880"/>
            <a:ext cx="4343400" cy="301752"/>
          </a:xfrm>
          <a:prstGeom prst="rect">
            <a:avLst/>
          </a:prstGeom>
          <a:noFill/>
          <a:ln/>
        </p:spPr>
        <p:txBody>
          <a:bodyPr wrap="square" lIns="254" tIns="254" rIns="254" bIns="254" rtlCol="0" anchor="ctr">
            <a:normAutofit/>
          </a:bodyPr>
          <a:lstStyle/>
          <a:p>
            <a:pPr marL="0" indent="0">
              <a:buNone/>
            </a:pPr>
            <a:r>
              <a:rPr lang="en-US" sz="1120" dirty="0">
                <a:solidFill>
                  <a:srgbClr val="667085"/>
                </a:solidFill>
              </a:rPr>
              <a:t>Structured framework guiding the review</a:t>
            </a:r>
            <a:endParaRPr lang="en-US" sz="1120" dirty="0"/>
          </a:p>
        </p:txBody>
      </p:sp>
      <p:sp>
        <p:nvSpPr>
          <p:cNvPr id="18" name="Shape 16"/>
          <p:cNvSpPr/>
          <p:nvPr/>
        </p:nvSpPr>
        <p:spPr>
          <a:xfrm>
            <a:off x="594360" y="2980944"/>
            <a:ext cx="5212080" cy="768096"/>
          </a:xfrm>
          <a:prstGeom prst="roundRect">
            <a:avLst>
              <a:gd name="adj" fmla="val 4762"/>
            </a:avLst>
          </a:prstGeom>
          <a:solidFill>
            <a:srgbClr val="FFFFFF"/>
          </a:solidFill>
          <a:ln w="12700">
            <a:solidFill>
              <a:srgbClr val="E8ECF2"/>
            </a:solidFill>
            <a:prstDash val="solid"/>
          </a:ln>
        </p:spPr>
      </p:sp>
      <p:sp>
        <p:nvSpPr>
          <p:cNvPr id="19" name="Shape 17"/>
          <p:cNvSpPr/>
          <p:nvPr/>
        </p:nvSpPr>
        <p:spPr>
          <a:xfrm>
            <a:off x="594360" y="2980944"/>
            <a:ext cx="566928" cy="768096"/>
          </a:xfrm>
          <a:prstGeom prst="rect">
            <a:avLst/>
          </a:prstGeom>
          <a:solidFill>
            <a:srgbClr val="303846"/>
          </a:solidFill>
          <a:ln w="12700">
            <a:solidFill>
              <a:srgbClr val="303846"/>
            </a:solidFill>
            <a:prstDash val="solid"/>
          </a:ln>
        </p:spPr>
      </p:sp>
      <p:sp>
        <p:nvSpPr>
          <p:cNvPr id="20" name="Text 18"/>
          <p:cNvSpPr/>
          <p:nvPr/>
        </p:nvSpPr>
        <p:spPr>
          <a:xfrm>
            <a:off x="640080" y="3163824"/>
            <a:ext cx="475488" cy="320040"/>
          </a:xfrm>
          <a:prstGeom prst="rect">
            <a:avLst/>
          </a:prstGeom>
          <a:noFill/>
          <a:ln/>
        </p:spPr>
        <p:txBody>
          <a:bodyPr wrap="square" lIns="0" tIns="0" rIns="0" bIns="0" rtlCol="0" anchor="ctr"/>
          <a:lstStyle/>
          <a:p>
            <a:pPr marL="0" indent="0" algn="ctr">
              <a:buNone/>
            </a:pPr>
            <a:r>
              <a:rPr lang="en-US" sz="1900" b="1" dirty="0">
                <a:solidFill>
                  <a:srgbClr val="FFFFFF"/>
                </a:solidFill>
              </a:rPr>
              <a:t>03</a:t>
            </a:r>
            <a:endParaRPr lang="en-US" sz="1900" dirty="0"/>
          </a:p>
        </p:txBody>
      </p:sp>
      <p:sp>
        <p:nvSpPr>
          <p:cNvPr id="21" name="Text 19"/>
          <p:cNvSpPr/>
          <p:nvPr/>
        </p:nvSpPr>
        <p:spPr>
          <a:xfrm>
            <a:off x="1307592" y="3099816"/>
            <a:ext cx="4343400" cy="256032"/>
          </a:xfrm>
          <a:prstGeom prst="rect">
            <a:avLst/>
          </a:prstGeom>
          <a:noFill/>
          <a:ln/>
        </p:spPr>
        <p:txBody>
          <a:bodyPr wrap="square" lIns="254" tIns="254" rIns="254" bIns="254" rtlCol="0" anchor="ctr"/>
          <a:lstStyle/>
          <a:p>
            <a:pPr marL="0" indent="0">
              <a:buNone/>
            </a:pPr>
            <a:r>
              <a:rPr lang="en-US" sz="1400" b="1" dirty="0">
                <a:solidFill>
                  <a:srgbClr val="303846"/>
                </a:solidFill>
              </a:rPr>
              <a:t>Protocol &amp; Search Strategy</a:t>
            </a:r>
            <a:endParaRPr lang="en-US" sz="1400" dirty="0"/>
          </a:p>
        </p:txBody>
      </p:sp>
      <p:sp>
        <p:nvSpPr>
          <p:cNvPr id="22" name="Text 20"/>
          <p:cNvSpPr/>
          <p:nvPr/>
        </p:nvSpPr>
        <p:spPr>
          <a:xfrm>
            <a:off x="1307592" y="3456432"/>
            <a:ext cx="4343400" cy="301752"/>
          </a:xfrm>
          <a:prstGeom prst="rect">
            <a:avLst/>
          </a:prstGeom>
          <a:noFill/>
          <a:ln/>
        </p:spPr>
        <p:txBody>
          <a:bodyPr wrap="square" lIns="254" tIns="254" rIns="254" bIns="254" rtlCol="0" anchor="ctr">
            <a:normAutofit/>
          </a:bodyPr>
          <a:lstStyle/>
          <a:p>
            <a:pPr marL="0" indent="0">
              <a:buNone/>
            </a:pPr>
            <a:r>
              <a:rPr lang="en-US" sz="1120" dirty="0">
                <a:solidFill>
                  <a:srgbClr val="667085"/>
                </a:solidFill>
              </a:rPr>
              <a:t>Search string, database logic, screening scope</a:t>
            </a:r>
            <a:endParaRPr lang="en-US" sz="1120" dirty="0"/>
          </a:p>
        </p:txBody>
      </p:sp>
      <p:sp>
        <p:nvSpPr>
          <p:cNvPr id="23" name="Shape 21"/>
          <p:cNvSpPr/>
          <p:nvPr/>
        </p:nvSpPr>
        <p:spPr>
          <a:xfrm>
            <a:off x="594360" y="3968496"/>
            <a:ext cx="5212080" cy="768096"/>
          </a:xfrm>
          <a:prstGeom prst="roundRect">
            <a:avLst>
              <a:gd name="adj" fmla="val 4762"/>
            </a:avLst>
          </a:prstGeom>
          <a:solidFill>
            <a:srgbClr val="FFFFFF"/>
          </a:solidFill>
          <a:ln w="12700">
            <a:solidFill>
              <a:srgbClr val="E8ECF2"/>
            </a:solidFill>
            <a:prstDash val="solid"/>
          </a:ln>
        </p:spPr>
      </p:sp>
      <p:sp>
        <p:nvSpPr>
          <p:cNvPr id="24" name="Shape 22"/>
          <p:cNvSpPr/>
          <p:nvPr/>
        </p:nvSpPr>
        <p:spPr>
          <a:xfrm>
            <a:off x="594360" y="3968496"/>
            <a:ext cx="566928" cy="768096"/>
          </a:xfrm>
          <a:prstGeom prst="rect">
            <a:avLst/>
          </a:prstGeom>
          <a:solidFill>
            <a:srgbClr val="2F6BD8"/>
          </a:solidFill>
          <a:ln w="12700">
            <a:solidFill>
              <a:srgbClr val="2F6BD8"/>
            </a:solidFill>
            <a:prstDash val="solid"/>
          </a:ln>
        </p:spPr>
      </p:sp>
      <p:sp>
        <p:nvSpPr>
          <p:cNvPr id="25" name="Text 23"/>
          <p:cNvSpPr/>
          <p:nvPr/>
        </p:nvSpPr>
        <p:spPr>
          <a:xfrm>
            <a:off x="640080" y="4151376"/>
            <a:ext cx="475488" cy="320040"/>
          </a:xfrm>
          <a:prstGeom prst="rect">
            <a:avLst/>
          </a:prstGeom>
          <a:noFill/>
          <a:ln/>
        </p:spPr>
        <p:txBody>
          <a:bodyPr wrap="square" lIns="0" tIns="0" rIns="0" bIns="0" rtlCol="0" anchor="ctr"/>
          <a:lstStyle/>
          <a:p>
            <a:pPr marL="0" indent="0" algn="ctr">
              <a:buNone/>
            </a:pPr>
            <a:r>
              <a:rPr lang="en-US" sz="1900" b="1" dirty="0">
                <a:solidFill>
                  <a:srgbClr val="FFFFFF"/>
                </a:solidFill>
              </a:rPr>
              <a:t>04</a:t>
            </a:r>
            <a:endParaRPr lang="en-US" sz="1900" dirty="0"/>
          </a:p>
        </p:txBody>
      </p:sp>
      <p:sp>
        <p:nvSpPr>
          <p:cNvPr id="26" name="Text 24"/>
          <p:cNvSpPr/>
          <p:nvPr/>
        </p:nvSpPr>
        <p:spPr>
          <a:xfrm>
            <a:off x="1307592" y="4087368"/>
            <a:ext cx="4343400" cy="256032"/>
          </a:xfrm>
          <a:prstGeom prst="rect">
            <a:avLst/>
          </a:prstGeom>
          <a:noFill/>
          <a:ln/>
        </p:spPr>
        <p:txBody>
          <a:bodyPr wrap="square" lIns="254" tIns="254" rIns="254" bIns="254" rtlCol="0" anchor="ctr"/>
          <a:lstStyle/>
          <a:p>
            <a:pPr marL="0" indent="0">
              <a:buNone/>
            </a:pPr>
            <a:r>
              <a:rPr lang="en-US" sz="1400" b="1" dirty="0">
                <a:solidFill>
                  <a:srgbClr val="303846"/>
                </a:solidFill>
              </a:rPr>
              <a:t>Study Selection</a:t>
            </a:r>
            <a:endParaRPr lang="en-US" sz="1400" dirty="0"/>
          </a:p>
        </p:txBody>
      </p:sp>
      <p:sp>
        <p:nvSpPr>
          <p:cNvPr id="27" name="Text 25"/>
          <p:cNvSpPr/>
          <p:nvPr/>
        </p:nvSpPr>
        <p:spPr>
          <a:xfrm>
            <a:off x="1307592" y="4443984"/>
            <a:ext cx="4343400" cy="301752"/>
          </a:xfrm>
          <a:prstGeom prst="rect">
            <a:avLst/>
          </a:prstGeom>
          <a:noFill/>
          <a:ln/>
        </p:spPr>
        <p:txBody>
          <a:bodyPr wrap="square" lIns="254" tIns="254" rIns="254" bIns="254" rtlCol="0" anchor="ctr">
            <a:normAutofit/>
          </a:bodyPr>
          <a:lstStyle/>
          <a:p>
            <a:pPr marL="0" indent="0">
              <a:buNone/>
            </a:pPr>
            <a:r>
              <a:rPr lang="en-US" sz="1120" dirty="0">
                <a:solidFill>
                  <a:srgbClr val="667085"/>
                </a:solidFill>
              </a:rPr>
              <a:t>PRISMA 2020 flow and eligibility process</a:t>
            </a:r>
            <a:endParaRPr lang="en-US" sz="1120" dirty="0"/>
          </a:p>
        </p:txBody>
      </p:sp>
      <p:sp>
        <p:nvSpPr>
          <p:cNvPr id="28" name="Shape 26"/>
          <p:cNvSpPr/>
          <p:nvPr/>
        </p:nvSpPr>
        <p:spPr>
          <a:xfrm>
            <a:off x="594360" y="4956048"/>
            <a:ext cx="5212080" cy="768096"/>
          </a:xfrm>
          <a:prstGeom prst="roundRect">
            <a:avLst>
              <a:gd name="adj" fmla="val 4762"/>
            </a:avLst>
          </a:prstGeom>
          <a:solidFill>
            <a:srgbClr val="FFFFFF"/>
          </a:solidFill>
          <a:ln w="12700">
            <a:solidFill>
              <a:srgbClr val="E8ECF2"/>
            </a:solidFill>
            <a:prstDash val="solid"/>
          </a:ln>
        </p:spPr>
      </p:sp>
      <p:sp>
        <p:nvSpPr>
          <p:cNvPr id="29" name="Shape 27"/>
          <p:cNvSpPr/>
          <p:nvPr/>
        </p:nvSpPr>
        <p:spPr>
          <a:xfrm>
            <a:off x="594360" y="4956048"/>
            <a:ext cx="566928" cy="768096"/>
          </a:xfrm>
          <a:prstGeom prst="rect">
            <a:avLst/>
          </a:prstGeom>
          <a:solidFill>
            <a:srgbClr val="303846"/>
          </a:solidFill>
          <a:ln w="12700">
            <a:solidFill>
              <a:srgbClr val="303846"/>
            </a:solidFill>
            <a:prstDash val="solid"/>
          </a:ln>
        </p:spPr>
      </p:sp>
      <p:sp>
        <p:nvSpPr>
          <p:cNvPr id="30" name="Text 28"/>
          <p:cNvSpPr/>
          <p:nvPr/>
        </p:nvSpPr>
        <p:spPr>
          <a:xfrm>
            <a:off x="640080" y="5138928"/>
            <a:ext cx="475488" cy="320040"/>
          </a:xfrm>
          <a:prstGeom prst="rect">
            <a:avLst/>
          </a:prstGeom>
          <a:noFill/>
          <a:ln/>
        </p:spPr>
        <p:txBody>
          <a:bodyPr wrap="square" lIns="0" tIns="0" rIns="0" bIns="0" rtlCol="0" anchor="ctr"/>
          <a:lstStyle/>
          <a:p>
            <a:pPr marL="0" indent="0" algn="ctr">
              <a:buNone/>
            </a:pPr>
            <a:r>
              <a:rPr lang="en-US" sz="1900" b="1" dirty="0">
                <a:solidFill>
                  <a:srgbClr val="FFFFFF"/>
                </a:solidFill>
              </a:rPr>
              <a:t>05</a:t>
            </a:r>
            <a:endParaRPr lang="en-US" sz="1900" dirty="0"/>
          </a:p>
        </p:txBody>
      </p:sp>
      <p:sp>
        <p:nvSpPr>
          <p:cNvPr id="31" name="Text 29"/>
          <p:cNvSpPr/>
          <p:nvPr/>
        </p:nvSpPr>
        <p:spPr>
          <a:xfrm>
            <a:off x="1307592" y="5074920"/>
            <a:ext cx="4343400" cy="256032"/>
          </a:xfrm>
          <a:prstGeom prst="rect">
            <a:avLst/>
          </a:prstGeom>
          <a:noFill/>
          <a:ln/>
        </p:spPr>
        <p:txBody>
          <a:bodyPr wrap="square" lIns="254" tIns="254" rIns="254" bIns="254" rtlCol="0" anchor="ctr"/>
          <a:lstStyle/>
          <a:p>
            <a:pPr marL="0" indent="0">
              <a:buNone/>
            </a:pPr>
            <a:r>
              <a:rPr lang="en-US" sz="1400" b="1" dirty="0">
                <a:solidFill>
                  <a:srgbClr val="303846"/>
                </a:solidFill>
              </a:rPr>
              <a:t>Study Characteristics</a:t>
            </a:r>
            <a:endParaRPr lang="en-US" sz="1400" dirty="0"/>
          </a:p>
        </p:txBody>
      </p:sp>
      <p:sp>
        <p:nvSpPr>
          <p:cNvPr id="32" name="Text 30"/>
          <p:cNvSpPr/>
          <p:nvPr/>
        </p:nvSpPr>
        <p:spPr>
          <a:xfrm>
            <a:off x="1307592" y="5431536"/>
            <a:ext cx="4343400" cy="301752"/>
          </a:xfrm>
          <a:prstGeom prst="rect">
            <a:avLst/>
          </a:prstGeom>
          <a:noFill/>
          <a:ln/>
        </p:spPr>
        <p:txBody>
          <a:bodyPr wrap="square" lIns="254" tIns="254" rIns="254" bIns="254" rtlCol="0" anchor="ctr">
            <a:normAutofit/>
          </a:bodyPr>
          <a:lstStyle/>
          <a:p>
            <a:pPr marL="0" indent="0">
              <a:buNone/>
            </a:pPr>
            <a:r>
              <a:rPr lang="en-US" sz="1120" dirty="0">
                <a:solidFill>
                  <a:srgbClr val="667085"/>
                </a:solidFill>
              </a:rPr>
              <a:t>15 primary studies + 5 supporting reviews</a:t>
            </a:r>
            <a:endParaRPr lang="en-US" sz="1120" dirty="0"/>
          </a:p>
        </p:txBody>
      </p:sp>
      <p:sp>
        <p:nvSpPr>
          <p:cNvPr id="33" name="Shape 31"/>
          <p:cNvSpPr/>
          <p:nvPr/>
        </p:nvSpPr>
        <p:spPr>
          <a:xfrm>
            <a:off x="6309360" y="1005840"/>
            <a:ext cx="5212080" cy="768096"/>
          </a:xfrm>
          <a:prstGeom prst="roundRect">
            <a:avLst>
              <a:gd name="adj" fmla="val 4762"/>
            </a:avLst>
          </a:prstGeom>
          <a:solidFill>
            <a:srgbClr val="FFFFFF"/>
          </a:solidFill>
          <a:ln w="12700">
            <a:solidFill>
              <a:srgbClr val="E8ECF2"/>
            </a:solidFill>
            <a:prstDash val="solid"/>
          </a:ln>
        </p:spPr>
      </p:sp>
      <p:sp>
        <p:nvSpPr>
          <p:cNvPr id="34" name="Shape 32"/>
          <p:cNvSpPr/>
          <p:nvPr/>
        </p:nvSpPr>
        <p:spPr>
          <a:xfrm>
            <a:off x="6309360" y="1005840"/>
            <a:ext cx="566928" cy="768096"/>
          </a:xfrm>
          <a:prstGeom prst="rect">
            <a:avLst/>
          </a:prstGeom>
          <a:solidFill>
            <a:srgbClr val="303846"/>
          </a:solidFill>
          <a:ln w="12700">
            <a:solidFill>
              <a:srgbClr val="303846"/>
            </a:solidFill>
            <a:prstDash val="solid"/>
          </a:ln>
        </p:spPr>
      </p:sp>
      <p:sp>
        <p:nvSpPr>
          <p:cNvPr id="35" name="Text 33"/>
          <p:cNvSpPr/>
          <p:nvPr/>
        </p:nvSpPr>
        <p:spPr>
          <a:xfrm>
            <a:off x="6355080" y="1188720"/>
            <a:ext cx="475488" cy="320040"/>
          </a:xfrm>
          <a:prstGeom prst="rect">
            <a:avLst/>
          </a:prstGeom>
          <a:noFill/>
          <a:ln/>
        </p:spPr>
        <p:txBody>
          <a:bodyPr wrap="square" lIns="0" tIns="0" rIns="0" bIns="0" rtlCol="0" anchor="ctr"/>
          <a:lstStyle/>
          <a:p>
            <a:pPr marL="0" indent="0" algn="ctr">
              <a:buNone/>
            </a:pPr>
            <a:r>
              <a:rPr lang="en-US" sz="1900" b="1" dirty="0">
                <a:solidFill>
                  <a:srgbClr val="FFFFFF"/>
                </a:solidFill>
              </a:rPr>
              <a:t>06</a:t>
            </a:r>
            <a:endParaRPr lang="en-US" sz="1900" dirty="0"/>
          </a:p>
        </p:txBody>
      </p:sp>
      <p:sp>
        <p:nvSpPr>
          <p:cNvPr id="36" name="Text 34"/>
          <p:cNvSpPr/>
          <p:nvPr/>
        </p:nvSpPr>
        <p:spPr>
          <a:xfrm>
            <a:off x="7022592" y="1124712"/>
            <a:ext cx="4343400" cy="256032"/>
          </a:xfrm>
          <a:prstGeom prst="rect">
            <a:avLst/>
          </a:prstGeom>
          <a:noFill/>
          <a:ln/>
        </p:spPr>
        <p:txBody>
          <a:bodyPr wrap="square" lIns="254" tIns="254" rIns="254" bIns="254" rtlCol="0" anchor="ctr"/>
          <a:lstStyle/>
          <a:p>
            <a:pPr marL="0" indent="0">
              <a:buNone/>
            </a:pPr>
            <a:r>
              <a:rPr lang="en-US" sz="1400" b="1" dirty="0">
                <a:solidFill>
                  <a:srgbClr val="303846"/>
                </a:solidFill>
              </a:rPr>
              <a:t>Quality Assessment</a:t>
            </a:r>
            <a:endParaRPr lang="en-US" sz="1400" dirty="0"/>
          </a:p>
        </p:txBody>
      </p:sp>
      <p:sp>
        <p:nvSpPr>
          <p:cNvPr id="37" name="Text 35"/>
          <p:cNvSpPr/>
          <p:nvPr/>
        </p:nvSpPr>
        <p:spPr>
          <a:xfrm>
            <a:off x="7022592" y="1481328"/>
            <a:ext cx="4343400" cy="301752"/>
          </a:xfrm>
          <a:prstGeom prst="rect">
            <a:avLst/>
          </a:prstGeom>
          <a:noFill/>
          <a:ln/>
        </p:spPr>
        <p:txBody>
          <a:bodyPr wrap="square" lIns="254" tIns="254" rIns="254" bIns="254" rtlCol="0" anchor="ctr">
            <a:normAutofit/>
          </a:bodyPr>
          <a:lstStyle/>
          <a:p>
            <a:pPr marL="0" indent="0">
              <a:buNone/>
            </a:pPr>
            <a:r>
              <a:rPr lang="en-US" sz="1120" dirty="0">
                <a:solidFill>
                  <a:srgbClr val="667085"/>
                </a:solidFill>
              </a:rPr>
              <a:t>7-criterion appraisal and evidence strength</a:t>
            </a:r>
            <a:endParaRPr lang="en-US" sz="1120" dirty="0"/>
          </a:p>
        </p:txBody>
      </p:sp>
      <p:sp>
        <p:nvSpPr>
          <p:cNvPr id="38" name="Shape 36"/>
          <p:cNvSpPr/>
          <p:nvPr/>
        </p:nvSpPr>
        <p:spPr>
          <a:xfrm>
            <a:off x="6309360" y="1993392"/>
            <a:ext cx="5212080" cy="768096"/>
          </a:xfrm>
          <a:prstGeom prst="roundRect">
            <a:avLst>
              <a:gd name="adj" fmla="val 4762"/>
            </a:avLst>
          </a:prstGeom>
          <a:solidFill>
            <a:srgbClr val="FFFFFF"/>
          </a:solidFill>
          <a:ln w="12700">
            <a:solidFill>
              <a:srgbClr val="E8ECF2"/>
            </a:solidFill>
            <a:prstDash val="solid"/>
          </a:ln>
        </p:spPr>
      </p:sp>
      <p:sp>
        <p:nvSpPr>
          <p:cNvPr id="39" name="Shape 37"/>
          <p:cNvSpPr/>
          <p:nvPr/>
        </p:nvSpPr>
        <p:spPr>
          <a:xfrm>
            <a:off x="6309360" y="1993392"/>
            <a:ext cx="566928" cy="768096"/>
          </a:xfrm>
          <a:prstGeom prst="rect">
            <a:avLst/>
          </a:prstGeom>
          <a:solidFill>
            <a:srgbClr val="2F6BD8"/>
          </a:solidFill>
          <a:ln w="12700">
            <a:solidFill>
              <a:srgbClr val="2F6BD8"/>
            </a:solidFill>
            <a:prstDash val="solid"/>
          </a:ln>
        </p:spPr>
      </p:sp>
      <p:sp>
        <p:nvSpPr>
          <p:cNvPr id="40" name="Text 38"/>
          <p:cNvSpPr/>
          <p:nvPr/>
        </p:nvSpPr>
        <p:spPr>
          <a:xfrm>
            <a:off x="6355080" y="2176272"/>
            <a:ext cx="475488" cy="320040"/>
          </a:xfrm>
          <a:prstGeom prst="rect">
            <a:avLst/>
          </a:prstGeom>
          <a:noFill/>
          <a:ln/>
        </p:spPr>
        <p:txBody>
          <a:bodyPr wrap="square" lIns="0" tIns="0" rIns="0" bIns="0" rtlCol="0" anchor="ctr"/>
          <a:lstStyle/>
          <a:p>
            <a:pPr marL="0" indent="0" algn="ctr">
              <a:buNone/>
            </a:pPr>
            <a:r>
              <a:rPr lang="en-US" sz="1900" b="1" dirty="0">
                <a:solidFill>
                  <a:srgbClr val="FFFFFF"/>
                </a:solidFill>
              </a:rPr>
              <a:t>07</a:t>
            </a:r>
            <a:endParaRPr lang="en-US" sz="1900" dirty="0"/>
          </a:p>
        </p:txBody>
      </p:sp>
      <p:sp>
        <p:nvSpPr>
          <p:cNvPr id="41" name="Text 39"/>
          <p:cNvSpPr/>
          <p:nvPr/>
        </p:nvSpPr>
        <p:spPr>
          <a:xfrm>
            <a:off x="7022592" y="2112264"/>
            <a:ext cx="4343400" cy="256032"/>
          </a:xfrm>
          <a:prstGeom prst="rect">
            <a:avLst/>
          </a:prstGeom>
          <a:noFill/>
          <a:ln/>
        </p:spPr>
        <p:txBody>
          <a:bodyPr wrap="square" lIns="254" tIns="254" rIns="254" bIns="254" rtlCol="0" anchor="ctr"/>
          <a:lstStyle/>
          <a:p>
            <a:pPr marL="0" indent="0">
              <a:buNone/>
            </a:pPr>
            <a:r>
              <a:rPr lang="en-US" sz="1400" b="1" dirty="0">
                <a:solidFill>
                  <a:srgbClr val="303846"/>
                </a:solidFill>
              </a:rPr>
              <a:t>Results — RQ1/RQ2</a:t>
            </a:r>
            <a:endParaRPr lang="en-US" sz="1400" dirty="0"/>
          </a:p>
        </p:txBody>
      </p:sp>
      <p:sp>
        <p:nvSpPr>
          <p:cNvPr id="42" name="Text 40"/>
          <p:cNvSpPr/>
          <p:nvPr/>
        </p:nvSpPr>
        <p:spPr>
          <a:xfrm>
            <a:off x="7022592" y="2468880"/>
            <a:ext cx="4343400" cy="301752"/>
          </a:xfrm>
          <a:prstGeom prst="rect">
            <a:avLst/>
          </a:prstGeom>
          <a:noFill/>
          <a:ln/>
        </p:spPr>
        <p:txBody>
          <a:bodyPr wrap="square" lIns="254" tIns="254" rIns="254" bIns="254" rtlCol="0" anchor="ctr">
            <a:normAutofit/>
          </a:bodyPr>
          <a:lstStyle/>
          <a:p>
            <a:pPr marL="0" indent="0">
              <a:buNone/>
            </a:pPr>
            <a:r>
              <a:rPr lang="en-US" sz="1120" dirty="0">
                <a:solidFill>
                  <a:srgbClr val="667085"/>
                </a:solidFill>
              </a:rPr>
              <a:t>Application areas and enabling technologies</a:t>
            </a:r>
            <a:endParaRPr lang="en-US" sz="1120" dirty="0"/>
          </a:p>
        </p:txBody>
      </p:sp>
      <p:sp>
        <p:nvSpPr>
          <p:cNvPr id="43" name="Shape 41"/>
          <p:cNvSpPr/>
          <p:nvPr/>
        </p:nvSpPr>
        <p:spPr>
          <a:xfrm>
            <a:off x="6309360" y="2980944"/>
            <a:ext cx="5212080" cy="768096"/>
          </a:xfrm>
          <a:prstGeom prst="roundRect">
            <a:avLst>
              <a:gd name="adj" fmla="val 4762"/>
            </a:avLst>
          </a:prstGeom>
          <a:solidFill>
            <a:srgbClr val="FFFFFF"/>
          </a:solidFill>
          <a:ln w="12700">
            <a:solidFill>
              <a:srgbClr val="E8ECF2"/>
            </a:solidFill>
            <a:prstDash val="solid"/>
          </a:ln>
        </p:spPr>
      </p:sp>
      <p:sp>
        <p:nvSpPr>
          <p:cNvPr id="44" name="Shape 42"/>
          <p:cNvSpPr/>
          <p:nvPr/>
        </p:nvSpPr>
        <p:spPr>
          <a:xfrm>
            <a:off x="6309360" y="2980944"/>
            <a:ext cx="566928" cy="768096"/>
          </a:xfrm>
          <a:prstGeom prst="rect">
            <a:avLst/>
          </a:prstGeom>
          <a:solidFill>
            <a:srgbClr val="303846"/>
          </a:solidFill>
          <a:ln w="12700">
            <a:solidFill>
              <a:srgbClr val="303846"/>
            </a:solidFill>
            <a:prstDash val="solid"/>
          </a:ln>
        </p:spPr>
      </p:sp>
      <p:sp>
        <p:nvSpPr>
          <p:cNvPr id="45" name="Text 43"/>
          <p:cNvSpPr/>
          <p:nvPr/>
        </p:nvSpPr>
        <p:spPr>
          <a:xfrm>
            <a:off x="6355080" y="3163824"/>
            <a:ext cx="475488" cy="320040"/>
          </a:xfrm>
          <a:prstGeom prst="rect">
            <a:avLst/>
          </a:prstGeom>
          <a:noFill/>
          <a:ln/>
        </p:spPr>
        <p:txBody>
          <a:bodyPr wrap="square" lIns="0" tIns="0" rIns="0" bIns="0" rtlCol="0" anchor="ctr"/>
          <a:lstStyle/>
          <a:p>
            <a:pPr marL="0" indent="0" algn="ctr">
              <a:buNone/>
            </a:pPr>
            <a:r>
              <a:rPr lang="en-US" sz="1900" b="1" dirty="0">
                <a:solidFill>
                  <a:srgbClr val="FFFFFF"/>
                </a:solidFill>
              </a:rPr>
              <a:t>08</a:t>
            </a:r>
            <a:endParaRPr lang="en-US" sz="1900" dirty="0"/>
          </a:p>
        </p:txBody>
      </p:sp>
      <p:sp>
        <p:nvSpPr>
          <p:cNvPr id="46" name="Text 44"/>
          <p:cNvSpPr/>
          <p:nvPr/>
        </p:nvSpPr>
        <p:spPr>
          <a:xfrm>
            <a:off x="7022592" y="3099816"/>
            <a:ext cx="4343400" cy="256032"/>
          </a:xfrm>
          <a:prstGeom prst="rect">
            <a:avLst/>
          </a:prstGeom>
          <a:noFill/>
          <a:ln/>
        </p:spPr>
        <p:txBody>
          <a:bodyPr wrap="square" lIns="254" tIns="254" rIns="254" bIns="254" rtlCol="0" anchor="ctr"/>
          <a:lstStyle/>
          <a:p>
            <a:pPr marL="0" indent="0">
              <a:buNone/>
            </a:pPr>
            <a:r>
              <a:rPr lang="en-US" sz="1400" b="1" dirty="0">
                <a:solidFill>
                  <a:srgbClr val="303846"/>
                </a:solidFill>
              </a:rPr>
              <a:t>Results — RQ3/RQ4</a:t>
            </a:r>
            <a:endParaRPr lang="en-US" sz="1400" dirty="0"/>
          </a:p>
        </p:txBody>
      </p:sp>
      <p:sp>
        <p:nvSpPr>
          <p:cNvPr id="47" name="Text 45"/>
          <p:cNvSpPr/>
          <p:nvPr/>
        </p:nvSpPr>
        <p:spPr>
          <a:xfrm>
            <a:off x="7022592" y="3456432"/>
            <a:ext cx="4343400" cy="301752"/>
          </a:xfrm>
          <a:prstGeom prst="rect">
            <a:avLst/>
          </a:prstGeom>
          <a:noFill/>
          <a:ln/>
        </p:spPr>
        <p:txBody>
          <a:bodyPr wrap="square" lIns="254" tIns="254" rIns="254" bIns="254" rtlCol="0" anchor="ctr">
            <a:normAutofit/>
          </a:bodyPr>
          <a:lstStyle/>
          <a:p>
            <a:pPr marL="0" indent="0">
              <a:buNone/>
            </a:pPr>
            <a:r>
              <a:rPr lang="en-US" sz="1120" dirty="0">
                <a:solidFill>
                  <a:srgbClr val="667085"/>
                </a:solidFill>
              </a:rPr>
              <a:t>Performance objectives and research maturity</a:t>
            </a:r>
            <a:endParaRPr lang="en-US" sz="1120" dirty="0"/>
          </a:p>
        </p:txBody>
      </p:sp>
      <p:sp>
        <p:nvSpPr>
          <p:cNvPr id="48" name="Shape 46"/>
          <p:cNvSpPr/>
          <p:nvPr/>
        </p:nvSpPr>
        <p:spPr>
          <a:xfrm>
            <a:off x="6309360" y="3968496"/>
            <a:ext cx="5212080" cy="768096"/>
          </a:xfrm>
          <a:prstGeom prst="roundRect">
            <a:avLst>
              <a:gd name="adj" fmla="val 4762"/>
            </a:avLst>
          </a:prstGeom>
          <a:solidFill>
            <a:srgbClr val="FFFFFF"/>
          </a:solidFill>
          <a:ln w="12700">
            <a:solidFill>
              <a:srgbClr val="E8ECF2"/>
            </a:solidFill>
            <a:prstDash val="solid"/>
          </a:ln>
        </p:spPr>
      </p:sp>
      <p:sp>
        <p:nvSpPr>
          <p:cNvPr id="49" name="Shape 47"/>
          <p:cNvSpPr/>
          <p:nvPr/>
        </p:nvSpPr>
        <p:spPr>
          <a:xfrm>
            <a:off x="6309360" y="3968496"/>
            <a:ext cx="566928" cy="768096"/>
          </a:xfrm>
          <a:prstGeom prst="rect">
            <a:avLst/>
          </a:prstGeom>
          <a:solidFill>
            <a:srgbClr val="2F6BD8"/>
          </a:solidFill>
          <a:ln w="12700">
            <a:solidFill>
              <a:srgbClr val="2F6BD8"/>
            </a:solidFill>
            <a:prstDash val="solid"/>
          </a:ln>
        </p:spPr>
      </p:sp>
      <p:sp>
        <p:nvSpPr>
          <p:cNvPr id="50" name="Text 48"/>
          <p:cNvSpPr/>
          <p:nvPr/>
        </p:nvSpPr>
        <p:spPr>
          <a:xfrm>
            <a:off x="6355080" y="4151376"/>
            <a:ext cx="475488" cy="320040"/>
          </a:xfrm>
          <a:prstGeom prst="rect">
            <a:avLst/>
          </a:prstGeom>
          <a:noFill/>
          <a:ln/>
        </p:spPr>
        <p:txBody>
          <a:bodyPr wrap="square" lIns="0" tIns="0" rIns="0" bIns="0" rtlCol="0" anchor="ctr"/>
          <a:lstStyle/>
          <a:p>
            <a:pPr marL="0" indent="0" algn="ctr">
              <a:buNone/>
            </a:pPr>
            <a:r>
              <a:rPr lang="en-US" sz="1900" b="1" dirty="0">
                <a:solidFill>
                  <a:srgbClr val="FFFFFF"/>
                </a:solidFill>
              </a:rPr>
              <a:t>09</a:t>
            </a:r>
            <a:endParaRPr lang="en-US" sz="1900" dirty="0"/>
          </a:p>
        </p:txBody>
      </p:sp>
      <p:sp>
        <p:nvSpPr>
          <p:cNvPr id="51" name="Text 49"/>
          <p:cNvSpPr/>
          <p:nvPr/>
        </p:nvSpPr>
        <p:spPr>
          <a:xfrm>
            <a:off x="7022592" y="4087368"/>
            <a:ext cx="4343400" cy="256032"/>
          </a:xfrm>
          <a:prstGeom prst="rect">
            <a:avLst/>
          </a:prstGeom>
          <a:noFill/>
          <a:ln/>
        </p:spPr>
        <p:txBody>
          <a:bodyPr wrap="square" lIns="254" tIns="254" rIns="254" bIns="254" rtlCol="0" anchor="ctr"/>
          <a:lstStyle/>
          <a:p>
            <a:pPr marL="0" indent="0">
              <a:buNone/>
            </a:pPr>
            <a:r>
              <a:rPr lang="en-US" sz="1400" b="1" dirty="0">
                <a:solidFill>
                  <a:srgbClr val="303846"/>
                </a:solidFill>
              </a:rPr>
              <a:t>Synthesis &amp; Discussion</a:t>
            </a:r>
            <a:endParaRPr lang="en-US" sz="1400" dirty="0"/>
          </a:p>
        </p:txBody>
      </p:sp>
      <p:sp>
        <p:nvSpPr>
          <p:cNvPr id="52" name="Text 50"/>
          <p:cNvSpPr/>
          <p:nvPr/>
        </p:nvSpPr>
        <p:spPr>
          <a:xfrm>
            <a:off x="7022592" y="4443984"/>
            <a:ext cx="4343400" cy="301752"/>
          </a:xfrm>
          <a:prstGeom prst="rect">
            <a:avLst/>
          </a:prstGeom>
          <a:noFill/>
          <a:ln/>
        </p:spPr>
        <p:txBody>
          <a:bodyPr wrap="square" lIns="254" tIns="254" rIns="254" bIns="254" rtlCol="0" anchor="ctr">
            <a:normAutofit/>
          </a:bodyPr>
          <a:lstStyle/>
          <a:p>
            <a:pPr marL="0" indent="0">
              <a:buNone/>
            </a:pPr>
            <a:r>
              <a:rPr lang="en-US" sz="1120" dirty="0">
                <a:solidFill>
                  <a:srgbClr val="667085"/>
                </a:solidFill>
              </a:rPr>
              <a:t>Key findings, interpretation, systems view</a:t>
            </a:r>
            <a:endParaRPr lang="en-US" sz="1120" dirty="0"/>
          </a:p>
        </p:txBody>
      </p:sp>
      <p:sp>
        <p:nvSpPr>
          <p:cNvPr id="53" name="Shape 51"/>
          <p:cNvSpPr/>
          <p:nvPr/>
        </p:nvSpPr>
        <p:spPr>
          <a:xfrm>
            <a:off x="6309360" y="4956048"/>
            <a:ext cx="5212080" cy="768096"/>
          </a:xfrm>
          <a:prstGeom prst="roundRect">
            <a:avLst>
              <a:gd name="adj" fmla="val 4762"/>
            </a:avLst>
          </a:prstGeom>
          <a:solidFill>
            <a:srgbClr val="FFFFFF"/>
          </a:solidFill>
          <a:ln w="12700">
            <a:solidFill>
              <a:srgbClr val="E8ECF2"/>
            </a:solidFill>
            <a:prstDash val="solid"/>
          </a:ln>
        </p:spPr>
      </p:sp>
      <p:sp>
        <p:nvSpPr>
          <p:cNvPr id="54" name="Shape 52"/>
          <p:cNvSpPr/>
          <p:nvPr/>
        </p:nvSpPr>
        <p:spPr>
          <a:xfrm>
            <a:off x="6309360" y="4956048"/>
            <a:ext cx="566928" cy="768096"/>
          </a:xfrm>
          <a:prstGeom prst="rect">
            <a:avLst/>
          </a:prstGeom>
          <a:solidFill>
            <a:srgbClr val="303846"/>
          </a:solidFill>
          <a:ln w="12700">
            <a:solidFill>
              <a:srgbClr val="303846"/>
            </a:solidFill>
            <a:prstDash val="solid"/>
          </a:ln>
        </p:spPr>
      </p:sp>
      <p:sp>
        <p:nvSpPr>
          <p:cNvPr id="55" name="Text 53"/>
          <p:cNvSpPr/>
          <p:nvPr/>
        </p:nvSpPr>
        <p:spPr>
          <a:xfrm>
            <a:off x="6355080" y="5138928"/>
            <a:ext cx="475488" cy="320040"/>
          </a:xfrm>
          <a:prstGeom prst="rect">
            <a:avLst/>
          </a:prstGeom>
          <a:noFill/>
          <a:ln/>
        </p:spPr>
        <p:txBody>
          <a:bodyPr wrap="square" lIns="0" tIns="0" rIns="0" bIns="0" rtlCol="0" anchor="ctr"/>
          <a:lstStyle/>
          <a:p>
            <a:pPr marL="0" indent="0" algn="ctr">
              <a:buNone/>
            </a:pPr>
            <a:r>
              <a:rPr lang="en-US" sz="1900" b="1" dirty="0">
                <a:solidFill>
                  <a:srgbClr val="FFFFFF"/>
                </a:solidFill>
              </a:rPr>
              <a:t>10</a:t>
            </a:r>
            <a:endParaRPr lang="en-US" sz="1900" dirty="0"/>
          </a:p>
        </p:txBody>
      </p:sp>
      <p:sp>
        <p:nvSpPr>
          <p:cNvPr id="56" name="Text 54"/>
          <p:cNvSpPr/>
          <p:nvPr/>
        </p:nvSpPr>
        <p:spPr>
          <a:xfrm>
            <a:off x="7022592" y="5074920"/>
            <a:ext cx="4343400" cy="256032"/>
          </a:xfrm>
          <a:prstGeom prst="rect">
            <a:avLst/>
          </a:prstGeom>
          <a:noFill/>
          <a:ln/>
        </p:spPr>
        <p:txBody>
          <a:bodyPr wrap="square" lIns="254" tIns="254" rIns="254" bIns="254" rtlCol="0" anchor="ctr"/>
          <a:lstStyle/>
          <a:p>
            <a:pPr marL="0" indent="0">
              <a:buNone/>
            </a:pPr>
            <a:r>
              <a:rPr lang="en-US" sz="1400" b="1" dirty="0">
                <a:solidFill>
                  <a:srgbClr val="303846"/>
                </a:solidFill>
              </a:rPr>
              <a:t>Conclusions</a:t>
            </a:r>
            <a:endParaRPr lang="en-US" sz="1400" dirty="0"/>
          </a:p>
        </p:txBody>
      </p:sp>
      <p:sp>
        <p:nvSpPr>
          <p:cNvPr id="57" name="Text 55"/>
          <p:cNvSpPr/>
          <p:nvPr/>
        </p:nvSpPr>
        <p:spPr>
          <a:xfrm>
            <a:off x="7022592" y="5431536"/>
            <a:ext cx="4343400" cy="301752"/>
          </a:xfrm>
          <a:prstGeom prst="rect">
            <a:avLst/>
          </a:prstGeom>
          <a:noFill/>
          <a:ln/>
        </p:spPr>
        <p:txBody>
          <a:bodyPr wrap="square" lIns="254" tIns="254" rIns="254" bIns="254" rtlCol="0" anchor="ctr">
            <a:normAutofit/>
          </a:bodyPr>
          <a:lstStyle/>
          <a:p>
            <a:pPr marL="0" indent="0">
              <a:buNone/>
            </a:pPr>
            <a:r>
              <a:rPr lang="en-US" sz="1120" dirty="0">
                <a:solidFill>
                  <a:srgbClr val="667085"/>
                </a:solidFill>
              </a:rPr>
              <a:t>Implications, limitations, and future research</a:t>
            </a:r>
            <a:endParaRPr lang="en-US" sz="112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7F9"/>
        </a:solidFill>
        <a:effectLst/>
      </p:bgPr>
    </p:bg>
    <p:spTree>
      <p:nvGrpSpPr>
        <p:cNvPr id="1" name=""/>
        <p:cNvGrpSpPr/>
        <p:nvPr/>
      </p:nvGrpSpPr>
      <p:grpSpPr>
        <a:xfrm>
          <a:off x="0" y="0"/>
          <a:ext cx="0" cy="0"/>
          <a:chOff x="0" y="0"/>
          <a:chExt cx="0" cy="0"/>
        </a:xfrm>
      </p:grpSpPr>
      <p:sp>
        <p:nvSpPr>
          <p:cNvPr id="2" name="Shape 0"/>
          <p:cNvSpPr/>
          <p:nvPr/>
        </p:nvSpPr>
        <p:spPr>
          <a:xfrm>
            <a:off x="347472" y="329184"/>
            <a:ext cx="73152" cy="438912"/>
          </a:xfrm>
          <a:prstGeom prst="rect">
            <a:avLst/>
          </a:prstGeom>
          <a:solidFill>
            <a:srgbClr val="2F6BD8"/>
          </a:solidFill>
          <a:ln w="12700">
            <a:solidFill>
              <a:srgbClr val="2F6BD8"/>
            </a:solidFill>
            <a:prstDash val="solid"/>
          </a:ln>
        </p:spPr>
      </p:sp>
      <p:sp>
        <p:nvSpPr>
          <p:cNvPr id="3" name="Text 1"/>
          <p:cNvSpPr/>
          <p:nvPr/>
        </p:nvSpPr>
        <p:spPr>
          <a:xfrm>
            <a:off x="512064" y="292608"/>
            <a:ext cx="10789920" cy="502920"/>
          </a:xfrm>
          <a:prstGeom prst="rect">
            <a:avLst/>
          </a:prstGeom>
          <a:noFill/>
          <a:ln/>
        </p:spPr>
        <p:txBody>
          <a:bodyPr wrap="square" lIns="0" tIns="0" rIns="0" bIns="0" rtlCol="0" anchor="ctr"/>
          <a:lstStyle/>
          <a:p>
            <a:pPr marL="0" indent="0">
              <a:buNone/>
            </a:pPr>
            <a:r>
              <a:rPr lang="en-US" sz="2700" b="1" dirty="0">
                <a:solidFill>
                  <a:srgbClr val="303846"/>
                </a:solidFill>
                <a:latin typeface="Aptos Display" pitchFamily="34" charset="0"/>
                <a:ea typeface="Aptos Display" pitchFamily="34" charset="-122"/>
                <a:cs typeface="Aptos Display" pitchFamily="34" charset="-120"/>
              </a:rPr>
              <a:t>Introduction &amp; Background</a:t>
            </a:r>
            <a:endParaRPr lang="en-US" sz="2700" dirty="0"/>
          </a:p>
        </p:txBody>
      </p:sp>
      <p:sp>
        <p:nvSpPr>
          <p:cNvPr id="4" name="Shape 2"/>
          <p:cNvSpPr/>
          <p:nvPr/>
        </p:nvSpPr>
        <p:spPr>
          <a:xfrm>
            <a:off x="0" y="6510528"/>
            <a:ext cx="12191695" cy="347472"/>
          </a:xfrm>
          <a:prstGeom prst="rect">
            <a:avLst/>
          </a:prstGeom>
          <a:solidFill>
            <a:srgbClr val="303846"/>
          </a:solidFill>
          <a:ln w="12700">
            <a:solidFill>
              <a:srgbClr val="303846"/>
            </a:solidFill>
            <a:prstDash val="solid"/>
          </a:ln>
        </p:spPr>
      </p:sp>
      <p:sp>
        <p:nvSpPr>
          <p:cNvPr id="5" name="Text 3"/>
          <p:cNvSpPr/>
          <p:nvPr/>
        </p:nvSpPr>
        <p:spPr>
          <a:xfrm>
            <a:off x="320040" y="6592824"/>
            <a:ext cx="6583680" cy="137160"/>
          </a:xfrm>
          <a:prstGeom prst="rect">
            <a:avLst/>
          </a:prstGeom>
          <a:noFill/>
          <a:ln/>
        </p:spPr>
        <p:txBody>
          <a:bodyPr wrap="square" lIns="0" tIns="0" rIns="0" bIns="0" rtlCol="0" anchor="ctr"/>
          <a:lstStyle/>
          <a:p>
            <a:pPr marL="0" indent="0">
              <a:buNone/>
            </a:pPr>
            <a:r>
              <a:rPr lang="en-US" sz="750" i="1" dirty="0">
                <a:solidFill>
                  <a:srgbClr val="F2F4F7"/>
                </a:solidFill>
              </a:rPr>
              <a:t>Digital Twin-Enabled Intralogistics — Systematic Review | SEN601</a:t>
            </a:r>
            <a:endParaRPr lang="en-US" sz="750" dirty="0"/>
          </a:p>
        </p:txBody>
      </p:sp>
      <p:sp>
        <p:nvSpPr>
          <p:cNvPr id="6" name="Text 4"/>
          <p:cNvSpPr/>
          <p:nvPr/>
        </p:nvSpPr>
        <p:spPr>
          <a:xfrm>
            <a:off x="10195560" y="6592824"/>
            <a:ext cx="1280160" cy="137160"/>
          </a:xfrm>
          <a:prstGeom prst="rect">
            <a:avLst/>
          </a:prstGeom>
          <a:noFill/>
          <a:ln/>
        </p:spPr>
        <p:txBody>
          <a:bodyPr wrap="square" lIns="0" tIns="0" rIns="0" bIns="0" rtlCol="0" anchor="ctr"/>
          <a:lstStyle/>
          <a:p>
            <a:pPr marL="0" indent="0" algn="r">
              <a:buNone/>
            </a:pPr>
            <a:r>
              <a:rPr lang="en-US" sz="750" dirty="0">
                <a:solidFill>
                  <a:srgbClr val="F2F4F7"/>
                </a:solidFill>
              </a:rPr>
              <a:t>Introduction</a:t>
            </a:r>
            <a:endParaRPr lang="en-US" sz="750" dirty="0"/>
          </a:p>
        </p:txBody>
      </p:sp>
      <p:sp>
        <p:nvSpPr>
          <p:cNvPr id="7" name="Text 5"/>
          <p:cNvSpPr/>
          <p:nvPr/>
        </p:nvSpPr>
        <p:spPr>
          <a:xfrm>
            <a:off x="11539728" y="6583680"/>
            <a:ext cx="329184" cy="146304"/>
          </a:xfrm>
          <a:prstGeom prst="rect">
            <a:avLst/>
          </a:prstGeom>
          <a:noFill/>
          <a:ln/>
        </p:spPr>
        <p:txBody>
          <a:bodyPr wrap="square" lIns="0" tIns="0" rIns="0" bIns="0" rtlCol="0" anchor="ctr"/>
          <a:lstStyle/>
          <a:p>
            <a:pPr marL="0" indent="0" algn="r">
              <a:buNone/>
            </a:pPr>
            <a:r>
              <a:rPr lang="en-US" sz="850" dirty="0">
                <a:solidFill>
                  <a:srgbClr val="F2F4F7"/>
                </a:solidFill>
              </a:rPr>
              <a:t>2</a:t>
            </a:r>
            <a:endParaRPr lang="en-US" sz="850" dirty="0"/>
          </a:p>
        </p:txBody>
      </p:sp>
      <p:sp>
        <p:nvSpPr>
          <p:cNvPr id="8" name="Text 6"/>
          <p:cNvSpPr/>
          <p:nvPr/>
        </p:nvSpPr>
        <p:spPr>
          <a:xfrm>
            <a:off x="594360" y="960120"/>
            <a:ext cx="1097280" cy="228600"/>
          </a:xfrm>
          <a:prstGeom prst="rect">
            <a:avLst/>
          </a:prstGeom>
          <a:noFill/>
          <a:ln/>
        </p:spPr>
        <p:txBody>
          <a:bodyPr wrap="square" lIns="0" tIns="0" rIns="0" bIns="0" rtlCol="0" anchor="ctr"/>
          <a:lstStyle/>
          <a:p>
            <a:pPr marL="0" indent="0">
              <a:buNone/>
            </a:pPr>
            <a:r>
              <a:rPr lang="en-US" sz="1400" b="1" dirty="0">
                <a:solidFill>
                  <a:srgbClr val="2F6BD8"/>
                </a:solidFill>
              </a:rPr>
              <a:t>The Problem:</a:t>
            </a:r>
            <a:endParaRPr lang="en-US" sz="1400" dirty="0"/>
          </a:p>
        </p:txBody>
      </p:sp>
      <p:sp>
        <p:nvSpPr>
          <p:cNvPr id="9" name="Text 7"/>
          <p:cNvSpPr/>
          <p:nvPr/>
        </p:nvSpPr>
        <p:spPr>
          <a:xfrm>
            <a:off x="1700784" y="960120"/>
            <a:ext cx="9692640" cy="292608"/>
          </a:xfrm>
          <a:prstGeom prst="rect">
            <a:avLst/>
          </a:prstGeom>
          <a:noFill/>
          <a:ln/>
        </p:spPr>
        <p:txBody>
          <a:bodyPr wrap="square" lIns="0" tIns="0" rIns="0" bIns="0" rtlCol="0" anchor="ctr">
            <a:normAutofit/>
          </a:bodyPr>
          <a:lstStyle/>
          <a:p>
            <a:pPr marL="0" indent="0">
              <a:buNone/>
            </a:pPr>
            <a:r>
              <a:rPr lang="en-US" sz="1370" dirty="0">
                <a:solidFill>
                  <a:srgbClr val="303846"/>
                </a:solidFill>
              </a:rPr>
              <a:t>Modern warehouses operate as cyber-physical intralogistics systems: material flows, sensors, robots, WMS/WCS data, operators, and control decisions interact continuously.</a:t>
            </a:r>
            <a:endParaRPr lang="en-US" sz="1370" dirty="0"/>
          </a:p>
        </p:txBody>
      </p:sp>
      <p:sp>
        <p:nvSpPr>
          <p:cNvPr id="10" name="Shape 8"/>
          <p:cNvSpPr/>
          <p:nvPr/>
        </p:nvSpPr>
        <p:spPr>
          <a:xfrm>
            <a:off x="594360" y="1600200"/>
            <a:ext cx="3520440" cy="1234440"/>
          </a:xfrm>
          <a:prstGeom prst="roundRect">
            <a:avLst>
              <a:gd name="adj" fmla="val 2963"/>
            </a:avLst>
          </a:prstGeom>
          <a:solidFill>
            <a:srgbClr val="FFFFFF"/>
          </a:solidFill>
          <a:ln w="12700">
            <a:solidFill>
              <a:srgbClr val="E8ECF2"/>
            </a:solidFill>
            <a:prstDash val="solid"/>
          </a:ln>
        </p:spPr>
      </p:sp>
      <p:sp>
        <p:nvSpPr>
          <p:cNvPr id="11" name="Shape 9"/>
          <p:cNvSpPr/>
          <p:nvPr/>
        </p:nvSpPr>
        <p:spPr>
          <a:xfrm>
            <a:off x="594360" y="1600200"/>
            <a:ext cx="566928" cy="1234440"/>
          </a:xfrm>
          <a:prstGeom prst="rect">
            <a:avLst/>
          </a:prstGeom>
          <a:solidFill>
            <a:srgbClr val="273C75"/>
          </a:solidFill>
          <a:ln w="12700">
            <a:solidFill>
              <a:srgbClr val="273C75"/>
            </a:solidFill>
            <a:prstDash val="solid"/>
          </a:ln>
        </p:spPr>
      </p:sp>
      <p:sp>
        <p:nvSpPr>
          <p:cNvPr id="12" name="Text 10"/>
          <p:cNvSpPr/>
          <p:nvPr/>
        </p:nvSpPr>
        <p:spPr>
          <a:xfrm>
            <a:off x="640080" y="1783080"/>
            <a:ext cx="475488" cy="320040"/>
          </a:xfrm>
          <a:prstGeom prst="rect">
            <a:avLst/>
          </a:prstGeom>
          <a:noFill/>
          <a:ln/>
        </p:spPr>
        <p:txBody>
          <a:bodyPr wrap="square" lIns="0" tIns="0" rIns="0" bIns="0" rtlCol="0" anchor="ctr"/>
          <a:lstStyle/>
          <a:p>
            <a:pPr marL="0" indent="0" algn="ctr">
              <a:buNone/>
            </a:pPr>
            <a:r>
              <a:rPr lang="en-US" sz="1900" b="1" dirty="0">
                <a:solidFill>
                  <a:srgbClr val="FFFFFF"/>
                </a:solidFill>
              </a:rPr>
              <a:t>01</a:t>
            </a:r>
            <a:endParaRPr lang="en-US" sz="1900" dirty="0"/>
          </a:p>
        </p:txBody>
      </p:sp>
      <p:sp>
        <p:nvSpPr>
          <p:cNvPr id="13" name="Text 11"/>
          <p:cNvSpPr/>
          <p:nvPr/>
        </p:nvSpPr>
        <p:spPr>
          <a:xfrm>
            <a:off x="1307592" y="1719072"/>
            <a:ext cx="2651760" cy="256032"/>
          </a:xfrm>
          <a:prstGeom prst="rect">
            <a:avLst/>
          </a:prstGeom>
          <a:noFill/>
          <a:ln/>
        </p:spPr>
        <p:txBody>
          <a:bodyPr wrap="square" lIns="254" tIns="254" rIns="254" bIns="254" rtlCol="0" anchor="ctr"/>
          <a:lstStyle/>
          <a:p>
            <a:pPr marL="0" indent="0">
              <a:buNone/>
            </a:pPr>
            <a:r>
              <a:rPr lang="en-US" sz="1400" b="1" dirty="0">
                <a:solidFill>
                  <a:srgbClr val="303846"/>
                </a:solidFill>
              </a:rPr>
              <a:t>Operational Complexity</a:t>
            </a:r>
            <a:endParaRPr lang="en-US" sz="1400" dirty="0"/>
          </a:p>
        </p:txBody>
      </p:sp>
      <p:sp>
        <p:nvSpPr>
          <p:cNvPr id="14" name="Text 12"/>
          <p:cNvSpPr/>
          <p:nvPr/>
        </p:nvSpPr>
        <p:spPr>
          <a:xfrm>
            <a:off x="1307592" y="2075688"/>
            <a:ext cx="2651760" cy="301752"/>
          </a:xfrm>
          <a:prstGeom prst="rect">
            <a:avLst/>
          </a:prstGeom>
          <a:noFill/>
          <a:ln/>
        </p:spPr>
        <p:txBody>
          <a:bodyPr wrap="square" lIns="254" tIns="254" rIns="254" bIns="254" rtlCol="0" anchor="ctr">
            <a:normAutofit/>
          </a:bodyPr>
          <a:lstStyle/>
          <a:p>
            <a:pPr marL="0" indent="0">
              <a:buNone/>
            </a:pPr>
            <a:r>
              <a:rPr lang="en-US" sz="1120" dirty="0">
                <a:solidFill>
                  <a:srgbClr val="667085"/>
                </a:solidFill>
              </a:rPr>
              <a:t>Order picking, storage assignment, routing, batching, congestion, and outbound loading interact dynamically.</a:t>
            </a:r>
            <a:endParaRPr lang="en-US" sz="1120" dirty="0"/>
          </a:p>
        </p:txBody>
      </p:sp>
      <p:sp>
        <p:nvSpPr>
          <p:cNvPr id="15" name="Shape 13"/>
          <p:cNvSpPr/>
          <p:nvPr/>
        </p:nvSpPr>
        <p:spPr>
          <a:xfrm>
            <a:off x="4343400" y="1600200"/>
            <a:ext cx="3520440" cy="1234440"/>
          </a:xfrm>
          <a:prstGeom prst="roundRect">
            <a:avLst>
              <a:gd name="adj" fmla="val 2963"/>
            </a:avLst>
          </a:prstGeom>
          <a:solidFill>
            <a:srgbClr val="FFFFFF"/>
          </a:solidFill>
          <a:ln w="12700">
            <a:solidFill>
              <a:srgbClr val="E8ECF2"/>
            </a:solidFill>
            <a:prstDash val="solid"/>
          </a:ln>
        </p:spPr>
      </p:sp>
      <p:sp>
        <p:nvSpPr>
          <p:cNvPr id="16" name="Shape 14"/>
          <p:cNvSpPr/>
          <p:nvPr/>
        </p:nvSpPr>
        <p:spPr>
          <a:xfrm>
            <a:off x="4343400" y="1600200"/>
            <a:ext cx="566928" cy="1234440"/>
          </a:xfrm>
          <a:prstGeom prst="rect">
            <a:avLst/>
          </a:prstGeom>
          <a:solidFill>
            <a:srgbClr val="2F6BD8"/>
          </a:solidFill>
          <a:ln w="12700">
            <a:solidFill>
              <a:srgbClr val="2F6BD8"/>
            </a:solidFill>
            <a:prstDash val="solid"/>
          </a:ln>
        </p:spPr>
      </p:sp>
      <p:sp>
        <p:nvSpPr>
          <p:cNvPr id="17" name="Text 15"/>
          <p:cNvSpPr/>
          <p:nvPr/>
        </p:nvSpPr>
        <p:spPr>
          <a:xfrm>
            <a:off x="4389120" y="1783080"/>
            <a:ext cx="475488" cy="320040"/>
          </a:xfrm>
          <a:prstGeom prst="rect">
            <a:avLst/>
          </a:prstGeom>
          <a:noFill/>
          <a:ln/>
        </p:spPr>
        <p:txBody>
          <a:bodyPr wrap="square" lIns="0" tIns="0" rIns="0" bIns="0" rtlCol="0" anchor="ctr"/>
          <a:lstStyle/>
          <a:p>
            <a:pPr marL="0" indent="0" algn="ctr">
              <a:buNone/>
            </a:pPr>
            <a:r>
              <a:rPr lang="en-US" sz="1900" b="1" dirty="0">
                <a:solidFill>
                  <a:srgbClr val="FFFFFF"/>
                </a:solidFill>
              </a:rPr>
              <a:t>02</a:t>
            </a:r>
            <a:endParaRPr lang="en-US" sz="1900" dirty="0"/>
          </a:p>
        </p:txBody>
      </p:sp>
      <p:sp>
        <p:nvSpPr>
          <p:cNvPr id="18" name="Text 16"/>
          <p:cNvSpPr/>
          <p:nvPr/>
        </p:nvSpPr>
        <p:spPr>
          <a:xfrm>
            <a:off x="5056632" y="1719072"/>
            <a:ext cx="2651760" cy="256032"/>
          </a:xfrm>
          <a:prstGeom prst="rect">
            <a:avLst/>
          </a:prstGeom>
          <a:noFill/>
          <a:ln/>
        </p:spPr>
        <p:txBody>
          <a:bodyPr wrap="square" lIns="254" tIns="254" rIns="254" bIns="254" rtlCol="0" anchor="ctr"/>
          <a:lstStyle/>
          <a:p>
            <a:pPr marL="0" indent="0">
              <a:buNone/>
            </a:pPr>
            <a:r>
              <a:rPr lang="en-US" sz="1400" b="1" dirty="0">
                <a:solidFill>
                  <a:srgbClr val="303846"/>
                </a:solidFill>
              </a:rPr>
              <a:t>Data-Rich Environment</a:t>
            </a:r>
            <a:endParaRPr lang="en-US" sz="1400" dirty="0"/>
          </a:p>
        </p:txBody>
      </p:sp>
      <p:sp>
        <p:nvSpPr>
          <p:cNvPr id="19" name="Text 17"/>
          <p:cNvSpPr/>
          <p:nvPr/>
        </p:nvSpPr>
        <p:spPr>
          <a:xfrm>
            <a:off x="5056632" y="2075688"/>
            <a:ext cx="2651760" cy="301752"/>
          </a:xfrm>
          <a:prstGeom prst="rect">
            <a:avLst/>
          </a:prstGeom>
          <a:noFill/>
          <a:ln/>
        </p:spPr>
        <p:txBody>
          <a:bodyPr wrap="square" lIns="254" tIns="254" rIns="254" bIns="254" rtlCol="0" anchor="ctr">
            <a:normAutofit/>
          </a:bodyPr>
          <a:lstStyle/>
          <a:p>
            <a:pPr marL="0" indent="0">
              <a:buNone/>
            </a:pPr>
            <a:r>
              <a:rPr lang="en-US" sz="1120" dirty="0">
                <a:solidFill>
                  <a:srgbClr val="667085"/>
                </a:solidFill>
              </a:rPr>
              <a:t>RFID, IoT sensors, PLCs, AGVs/AMRs, robot telemetry, and WMS logs create continuous operational traces.</a:t>
            </a:r>
            <a:endParaRPr lang="en-US" sz="1120" dirty="0"/>
          </a:p>
        </p:txBody>
      </p:sp>
      <p:sp>
        <p:nvSpPr>
          <p:cNvPr id="20" name="Shape 18"/>
          <p:cNvSpPr/>
          <p:nvPr/>
        </p:nvSpPr>
        <p:spPr>
          <a:xfrm>
            <a:off x="8092440" y="1600200"/>
            <a:ext cx="3520440" cy="1234440"/>
          </a:xfrm>
          <a:prstGeom prst="roundRect">
            <a:avLst>
              <a:gd name="adj" fmla="val 2963"/>
            </a:avLst>
          </a:prstGeom>
          <a:solidFill>
            <a:srgbClr val="FFFFFF"/>
          </a:solidFill>
          <a:ln w="12700">
            <a:solidFill>
              <a:srgbClr val="E8ECF2"/>
            </a:solidFill>
            <a:prstDash val="solid"/>
          </a:ln>
        </p:spPr>
      </p:sp>
      <p:sp>
        <p:nvSpPr>
          <p:cNvPr id="21" name="Shape 19"/>
          <p:cNvSpPr/>
          <p:nvPr/>
        </p:nvSpPr>
        <p:spPr>
          <a:xfrm>
            <a:off x="8092440" y="1600200"/>
            <a:ext cx="566928" cy="1234440"/>
          </a:xfrm>
          <a:prstGeom prst="rect">
            <a:avLst/>
          </a:prstGeom>
          <a:solidFill>
            <a:srgbClr val="177E89"/>
          </a:solidFill>
          <a:ln w="12700">
            <a:solidFill>
              <a:srgbClr val="177E89"/>
            </a:solidFill>
            <a:prstDash val="solid"/>
          </a:ln>
        </p:spPr>
      </p:sp>
      <p:sp>
        <p:nvSpPr>
          <p:cNvPr id="22" name="Text 20"/>
          <p:cNvSpPr/>
          <p:nvPr/>
        </p:nvSpPr>
        <p:spPr>
          <a:xfrm>
            <a:off x="8138160" y="1783080"/>
            <a:ext cx="475488" cy="320040"/>
          </a:xfrm>
          <a:prstGeom prst="rect">
            <a:avLst/>
          </a:prstGeom>
          <a:noFill/>
          <a:ln/>
        </p:spPr>
        <p:txBody>
          <a:bodyPr wrap="square" lIns="0" tIns="0" rIns="0" bIns="0" rtlCol="0" anchor="ctr"/>
          <a:lstStyle/>
          <a:p>
            <a:pPr marL="0" indent="0" algn="ctr">
              <a:buNone/>
            </a:pPr>
            <a:r>
              <a:rPr lang="en-US" sz="1900" b="1" dirty="0">
                <a:solidFill>
                  <a:srgbClr val="FFFFFF"/>
                </a:solidFill>
              </a:rPr>
              <a:t>03</a:t>
            </a:r>
            <a:endParaRPr lang="en-US" sz="1900" dirty="0"/>
          </a:p>
        </p:txBody>
      </p:sp>
      <p:sp>
        <p:nvSpPr>
          <p:cNvPr id="23" name="Text 21"/>
          <p:cNvSpPr/>
          <p:nvPr/>
        </p:nvSpPr>
        <p:spPr>
          <a:xfrm>
            <a:off x="8805672" y="1719072"/>
            <a:ext cx="2651760" cy="256032"/>
          </a:xfrm>
          <a:prstGeom prst="rect">
            <a:avLst/>
          </a:prstGeom>
          <a:noFill/>
          <a:ln/>
        </p:spPr>
        <p:txBody>
          <a:bodyPr wrap="square" lIns="254" tIns="254" rIns="254" bIns="254" rtlCol="0" anchor="ctr"/>
          <a:lstStyle/>
          <a:p>
            <a:pPr marL="0" indent="0">
              <a:buNone/>
            </a:pPr>
            <a:r>
              <a:rPr lang="en-US" sz="1400" b="1" dirty="0">
                <a:solidFill>
                  <a:srgbClr val="303846"/>
                </a:solidFill>
              </a:rPr>
              <a:t>Need for Evidence</a:t>
            </a:r>
            <a:endParaRPr lang="en-US" sz="1400" dirty="0"/>
          </a:p>
        </p:txBody>
      </p:sp>
      <p:sp>
        <p:nvSpPr>
          <p:cNvPr id="24" name="Text 22"/>
          <p:cNvSpPr/>
          <p:nvPr/>
        </p:nvSpPr>
        <p:spPr>
          <a:xfrm>
            <a:off x="8805672" y="2075688"/>
            <a:ext cx="2651760" cy="301752"/>
          </a:xfrm>
          <a:prstGeom prst="rect">
            <a:avLst/>
          </a:prstGeom>
          <a:noFill/>
          <a:ln/>
        </p:spPr>
        <p:txBody>
          <a:bodyPr wrap="square" lIns="254" tIns="254" rIns="254" bIns="254" rtlCol="0" anchor="ctr">
            <a:normAutofit/>
          </a:bodyPr>
          <a:lstStyle/>
          <a:p>
            <a:pPr marL="0" indent="0">
              <a:buNone/>
            </a:pPr>
            <a:r>
              <a:rPr lang="en-US" sz="1120" dirty="0">
                <a:solidFill>
                  <a:srgbClr val="667085"/>
                </a:solidFill>
              </a:rPr>
              <a:t>The DT literature is dispersed across logistics, simulation, AI, systems engineering, and Industry 4.0 research.</a:t>
            </a:r>
            <a:endParaRPr lang="en-US" sz="1120" dirty="0"/>
          </a:p>
        </p:txBody>
      </p:sp>
      <p:sp>
        <p:nvSpPr>
          <p:cNvPr id="25" name="Shape 23"/>
          <p:cNvSpPr/>
          <p:nvPr/>
        </p:nvSpPr>
        <p:spPr>
          <a:xfrm>
            <a:off x="594360" y="3246120"/>
            <a:ext cx="11018520" cy="1600200"/>
          </a:xfrm>
          <a:prstGeom prst="roundRect">
            <a:avLst>
              <a:gd name="adj" fmla="val 2286"/>
            </a:avLst>
          </a:prstGeom>
          <a:solidFill>
            <a:srgbClr val="FFFFFF"/>
          </a:solidFill>
          <a:ln w="12700">
            <a:solidFill>
              <a:srgbClr val="E8ECF2"/>
            </a:solidFill>
            <a:prstDash val="solid"/>
          </a:ln>
        </p:spPr>
      </p:sp>
      <p:sp>
        <p:nvSpPr>
          <p:cNvPr id="26" name="Text 24"/>
          <p:cNvSpPr/>
          <p:nvPr/>
        </p:nvSpPr>
        <p:spPr>
          <a:xfrm>
            <a:off x="804672" y="3456432"/>
            <a:ext cx="4937760" cy="274320"/>
          </a:xfrm>
          <a:prstGeom prst="rect">
            <a:avLst/>
          </a:prstGeom>
          <a:noFill/>
          <a:ln/>
        </p:spPr>
        <p:txBody>
          <a:bodyPr wrap="square" lIns="0" tIns="0" rIns="0" bIns="0" rtlCol="0" anchor="ctr"/>
          <a:lstStyle/>
          <a:p>
            <a:pPr marL="0" indent="0">
              <a:buNone/>
            </a:pPr>
            <a:r>
              <a:rPr lang="en-US" sz="1700" b="1" dirty="0">
                <a:solidFill>
                  <a:srgbClr val="303846"/>
                </a:solidFill>
              </a:rPr>
              <a:t>Objective of this Systematic Review</a:t>
            </a:r>
            <a:endParaRPr lang="en-US" sz="1700" dirty="0"/>
          </a:p>
        </p:txBody>
      </p:sp>
      <p:sp>
        <p:nvSpPr>
          <p:cNvPr id="27" name="Text 25"/>
          <p:cNvSpPr/>
          <p:nvPr/>
        </p:nvSpPr>
        <p:spPr>
          <a:xfrm>
            <a:off x="841248" y="3822192"/>
            <a:ext cx="10241280" cy="868680"/>
          </a:xfrm>
          <a:prstGeom prst="rect">
            <a:avLst/>
          </a:prstGeom>
          <a:noFill/>
          <a:ln/>
        </p:spPr>
        <p:txBody>
          <a:bodyPr wrap="square" lIns="889" tIns="889" rIns="889" bIns="889" rtlCol="0" anchor="ctr">
            <a:normAutofit/>
          </a:bodyPr>
          <a:lstStyle/>
          <a:p>
            <a:pPr marL="0" indent="0">
              <a:buNone/>
            </a:pPr>
            <a:r>
              <a:rPr lang="en-US" sz="1250" dirty="0">
                <a:solidFill>
                  <a:srgbClr val="303846"/>
                </a:solidFill>
              </a:rPr>
              <a:t>• Identify where digital twins are applied in intralogistics and warehouse control.
• Synthesize enabling technologies, architectures, performance objectives, and maturity levels.
• Translate findings into systems engineering implications: lifecycle, V&amp;V, interoperability, human-in-the-loop, and governance.</a:t>
            </a:r>
            <a:endParaRPr lang="en-US" sz="1250" dirty="0"/>
          </a:p>
        </p:txBody>
      </p:sp>
      <p:sp>
        <p:nvSpPr>
          <p:cNvPr id="28" name="Text 26"/>
          <p:cNvSpPr/>
          <p:nvPr/>
        </p:nvSpPr>
        <p:spPr>
          <a:xfrm>
            <a:off x="502920" y="6281928"/>
            <a:ext cx="10789920" cy="164592"/>
          </a:xfrm>
          <a:prstGeom prst="rect">
            <a:avLst/>
          </a:prstGeom>
          <a:noFill/>
          <a:ln/>
        </p:spPr>
        <p:txBody>
          <a:bodyPr wrap="square" lIns="0" tIns="0" rIns="0" bIns="0" rtlCol="0" anchor="ctr"/>
          <a:lstStyle/>
          <a:p>
            <a:pPr marL="0" indent="0">
              <a:buNone/>
            </a:pPr>
            <a:r>
              <a:rPr lang="en-US" sz="760" i="1" dirty="0">
                <a:solidFill>
                  <a:srgbClr val="667085"/>
                </a:solidFill>
              </a:rPr>
              <a:t>Background synthesized from the revised systematic review paper and its included study matrix.</a:t>
            </a:r>
            <a:endParaRPr lang="en-US" sz="76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7F9"/>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621792" y="384048"/>
            <a:ext cx="91440" cy="502920"/>
          </a:xfrm>
          <a:prstGeom prst="rect">
            <a:avLst/>
          </a:prstGeom>
          <a:solidFill>
            <a:srgbClr val="2370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22960" y="338328"/>
            <a:ext cx="7863840" cy="475488"/>
          </a:xfrm>
          <a:prstGeom prst="rect">
            <a:avLst/>
          </a:prstGeom>
          <a:noFill/>
        </p:spPr>
        <p:txBody>
          <a:bodyPr wrap="square" lIns="18288" tIns="18288" rIns="18288" bIns="18288" anchor="t">
            <a:spAutoFit/>
          </a:bodyPr>
          <a:lstStyle/>
          <a:p>
            <a:pPr algn="l"/>
            <a:r>
              <a:rPr sz="2400" b="1">
                <a:solidFill>
                  <a:srgbClr val="2D3541"/>
                </a:solidFill>
                <a:latin typeface="Aptos"/>
              </a:rPr>
              <a:t>Research Questions &amp; PICOS Framework</a:t>
            </a:r>
          </a:p>
        </p:txBody>
      </p:sp>
      <p:sp>
        <p:nvSpPr>
          <p:cNvPr id="5" name="TextBox 4"/>
          <p:cNvSpPr txBox="1"/>
          <p:nvPr/>
        </p:nvSpPr>
        <p:spPr>
          <a:xfrm>
            <a:off x="841248" y="841248"/>
            <a:ext cx="6035040" cy="219456"/>
          </a:xfrm>
          <a:prstGeom prst="rect">
            <a:avLst/>
          </a:prstGeom>
          <a:noFill/>
        </p:spPr>
        <p:txBody>
          <a:bodyPr wrap="square" lIns="18288" tIns="18288" rIns="18288" bIns="18288" anchor="t">
            <a:spAutoFit/>
          </a:bodyPr>
          <a:lstStyle/>
          <a:p>
            <a:pPr algn="l"/>
            <a:r>
              <a:rPr sz="850" b="0">
                <a:solidFill>
                  <a:srgbClr val="6E7B8C"/>
                </a:solidFill>
                <a:latin typeface="Aptos"/>
              </a:rPr>
              <a:t>Digital Twin-Enabled Intralogistics — Systematic Review | SEN601</a:t>
            </a:r>
          </a:p>
        </p:txBody>
      </p:sp>
      <p:sp>
        <p:nvSpPr>
          <p:cNvPr id="6" name="Rounded Rectangle 5"/>
          <p:cNvSpPr/>
          <p:nvPr/>
        </p:nvSpPr>
        <p:spPr>
          <a:xfrm>
            <a:off x="749808" y="1207008"/>
            <a:ext cx="5074920" cy="841248"/>
          </a:xfrm>
          <a:prstGeom prst="roundRect">
            <a:avLst/>
          </a:prstGeom>
          <a:solidFill>
            <a:srgbClr val="FFFFFF"/>
          </a:solidFill>
          <a:ln>
            <a:solidFill>
              <a:srgbClr val="DA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859536" y="1353312"/>
            <a:ext cx="713232" cy="457200"/>
          </a:xfrm>
          <a:prstGeom prst="roundRect">
            <a:avLst/>
          </a:prstGeom>
          <a:solidFill>
            <a:srgbClr val="2370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59536" y="1463040"/>
            <a:ext cx="713232" cy="164592"/>
          </a:xfrm>
          <a:prstGeom prst="rect">
            <a:avLst/>
          </a:prstGeom>
          <a:noFill/>
        </p:spPr>
        <p:txBody>
          <a:bodyPr wrap="square" lIns="18288" tIns="18288" rIns="18288" bIns="18288" anchor="t">
            <a:spAutoFit/>
          </a:bodyPr>
          <a:lstStyle/>
          <a:p>
            <a:pPr algn="ctr"/>
            <a:r>
              <a:rPr sz="1100" b="1">
                <a:solidFill>
                  <a:srgbClr val="FFFFFF"/>
                </a:solidFill>
                <a:latin typeface="Aptos"/>
              </a:rPr>
              <a:t>RQ1</a:t>
            </a:r>
          </a:p>
        </p:txBody>
      </p:sp>
      <p:sp>
        <p:nvSpPr>
          <p:cNvPr id="9" name="TextBox 8"/>
          <p:cNvSpPr txBox="1"/>
          <p:nvPr/>
        </p:nvSpPr>
        <p:spPr>
          <a:xfrm>
            <a:off x="1682495" y="1316736"/>
            <a:ext cx="3840480" cy="219456"/>
          </a:xfrm>
          <a:prstGeom prst="rect">
            <a:avLst/>
          </a:prstGeom>
          <a:noFill/>
        </p:spPr>
        <p:txBody>
          <a:bodyPr wrap="square" lIns="18288" tIns="18288" rIns="18288" bIns="18288" anchor="t">
            <a:spAutoFit/>
          </a:bodyPr>
          <a:lstStyle/>
          <a:p>
            <a:pPr algn="l"/>
            <a:r>
              <a:rPr sz="1150" b="1">
                <a:solidFill>
                  <a:srgbClr val="2370CA"/>
                </a:solidFill>
                <a:latin typeface="Aptos"/>
              </a:rPr>
              <a:t>Application Areas</a:t>
            </a:r>
          </a:p>
        </p:txBody>
      </p:sp>
      <p:sp>
        <p:nvSpPr>
          <p:cNvPr id="10" name="TextBox 9"/>
          <p:cNvSpPr txBox="1"/>
          <p:nvPr/>
        </p:nvSpPr>
        <p:spPr>
          <a:xfrm>
            <a:off x="1682495" y="1572768"/>
            <a:ext cx="3931920" cy="310896"/>
          </a:xfrm>
          <a:prstGeom prst="rect">
            <a:avLst/>
          </a:prstGeom>
          <a:noFill/>
        </p:spPr>
        <p:txBody>
          <a:bodyPr wrap="square" lIns="18288" tIns="18288" rIns="18288" bIns="18288" anchor="t">
            <a:spAutoFit/>
          </a:bodyPr>
          <a:lstStyle/>
          <a:p>
            <a:pPr algn="l"/>
            <a:r>
              <a:rPr sz="869" b="0">
                <a:solidFill>
                  <a:srgbClr val="2D3541"/>
                </a:solidFill>
                <a:latin typeface="Aptos"/>
              </a:rPr>
              <a:t>What are the main application areas of digital twins in intralogistics and warehouse control systems?</a:t>
            </a:r>
          </a:p>
        </p:txBody>
      </p:sp>
      <p:sp>
        <p:nvSpPr>
          <p:cNvPr id="11" name="Rounded Rectangle 10"/>
          <p:cNvSpPr/>
          <p:nvPr/>
        </p:nvSpPr>
        <p:spPr>
          <a:xfrm>
            <a:off x="6309360" y="1207008"/>
            <a:ext cx="5074920" cy="841248"/>
          </a:xfrm>
          <a:prstGeom prst="roundRect">
            <a:avLst/>
          </a:prstGeom>
          <a:solidFill>
            <a:srgbClr val="FFFFFF"/>
          </a:solidFill>
          <a:ln>
            <a:solidFill>
              <a:srgbClr val="DA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6419088" y="1353312"/>
            <a:ext cx="713232" cy="457200"/>
          </a:xfrm>
          <a:prstGeom prst="roundRect">
            <a:avLst/>
          </a:prstGeom>
          <a:solidFill>
            <a:srgbClr val="2696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419088" y="1463040"/>
            <a:ext cx="713232" cy="164592"/>
          </a:xfrm>
          <a:prstGeom prst="rect">
            <a:avLst/>
          </a:prstGeom>
          <a:noFill/>
        </p:spPr>
        <p:txBody>
          <a:bodyPr wrap="square" lIns="18288" tIns="18288" rIns="18288" bIns="18288" anchor="t">
            <a:spAutoFit/>
          </a:bodyPr>
          <a:lstStyle/>
          <a:p>
            <a:pPr algn="ctr"/>
            <a:r>
              <a:rPr sz="1100" b="1">
                <a:solidFill>
                  <a:srgbClr val="FFFFFF"/>
                </a:solidFill>
                <a:latin typeface="Aptos"/>
              </a:rPr>
              <a:t>RQ2</a:t>
            </a:r>
          </a:p>
        </p:txBody>
      </p:sp>
      <p:sp>
        <p:nvSpPr>
          <p:cNvPr id="14" name="TextBox 13"/>
          <p:cNvSpPr txBox="1"/>
          <p:nvPr/>
        </p:nvSpPr>
        <p:spPr>
          <a:xfrm>
            <a:off x="7242048" y="1316736"/>
            <a:ext cx="3840480" cy="219456"/>
          </a:xfrm>
          <a:prstGeom prst="rect">
            <a:avLst/>
          </a:prstGeom>
          <a:noFill/>
        </p:spPr>
        <p:txBody>
          <a:bodyPr wrap="square" lIns="18288" tIns="18288" rIns="18288" bIns="18288" anchor="t">
            <a:spAutoFit/>
          </a:bodyPr>
          <a:lstStyle/>
          <a:p>
            <a:pPr algn="l"/>
            <a:r>
              <a:rPr sz="1150" b="1">
                <a:solidFill>
                  <a:srgbClr val="26966F"/>
                </a:solidFill>
                <a:latin typeface="Aptos"/>
              </a:rPr>
              <a:t>Enabling Technologies</a:t>
            </a:r>
          </a:p>
        </p:txBody>
      </p:sp>
      <p:sp>
        <p:nvSpPr>
          <p:cNvPr id="15" name="TextBox 14"/>
          <p:cNvSpPr txBox="1"/>
          <p:nvPr/>
        </p:nvSpPr>
        <p:spPr>
          <a:xfrm>
            <a:off x="7242048" y="1572768"/>
            <a:ext cx="3931920" cy="310896"/>
          </a:xfrm>
          <a:prstGeom prst="rect">
            <a:avLst/>
          </a:prstGeom>
          <a:noFill/>
        </p:spPr>
        <p:txBody>
          <a:bodyPr wrap="square" lIns="18288" tIns="18288" rIns="18288" bIns="18288" anchor="t">
            <a:spAutoFit/>
          </a:bodyPr>
          <a:lstStyle/>
          <a:p>
            <a:pPr algn="l"/>
            <a:r>
              <a:rPr sz="869" b="0">
                <a:solidFill>
                  <a:srgbClr val="2D3541"/>
                </a:solidFill>
                <a:latin typeface="Aptos"/>
              </a:rPr>
              <a:t>Which technologies and architectures are most frequently used in warehouse and intralogistics DT implementations?</a:t>
            </a:r>
          </a:p>
        </p:txBody>
      </p:sp>
      <p:sp>
        <p:nvSpPr>
          <p:cNvPr id="16" name="Rounded Rectangle 15"/>
          <p:cNvSpPr/>
          <p:nvPr/>
        </p:nvSpPr>
        <p:spPr>
          <a:xfrm>
            <a:off x="749808" y="2304288"/>
            <a:ext cx="5074920" cy="841248"/>
          </a:xfrm>
          <a:prstGeom prst="roundRect">
            <a:avLst/>
          </a:prstGeom>
          <a:solidFill>
            <a:srgbClr val="FFFFFF"/>
          </a:solidFill>
          <a:ln>
            <a:solidFill>
              <a:srgbClr val="DA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859536" y="2450592"/>
            <a:ext cx="713232" cy="457200"/>
          </a:xfrm>
          <a:prstGeom prst="roundRect">
            <a:avLst/>
          </a:prstGeom>
          <a:solidFill>
            <a:srgbClr val="6752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59536" y="2560320"/>
            <a:ext cx="713232" cy="164592"/>
          </a:xfrm>
          <a:prstGeom prst="rect">
            <a:avLst/>
          </a:prstGeom>
          <a:noFill/>
        </p:spPr>
        <p:txBody>
          <a:bodyPr wrap="square" lIns="18288" tIns="18288" rIns="18288" bIns="18288" anchor="t">
            <a:spAutoFit/>
          </a:bodyPr>
          <a:lstStyle/>
          <a:p>
            <a:pPr algn="ctr"/>
            <a:r>
              <a:rPr sz="1100" b="1">
                <a:solidFill>
                  <a:srgbClr val="FFFFFF"/>
                </a:solidFill>
                <a:latin typeface="Aptos"/>
              </a:rPr>
              <a:t>RQ3</a:t>
            </a:r>
          </a:p>
        </p:txBody>
      </p:sp>
      <p:sp>
        <p:nvSpPr>
          <p:cNvPr id="19" name="TextBox 18"/>
          <p:cNvSpPr txBox="1"/>
          <p:nvPr/>
        </p:nvSpPr>
        <p:spPr>
          <a:xfrm>
            <a:off x="1682495" y="2414016"/>
            <a:ext cx="3840480" cy="219456"/>
          </a:xfrm>
          <a:prstGeom prst="rect">
            <a:avLst/>
          </a:prstGeom>
          <a:noFill/>
        </p:spPr>
        <p:txBody>
          <a:bodyPr wrap="square" lIns="18288" tIns="18288" rIns="18288" bIns="18288" anchor="t">
            <a:spAutoFit/>
          </a:bodyPr>
          <a:lstStyle/>
          <a:p>
            <a:pPr algn="l"/>
            <a:r>
              <a:rPr sz="1150" b="1">
                <a:solidFill>
                  <a:srgbClr val="6752AA"/>
                </a:solidFill>
                <a:latin typeface="Aptos"/>
              </a:rPr>
              <a:t>Performance Objectives</a:t>
            </a:r>
          </a:p>
        </p:txBody>
      </p:sp>
      <p:sp>
        <p:nvSpPr>
          <p:cNvPr id="20" name="TextBox 19"/>
          <p:cNvSpPr txBox="1"/>
          <p:nvPr/>
        </p:nvSpPr>
        <p:spPr>
          <a:xfrm>
            <a:off x="1682495" y="2670048"/>
            <a:ext cx="3931920" cy="310896"/>
          </a:xfrm>
          <a:prstGeom prst="rect">
            <a:avLst/>
          </a:prstGeom>
          <a:noFill/>
        </p:spPr>
        <p:txBody>
          <a:bodyPr wrap="square" lIns="18288" tIns="18288" rIns="18288" bIns="18288" anchor="t">
            <a:spAutoFit/>
          </a:bodyPr>
          <a:lstStyle/>
          <a:p>
            <a:pPr algn="l"/>
            <a:r>
              <a:rPr sz="869" b="0">
                <a:solidFill>
                  <a:srgbClr val="2D3541"/>
                </a:solidFill>
                <a:latin typeface="Aptos"/>
              </a:rPr>
              <a:t>Which operational performance objectives are targeted, such as throughput, picking time, travel distance, congestion, utilization, cost, and energy?</a:t>
            </a:r>
          </a:p>
        </p:txBody>
      </p:sp>
      <p:sp>
        <p:nvSpPr>
          <p:cNvPr id="21" name="Rounded Rectangle 20"/>
          <p:cNvSpPr/>
          <p:nvPr/>
        </p:nvSpPr>
        <p:spPr>
          <a:xfrm>
            <a:off x="6309360" y="2304288"/>
            <a:ext cx="5074920" cy="841248"/>
          </a:xfrm>
          <a:prstGeom prst="roundRect">
            <a:avLst/>
          </a:prstGeom>
          <a:solidFill>
            <a:srgbClr val="FFFFFF"/>
          </a:solidFill>
          <a:ln>
            <a:solidFill>
              <a:srgbClr val="DA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21"/>
          <p:cNvSpPr/>
          <p:nvPr/>
        </p:nvSpPr>
        <p:spPr>
          <a:xfrm>
            <a:off x="6419088" y="2450592"/>
            <a:ext cx="713232" cy="457200"/>
          </a:xfrm>
          <a:prstGeom prst="roundRect">
            <a:avLst/>
          </a:prstGeom>
          <a:solidFill>
            <a:srgbClr val="DA7D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419088" y="2560320"/>
            <a:ext cx="713232" cy="164592"/>
          </a:xfrm>
          <a:prstGeom prst="rect">
            <a:avLst/>
          </a:prstGeom>
          <a:noFill/>
        </p:spPr>
        <p:txBody>
          <a:bodyPr wrap="square" lIns="18288" tIns="18288" rIns="18288" bIns="18288" anchor="t">
            <a:spAutoFit/>
          </a:bodyPr>
          <a:lstStyle/>
          <a:p>
            <a:pPr algn="ctr"/>
            <a:r>
              <a:rPr sz="1100" b="1">
                <a:solidFill>
                  <a:srgbClr val="FFFFFF"/>
                </a:solidFill>
                <a:latin typeface="Aptos"/>
              </a:rPr>
              <a:t>RQ4</a:t>
            </a:r>
          </a:p>
        </p:txBody>
      </p:sp>
      <p:sp>
        <p:nvSpPr>
          <p:cNvPr id="24" name="TextBox 23"/>
          <p:cNvSpPr txBox="1"/>
          <p:nvPr/>
        </p:nvSpPr>
        <p:spPr>
          <a:xfrm>
            <a:off x="7242048" y="2414016"/>
            <a:ext cx="3840480" cy="219456"/>
          </a:xfrm>
          <a:prstGeom prst="rect">
            <a:avLst/>
          </a:prstGeom>
          <a:noFill/>
        </p:spPr>
        <p:txBody>
          <a:bodyPr wrap="square" lIns="18288" tIns="18288" rIns="18288" bIns="18288" anchor="t">
            <a:spAutoFit/>
          </a:bodyPr>
          <a:lstStyle/>
          <a:p>
            <a:pPr algn="l"/>
            <a:r>
              <a:rPr sz="1150" b="1">
                <a:solidFill>
                  <a:srgbClr val="DA7D39"/>
                </a:solidFill>
                <a:latin typeface="Aptos"/>
              </a:rPr>
              <a:t>Maturity &amp; Gaps</a:t>
            </a:r>
          </a:p>
        </p:txBody>
      </p:sp>
      <p:sp>
        <p:nvSpPr>
          <p:cNvPr id="25" name="TextBox 24"/>
          <p:cNvSpPr txBox="1"/>
          <p:nvPr/>
        </p:nvSpPr>
        <p:spPr>
          <a:xfrm>
            <a:off x="7242048" y="2670048"/>
            <a:ext cx="3931920" cy="310896"/>
          </a:xfrm>
          <a:prstGeom prst="rect">
            <a:avLst/>
          </a:prstGeom>
          <a:noFill/>
        </p:spPr>
        <p:txBody>
          <a:bodyPr wrap="square" lIns="18288" tIns="18288" rIns="18288" bIns="18288" anchor="t">
            <a:spAutoFit/>
          </a:bodyPr>
          <a:lstStyle/>
          <a:p>
            <a:pPr algn="l"/>
            <a:r>
              <a:rPr sz="869" b="0">
                <a:solidFill>
                  <a:srgbClr val="2D3541"/>
                </a:solidFill>
                <a:latin typeface="Aptos"/>
              </a:rPr>
              <a:t>What is the maturity level of current evidence and what research gaps remain for real-time industrial warehouse control?</a:t>
            </a:r>
          </a:p>
        </p:txBody>
      </p:sp>
      <p:sp>
        <p:nvSpPr>
          <p:cNvPr id="26" name="TextBox 25"/>
          <p:cNvSpPr txBox="1"/>
          <p:nvPr/>
        </p:nvSpPr>
        <p:spPr>
          <a:xfrm>
            <a:off x="749808" y="3337560"/>
            <a:ext cx="2743200" cy="274320"/>
          </a:xfrm>
          <a:prstGeom prst="rect">
            <a:avLst/>
          </a:prstGeom>
          <a:noFill/>
        </p:spPr>
        <p:txBody>
          <a:bodyPr wrap="square" lIns="18288" tIns="18288" rIns="18288" bIns="18288" anchor="t">
            <a:spAutoFit/>
          </a:bodyPr>
          <a:lstStyle/>
          <a:p>
            <a:pPr algn="l"/>
            <a:r>
              <a:rPr sz="1600" b="1">
                <a:solidFill>
                  <a:srgbClr val="2D3541"/>
                </a:solidFill>
                <a:latin typeface="Aptos"/>
              </a:rPr>
              <a:t>PICOS Framework</a:t>
            </a:r>
          </a:p>
        </p:txBody>
      </p:sp>
      <p:sp>
        <p:nvSpPr>
          <p:cNvPr id="27" name="Rectangle 26"/>
          <p:cNvSpPr/>
          <p:nvPr/>
        </p:nvSpPr>
        <p:spPr>
          <a:xfrm>
            <a:off x="749808" y="3675887"/>
            <a:ext cx="2103120" cy="393192"/>
          </a:xfrm>
          <a:prstGeom prst="rect">
            <a:avLst/>
          </a:prstGeom>
          <a:solidFill>
            <a:srgbClr val="2D3541"/>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822959" y="3785615"/>
            <a:ext cx="1956815" cy="164592"/>
          </a:xfrm>
          <a:prstGeom prst="rect">
            <a:avLst/>
          </a:prstGeom>
          <a:noFill/>
        </p:spPr>
        <p:txBody>
          <a:bodyPr wrap="square" lIns="18288" tIns="18288" rIns="18288" bIns="18288" anchor="t">
            <a:spAutoFit/>
          </a:bodyPr>
          <a:lstStyle/>
          <a:p>
            <a:pPr algn="l"/>
            <a:r>
              <a:rPr sz="950" b="1">
                <a:solidFill>
                  <a:srgbClr val="FFFFFF"/>
                </a:solidFill>
                <a:latin typeface="Aptos"/>
              </a:rPr>
              <a:t>Component</a:t>
            </a:r>
          </a:p>
        </p:txBody>
      </p:sp>
      <p:sp>
        <p:nvSpPr>
          <p:cNvPr id="29" name="Rectangle 28"/>
          <p:cNvSpPr/>
          <p:nvPr/>
        </p:nvSpPr>
        <p:spPr>
          <a:xfrm>
            <a:off x="2852927" y="3675887"/>
            <a:ext cx="8915400" cy="393192"/>
          </a:xfrm>
          <a:prstGeom prst="rect">
            <a:avLst/>
          </a:prstGeom>
          <a:solidFill>
            <a:srgbClr val="2D3541"/>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2926079" y="3785615"/>
            <a:ext cx="8769096" cy="164592"/>
          </a:xfrm>
          <a:prstGeom prst="rect">
            <a:avLst/>
          </a:prstGeom>
          <a:noFill/>
        </p:spPr>
        <p:txBody>
          <a:bodyPr wrap="square" lIns="18288" tIns="18288" rIns="18288" bIns="18288" anchor="t">
            <a:spAutoFit/>
          </a:bodyPr>
          <a:lstStyle/>
          <a:p>
            <a:pPr algn="l"/>
            <a:r>
              <a:rPr sz="950" b="1">
                <a:solidFill>
                  <a:srgbClr val="FFFFFF"/>
                </a:solidFill>
                <a:latin typeface="Aptos"/>
              </a:rPr>
              <a:t>Operationalization in this review</a:t>
            </a:r>
          </a:p>
        </p:txBody>
      </p:sp>
      <p:sp>
        <p:nvSpPr>
          <p:cNvPr id="31" name="Rectangle 30"/>
          <p:cNvSpPr/>
          <p:nvPr/>
        </p:nvSpPr>
        <p:spPr>
          <a:xfrm>
            <a:off x="749808" y="4069079"/>
            <a:ext cx="2103120" cy="393192"/>
          </a:xfrm>
          <a:prstGeom prst="rect">
            <a:avLst/>
          </a:prstGeom>
          <a:solidFill>
            <a:srgbClr val="EEF4F9"/>
          </a:solidFill>
          <a:ln>
            <a:solidFill>
              <a:srgbClr val="DA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822959" y="4160519"/>
            <a:ext cx="1956815" cy="201168"/>
          </a:xfrm>
          <a:prstGeom prst="rect">
            <a:avLst/>
          </a:prstGeom>
          <a:noFill/>
        </p:spPr>
        <p:txBody>
          <a:bodyPr wrap="square" lIns="18288" tIns="18288" rIns="18288" bIns="18288" anchor="t">
            <a:spAutoFit/>
          </a:bodyPr>
          <a:lstStyle/>
          <a:p>
            <a:pPr algn="l"/>
            <a:r>
              <a:rPr sz="869" b="1">
                <a:solidFill>
                  <a:srgbClr val="2D3541"/>
                </a:solidFill>
                <a:latin typeface="Aptos"/>
              </a:rPr>
              <a:t>Population / Context</a:t>
            </a:r>
          </a:p>
        </p:txBody>
      </p:sp>
      <p:sp>
        <p:nvSpPr>
          <p:cNvPr id="33" name="Rectangle 32"/>
          <p:cNvSpPr/>
          <p:nvPr/>
        </p:nvSpPr>
        <p:spPr>
          <a:xfrm>
            <a:off x="2852927" y="4069079"/>
            <a:ext cx="8915400" cy="393192"/>
          </a:xfrm>
          <a:prstGeom prst="rect">
            <a:avLst/>
          </a:prstGeom>
          <a:solidFill>
            <a:srgbClr val="EEF4F9"/>
          </a:solidFill>
          <a:ln>
            <a:solidFill>
              <a:srgbClr val="DA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2926079" y="4160519"/>
            <a:ext cx="8769096" cy="201168"/>
          </a:xfrm>
          <a:prstGeom prst="rect">
            <a:avLst/>
          </a:prstGeom>
          <a:noFill/>
        </p:spPr>
        <p:txBody>
          <a:bodyPr wrap="square" lIns="18288" tIns="18288" rIns="18288" bIns="18288" anchor="t">
            <a:spAutoFit/>
          </a:bodyPr>
          <a:lstStyle/>
          <a:p>
            <a:pPr algn="l"/>
            <a:r>
              <a:rPr sz="869" b="0">
                <a:solidFill>
                  <a:srgbClr val="2D3541"/>
                </a:solidFill>
                <a:latin typeface="Aptos"/>
              </a:rPr>
              <a:t>Warehouse, intralogistics, production logistics, order picking, AGV/AMR and material handling systems</a:t>
            </a:r>
          </a:p>
        </p:txBody>
      </p:sp>
      <p:sp>
        <p:nvSpPr>
          <p:cNvPr id="35" name="Rectangle 34"/>
          <p:cNvSpPr/>
          <p:nvPr/>
        </p:nvSpPr>
        <p:spPr>
          <a:xfrm>
            <a:off x="749808" y="4462272"/>
            <a:ext cx="2103120" cy="393192"/>
          </a:xfrm>
          <a:prstGeom prst="rect">
            <a:avLst/>
          </a:prstGeom>
          <a:solidFill>
            <a:srgbClr val="F8FAFD"/>
          </a:solidFill>
          <a:ln>
            <a:solidFill>
              <a:srgbClr val="DA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822959" y="4553712"/>
            <a:ext cx="1956815" cy="201168"/>
          </a:xfrm>
          <a:prstGeom prst="rect">
            <a:avLst/>
          </a:prstGeom>
          <a:noFill/>
        </p:spPr>
        <p:txBody>
          <a:bodyPr wrap="square" lIns="18288" tIns="18288" rIns="18288" bIns="18288" anchor="t">
            <a:spAutoFit/>
          </a:bodyPr>
          <a:lstStyle/>
          <a:p>
            <a:pPr algn="l"/>
            <a:r>
              <a:rPr sz="869" b="1">
                <a:solidFill>
                  <a:srgbClr val="2D3541"/>
                </a:solidFill>
                <a:latin typeface="Aptos"/>
              </a:rPr>
              <a:t>Intervention / Technology</a:t>
            </a:r>
          </a:p>
        </p:txBody>
      </p:sp>
      <p:sp>
        <p:nvSpPr>
          <p:cNvPr id="37" name="Rectangle 36"/>
          <p:cNvSpPr/>
          <p:nvPr/>
        </p:nvSpPr>
        <p:spPr>
          <a:xfrm>
            <a:off x="2852927" y="4462272"/>
            <a:ext cx="8915400" cy="393192"/>
          </a:xfrm>
          <a:prstGeom prst="rect">
            <a:avLst/>
          </a:prstGeom>
          <a:solidFill>
            <a:srgbClr val="F8FAFD"/>
          </a:solidFill>
          <a:ln>
            <a:solidFill>
              <a:srgbClr val="DA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2926079" y="4553712"/>
            <a:ext cx="8769096" cy="201168"/>
          </a:xfrm>
          <a:prstGeom prst="rect">
            <a:avLst/>
          </a:prstGeom>
          <a:noFill/>
        </p:spPr>
        <p:txBody>
          <a:bodyPr wrap="square" lIns="18288" tIns="18288" rIns="18288" bIns="18288" anchor="t">
            <a:spAutoFit/>
          </a:bodyPr>
          <a:lstStyle/>
          <a:p>
            <a:pPr algn="l"/>
            <a:r>
              <a:rPr sz="869" b="0">
                <a:solidFill>
                  <a:srgbClr val="2D3541"/>
                </a:solidFill>
                <a:latin typeface="Aptos"/>
              </a:rPr>
              <a:t>Digital twins, digital shadows, CPS models, simulation-based DTs, AI-enhanced DTs, DT-enabled control frameworks</a:t>
            </a:r>
          </a:p>
        </p:txBody>
      </p:sp>
      <p:sp>
        <p:nvSpPr>
          <p:cNvPr id="39" name="Rectangle 38"/>
          <p:cNvSpPr/>
          <p:nvPr/>
        </p:nvSpPr>
        <p:spPr>
          <a:xfrm>
            <a:off x="749808" y="4855464"/>
            <a:ext cx="2103120" cy="393192"/>
          </a:xfrm>
          <a:prstGeom prst="rect">
            <a:avLst/>
          </a:prstGeom>
          <a:solidFill>
            <a:srgbClr val="EEF4F9"/>
          </a:solidFill>
          <a:ln>
            <a:solidFill>
              <a:srgbClr val="DA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822959" y="4946903"/>
            <a:ext cx="1956815" cy="201168"/>
          </a:xfrm>
          <a:prstGeom prst="rect">
            <a:avLst/>
          </a:prstGeom>
          <a:noFill/>
        </p:spPr>
        <p:txBody>
          <a:bodyPr wrap="square" lIns="18288" tIns="18288" rIns="18288" bIns="18288" anchor="t">
            <a:spAutoFit/>
          </a:bodyPr>
          <a:lstStyle/>
          <a:p>
            <a:pPr algn="l"/>
            <a:r>
              <a:rPr sz="869" b="1">
                <a:solidFill>
                  <a:srgbClr val="2D3541"/>
                </a:solidFill>
                <a:latin typeface="Aptos"/>
              </a:rPr>
              <a:t>Comparator</a:t>
            </a:r>
          </a:p>
        </p:txBody>
      </p:sp>
      <p:sp>
        <p:nvSpPr>
          <p:cNvPr id="41" name="Rectangle 40"/>
          <p:cNvSpPr/>
          <p:nvPr/>
        </p:nvSpPr>
        <p:spPr>
          <a:xfrm>
            <a:off x="2852927" y="4855464"/>
            <a:ext cx="8915400" cy="393192"/>
          </a:xfrm>
          <a:prstGeom prst="rect">
            <a:avLst/>
          </a:prstGeom>
          <a:solidFill>
            <a:srgbClr val="EEF4F9"/>
          </a:solidFill>
          <a:ln>
            <a:solidFill>
              <a:srgbClr val="DA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2926079" y="4946903"/>
            <a:ext cx="8769096" cy="201168"/>
          </a:xfrm>
          <a:prstGeom prst="rect">
            <a:avLst/>
          </a:prstGeom>
          <a:noFill/>
        </p:spPr>
        <p:txBody>
          <a:bodyPr wrap="square" lIns="18288" tIns="18288" rIns="18288" bIns="18288" anchor="t">
            <a:spAutoFit/>
          </a:bodyPr>
          <a:lstStyle/>
          <a:p>
            <a:pPr algn="l"/>
            <a:r>
              <a:rPr sz="869" b="0">
                <a:solidFill>
                  <a:srgbClr val="2D3541"/>
                </a:solidFill>
                <a:latin typeface="Aptos"/>
              </a:rPr>
              <a:t>Traditional simulation, conventional warehouse control, baseline routing/dispatching rules, or non-DT decision support</a:t>
            </a:r>
          </a:p>
        </p:txBody>
      </p:sp>
      <p:sp>
        <p:nvSpPr>
          <p:cNvPr id="43" name="Rectangle 42"/>
          <p:cNvSpPr/>
          <p:nvPr/>
        </p:nvSpPr>
        <p:spPr>
          <a:xfrm>
            <a:off x="749808" y="5248655"/>
            <a:ext cx="2103120" cy="393192"/>
          </a:xfrm>
          <a:prstGeom prst="rect">
            <a:avLst/>
          </a:prstGeom>
          <a:solidFill>
            <a:srgbClr val="F8FAFD"/>
          </a:solidFill>
          <a:ln>
            <a:solidFill>
              <a:srgbClr val="DA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822959" y="5340095"/>
            <a:ext cx="1956815" cy="201168"/>
          </a:xfrm>
          <a:prstGeom prst="rect">
            <a:avLst/>
          </a:prstGeom>
          <a:noFill/>
        </p:spPr>
        <p:txBody>
          <a:bodyPr wrap="square" lIns="18288" tIns="18288" rIns="18288" bIns="18288" anchor="t">
            <a:spAutoFit/>
          </a:bodyPr>
          <a:lstStyle/>
          <a:p>
            <a:pPr algn="l"/>
            <a:r>
              <a:rPr sz="869" b="1">
                <a:solidFill>
                  <a:srgbClr val="2D3541"/>
                </a:solidFill>
                <a:latin typeface="Aptos"/>
              </a:rPr>
              <a:t>Outcomes</a:t>
            </a:r>
          </a:p>
        </p:txBody>
      </p:sp>
      <p:sp>
        <p:nvSpPr>
          <p:cNvPr id="45" name="Rectangle 44"/>
          <p:cNvSpPr/>
          <p:nvPr/>
        </p:nvSpPr>
        <p:spPr>
          <a:xfrm>
            <a:off x="2852927" y="5248655"/>
            <a:ext cx="8915400" cy="393192"/>
          </a:xfrm>
          <a:prstGeom prst="rect">
            <a:avLst/>
          </a:prstGeom>
          <a:solidFill>
            <a:srgbClr val="F8FAFD"/>
          </a:solidFill>
          <a:ln>
            <a:solidFill>
              <a:srgbClr val="DA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2926079" y="5340095"/>
            <a:ext cx="8769096" cy="201168"/>
          </a:xfrm>
          <a:prstGeom prst="rect">
            <a:avLst/>
          </a:prstGeom>
          <a:noFill/>
        </p:spPr>
        <p:txBody>
          <a:bodyPr wrap="square" lIns="18288" tIns="18288" rIns="18288" bIns="18288" anchor="t">
            <a:spAutoFit/>
          </a:bodyPr>
          <a:lstStyle/>
          <a:p>
            <a:pPr algn="l"/>
            <a:r>
              <a:rPr sz="869" b="0">
                <a:solidFill>
                  <a:srgbClr val="2D3541"/>
                </a:solidFill>
                <a:latin typeface="Aptos"/>
              </a:rPr>
              <a:t>Throughput, picking time, travel distance, waiting time, congestion, utilization, cost, energy, resilience</a:t>
            </a:r>
          </a:p>
        </p:txBody>
      </p:sp>
      <p:sp>
        <p:nvSpPr>
          <p:cNvPr id="47" name="Rectangle 46"/>
          <p:cNvSpPr/>
          <p:nvPr/>
        </p:nvSpPr>
        <p:spPr>
          <a:xfrm>
            <a:off x="749808" y="5641848"/>
            <a:ext cx="2103120" cy="393192"/>
          </a:xfrm>
          <a:prstGeom prst="rect">
            <a:avLst/>
          </a:prstGeom>
          <a:solidFill>
            <a:srgbClr val="EEF4F9"/>
          </a:solidFill>
          <a:ln>
            <a:solidFill>
              <a:srgbClr val="DA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822959" y="5733288"/>
            <a:ext cx="1956815" cy="201168"/>
          </a:xfrm>
          <a:prstGeom prst="rect">
            <a:avLst/>
          </a:prstGeom>
          <a:noFill/>
        </p:spPr>
        <p:txBody>
          <a:bodyPr wrap="square" lIns="18288" tIns="18288" rIns="18288" bIns="18288" anchor="t">
            <a:spAutoFit/>
          </a:bodyPr>
          <a:lstStyle/>
          <a:p>
            <a:pPr algn="l"/>
            <a:r>
              <a:rPr sz="869" b="1">
                <a:solidFill>
                  <a:srgbClr val="2D3541"/>
                </a:solidFill>
                <a:latin typeface="Aptos"/>
              </a:rPr>
              <a:t>Study Type</a:t>
            </a:r>
          </a:p>
        </p:txBody>
      </p:sp>
      <p:sp>
        <p:nvSpPr>
          <p:cNvPr id="49" name="Rectangle 48"/>
          <p:cNvSpPr/>
          <p:nvPr/>
        </p:nvSpPr>
        <p:spPr>
          <a:xfrm>
            <a:off x="2852927" y="5641848"/>
            <a:ext cx="8915400" cy="393192"/>
          </a:xfrm>
          <a:prstGeom prst="rect">
            <a:avLst/>
          </a:prstGeom>
          <a:solidFill>
            <a:srgbClr val="EEF4F9"/>
          </a:solidFill>
          <a:ln>
            <a:solidFill>
              <a:srgbClr val="DA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2926079" y="5733288"/>
            <a:ext cx="8769096" cy="201168"/>
          </a:xfrm>
          <a:prstGeom prst="rect">
            <a:avLst/>
          </a:prstGeom>
          <a:noFill/>
        </p:spPr>
        <p:txBody>
          <a:bodyPr wrap="square" lIns="18288" tIns="18288" rIns="18288" bIns="18288" anchor="t">
            <a:spAutoFit/>
          </a:bodyPr>
          <a:lstStyle/>
          <a:p>
            <a:pPr algn="l"/>
            <a:r>
              <a:rPr sz="869" b="0">
                <a:solidFill>
                  <a:srgbClr val="2D3541"/>
                </a:solidFill>
                <a:latin typeface="Aptos"/>
              </a:rPr>
              <a:t>Simulation studies, case studies, laboratory prototypes, architecture papers, optimization and implementation studies</a:t>
            </a:r>
          </a:p>
        </p:txBody>
      </p:sp>
      <p:sp>
        <p:nvSpPr>
          <p:cNvPr id="51" name="TextBox 50"/>
          <p:cNvSpPr txBox="1"/>
          <p:nvPr/>
        </p:nvSpPr>
        <p:spPr>
          <a:xfrm>
            <a:off x="749808" y="6144768"/>
            <a:ext cx="9692640" cy="256032"/>
          </a:xfrm>
          <a:prstGeom prst="rect">
            <a:avLst/>
          </a:prstGeom>
          <a:noFill/>
        </p:spPr>
        <p:txBody>
          <a:bodyPr wrap="square" lIns="18288" tIns="18288" rIns="18288" bIns="18288" anchor="t">
            <a:spAutoFit/>
          </a:bodyPr>
          <a:lstStyle/>
          <a:p>
            <a:pPr algn="l"/>
            <a:r>
              <a:rPr sz="830" b="0">
                <a:solidFill>
                  <a:srgbClr val="6E7B8C"/>
                </a:solidFill>
                <a:latin typeface="Aptos"/>
              </a:rPr>
              <a:t>The RQs are aligned with the result sections: RQ1/RQ2 address what is used and where; RQ3/RQ4 address impact, maturity, and gaps.</a:t>
            </a:r>
          </a:p>
        </p:txBody>
      </p:sp>
      <p:sp>
        <p:nvSpPr>
          <p:cNvPr id="52" name="Rectangle 51"/>
          <p:cNvSpPr/>
          <p:nvPr/>
        </p:nvSpPr>
        <p:spPr>
          <a:xfrm>
            <a:off x="0" y="6473952"/>
            <a:ext cx="12191695" cy="384048"/>
          </a:xfrm>
          <a:prstGeom prst="rect">
            <a:avLst/>
          </a:prstGeom>
          <a:solidFill>
            <a:srgbClr val="353E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685800" y="6565392"/>
            <a:ext cx="5486400" cy="164592"/>
          </a:xfrm>
          <a:prstGeom prst="rect">
            <a:avLst/>
          </a:prstGeom>
          <a:noFill/>
        </p:spPr>
        <p:txBody>
          <a:bodyPr wrap="square" lIns="18288" tIns="18288" rIns="18288" bIns="18288" anchor="t">
            <a:spAutoFit/>
          </a:bodyPr>
          <a:lstStyle/>
          <a:p>
            <a:pPr algn="l"/>
            <a:r>
              <a:rPr sz="850" b="0">
                <a:solidFill>
                  <a:srgbClr val="ECF2F8"/>
                </a:solidFill>
                <a:latin typeface="Aptos"/>
              </a:rPr>
              <a:t>Digital Twin-Enabled Intralogistics — Systematic Review  |  SEN601</a:t>
            </a:r>
          </a:p>
        </p:txBody>
      </p:sp>
      <p:sp>
        <p:nvSpPr>
          <p:cNvPr id="54" name="TextBox 53"/>
          <p:cNvSpPr txBox="1"/>
          <p:nvPr/>
        </p:nvSpPr>
        <p:spPr>
          <a:xfrm>
            <a:off x="10332720" y="6565392"/>
            <a:ext cx="914400" cy="164592"/>
          </a:xfrm>
          <a:prstGeom prst="rect">
            <a:avLst/>
          </a:prstGeom>
          <a:noFill/>
        </p:spPr>
        <p:txBody>
          <a:bodyPr wrap="square" lIns="18288" tIns="18288" rIns="18288" bIns="18288" anchor="t">
            <a:spAutoFit/>
          </a:bodyPr>
          <a:lstStyle/>
          <a:p>
            <a:pPr algn="r"/>
            <a:r>
              <a:rPr sz="850" b="0">
                <a:solidFill>
                  <a:srgbClr val="ECF2F8"/>
                </a:solidFill>
                <a:latin typeface="Aptos"/>
              </a:rPr>
              <a:t>RQ &amp; PICOS</a:t>
            </a:r>
          </a:p>
        </p:txBody>
      </p:sp>
      <p:sp>
        <p:nvSpPr>
          <p:cNvPr id="55" name="TextBox 54"/>
          <p:cNvSpPr txBox="1"/>
          <p:nvPr/>
        </p:nvSpPr>
        <p:spPr>
          <a:xfrm>
            <a:off x="11247120" y="6565392"/>
            <a:ext cx="228600" cy="164592"/>
          </a:xfrm>
          <a:prstGeom prst="rect">
            <a:avLst/>
          </a:prstGeom>
          <a:noFill/>
        </p:spPr>
        <p:txBody>
          <a:bodyPr wrap="square" lIns="18288" tIns="18288" rIns="18288" bIns="18288" anchor="t">
            <a:spAutoFit/>
          </a:bodyPr>
          <a:lstStyle/>
          <a:p>
            <a:pPr algn="r"/>
            <a:r>
              <a:rPr sz="850" b="0">
                <a:solidFill>
                  <a:srgbClr val="ECF2F8"/>
                </a:solidFill>
                <a:latin typeface="Aptos"/>
              </a:rPr>
              <a:t>3</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7F9"/>
        </a:solidFill>
        <a:effectLst/>
      </p:bgPr>
    </p:bg>
    <p:spTree>
      <p:nvGrpSpPr>
        <p:cNvPr id="1" name=""/>
        <p:cNvGrpSpPr/>
        <p:nvPr/>
      </p:nvGrpSpPr>
      <p:grpSpPr>
        <a:xfrm>
          <a:off x="0" y="0"/>
          <a:ext cx="0" cy="0"/>
          <a:chOff x="0" y="0"/>
          <a:chExt cx="0" cy="0"/>
        </a:xfrm>
      </p:grpSpPr>
      <p:sp>
        <p:nvSpPr>
          <p:cNvPr id="2" name="Shape 0"/>
          <p:cNvSpPr/>
          <p:nvPr/>
        </p:nvSpPr>
        <p:spPr>
          <a:xfrm>
            <a:off x="347472" y="329184"/>
            <a:ext cx="73152" cy="438912"/>
          </a:xfrm>
          <a:prstGeom prst="rect">
            <a:avLst/>
          </a:prstGeom>
          <a:solidFill>
            <a:srgbClr val="2F6BD8"/>
          </a:solidFill>
          <a:ln w="12700">
            <a:solidFill>
              <a:srgbClr val="2F6BD8"/>
            </a:solidFill>
            <a:prstDash val="solid"/>
          </a:ln>
        </p:spPr>
      </p:sp>
      <p:sp>
        <p:nvSpPr>
          <p:cNvPr id="3" name="Text 1"/>
          <p:cNvSpPr/>
          <p:nvPr/>
        </p:nvSpPr>
        <p:spPr>
          <a:xfrm>
            <a:off x="512064" y="292608"/>
            <a:ext cx="10789920" cy="502920"/>
          </a:xfrm>
          <a:prstGeom prst="rect">
            <a:avLst/>
          </a:prstGeom>
          <a:noFill/>
          <a:ln/>
        </p:spPr>
        <p:txBody>
          <a:bodyPr wrap="square" lIns="0" tIns="0" rIns="0" bIns="0" rtlCol="0" anchor="ctr"/>
          <a:lstStyle/>
          <a:p>
            <a:pPr marL="0" indent="0">
              <a:buNone/>
            </a:pPr>
            <a:r>
              <a:rPr lang="en-US" sz="2700" b="1" dirty="0">
                <a:solidFill>
                  <a:srgbClr val="303846"/>
                </a:solidFill>
                <a:latin typeface="Aptos Display" pitchFamily="34" charset="0"/>
                <a:ea typeface="Aptos Display" pitchFamily="34" charset="-122"/>
                <a:cs typeface="Aptos Display" pitchFamily="34" charset="-120"/>
              </a:rPr>
              <a:t>Protocol &amp; Search Strategy</a:t>
            </a:r>
            <a:endParaRPr lang="en-US" sz="2700" dirty="0"/>
          </a:p>
        </p:txBody>
      </p:sp>
      <p:sp>
        <p:nvSpPr>
          <p:cNvPr id="4" name="Shape 2"/>
          <p:cNvSpPr/>
          <p:nvPr/>
        </p:nvSpPr>
        <p:spPr>
          <a:xfrm>
            <a:off x="0" y="6510528"/>
            <a:ext cx="12191695" cy="347472"/>
          </a:xfrm>
          <a:prstGeom prst="rect">
            <a:avLst/>
          </a:prstGeom>
          <a:solidFill>
            <a:srgbClr val="303846"/>
          </a:solidFill>
          <a:ln w="12700">
            <a:solidFill>
              <a:srgbClr val="303846"/>
            </a:solidFill>
            <a:prstDash val="solid"/>
          </a:ln>
        </p:spPr>
      </p:sp>
      <p:sp>
        <p:nvSpPr>
          <p:cNvPr id="5" name="Text 3"/>
          <p:cNvSpPr/>
          <p:nvPr/>
        </p:nvSpPr>
        <p:spPr>
          <a:xfrm>
            <a:off x="320040" y="6592824"/>
            <a:ext cx="6583680" cy="137160"/>
          </a:xfrm>
          <a:prstGeom prst="rect">
            <a:avLst/>
          </a:prstGeom>
          <a:noFill/>
          <a:ln/>
        </p:spPr>
        <p:txBody>
          <a:bodyPr wrap="square" lIns="0" tIns="0" rIns="0" bIns="0" rtlCol="0" anchor="ctr"/>
          <a:lstStyle/>
          <a:p>
            <a:pPr marL="0" indent="0">
              <a:buNone/>
            </a:pPr>
            <a:r>
              <a:rPr lang="en-US" sz="750" i="1" dirty="0">
                <a:solidFill>
                  <a:srgbClr val="F2F4F7"/>
                </a:solidFill>
              </a:rPr>
              <a:t>Digital Twin-Enabled Intralogistics — Systematic Review | SEN601</a:t>
            </a:r>
            <a:endParaRPr lang="en-US" sz="750" dirty="0"/>
          </a:p>
        </p:txBody>
      </p:sp>
      <p:sp>
        <p:nvSpPr>
          <p:cNvPr id="6" name="Text 4"/>
          <p:cNvSpPr/>
          <p:nvPr/>
        </p:nvSpPr>
        <p:spPr>
          <a:xfrm>
            <a:off x="10195560" y="6592824"/>
            <a:ext cx="1280160" cy="137160"/>
          </a:xfrm>
          <a:prstGeom prst="rect">
            <a:avLst/>
          </a:prstGeom>
          <a:noFill/>
          <a:ln/>
        </p:spPr>
        <p:txBody>
          <a:bodyPr wrap="square" lIns="0" tIns="0" rIns="0" bIns="0" rtlCol="0" anchor="ctr"/>
          <a:lstStyle/>
          <a:p>
            <a:pPr marL="0" indent="0" algn="r">
              <a:buNone/>
            </a:pPr>
            <a:r>
              <a:rPr lang="en-US" sz="750" dirty="0">
                <a:solidFill>
                  <a:srgbClr val="F2F4F7"/>
                </a:solidFill>
              </a:rPr>
              <a:t>Protocol &amp; Search</a:t>
            </a:r>
            <a:endParaRPr lang="en-US" sz="750" dirty="0"/>
          </a:p>
        </p:txBody>
      </p:sp>
      <p:sp>
        <p:nvSpPr>
          <p:cNvPr id="7" name="Text 5"/>
          <p:cNvSpPr/>
          <p:nvPr/>
        </p:nvSpPr>
        <p:spPr>
          <a:xfrm>
            <a:off x="11539728" y="6583680"/>
            <a:ext cx="329184" cy="146304"/>
          </a:xfrm>
          <a:prstGeom prst="rect">
            <a:avLst/>
          </a:prstGeom>
          <a:noFill/>
          <a:ln/>
        </p:spPr>
        <p:txBody>
          <a:bodyPr wrap="square" lIns="0" tIns="0" rIns="0" bIns="0" rtlCol="0" anchor="ctr"/>
          <a:lstStyle/>
          <a:p>
            <a:pPr marL="0" indent="0" algn="r">
              <a:buNone/>
            </a:pPr>
            <a:r>
              <a:rPr lang="en-US" sz="850" dirty="0">
                <a:solidFill>
                  <a:srgbClr val="F2F4F7"/>
                </a:solidFill>
              </a:rPr>
              <a:t>4</a:t>
            </a:r>
            <a:endParaRPr lang="en-US" sz="850" dirty="0"/>
          </a:p>
        </p:txBody>
      </p:sp>
      <p:sp>
        <p:nvSpPr>
          <p:cNvPr id="8" name="Shape 6"/>
          <p:cNvSpPr/>
          <p:nvPr/>
        </p:nvSpPr>
        <p:spPr>
          <a:xfrm>
            <a:off x="640080" y="960120"/>
            <a:ext cx="5120640" cy="1143000"/>
          </a:xfrm>
          <a:prstGeom prst="roundRect">
            <a:avLst>
              <a:gd name="adj" fmla="val 3200"/>
            </a:avLst>
          </a:prstGeom>
          <a:solidFill>
            <a:srgbClr val="FFFFFF"/>
          </a:solidFill>
          <a:ln w="12700">
            <a:solidFill>
              <a:srgbClr val="E8ECF2"/>
            </a:solidFill>
            <a:prstDash val="solid"/>
          </a:ln>
        </p:spPr>
      </p:sp>
      <p:sp>
        <p:nvSpPr>
          <p:cNvPr id="9" name="Shape 7"/>
          <p:cNvSpPr/>
          <p:nvPr/>
        </p:nvSpPr>
        <p:spPr>
          <a:xfrm>
            <a:off x="640080" y="960120"/>
            <a:ext cx="5120640" cy="310896"/>
          </a:xfrm>
          <a:prstGeom prst="rect">
            <a:avLst/>
          </a:prstGeom>
          <a:solidFill>
            <a:srgbClr val="3D4656"/>
          </a:solidFill>
          <a:ln w="12700">
            <a:solidFill>
              <a:srgbClr val="3D4656"/>
            </a:solidFill>
            <a:prstDash val="solid"/>
          </a:ln>
        </p:spPr>
      </p:sp>
      <p:sp>
        <p:nvSpPr>
          <p:cNvPr id="10" name="Text 8"/>
          <p:cNvSpPr/>
          <p:nvPr/>
        </p:nvSpPr>
        <p:spPr>
          <a:xfrm>
            <a:off x="640080" y="978408"/>
            <a:ext cx="5120640" cy="310896"/>
          </a:xfrm>
          <a:prstGeom prst="rect">
            <a:avLst/>
          </a:prstGeom>
          <a:noFill/>
          <a:ln/>
        </p:spPr>
        <p:txBody>
          <a:bodyPr wrap="square" lIns="254" tIns="254" rIns="254" bIns="254" rtlCol="0" anchor="ctr"/>
          <a:lstStyle/>
          <a:p>
            <a:pPr marL="0" indent="0" algn="ctr">
              <a:buNone/>
            </a:pPr>
            <a:r>
              <a:rPr lang="en-US" sz="1100" b="1" dirty="0">
                <a:solidFill>
                  <a:srgbClr val="FFFFFF"/>
                </a:solidFill>
              </a:rPr>
              <a:t>Review Protocol</a:t>
            </a:r>
            <a:endParaRPr lang="en-US" sz="1100" dirty="0"/>
          </a:p>
        </p:txBody>
      </p:sp>
      <p:sp>
        <p:nvSpPr>
          <p:cNvPr id="11" name="Text 9"/>
          <p:cNvSpPr/>
          <p:nvPr/>
        </p:nvSpPr>
        <p:spPr>
          <a:xfrm>
            <a:off x="841248" y="1389888"/>
            <a:ext cx="4572000" cy="502920"/>
          </a:xfrm>
          <a:prstGeom prst="rect">
            <a:avLst/>
          </a:prstGeom>
          <a:noFill/>
          <a:ln/>
        </p:spPr>
        <p:txBody>
          <a:bodyPr wrap="square" lIns="889" tIns="889" rIns="889" bIns="889" rtlCol="0" anchor="ctr">
            <a:normAutofit/>
          </a:bodyPr>
          <a:lstStyle/>
          <a:p>
            <a:pPr marL="0" indent="0">
              <a:buNone/>
            </a:pPr>
            <a:r>
              <a:rPr lang="en-US" sz="1040" dirty="0">
                <a:solidFill>
                  <a:srgbClr val="303846"/>
                </a:solidFill>
              </a:rPr>
              <a:t>• Pre-defined abstract-level protocol following systematic review logic
• Research questions structured using PICOS
• All deviations and limitations recorded</a:t>
            </a:r>
            <a:endParaRPr lang="en-US" sz="1040" dirty="0"/>
          </a:p>
        </p:txBody>
      </p:sp>
      <p:sp>
        <p:nvSpPr>
          <p:cNvPr id="12" name="Shape 10"/>
          <p:cNvSpPr/>
          <p:nvPr/>
        </p:nvSpPr>
        <p:spPr>
          <a:xfrm>
            <a:off x="6400800" y="960120"/>
            <a:ext cx="5120640" cy="1143000"/>
          </a:xfrm>
          <a:prstGeom prst="roundRect">
            <a:avLst>
              <a:gd name="adj" fmla="val 3200"/>
            </a:avLst>
          </a:prstGeom>
          <a:solidFill>
            <a:srgbClr val="FFFFFF"/>
          </a:solidFill>
          <a:ln w="12700">
            <a:solidFill>
              <a:srgbClr val="E8ECF2"/>
            </a:solidFill>
            <a:prstDash val="solid"/>
          </a:ln>
        </p:spPr>
      </p:sp>
      <p:sp>
        <p:nvSpPr>
          <p:cNvPr id="13" name="Shape 11"/>
          <p:cNvSpPr/>
          <p:nvPr/>
        </p:nvSpPr>
        <p:spPr>
          <a:xfrm>
            <a:off x="6400800" y="960120"/>
            <a:ext cx="5120640" cy="310896"/>
          </a:xfrm>
          <a:prstGeom prst="rect">
            <a:avLst/>
          </a:prstGeom>
          <a:solidFill>
            <a:srgbClr val="2F6BD8"/>
          </a:solidFill>
          <a:ln w="12700">
            <a:solidFill>
              <a:srgbClr val="2F6BD8"/>
            </a:solidFill>
            <a:prstDash val="solid"/>
          </a:ln>
        </p:spPr>
      </p:sp>
      <p:sp>
        <p:nvSpPr>
          <p:cNvPr id="14" name="Text 12"/>
          <p:cNvSpPr/>
          <p:nvPr/>
        </p:nvSpPr>
        <p:spPr>
          <a:xfrm>
            <a:off x="6400800" y="978408"/>
            <a:ext cx="5120640" cy="310896"/>
          </a:xfrm>
          <a:prstGeom prst="rect">
            <a:avLst/>
          </a:prstGeom>
          <a:noFill/>
          <a:ln/>
        </p:spPr>
        <p:txBody>
          <a:bodyPr wrap="square" lIns="254" tIns="254" rIns="254" bIns="254" rtlCol="0" anchor="ctr"/>
          <a:lstStyle/>
          <a:p>
            <a:pPr marL="0" indent="0" algn="ctr">
              <a:buNone/>
            </a:pPr>
            <a:r>
              <a:rPr lang="en-US" sz="1100" b="1" dirty="0">
                <a:solidFill>
                  <a:srgbClr val="FFFFFF"/>
                </a:solidFill>
              </a:rPr>
              <a:t>Search Scope</a:t>
            </a:r>
            <a:endParaRPr lang="en-US" sz="1100" dirty="0"/>
          </a:p>
        </p:txBody>
      </p:sp>
      <p:sp>
        <p:nvSpPr>
          <p:cNvPr id="15" name="Text 13"/>
          <p:cNvSpPr/>
          <p:nvPr/>
        </p:nvSpPr>
        <p:spPr>
          <a:xfrm>
            <a:off x="6601968" y="1389888"/>
            <a:ext cx="4572000" cy="502920"/>
          </a:xfrm>
          <a:prstGeom prst="rect">
            <a:avLst/>
          </a:prstGeom>
          <a:noFill/>
          <a:ln/>
        </p:spPr>
        <p:txBody>
          <a:bodyPr wrap="square" lIns="889" tIns="889" rIns="889" bIns="889" rtlCol="0" anchor="ctr">
            <a:normAutofit/>
          </a:bodyPr>
          <a:lstStyle/>
          <a:p>
            <a:pPr marL="0" indent="0">
              <a:buNone/>
            </a:pPr>
            <a:r>
              <a:rPr lang="en-US" sz="1040" dirty="0">
                <a:solidFill>
                  <a:srgbClr val="303846"/>
                </a:solidFill>
              </a:rPr>
              <a:t>• ScienceDirect, SpringerLink, MDPI, Taylor &amp; Francis, IEEE-related and indexed entries
• Language: English only
• Core range: 2021–2026</a:t>
            </a:r>
            <a:endParaRPr lang="en-US" sz="1040" dirty="0"/>
          </a:p>
        </p:txBody>
      </p:sp>
      <p:sp>
        <p:nvSpPr>
          <p:cNvPr id="16" name="Shape 14"/>
          <p:cNvSpPr/>
          <p:nvPr/>
        </p:nvSpPr>
        <p:spPr>
          <a:xfrm>
            <a:off x="640080" y="2514600"/>
            <a:ext cx="10881360" cy="2377440"/>
          </a:xfrm>
          <a:prstGeom prst="roundRect">
            <a:avLst>
              <a:gd name="adj" fmla="val 1538"/>
            </a:avLst>
          </a:prstGeom>
          <a:solidFill>
            <a:srgbClr val="FFFFFF"/>
          </a:solidFill>
          <a:ln w="12700">
            <a:solidFill>
              <a:srgbClr val="E8ECF2"/>
            </a:solidFill>
            <a:prstDash val="solid"/>
          </a:ln>
        </p:spPr>
      </p:sp>
      <p:sp>
        <p:nvSpPr>
          <p:cNvPr id="17" name="Text 15"/>
          <p:cNvSpPr/>
          <p:nvPr/>
        </p:nvSpPr>
        <p:spPr>
          <a:xfrm>
            <a:off x="868680" y="2706624"/>
            <a:ext cx="3657600" cy="274320"/>
          </a:xfrm>
          <a:prstGeom prst="rect">
            <a:avLst/>
          </a:prstGeom>
          <a:noFill/>
          <a:ln/>
        </p:spPr>
        <p:txBody>
          <a:bodyPr wrap="square" lIns="0" tIns="0" rIns="0" bIns="0" rtlCol="0" anchor="ctr"/>
          <a:lstStyle/>
          <a:p>
            <a:pPr marL="0" indent="0">
              <a:buNone/>
            </a:pPr>
            <a:r>
              <a:rPr lang="en-US" sz="1600" b="1" dirty="0">
                <a:solidFill>
                  <a:srgbClr val="303846"/>
                </a:solidFill>
              </a:rPr>
              <a:t>Search String Logic</a:t>
            </a:r>
            <a:endParaRPr lang="en-US" sz="1600" dirty="0"/>
          </a:p>
        </p:txBody>
      </p:sp>
      <p:sp>
        <p:nvSpPr>
          <p:cNvPr id="18" name="Text 16"/>
          <p:cNvSpPr/>
          <p:nvPr/>
        </p:nvSpPr>
        <p:spPr>
          <a:xfrm>
            <a:off x="868680" y="3136392"/>
            <a:ext cx="2377440" cy="201168"/>
          </a:xfrm>
          <a:prstGeom prst="rect">
            <a:avLst/>
          </a:prstGeom>
          <a:noFill/>
          <a:ln/>
        </p:spPr>
        <p:txBody>
          <a:bodyPr wrap="square" lIns="0" tIns="0" rIns="0" bIns="0" rtlCol="0" anchor="ctr"/>
          <a:lstStyle/>
          <a:p>
            <a:pPr marL="0" indent="0">
              <a:buNone/>
            </a:pPr>
            <a:r>
              <a:rPr lang="en-US" sz="1150" b="1" dirty="0">
                <a:solidFill>
                  <a:srgbClr val="2F6BD8"/>
                </a:solidFill>
              </a:rPr>
              <a:t>Group A — Digital twin concept:</a:t>
            </a:r>
            <a:endParaRPr lang="en-US" sz="1150" dirty="0"/>
          </a:p>
        </p:txBody>
      </p:sp>
      <p:sp>
        <p:nvSpPr>
          <p:cNvPr id="19" name="Text 17"/>
          <p:cNvSpPr/>
          <p:nvPr/>
        </p:nvSpPr>
        <p:spPr>
          <a:xfrm>
            <a:off x="3310128" y="3136392"/>
            <a:ext cx="7680960" cy="201168"/>
          </a:xfrm>
          <a:prstGeom prst="rect">
            <a:avLst/>
          </a:prstGeom>
          <a:noFill/>
          <a:ln/>
        </p:spPr>
        <p:txBody>
          <a:bodyPr wrap="square" lIns="0" tIns="0" rIns="0" bIns="0" rtlCol="0" anchor="ctr"/>
          <a:lstStyle/>
          <a:p>
            <a:pPr marL="0" indent="0">
              <a:buNone/>
            </a:pPr>
            <a:r>
              <a:rPr lang="en-US" sz="1150" dirty="0">
                <a:solidFill>
                  <a:srgbClr val="303846"/>
                </a:solidFill>
              </a:rPr>
              <a:t>"digital twin" OR "digital twins" OR "digital shadow" OR "cyber-physical system"</a:t>
            </a:r>
            <a:endParaRPr lang="en-US" sz="1150" dirty="0"/>
          </a:p>
        </p:txBody>
      </p:sp>
      <p:sp>
        <p:nvSpPr>
          <p:cNvPr id="20" name="Text 18"/>
          <p:cNvSpPr/>
          <p:nvPr/>
        </p:nvSpPr>
        <p:spPr>
          <a:xfrm>
            <a:off x="868680" y="3611880"/>
            <a:ext cx="2560320" cy="201168"/>
          </a:xfrm>
          <a:prstGeom prst="rect">
            <a:avLst/>
          </a:prstGeom>
          <a:noFill/>
          <a:ln/>
        </p:spPr>
        <p:txBody>
          <a:bodyPr wrap="square" lIns="0" tIns="0" rIns="0" bIns="0" rtlCol="0" anchor="ctr"/>
          <a:lstStyle/>
          <a:p>
            <a:pPr marL="0" indent="0">
              <a:buNone/>
            </a:pPr>
            <a:r>
              <a:rPr lang="en-US" sz="1150" b="1" dirty="0">
                <a:solidFill>
                  <a:srgbClr val="2F6BD8"/>
                </a:solidFill>
              </a:rPr>
              <a:t>Group B — Intralogistics context:</a:t>
            </a:r>
            <a:endParaRPr lang="en-US" sz="1150" dirty="0"/>
          </a:p>
        </p:txBody>
      </p:sp>
      <p:sp>
        <p:nvSpPr>
          <p:cNvPr id="21" name="Text 19"/>
          <p:cNvSpPr/>
          <p:nvPr/>
        </p:nvSpPr>
        <p:spPr>
          <a:xfrm>
            <a:off x="3493008" y="3611880"/>
            <a:ext cx="7360920" cy="201168"/>
          </a:xfrm>
          <a:prstGeom prst="rect">
            <a:avLst/>
          </a:prstGeom>
          <a:noFill/>
          <a:ln/>
        </p:spPr>
        <p:txBody>
          <a:bodyPr wrap="square" lIns="0" tIns="0" rIns="0" bIns="0" rtlCol="0" anchor="ctr">
            <a:normAutofit/>
          </a:bodyPr>
          <a:lstStyle/>
          <a:p>
            <a:pPr marL="0" indent="0">
              <a:buNone/>
            </a:pPr>
            <a:r>
              <a:rPr lang="en-US" sz="1150" dirty="0">
                <a:solidFill>
                  <a:srgbClr val="303846"/>
                </a:solidFill>
              </a:rPr>
              <a:t>"warehouse" OR "warehouse logistics" OR "warehouse control" OR "intralogistics" OR "material handling"</a:t>
            </a:r>
            <a:endParaRPr lang="en-US" sz="1150" dirty="0"/>
          </a:p>
        </p:txBody>
      </p:sp>
      <p:sp>
        <p:nvSpPr>
          <p:cNvPr id="22" name="Text 20"/>
          <p:cNvSpPr/>
          <p:nvPr/>
        </p:nvSpPr>
        <p:spPr>
          <a:xfrm>
            <a:off x="868680" y="4087368"/>
            <a:ext cx="2560320" cy="201168"/>
          </a:xfrm>
          <a:prstGeom prst="rect">
            <a:avLst/>
          </a:prstGeom>
          <a:noFill/>
          <a:ln/>
        </p:spPr>
        <p:txBody>
          <a:bodyPr wrap="square" lIns="0" tIns="0" rIns="0" bIns="0" rtlCol="0" anchor="ctr"/>
          <a:lstStyle/>
          <a:p>
            <a:pPr marL="0" indent="0">
              <a:buNone/>
            </a:pPr>
            <a:r>
              <a:rPr lang="en-US" sz="1150" b="1" dirty="0">
                <a:solidFill>
                  <a:srgbClr val="2F6BD8"/>
                </a:solidFill>
              </a:rPr>
              <a:t>Group C — Operational resources:</a:t>
            </a:r>
            <a:endParaRPr lang="en-US" sz="1150" dirty="0"/>
          </a:p>
        </p:txBody>
      </p:sp>
      <p:sp>
        <p:nvSpPr>
          <p:cNvPr id="23" name="Text 21"/>
          <p:cNvSpPr/>
          <p:nvPr/>
        </p:nvSpPr>
        <p:spPr>
          <a:xfrm>
            <a:off x="3493008" y="4087368"/>
            <a:ext cx="7360920" cy="201168"/>
          </a:xfrm>
          <a:prstGeom prst="rect">
            <a:avLst/>
          </a:prstGeom>
          <a:noFill/>
          <a:ln/>
        </p:spPr>
        <p:txBody>
          <a:bodyPr wrap="square" lIns="0" tIns="0" rIns="0" bIns="0" rtlCol="0" anchor="ctr">
            <a:normAutofit/>
          </a:bodyPr>
          <a:lstStyle/>
          <a:p>
            <a:pPr marL="0" indent="0">
              <a:buNone/>
            </a:pPr>
            <a:r>
              <a:rPr lang="en-US" sz="1150" dirty="0">
                <a:solidFill>
                  <a:srgbClr val="303846"/>
                </a:solidFill>
              </a:rPr>
              <a:t>"order picking" OR "AGV" OR "automated guided vehicle" OR "AMR" OR "autonomous mobile robot"</a:t>
            </a:r>
            <a:endParaRPr lang="en-US" sz="1150" dirty="0"/>
          </a:p>
        </p:txBody>
      </p:sp>
      <p:sp>
        <p:nvSpPr>
          <p:cNvPr id="24" name="Text 22"/>
          <p:cNvSpPr/>
          <p:nvPr/>
        </p:nvSpPr>
        <p:spPr>
          <a:xfrm>
            <a:off x="3127248" y="4645152"/>
            <a:ext cx="6309360" cy="237744"/>
          </a:xfrm>
          <a:prstGeom prst="rect">
            <a:avLst/>
          </a:prstGeom>
          <a:noFill/>
          <a:ln/>
        </p:spPr>
        <p:txBody>
          <a:bodyPr wrap="square" lIns="0" tIns="0" rIns="0" bIns="0" rtlCol="0" anchor="ctr"/>
          <a:lstStyle/>
          <a:p>
            <a:pPr marL="0" indent="0" algn="ctr">
              <a:buNone/>
            </a:pPr>
            <a:r>
              <a:rPr lang="en-US" sz="1280" b="1" i="1" dirty="0">
                <a:solidFill>
                  <a:srgbClr val="303846"/>
                </a:solidFill>
              </a:rPr>
              <a:t>Combined as: (Group A) AND (Group B OR Group C)</a:t>
            </a:r>
            <a:endParaRPr lang="en-US" sz="1280" dirty="0"/>
          </a:p>
        </p:txBody>
      </p:sp>
      <p:sp>
        <p:nvSpPr>
          <p:cNvPr id="25" name="Text 23"/>
          <p:cNvSpPr/>
          <p:nvPr/>
        </p:nvSpPr>
        <p:spPr>
          <a:xfrm>
            <a:off x="502920" y="6281928"/>
            <a:ext cx="10789920" cy="164592"/>
          </a:xfrm>
          <a:prstGeom prst="rect">
            <a:avLst/>
          </a:prstGeom>
          <a:noFill/>
          <a:ln/>
        </p:spPr>
        <p:txBody>
          <a:bodyPr wrap="square" lIns="0" tIns="0" rIns="0" bIns="0" rtlCol="0" anchor="ctr"/>
          <a:lstStyle/>
          <a:p>
            <a:pPr marL="0" indent="0">
              <a:buNone/>
            </a:pPr>
            <a:r>
              <a:rPr lang="en-US" sz="760" i="1" dirty="0">
                <a:solidFill>
                  <a:srgbClr val="667085"/>
                </a:solidFill>
              </a:rPr>
              <a:t>Search strategy reconstructed from Section 4.2 of the revised systematic review.</a:t>
            </a:r>
            <a:endParaRPr lang="en-US" sz="76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7F9"/>
        </a:solidFill>
        <a:effectLst/>
      </p:bgPr>
    </p:bg>
    <p:spTree>
      <p:nvGrpSpPr>
        <p:cNvPr id="1" name=""/>
        <p:cNvGrpSpPr/>
        <p:nvPr/>
      </p:nvGrpSpPr>
      <p:grpSpPr>
        <a:xfrm>
          <a:off x="0" y="0"/>
          <a:ext cx="0" cy="0"/>
          <a:chOff x="0" y="0"/>
          <a:chExt cx="0" cy="0"/>
        </a:xfrm>
      </p:grpSpPr>
      <p:sp>
        <p:nvSpPr>
          <p:cNvPr id="2" name="Shape 0"/>
          <p:cNvSpPr/>
          <p:nvPr/>
        </p:nvSpPr>
        <p:spPr>
          <a:xfrm>
            <a:off x="347472" y="329184"/>
            <a:ext cx="73152" cy="438912"/>
          </a:xfrm>
          <a:prstGeom prst="rect">
            <a:avLst/>
          </a:prstGeom>
          <a:solidFill>
            <a:srgbClr val="2F6BD8"/>
          </a:solidFill>
          <a:ln w="12700">
            <a:solidFill>
              <a:srgbClr val="2F6BD8"/>
            </a:solidFill>
            <a:prstDash val="solid"/>
          </a:ln>
        </p:spPr>
      </p:sp>
      <p:sp>
        <p:nvSpPr>
          <p:cNvPr id="3" name="Text 1"/>
          <p:cNvSpPr/>
          <p:nvPr/>
        </p:nvSpPr>
        <p:spPr>
          <a:xfrm>
            <a:off x="512064" y="292608"/>
            <a:ext cx="10789920" cy="502920"/>
          </a:xfrm>
          <a:prstGeom prst="rect">
            <a:avLst/>
          </a:prstGeom>
          <a:noFill/>
          <a:ln/>
        </p:spPr>
        <p:txBody>
          <a:bodyPr wrap="square" lIns="0" tIns="0" rIns="0" bIns="0" rtlCol="0" anchor="ctr"/>
          <a:lstStyle/>
          <a:p>
            <a:pPr marL="0" indent="0">
              <a:buNone/>
            </a:pPr>
            <a:r>
              <a:rPr lang="en-US" sz="2700" b="1" dirty="0">
                <a:solidFill>
                  <a:srgbClr val="303846"/>
                </a:solidFill>
                <a:latin typeface="Aptos Display" pitchFamily="34" charset="0"/>
                <a:ea typeface="Aptos Display" pitchFamily="34" charset="-122"/>
                <a:cs typeface="Aptos Display" pitchFamily="34" charset="-120"/>
              </a:rPr>
              <a:t>Inclusion &amp; Exclusion Criteria</a:t>
            </a:r>
            <a:endParaRPr lang="en-US" sz="2700" dirty="0"/>
          </a:p>
        </p:txBody>
      </p:sp>
      <p:sp>
        <p:nvSpPr>
          <p:cNvPr id="4" name="Shape 2"/>
          <p:cNvSpPr/>
          <p:nvPr/>
        </p:nvSpPr>
        <p:spPr>
          <a:xfrm>
            <a:off x="0" y="6510528"/>
            <a:ext cx="12191695" cy="347472"/>
          </a:xfrm>
          <a:prstGeom prst="rect">
            <a:avLst/>
          </a:prstGeom>
          <a:solidFill>
            <a:srgbClr val="303846"/>
          </a:solidFill>
          <a:ln w="12700">
            <a:solidFill>
              <a:srgbClr val="303846"/>
            </a:solidFill>
            <a:prstDash val="solid"/>
          </a:ln>
        </p:spPr>
      </p:sp>
      <p:sp>
        <p:nvSpPr>
          <p:cNvPr id="5" name="Text 3"/>
          <p:cNvSpPr/>
          <p:nvPr/>
        </p:nvSpPr>
        <p:spPr>
          <a:xfrm>
            <a:off x="320040" y="6592824"/>
            <a:ext cx="6583680" cy="137160"/>
          </a:xfrm>
          <a:prstGeom prst="rect">
            <a:avLst/>
          </a:prstGeom>
          <a:noFill/>
          <a:ln/>
        </p:spPr>
        <p:txBody>
          <a:bodyPr wrap="square" lIns="0" tIns="0" rIns="0" bIns="0" rtlCol="0" anchor="ctr"/>
          <a:lstStyle/>
          <a:p>
            <a:pPr marL="0" indent="0">
              <a:buNone/>
            </a:pPr>
            <a:r>
              <a:rPr lang="en-US" sz="750" i="1" dirty="0">
                <a:solidFill>
                  <a:srgbClr val="F2F4F7"/>
                </a:solidFill>
              </a:rPr>
              <a:t>Digital Twin-Enabled Intralogistics — Systematic Review | SEN601</a:t>
            </a:r>
            <a:endParaRPr lang="en-US" sz="750" dirty="0"/>
          </a:p>
        </p:txBody>
      </p:sp>
      <p:sp>
        <p:nvSpPr>
          <p:cNvPr id="6" name="Text 4"/>
          <p:cNvSpPr/>
          <p:nvPr/>
        </p:nvSpPr>
        <p:spPr>
          <a:xfrm>
            <a:off x="10195560" y="6592824"/>
            <a:ext cx="1280160" cy="137160"/>
          </a:xfrm>
          <a:prstGeom prst="rect">
            <a:avLst/>
          </a:prstGeom>
          <a:noFill/>
          <a:ln/>
        </p:spPr>
        <p:txBody>
          <a:bodyPr wrap="square" lIns="0" tIns="0" rIns="0" bIns="0" rtlCol="0" anchor="ctr"/>
          <a:lstStyle/>
          <a:p>
            <a:pPr marL="0" indent="0" algn="r">
              <a:buNone/>
            </a:pPr>
            <a:r>
              <a:rPr lang="en-US" sz="750" dirty="0">
                <a:solidFill>
                  <a:srgbClr val="F2F4F7"/>
                </a:solidFill>
              </a:rPr>
              <a:t>Study Selection</a:t>
            </a:r>
            <a:endParaRPr lang="en-US" sz="750" dirty="0"/>
          </a:p>
        </p:txBody>
      </p:sp>
      <p:sp>
        <p:nvSpPr>
          <p:cNvPr id="7" name="Text 5"/>
          <p:cNvSpPr/>
          <p:nvPr/>
        </p:nvSpPr>
        <p:spPr>
          <a:xfrm>
            <a:off x="11539728" y="6583680"/>
            <a:ext cx="329184" cy="146304"/>
          </a:xfrm>
          <a:prstGeom prst="rect">
            <a:avLst/>
          </a:prstGeom>
          <a:noFill/>
          <a:ln/>
        </p:spPr>
        <p:txBody>
          <a:bodyPr wrap="square" lIns="0" tIns="0" rIns="0" bIns="0" rtlCol="0" anchor="ctr"/>
          <a:lstStyle/>
          <a:p>
            <a:pPr marL="0" indent="0" algn="r">
              <a:buNone/>
            </a:pPr>
            <a:r>
              <a:rPr lang="en-US" sz="850" dirty="0">
                <a:solidFill>
                  <a:srgbClr val="F2F4F7"/>
                </a:solidFill>
              </a:rPr>
              <a:t>5</a:t>
            </a:r>
            <a:endParaRPr lang="en-US" sz="850" dirty="0"/>
          </a:p>
        </p:txBody>
      </p:sp>
      <p:sp>
        <p:nvSpPr>
          <p:cNvPr id="8" name="Shape 6"/>
          <p:cNvSpPr/>
          <p:nvPr/>
        </p:nvSpPr>
        <p:spPr>
          <a:xfrm>
            <a:off x="594360" y="960120"/>
            <a:ext cx="5440680" cy="5257800"/>
          </a:xfrm>
          <a:prstGeom prst="roundRect">
            <a:avLst>
              <a:gd name="adj" fmla="val 696"/>
            </a:avLst>
          </a:prstGeom>
          <a:solidFill>
            <a:srgbClr val="EBF7EF"/>
          </a:solidFill>
          <a:ln w="12700">
            <a:solidFill>
              <a:srgbClr val="E8ECF2"/>
            </a:solidFill>
            <a:prstDash val="solid"/>
          </a:ln>
        </p:spPr>
      </p:sp>
      <p:sp>
        <p:nvSpPr>
          <p:cNvPr id="9" name="Shape 7"/>
          <p:cNvSpPr/>
          <p:nvPr/>
        </p:nvSpPr>
        <p:spPr>
          <a:xfrm>
            <a:off x="594360" y="960120"/>
            <a:ext cx="5440680" cy="347472"/>
          </a:xfrm>
          <a:prstGeom prst="rect">
            <a:avLst/>
          </a:prstGeom>
          <a:solidFill>
            <a:srgbClr val="25A75A"/>
          </a:solidFill>
          <a:ln w="12700">
            <a:solidFill>
              <a:srgbClr val="25A75A"/>
            </a:solidFill>
            <a:prstDash val="solid"/>
          </a:ln>
        </p:spPr>
      </p:sp>
      <p:sp>
        <p:nvSpPr>
          <p:cNvPr id="10" name="Text 8"/>
          <p:cNvSpPr/>
          <p:nvPr/>
        </p:nvSpPr>
        <p:spPr>
          <a:xfrm>
            <a:off x="594360" y="978408"/>
            <a:ext cx="5440680" cy="347472"/>
          </a:xfrm>
          <a:prstGeom prst="rect">
            <a:avLst/>
          </a:prstGeom>
          <a:noFill/>
          <a:ln/>
        </p:spPr>
        <p:txBody>
          <a:bodyPr wrap="square" lIns="254" tIns="254" rIns="254" bIns="254" rtlCol="0" anchor="ctr"/>
          <a:lstStyle/>
          <a:p>
            <a:pPr marL="0" indent="0" algn="ctr">
              <a:buNone/>
            </a:pPr>
            <a:r>
              <a:rPr lang="en-US" sz="1200" b="1" dirty="0">
                <a:solidFill>
                  <a:srgbClr val="FFFFFF"/>
                </a:solidFill>
              </a:rPr>
              <a:t>✓ Inclusion Criteria</a:t>
            </a:r>
            <a:endParaRPr lang="en-US" sz="1200" dirty="0"/>
          </a:p>
        </p:txBody>
      </p:sp>
      <p:sp>
        <p:nvSpPr>
          <p:cNvPr id="11" name="Shape 9"/>
          <p:cNvSpPr/>
          <p:nvPr/>
        </p:nvSpPr>
        <p:spPr>
          <a:xfrm>
            <a:off x="822960" y="1536192"/>
            <a:ext cx="530352" cy="292608"/>
          </a:xfrm>
          <a:prstGeom prst="rect">
            <a:avLst/>
          </a:prstGeom>
          <a:solidFill>
            <a:srgbClr val="25A75A"/>
          </a:solidFill>
          <a:ln w="12700">
            <a:solidFill>
              <a:srgbClr val="25A75A"/>
            </a:solidFill>
            <a:prstDash val="solid"/>
          </a:ln>
        </p:spPr>
      </p:sp>
      <p:sp>
        <p:nvSpPr>
          <p:cNvPr id="12" name="Text 10"/>
          <p:cNvSpPr/>
          <p:nvPr/>
        </p:nvSpPr>
        <p:spPr>
          <a:xfrm>
            <a:off x="822960" y="1554480"/>
            <a:ext cx="530352" cy="292608"/>
          </a:xfrm>
          <a:prstGeom prst="rect">
            <a:avLst/>
          </a:prstGeom>
          <a:noFill/>
          <a:ln/>
        </p:spPr>
        <p:txBody>
          <a:bodyPr wrap="square" lIns="254" tIns="254" rIns="254" bIns="254" rtlCol="0" anchor="ctr"/>
          <a:lstStyle/>
          <a:p>
            <a:pPr marL="0" indent="0" algn="ctr">
              <a:buNone/>
            </a:pPr>
            <a:r>
              <a:rPr lang="en-US" sz="900" b="1" dirty="0">
                <a:solidFill>
                  <a:srgbClr val="FFFFFF"/>
                </a:solidFill>
              </a:rPr>
              <a:t>IC1</a:t>
            </a:r>
            <a:endParaRPr lang="en-US" sz="900" dirty="0"/>
          </a:p>
        </p:txBody>
      </p:sp>
      <p:sp>
        <p:nvSpPr>
          <p:cNvPr id="13" name="Text 11"/>
          <p:cNvSpPr/>
          <p:nvPr/>
        </p:nvSpPr>
        <p:spPr>
          <a:xfrm>
            <a:off x="1481328" y="1536192"/>
            <a:ext cx="4069080" cy="320040"/>
          </a:xfrm>
          <a:prstGeom prst="rect">
            <a:avLst/>
          </a:prstGeom>
          <a:noFill/>
          <a:ln/>
        </p:spPr>
        <p:txBody>
          <a:bodyPr wrap="square" lIns="0" tIns="0" rIns="0" bIns="0" rtlCol="0" anchor="ctr">
            <a:normAutofit/>
          </a:bodyPr>
          <a:lstStyle/>
          <a:p>
            <a:pPr marL="0" indent="0">
              <a:buNone/>
            </a:pPr>
            <a:r>
              <a:rPr lang="en-US" sz="1070" dirty="0">
                <a:solidFill>
                  <a:srgbClr val="303846"/>
                </a:solidFill>
              </a:rPr>
              <a:t>Peer-reviewed English-language studies</a:t>
            </a:r>
            <a:endParaRPr lang="en-US" sz="1070" dirty="0"/>
          </a:p>
        </p:txBody>
      </p:sp>
      <p:sp>
        <p:nvSpPr>
          <p:cNvPr id="14" name="Shape 12"/>
          <p:cNvSpPr/>
          <p:nvPr/>
        </p:nvSpPr>
        <p:spPr>
          <a:xfrm>
            <a:off x="822960" y="2286000"/>
            <a:ext cx="530352" cy="292608"/>
          </a:xfrm>
          <a:prstGeom prst="rect">
            <a:avLst/>
          </a:prstGeom>
          <a:solidFill>
            <a:srgbClr val="25A75A"/>
          </a:solidFill>
          <a:ln w="12700">
            <a:solidFill>
              <a:srgbClr val="25A75A"/>
            </a:solidFill>
            <a:prstDash val="solid"/>
          </a:ln>
        </p:spPr>
      </p:sp>
      <p:sp>
        <p:nvSpPr>
          <p:cNvPr id="15" name="Text 13"/>
          <p:cNvSpPr/>
          <p:nvPr/>
        </p:nvSpPr>
        <p:spPr>
          <a:xfrm>
            <a:off x="822960" y="2304288"/>
            <a:ext cx="530352" cy="292608"/>
          </a:xfrm>
          <a:prstGeom prst="rect">
            <a:avLst/>
          </a:prstGeom>
          <a:noFill/>
          <a:ln/>
        </p:spPr>
        <p:txBody>
          <a:bodyPr wrap="square" lIns="254" tIns="254" rIns="254" bIns="254" rtlCol="0" anchor="ctr"/>
          <a:lstStyle/>
          <a:p>
            <a:pPr marL="0" indent="0" algn="ctr">
              <a:buNone/>
            </a:pPr>
            <a:r>
              <a:rPr lang="en-US" sz="900" b="1" dirty="0">
                <a:solidFill>
                  <a:srgbClr val="FFFFFF"/>
                </a:solidFill>
              </a:rPr>
              <a:t>IC2</a:t>
            </a:r>
            <a:endParaRPr lang="en-US" sz="900" dirty="0"/>
          </a:p>
        </p:txBody>
      </p:sp>
      <p:sp>
        <p:nvSpPr>
          <p:cNvPr id="16" name="Text 14"/>
          <p:cNvSpPr/>
          <p:nvPr/>
        </p:nvSpPr>
        <p:spPr>
          <a:xfrm>
            <a:off x="1481328" y="2286000"/>
            <a:ext cx="4069080" cy="320040"/>
          </a:xfrm>
          <a:prstGeom prst="rect">
            <a:avLst/>
          </a:prstGeom>
          <a:noFill/>
          <a:ln/>
        </p:spPr>
        <p:txBody>
          <a:bodyPr wrap="square" lIns="0" tIns="0" rIns="0" bIns="0" rtlCol="0" anchor="ctr">
            <a:normAutofit/>
          </a:bodyPr>
          <a:lstStyle/>
          <a:p>
            <a:pPr marL="0" indent="0">
              <a:buNone/>
            </a:pPr>
            <a:r>
              <a:rPr lang="en-US" sz="1070" dirty="0">
                <a:solidFill>
                  <a:srgbClr val="303846"/>
                </a:solidFill>
              </a:rPr>
              <a:t>Direct relevance to warehouse logistics, intralogistics, material handling, order picking, AGV/AMR coordination, production logistics, or warehouse control</a:t>
            </a:r>
            <a:endParaRPr lang="en-US" sz="1070" dirty="0"/>
          </a:p>
        </p:txBody>
      </p:sp>
      <p:sp>
        <p:nvSpPr>
          <p:cNvPr id="17" name="Shape 15"/>
          <p:cNvSpPr/>
          <p:nvPr/>
        </p:nvSpPr>
        <p:spPr>
          <a:xfrm>
            <a:off x="822960" y="3035808"/>
            <a:ext cx="530352" cy="292608"/>
          </a:xfrm>
          <a:prstGeom prst="rect">
            <a:avLst/>
          </a:prstGeom>
          <a:solidFill>
            <a:srgbClr val="25A75A"/>
          </a:solidFill>
          <a:ln w="12700">
            <a:solidFill>
              <a:srgbClr val="25A75A"/>
            </a:solidFill>
            <a:prstDash val="solid"/>
          </a:ln>
        </p:spPr>
      </p:sp>
      <p:sp>
        <p:nvSpPr>
          <p:cNvPr id="18" name="Text 16"/>
          <p:cNvSpPr/>
          <p:nvPr/>
        </p:nvSpPr>
        <p:spPr>
          <a:xfrm>
            <a:off x="822960" y="3054096"/>
            <a:ext cx="530352" cy="292608"/>
          </a:xfrm>
          <a:prstGeom prst="rect">
            <a:avLst/>
          </a:prstGeom>
          <a:noFill/>
          <a:ln/>
        </p:spPr>
        <p:txBody>
          <a:bodyPr wrap="square" lIns="254" tIns="254" rIns="254" bIns="254" rtlCol="0" anchor="ctr"/>
          <a:lstStyle/>
          <a:p>
            <a:pPr marL="0" indent="0" algn="ctr">
              <a:buNone/>
            </a:pPr>
            <a:r>
              <a:rPr lang="en-US" sz="900" b="1" dirty="0">
                <a:solidFill>
                  <a:srgbClr val="FFFFFF"/>
                </a:solidFill>
              </a:rPr>
              <a:t>IC3</a:t>
            </a:r>
            <a:endParaRPr lang="en-US" sz="900" dirty="0"/>
          </a:p>
        </p:txBody>
      </p:sp>
      <p:sp>
        <p:nvSpPr>
          <p:cNvPr id="19" name="Text 17"/>
          <p:cNvSpPr/>
          <p:nvPr/>
        </p:nvSpPr>
        <p:spPr>
          <a:xfrm>
            <a:off x="1481328" y="3035808"/>
            <a:ext cx="4069080" cy="320040"/>
          </a:xfrm>
          <a:prstGeom prst="rect">
            <a:avLst/>
          </a:prstGeom>
          <a:noFill/>
          <a:ln/>
        </p:spPr>
        <p:txBody>
          <a:bodyPr wrap="square" lIns="0" tIns="0" rIns="0" bIns="0" rtlCol="0" anchor="ctr">
            <a:normAutofit/>
          </a:bodyPr>
          <a:lstStyle/>
          <a:p>
            <a:pPr marL="0" indent="0">
              <a:buNone/>
            </a:pPr>
            <a:r>
              <a:rPr lang="en-US" sz="1070" dirty="0">
                <a:solidFill>
                  <a:srgbClr val="303846"/>
                </a:solidFill>
              </a:rPr>
              <a:t>Explicit DT / digital shadow / CPS concept</a:t>
            </a:r>
            <a:endParaRPr lang="en-US" sz="1070" dirty="0"/>
          </a:p>
        </p:txBody>
      </p:sp>
      <p:sp>
        <p:nvSpPr>
          <p:cNvPr id="20" name="Shape 18"/>
          <p:cNvSpPr/>
          <p:nvPr/>
        </p:nvSpPr>
        <p:spPr>
          <a:xfrm>
            <a:off x="822960" y="3785616"/>
            <a:ext cx="530352" cy="292608"/>
          </a:xfrm>
          <a:prstGeom prst="rect">
            <a:avLst/>
          </a:prstGeom>
          <a:solidFill>
            <a:srgbClr val="25A75A"/>
          </a:solidFill>
          <a:ln w="12700">
            <a:solidFill>
              <a:srgbClr val="25A75A"/>
            </a:solidFill>
            <a:prstDash val="solid"/>
          </a:ln>
        </p:spPr>
      </p:sp>
      <p:sp>
        <p:nvSpPr>
          <p:cNvPr id="21" name="Text 19"/>
          <p:cNvSpPr/>
          <p:nvPr/>
        </p:nvSpPr>
        <p:spPr>
          <a:xfrm>
            <a:off x="822960" y="3803904"/>
            <a:ext cx="530352" cy="292608"/>
          </a:xfrm>
          <a:prstGeom prst="rect">
            <a:avLst/>
          </a:prstGeom>
          <a:noFill/>
          <a:ln/>
        </p:spPr>
        <p:txBody>
          <a:bodyPr wrap="square" lIns="254" tIns="254" rIns="254" bIns="254" rtlCol="0" anchor="ctr"/>
          <a:lstStyle/>
          <a:p>
            <a:pPr marL="0" indent="0" algn="ctr">
              <a:buNone/>
            </a:pPr>
            <a:r>
              <a:rPr lang="en-US" sz="900" b="1" dirty="0">
                <a:solidFill>
                  <a:srgbClr val="FFFFFF"/>
                </a:solidFill>
              </a:rPr>
              <a:t>IC4</a:t>
            </a:r>
            <a:endParaRPr lang="en-US" sz="900" dirty="0"/>
          </a:p>
        </p:txBody>
      </p:sp>
      <p:sp>
        <p:nvSpPr>
          <p:cNvPr id="22" name="Text 20"/>
          <p:cNvSpPr/>
          <p:nvPr/>
        </p:nvSpPr>
        <p:spPr>
          <a:xfrm>
            <a:off x="1481328" y="3785616"/>
            <a:ext cx="4069080" cy="320040"/>
          </a:xfrm>
          <a:prstGeom prst="rect">
            <a:avLst/>
          </a:prstGeom>
          <a:noFill/>
          <a:ln/>
        </p:spPr>
        <p:txBody>
          <a:bodyPr wrap="square" lIns="0" tIns="0" rIns="0" bIns="0" rtlCol="0" anchor="ctr">
            <a:normAutofit/>
          </a:bodyPr>
          <a:lstStyle/>
          <a:p>
            <a:pPr marL="0" indent="0">
              <a:buNone/>
            </a:pPr>
            <a:r>
              <a:rPr lang="en-US" sz="1070" dirty="0">
                <a:solidFill>
                  <a:srgbClr val="303846"/>
                </a:solidFill>
              </a:rPr>
              <a:t>Presents a model, architecture, simulation, prototype, case study, or implementation</a:t>
            </a:r>
            <a:endParaRPr lang="en-US" sz="1070" dirty="0"/>
          </a:p>
        </p:txBody>
      </p:sp>
      <p:sp>
        <p:nvSpPr>
          <p:cNvPr id="23" name="Shape 21"/>
          <p:cNvSpPr/>
          <p:nvPr/>
        </p:nvSpPr>
        <p:spPr>
          <a:xfrm>
            <a:off x="822960" y="4535424"/>
            <a:ext cx="530352" cy="292608"/>
          </a:xfrm>
          <a:prstGeom prst="rect">
            <a:avLst/>
          </a:prstGeom>
          <a:solidFill>
            <a:srgbClr val="25A75A"/>
          </a:solidFill>
          <a:ln w="12700">
            <a:solidFill>
              <a:srgbClr val="25A75A"/>
            </a:solidFill>
            <a:prstDash val="solid"/>
          </a:ln>
        </p:spPr>
      </p:sp>
      <p:sp>
        <p:nvSpPr>
          <p:cNvPr id="24" name="Text 22"/>
          <p:cNvSpPr/>
          <p:nvPr/>
        </p:nvSpPr>
        <p:spPr>
          <a:xfrm>
            <a:off x="822960" y="4553712"/>
            <a:ext cx="530352" cy="292608"/>
          </a:xfrm>
          <a:prstGeom prst="rect">
            <a:avLst/>
          </a:prstGeom>
          <a:noFill/>
          <a:ln/>
        </p:spPr>
        <p:txBody>
          <a:bodyPr wrap="square" lIns="254" tIns="254" rIns="254" bIns="254" rtlCol="0" anchor="ctr"/>
          <a:lstStyle/>
          <a:p>
            <a:pPr marL="0" indent="0" algn="ctr">
              <a:buNone/>
            </a:pPr>
            <a:r>
              <a:rPr lang="en-US" sz="900" b="1" dirty="0">
                <a:solidFill>
                  <a:srgbClr val="FFFFFF"/>
                </a:solidFill>
              </a:rPr>
              <a:t>IC5</a:t>
            </a:r>
            <a:endParaRPr lang="en-US" sz="900" dirty="0"/>
          </a:p>
        </p:txBody>
      </p:sp>
      <p:sp>
        <p:nvSpPr>
          <p:cNvPr id="25" name="Text 23"/>
          <p:cNvSpPr/>
          <p:nvPr/>
        </p:nvSpPr>
        <p:spPr>
          <a:xfrm>
            <a:off x="1481328" y="4535424"/>
            <a:ext cx="4069080" cy="320040"/>
          </a:xfrm>
          <a:prstGeom prst="rect">
            <a:avLst/>
          </a:prstGeom>
          <a:noFill/>
          <a:ln/>
        </p:spPr>
        <p:txBody>
          <a:bodyPr wrap="square" lIns="0" tIns="0" rIns="0" bIns="0" rtlCol="0" anchor="ctr">
            <a:normAutofit/>
          </a:bodyPr>
          <a:lstStyle/>
          <a:p>
            <a:pPr marL="0" indent="0">
              <a:buNone/>
            </a:pPr>
            <a:r>
              <a:rPr lang="en-US" sz="1070" dirty="0">
                <a:solidFill>
                  <a:srgbClr val="303846"/>
                </a:solidFill>
              </a:rPr>
              <a:t>Reports performance, control, decision-support, or operational improvement purpose</a:t>
            </a:r>
            <a:endParaRPr lang="en-US" sz="1070" dirty="0"/>
          </a:p>
        </p:txBody>
      </p:sp>
      <p:sp>
        <p:nvSpPr>
          <p:cNvPr id="26" name="Shape 24"/>
          <p:cNvSpPr/>
          <p:nvPr/>
        </p:nvSpPr>
        <p:spPr>
          <a:xfrm>
            <a:off x="6355080" y="960120"/>
            <a:ext cx="5257800" cy="5257800"/>
          </a:xfrm>
          <a:prstGeom prst="roundRect">
            <a:avLst>
              <a:gd name="adj" fmla="val 696"/>
            </a:avLst>
          </a:prstGeom>
          <a:solidFill>
            <a:srgbClr val="FDEEEE"/>
          </a:solidFill>
          <a:ln w="12700">
            <a:solidFill>
              <a:srgbClr val="E8ECF2"/>
            </a:solidFill>
            <a:prstDash val="solid"/>
          </a:ln>
        </p:spPr>
      </p:sp>
      <p:sp>
        <p:nvSpPr>
          <p:cNvPr id="27" name="Shape 25"/>
          <p:cNvSpPr/>
          <p:nvPr/>
        </p:nvSpPr>
        <p:spPr>
          <a:xfrm>
            <a:off x="6355080" y="960120"/>
            <a:ext cx="5257800" cy="347472"/>
          </a:xfrm>
          <a:prstGeom prst="rect">
            <a:avLst/>
          </a:prstGeom>
          <a:solidFill>
            <a:srgbClr val="D64545"/>
          </a:solidFill>
          <a:ln w="12700">
            <a:solidFill>
              <a:srgbClr val="D64545"/>
            </a:solidFill>
            <a:prstDash val="solid"/>
          </a:ln>
        </p:spPr>
      </p:sp>
      <p:sp>
        <p:nvSpPr>
          <p:cNvPr id="28" name="Text 26"/>
          <p:cNvSpPr/>
          <p:nvPr/>
        </p:nvSpPr>
        <p:spPr>
          <a:xfrm>
            <a:off x="6355080" y="978408"/>
            <a:ext cx="5257800" cy="347472"/>
          </a:xfrm>
          <a:prstGeom prst="rect">
            <a:avLst/>
          </a:prstGeom>
          <a:noFill/>
          <a:ln/>
        </p:spPr>
        <p:txBody>
          <a:bodyPr wrap="square" lIns="254" tIns="254" rIns="254" bIns="254" rtlCol="0" anchor="ctr"/>
          <a:lstStyle/>
          <a:p>
            <a:pPr marL="0" indent="0" algn="ctr">
              <a:buNone/>
            </a:pPr>
            <a:r>
              <a:rPr lang="en-US" sz="1200" b="1" dirty="0">
                <a:solidFill>
                  <a:srgbClr val="FFFFFF"/>
                </a:solidFill>
              </a:rPr>
              <a:t>✕ Exclusion Criteria</a:t>
            </a:r>
            <a:endParaRPr lang="en-US" sz="1200" dirty="0"/>
          </a:p>
        </p:txBody>
      </p:sp>
      <p:sp>
        <p:nvSpPr>
          <p:cNvPr id="29" name="Shape 27"/>
          <p:cNvSpPr/>
          <p:nvPr/>
        </p:nvSpPr>
        <p:spPr>
          <a:xfrm>
            <a:off x="6583680" y="1536192"/>
            <a:ext cx="530352" cy="292608"/>
          </a:xfrm>
          <a:prstGeom prst="rect">
            <a:avLst/>
          </a:prstGeom>
          <a:solidFill>
            <a:srgbClr val="D64545"/>
          </a:solidFill>
          <a:ln w="12700">
            <a:solidFill>
              <a:srgbClr val="D64545"/>
            </a:solidFill>
            <a:prstDash val="solid"/>
          </a:ln>
        </p:spPr>
      </p:sp>
      <p:sp>
        <p:nvSpPr>
          <p:cNvPr id="30" name="Text 28"/>
          <p:cNvSpPr/>
          <p:nvPr/>
        </p:nvSpPr>
        <p:spPr>
          <a:xfrm>
            <a:off x="6583680" y="1554480"/>
            <a:ext cx="530352" cy="292608"/>
          </a:xfrm>
          <a:prstGeom prst="rect">
            <a:avLst/>
          </a:prstGeom>
          <a:noFill/>
          <a:ln/>
        </p:spPr>
        <p:txBody>
          <a:bodyPr wrap="square" lIns="254" tIns="254" rIns="254" bIns="254" rtlCol="0" anchor="ctr"/>
          <a:lstStyle/>
          <a:p>
            <a:pPr marL="0" indent="0" algn="ctr">
              <a:buNone/>
            </a:pPr>
            <a:r>
              <a:rPr lang="en-US" sz="900" b="1" dirty="0">
                <a:solidFill>
                  <a:srgbClr val="FFFFFF"/>
                </a:solidFill>
              </a:rPr>
              <a:t>EC1</a:t>
            </a:r>
            <a:endParaRPr lang="en-US" sz="900" dirty="0"/>
          </a:p>
        </p:txBody>
      </p:sp>
      <p:sp>
        <p:nvSpPr>
          <p:cNvPr id="31" name="Text 29"/>
          <p:cNvSpPr/>
          <p:nvPr/>
        </p:nvSpPr>
        <p:spPr>
          <a:xfrm>
            <a:off x="7242048" y="1536192"/>
            <a:ext cx="3886200" cy="320040"/>
          </a:xfrm>
          <a:prstGeom prst="rect">
            <a:avLst/>
          </a:prstGeom>
          <a:noFill/>
          <a:ln/>
        </p:spPr>
        <p:txBody>
          <a:bodyPr wrap="square" lIns="0" tIns="0" rIns="0" bIns="0" rtlCol="0" anchor="ctr">
            <a:normAutofit/>
          </a:bodyPr>
          <a:lstStyle/>
          <a:p>
            <a:pPr marL="0" indent="0">
              <a:buNone/>
            </a:pPr>
            <a:r>
              <a:rPr lang="en-US" sz="1070" dirty="0">
                <a:solidFill>
                  <a:srgbClr val="303846"/>
                </a:solidFill>
              </a:rPr>
              <a:t>Generic Industry 4.0 DT papers with no intralogistics relevance</a:t>
            </a:r>
            <a:endParaRPr lang="en-US" sz="1070" dirty="0"/>
          </a:p>
        </p:txBody>
      </p:sp>
      <p:sp>
        <p:nvSpPr>
          <p:cNvPr id="32" name="Shape 30"/>
          <p:cNvSpPr/>
          <p:nvPr/>
        </p:nvSpPr>
        <p:spPr>
          <a:xfrm>
            <a:off x="6583680" y="2286000"/>
            <a:ext cx="530352" cy="292608"/>
          </a:xfrm>
          <a:prstGeom prst="rect">
            <a:avLst/>
          </a:prstGeom>
          <a:solidFill>
            <a:srgbClr val="D64545"/>
          </a:solidFill>
          <a:ln w="12700">
            <a:solidFill>
              <a:srgbClr val="D64545"/>
            </a:solidFill>
            <a:prstDash val="solid"/>
          </a:ln>
        </p:spPr>
      </p:sp>
      <p:sp>
        <p:nvSpPr>
          <p:cNvPr id="33" name="Text 31"/>
          <p:cNvSpPr/>
          <p:nvPr/>
        </p:nvSpPr>
        <p:spPr>
          <a:xfrm>
            <a:off x="6583680" y="2304288"/>
            <a:ext cx="530352" cy="292608"/>
          </a:xfrm>
          <a:prstGeom prst="rect">
            <a:avLst/>
          </a:prstGeom>
          <a:noFill/>
          <a:ln/>
        </p:spPr>
        <p:txBody>
          <a:bodyPr wrap="square" lIns="254" tIns="254" rIns="254" bIns="254" rtlCol="0" anchor="ctr"/>
          <a:lstStyle/>
          <a:p>
            <a:pPr marL="0" indent="0" algn="ctr">
              <a:buNone/>
            </a:pPr>
            <a:r>
              <a:rPr lang="en-US" sz="900" b="1" dirty="0">
                <a:solidFill>
                  <a:srgbClr val="FFFFFF"/>
                </a:solidFill>
              </a:rPr>
              <a:t>EC2</a:t>
            </a:r>
            <a:endParaRPr lang="en-US" sz="900" dirty="0"/>
          </a:p>
        </p:txBody>
      </p:sp>
      <p:sp>
        <p:nvSpPr>
          <p:cNvPr id="34" name="Text 32"/>
          <p:cNvSpPr/>
          <p:nvPr/>
        </p:nvSpPr>
        <p:spPr>
          <a:xfrm>
            <a:off x="7242048" y="2286000"/>
            <a:ext cx="3886200" cy="320040"/>
          </a:xfrm>
          <a:prstGeom prst="rect">
            <a:avLst/>
          </a:prstGeom>
          <a:noFill/>
          <a:ln/>
        </p:spPr>
        <p:txBody>
          <a:bodyPr wrap="square" lIns="0" tIns="0" rIns="0" bIns="0" rtlCol="0" anchor="ctr">
            <a:normAutofit/>
          </a:bodyPr>
          <a:lstStyle/>
          <a:p>
            <a:pPr marL="0" indent="0">
              <a:buNone/>
            </a:pPr>
            <a:r>
              <a:rPr lang="en-US" sz="1070" dirty="0">
                <a:solidFill>
                  <a:srgbClr val="303846"/>
                </a:solidFill>
              </a:rPr>
              <a:t>Macro-level supply chain strategy only</a:t>
            </a:r>
            <a:endParaRPr lang="en-US" sz="1070" dirty="0"/>
          </a:p>
        </p:txBody>
      </p:sp>
      <p:sp>
        <p:nvSpPr>
          <p:cNvPr id="35" name="Shape 33"/>
          <p:cNvSpPr/>
          <p:nvPr/>
        </p:nvSpPr>
        <p:spPr>
          <a:xfrm>
            <a:off x="6583680" y="3035808"/>
            <a:ext cx="530352" cy="292608"/>
          </a:xfrm>
          <a:prstGeom prst="rect">
            <a:avLst/>
          </a:prstGeom>
          <a:solidFill>
            <a:srgbClr val="D64545"/>
          </a:solidFill>
          <a:ln w="12700">
            <a:solidFill>
              <a:srgbClr val="D64545"/>
            </a:solidFill>
            <a:prstDash val="solid"/>
          </a:ln>
        </p:spPr>
      </p:sp>
      <p:sp>
        <p:nvSpPr>
          <p:cNvPr id="36" name="Text 34"/>
          <p:cNvSpPr/>
          <p:nvPr/>
        </p:nvSpPr>
        <p:spPr>
          <a:xfrm>
            <a:off x="6583680" y="3054096"/>
            <a:ext cx="530352" cy="292608"/>
          </a:xfrm>
          <a:prstGeom prst="rect">
            <a:avLst/>
          </a:prstGeom>
          <a:noFill/>
          <a:ln/>
        </p:spPr>
        <p:txBody>
          <a:bodyPr wrap="square" lIns="254" tIns="254" rIns="254" bIns="254" rtlCol="0" anchor="ctr"/>
          <a:lstStyle/>
          <a:p>
            <a:pPr marL="0" indent="0" algn="ctr">
              <a:buNone/>
            </a:pPr>
            <a:r>
              <a:rPr lang="en-US" sz="900" b="1" dirty="0">
                <a:solidFill>
                  <a:srgbClr val="FFFFFF"/>
                </a:solidFill>
              </a:rPr>
              <a:t>EC3</a:t>
            </a:r>
            <a:endParaRPr lang="en-US" sz="900" dirty="0"/>
          </a:p>
        </p:txBody>
      </p:sp>
      <p:sp>
        <p:nvSpPr>
          <p:cNvPr id="37" name="Text 35"/>
          <p:cNvSpPr/>
          <p:nvPr/>
        </p:nvSpPr>
        <p:spPr>
          <a:xfrm>
            <a:off x="7242048" y="3035808"/>
            <a:ext cx="3886200" cy="320040"/>
          </a:xfrm>
          <a:prstGeom prst="rect">
            <a:avLst/>
          </a:prstGeom>
          <a:noFill/>
          <a:ln/>
        </p:spPr>
        <p:txBody>
          <a:bodyPr wrap="square" lIns="0" tIns="0" rIns="0" bIns="0" rtlCol="0" anchor="ctr">
            <a:normAutofit/>
          </a:bodyPr>
          <a:lstStyle/>
          <a:p>
            <a:pPr marL="0" indent="0">
              <a:buNone/>
            </a:pPr>
            <a:r>
              <a:rPr lang="en-US" sz="1070" dirty="0">
                <a:solidFill>
                  <a:srgbClr val="303846"/>
                </a:solidFill>
              </a:rPr>
              <a:t>Non-peer-reviewed webpages, editorials, or commercial material</a:t>
            </a:r>
            <a:endParaRPr lang="en-US" sz="1070" dirty="0"/>
          </a:p>
        </p:txBody>
      </p:sp>
      <p:sp>
        <p:nvSpPr>
          <p:cNvPr id="38" name="Shape 36"/>
          <p:cNvSpPr/>
          <p:nvPr/>
        </p:nvSpPr>
        <p:spPr>
          <a:xfrm>
            <a:off x="6583680" y="3785616"/>
            <a:ext cx="530352" cy="292608"/>
          </a:xfrm>
          <a:prstGeom prst="rect">
            <a:avLst/>
          </a:prstGeom>
          <a:solidFill>
            <a:srgbClr val="D64545"/>
          </a:solidFill>
          <a:ln w="12700">
            <a:solidFill>
              <a:srgbClr val="D64545"/>
            </a:solidFill>
            <a:prstDash val="solid"/>
          </a:ln>
        </p:spPr>
      </p:sp>
      <p:sp>
        <p:nvSpPr>
          <p:cNvPr id="39" name="Text 37"/>
          <p:cNvSpPr/>
          <p:nvPr/>
        </p:nvSpPr>
        <p:spPr>
          <a:xfrm>
            <a:off x="6583680" y="3803904"/>
            <a:ext cx="530352" cy="292608"/>
          </a:xfrm>
          <a:prstGeom prst="rect">
            <a:avLst/>
          </a:prstGeom>
          <a:noFill/>
          <a:ln/>
        </p:spPr>
        <p:txBody>
          <a:bodyPr wrap="square" lIns="254" tIns="254" rIns="254" bIns="254" rtlCol="0" anchor="ctr"/>
          <a:lstStyle/>
          <a:p>
            <a:pPr marL="0" indent="0" algn="ctr">
              <a:buNone/>
            </a:pPr>
            <a:r>
              <a:rPr lang="en-US" sz="900" b="1" dirty="0">
                <a:solidFill>
                  <a:srgbClr val="FFFFFF"/>
                </a:solidFill>
              </a:rPr>
              <a:t>EC4</a:t>
            </a:r>
            <a:endParaRPr lang="en-US" sz="900" dirty="0"/>
          </a:p>
        </p:txBody>
      </p:sp>
      <p:sp>
        <p:nvSpPr>
          <p:cNvPr id="40" name="Text 38"/>
          <p:cNvSpPr/>
          <p:nvPr/>
        </p:nvSpPr>
        <p:spPr>
          <a:xfrm>
            <a:off x="7242048" y="3785616"/>
            <a:ext cx="3886200" cy="320040"/>
          </a:xfrm>
          <a:prstGeom prst="rect">
            <a:avLst/>
          </a:prstGeom>
          <a:noFill/>
          <a:ln/>
        </p:spPr>
        <p:txBody>
          <a:bodyPr wrap="square" lIns="0" tIns="0" rIns="0" bIns="0" rtlCol="0" anchor="ctr">
            <a:normAutofit/>
          </a:bodyPr>
          <a:lstStyle/>
          <a:p>
            <a:pPr marL="0" indent="0">
              <a:buNone/>
            </a:pPr>
            <a:r>
              <a:rPr lang="en-US" sz="1070" dirty="0">
                <a:solidFill>
                  <a:srgbClr val="303846"/>
                </a:solidFill>
              </a:rPr>
              <a:t>DT mentioned superficially with no model, architecture, data link, or control purpose</a:t>
            </a:r>
            <a:endParaRPr lang="en-US" sz="1070" dirty="0"/>
          </a:p>
        </p:txBody>
      </p:sp>
      <p:sp>
        <p:nvSpPr>
          <p:cNvPr id="41" name="Shape 39"/>
          <p:cNvSpPr/>
          <p:nvPr/>
        </p:nvSpPr>
        <p:spPr>
          <a:xfrm>
            <a:off x="6583680" y="4535424"/>
            <a:ext cx="530352" cy="292608"/>
          </a:xfrm>
          <a:prstGeom prst="rect">
            <a:avLst/>
          </a:prstGeom>
          <a:solidFill>
            <a:srgbClr val="D64545"/>
          </a:solidFill>
          <a:ln w="12700">
            <a:solidFill>
              <a:srgbClr val="D64545"/>
            </a:solidFill>
            <a:prstDash val="solid"/>
          </a:ln>
        </p:spPr>
      </p:sp>
      <p:sp>
        <p:nvSpPr>
          <p:cNvPr id="42" name="Text 40"/>
          <p:cNvSpPr/>
          <p:nvPr/>
        </p:nvSpPr>
        <p:spPr>
          <a:xfrm>
            <a:off x="6583680" y="4553712"/>
            <a:ext cx="530352" cy="292608"/>
          </a:xfrm>
          <a:prstGeom prst="rect">
            <a:avLst/>
          </a:prstGeom>
          <a:noFill/>
          <a:ln/>
        </p:spPr>
        <p:txBody>
          <a:bodyPr wrap="square" lIns="254" tIns="254" rIns="254" bIns="254" rtlCol="0" anchor="ctr"/>
          <a:lstStyle/>
          <a:p>
            <a:pPr marL="0" indent="0" algn="ctr">
              <a:buNone/>
            </a:pPr>
            <a:r>
              <a:rPr lang="en-US" sz="900" b="1" dirty="0">
                <a:solidFill>
                  <a:srgbClr val="FFFFFF"/>
                </a:solidFill>
              </a:rPr>
              <a:t>EC5</a:t>
            </a:r>
            <a:endParaRPr lang="en-US" sz="900" dirty="0"/>
          </a:p>
        </p:txBody>
      </p:sp>
      <p:sp>
        <p:nvSpPr>
          <p:cNvPr id="43" name="Text 41"/>
          <p:cNvSpPr/>
          <p:nvPr/>
        </p:nvSpPr>
        <p:spPr>
          <a:xfrm>
            <a:off x="7242048" y="4535424"/>
            <a:ext cx="3886200" cy="320040"/>
          </a:xfrm>
          <a:prstGeom prst="rect">
            <a:avLst/>
          </a:prstGeom>
          <a:noFill/>
          <a:ln/>
        </p:spPr>
        <p:txBody>
          <a:bodyPr wrap="square" lIns="0" tIns="0" rIns="0" bIns="0" rtlCol="0" anchor="ctr">
            <a:normAutofit/>
          </a:bodyPr>
          <a:lstStyle/>
          <a:p>
            <a:pPr marL="0" indent="0">
              <a:buNone/>
            </a:pPr>
            <a:r>
              <a:rPr lang="en-US" sz="1070" dirty="0">
                <a:solidFill>
                  <a:srgbClr val="303846"/>
                </a:solidFill>
              </a:rPr>
              <a:t>Insufficient relevance after abstract screening</a:t>
            </a:r>
            <a:endParaRPr lang="en-US" sz="107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7F9"/>
        </a:solidFill>
        <a:effectLst/>
      </p:bgPr>
    </p:bg>
    <p:spTree>
      <p:nvGrpSpPr>
        <p:cNvPr id="1" name=""/>
        <p:cNvGrpSpPr/>
        <p:nvPr/>
      </p:nvGrpSpPr>
      <p:grpSpPr>
        <a:xfrm>
          <a:off x="0" y="0"/>
          <a:ext cx="0" cy="0"/>
          <a:chOff x="0" y="0"/>
          <a:chExt cx="0" cy="0"/>
        </a:xfrm>
      </p:grpSpPr>
      <p:sp>
        <p:nvSpPr>
          <p:cNvPr id="2" name="Shape 0"/>
          <p:cNvSpPr/>
          <p:nvPr/>
        </p:nvSpPr>
        <p:spPr>
          <a:xfrm>
            <a:off x="347472" y="329184"/>
            <a:ext cx="73152" cy="438912"/>
          </a:xfrm>
          <a:prstGeom prst="rect">
            <a:avLst/>
          </a:prstGeom>
          <a:solidFill>
            <a:srgbClr val="2F6BD8"/>
          </a:solidFill>
          <a:ln w="12700">
            <a:solidFill>
              <a:srgbClr val="2F6BD8"/>
            </a:solidFill>
            <a:prstDash val="solid"/>
          </a:ln>
        </p:spPr>
      </p:sp>
      <p:sp>
        <p:nvSpPr>
          <p:cNvPr id="3" name="Text 1"/>
          <p:cNvSpPr/>
          <p:nvPr/>
        </p:nvSpPr>
        <p:spPr>
          <a:xfrm>
            <a:off x="512064" y="292608"/>
            <a:ext cx="10789920" cy="502920"/>
          </a:xfrm>
          <a:prstGeom prst="rect">
            <a:avLst/>
          </a:prstGeom>
          <a:noFill/>
          <a:ln/>
        </p:spPr>
        <p:txBody>
          <a:bodyPr wrap="square" lIns="0" tIns="0" rIns="0" bIns="0" rtlCol="0" anchor="ctr"/>
          <a:lstStyle/>
          <a:p>
            <a:pPr marL="0" indent="0">
              <a:buNone/>
            </a:pPr>
            <a:r>
              <a:rPr lang="en-US" sz="2700" b="1" dirty="0">
                <a:solidFill>
                  <a:srgbClr val="303846"/>
                </a:solidFill>
                <a:latin typeface="Aptos Display" pitchFamily="34" charset="0"/>
                <a:ea typeface="Aptos Display" pitchFamily="34" charset="-122"/>
                <a:cs typeface="Aptos Display" pitchFamily="34" charset="-120"/>
              </a:rPr>
              <a:t>Study Selection</a:t>
            </a:r>
            <a:endParaRPr lang="en-US" sz="2700" dirty="0"/>
          </a:p>
        </p:txBody>
      </p:sp>
      <p:sp>
        <p:nvSpPr>
          <p:cNvPr id="4" name="Shape 2"/>
          <p:cNvSpPr/>
          <p:nvPr/>
        </p:nvSpPr>
        <p:spPr>
          <a:xfrm>
            <a:off x="0" y="6510528"/>
            <a:ext cx="12191695" cy="347472"/>
          </a:xfrm>
          <a:prstGeom prst="rect">
            <a:avLst/>
          </a:prstGeom>
          <a:solidFill>
            <a:srgbClr val="303846"/>
          </a:solidFill>
          <a:ln w="12700">
            <a:solidFill>
              <a:srgbClr val="303846"/>
            </a:solidFill>
            <a:prstDash val="solid"/>
          </a:ln>
        </p:spPr>
      </p:sp>
      <p:sp>
        <p:nvSpPr>
          <p:cNvPr id="5" name="Text 3"/>
          <p:cNvSpPr/>
          <p:nvPr/>
        </p:nvSpPr>
        <p:spPr>
          <a:xfrm>
            <a:off x="320040" y="6592824"/>
            <a:ext cx="6583680" cy="137160"/>
          </a:xfrm>
          <a:prstGeom prst="rect">
            <a:avLst/>
          </a:prstGeom>
          <a:noFill/>
          <a:ln/>
        </p:spPr>
        <p:txBody>
          <a:bodyPr wrap="square" lIns="0" tIns="0" rIns="0" bIns="0" rtlCol="0" anchor="ctr"/>
          <a:lstStyle/>
          <a:p>
            <a:pPr marL="0" indent="0">
              <a:buNone/>
            </a:pPr>
            <a:r>
              <a:rPr lang="en-US" sz="750" i="1" dirty="0">
                <a:solidFill>
                  <a:srgbClr val="F2F4F7"/>
                </a:solidFill>
              </a:rPr>
              <a:t>Digital Twin-Enabled Intralogistics — Systematic Review | SEN601</a:t>
            </a:r>
            <a:endParaRPr lang="en-US" sz="750" dirty="0"/>
          </a:p>
        </p:txBody>
      </p:sp>
      <p:sp>
        <p:nvSpPr>
          <p:cNvPr id="6" name="Text 4"/>
          <p:cNvSpPr/>
          <p:nvPr/>
        </p:nvSpPr>
        <p:spPr>
          <a:xfrm>
            <a:off x="10195560" y="6592824"/>
            <a:ext cx="1280160" cy="137160"/>
          </a:xfrm>
          <a:prstGeom prst="rect">
            <a:avLst/>
          </a:prstGeom>
          <a:noFill/>
          <a:ln/>
        </p:spPr>
        <p:txBody>
          <a:bodyPr wrap="square" lIns="0" tIns="0" rIns="0" bIns="0" rtlCol="0" anchor="ctr"/>
          <a:lstStyle/>
          <a:p>
            <a:pPr marL="0" indent="0" algn="r">
              <a:buNone/>
            </a:pPr>
            <a:r>
              <a:rPr lang="en-US" sz="750" dirty="0">
                <a:solidFill>
                  <a:srgbClr val="F2F4F7"/>
                </a:solidFill>
              </a:rPr>
              <a:t>PRISMA Flow</a:t>
            </a:r>
            <a:endParaRPr lang="en-US" sz="750" dirty="0"/>
          </a:p>
        </p:txBody>
      </p:sp>
      <p:sp>
        <p:nvSpPr>
          <p:cNvPr id="7" name="Text 5"/>
          <p:cNvSpPr/>
          <p:nvPr/>
        </p:nvSpPr>
        <p:spPr>
          <a:xfrm>
            <a:off x="11539728" y="6583680"/>
            <a:ext cx="329184" cy="146304"/>
          </a:xfrm>
          <a:prstGeom prst="rect">
            <a:avLst/>
          </a:prstGeom>
          <a:noFill/>
          <a:ln/>
        </p:spPr>
        <p:txBody>
          <a:bodyPr wrap="square" lIns="0" tIns="0" rIns="0" bIns="0" rtlCol="0" anchor="ctr"/>
          <a:lstStyle/>
          <a:p>
            <a:pPr marL="0" indent="0" algn="r">
              <a:buNone/>
            </a:pPr>
            <a:r>
              <a:rPr lang="en-US" sz="850" dirty="0">
                <a:solidFill>
                  <a:srgbClr val="F2F4F7"/>
                </a:solidFill>
              </a:rPr>
              <a:t>6</a:t>
            </a:r>
            <a:endParaRPr lang="en-US" sz="850" dirty="0"/>
          </a:p>
        </p:txBody>
      </p:sp>
      <p:sp>
        <p:nvSpPr>
          <p:cNvPr id="8" name="Text 6"/>
          <p:cNvSpPr/>
          <p:nvPr/>
        </p:nvSpPr>
        <p:spPr>
          <a:xfrm>
            <a:off x="320040" y="3026664"/>
            <a:ext cx="3017520" cy="347472"/>
          </a:xfrm>
          <a:prstGeom prst="rect">
            <a:avLst/>
          </a:prstGeom>
          <a:noFill/>
          <a:ln/>
        </p:spPr>
        <p:txBody>
          <a:bodyPr wrap="square" lIns="0" tIns="0" rIns="0" bIns="0" rtlCol="0" anchor="ctr"/>
          <a:lstStyle/>
          <a:p>
            <a:pPr marL="0" indent="0">
              <a:buNone/>
            </a:pPr>
            <a:r>
              <a:rPr lang="en-US" sz="1700" b="1" dirty="0">
                <a:solidFill>
                  <a:srgbClr val="303846"/>
                </a:solidFill>
              </a:rPr>
              <a:t>PRISMA 2020 Flow Diagram →</a:t>
            </a:r>
            <a:endParaRPr lang="en-US" sz="1700" dirty="0"/>
          </a:p>
        </p:txBody>
      </p:sp>
      <p:sp>
        <p:nvSpPr>
          <p:cNvPr id="9" name="Shape 7"/>
          <p:cNvSpPr/>
          <p:nvPr/>
        </p:nvSpPr>
        <p:spPr>
          <a:xfrm>
            <a:off x="3273552" y="896112"/>
            <a:ext cx="502920" cy="5074920"/>
          </a:xfrm>
          <a:prstGeom prst="rect">
            <a:avLst/>
          </a:prstGeom>
          <a:solidFill>
            <a:srgbClr val="CDEFD6"/>
          </a:solidFill>
          <a:ln w="12700">
            <a:solidFill>
              <a:srgbClr val="CDEFD6"/>
            </a:solidFill>
            <a:prstDash val="solid"/>
          </a:ln>
        </p:spPr>
      </p:sp>
      <p:sp>
        <p:nvSpPr>
          <p:cNvPr id="10" name="Text 8"/>
          <p:cNvSpPr/>
          <p:nvPr/>
        </p:nvSpPr>
        <p:spPr>
          <a:xfrm rot="16200000">
            <a:off x="3291840" y="1060704"/>
            <a:ext cx="457200" cy="228600"/>
          </a:xfrm>
          <a:prstGeom prst="rect">
            <a:avLst/>
          </a:prstGeom>
          <a:noFill/>
          <a:ln/>
        </p:spPr>
        <p:txBody>
          <a:bodyPr wrap="square" lIns="0" tIns="0" rIns="0" bIns="0" rtlCol="0" anchor="ctr"/>
          <a:lstStyle/>
          <a:p>
            <a:pPr marL="0" indent="0">
              <a:buNone/>
            </a:pPr>
            <a:r>
              <a:rPr lang="en-US" sz="850" b="1" dirty="0">
                <a:solidFill>
                  <a:srgbClr val="303846"/>
                </a:solidFill>
              </a:rPr>
              <a:t>Identification</a:t>
            </a:r>
            <a:endParaRPr lang="en-US" sz="850" dirty="0"/>
          </a:p>
        </p:txBody>
      </p:sp>
      <p:sp>
        <p:nvSpPr>
          <p:cNvPr id="11" name="Shape 9"/>
          <p:cNvSpPr/>
          <p:nvPr/>
        </p:nvSpPr>
        <p:spPr>
          <a:xfrm>
            <a:off x="3273552" y="2295144"/>
            <a:ext cx="502920" cy="1417320"/>
          </a:xfrm>
          <a:prstGeom prst="rect">
            <a:avLst/>
          </a:prstGeom>
          <a:solidFill>
            <a:srgbClr val="D7F0E6"/>
          </a:solidFill>
          <a:ln w="12700">
            <a:solidFill>
              <a:srgbClr val="D7F0E6"/>
            </a:solidFill>
            <a:prstDash val="solid"/>
          </a:ln>
        </p:spPr>
      </p:sp>
      <p:sp>
        <p:nvSpPr>
          <p:cNvPr id="12" name="Text 10"/>
          <p:cNvSpPr/>
          <p:nvPr/>
        </p:nvSpPr>
        <p:spPr>
          <a:xfrm rot="16200000">
            <a:off x="3291840" y="2770632"/>
            <a:ext cx="457200" cy="228600"/>
          </a:xfrm>
          <a:prstGeom prst="rect">
            <a:avLst/>
          </a:prstGeom>
          <a:noFill/>
          <a:ln/>
        </p:spPr>
        <p:txBody>
          <a:bodyPr wrap="square" lIns="0" tIns="0" rIns="0" bIns="0" rtlCol="0" anchor="ctr"/>
          <a:lstStyle/>
          <a:p>
            <a:pPr marL="0" indent="0">
              <a:buNone/>
            </a:pPr>
            <a:r>
              <a:rPr lang="en-US" sz="850" b="1" dirty="0">
                <a:solidFill>
                  <a:srgbClr val="303846"/>
                </a:solidFill>
              </a:rPr>
              <a:t>Screening</a:t>
            </a:r>
            <a:endParaRPr lang="en-US" sz="850" dirty="0"/>
          </a:p>
        </p:txBody>
      </p:sp>
      <p:sp>
        <p:nvSpPr>
          <p:cNvPr id="13" name="Shape 11"/>
          <p:cNvSpPr/>
          <p:nvPr/>
        </p:nvSpPr>
        <p:spPr>
          <a:xfrm>
            <a:off x="3273552" y="3685032"/>
            <a:ext cx="502920" cy="1417320"/>
          </a:xfrm>
          <a:prstGeom prst="rect">
            <a:avLst/>
          </a:prstGeom>
          <a:solidFill>
            <a:srgbClr val="E8F3E2"/>
          </a:solidFill>
          <a:ln w="12700">
            <a:solidFill>
              <a:srgbClr val="E8F3E2"/>
            </a:solidFill>
            <a:prstDash val="solid"/>
          </a:ln>
        </p:spPr>
      </p:sp>
      <p:sp>
        <p:nvSpPr>
          <p:cNvPr id="14" name="Text 12"/>
          <p:cNvSpPr/>
          <p:nvPr/>
        </p:nvSpPr>
        <p:spPr>
          <a:xfrm rot="16200000">
            <a:off x="3291840" y="4151376"/>
            <a:ext cx="457200" cy="228600"/>
          </a:xfrm>
          <a:prstGeom prst="rect">
            <a:avLst/>
          </a:prstGeom>
          <a:noFill/>
          <a:ln/>
        </p:spPr>
        <p:txBody>
          <a:bodyPr wrap="square" lIns="0" tIns="0" rIns="0" bIns="0" rtlCol="0" anchor="ctr"/>
          <a:lstStyle/>
          <a:p>
            <a:pPr marL="0" indent="0">
              <a:buNone/>
            </a:pPr>
            <a:r>
              <a:rPr lang="en-US" sz="850" b="1" dirty="0">
                <a:solidFill>
                  <a:srgbClr val="303846"/>
                </a:solidFill>
              </a:rPr>
              <a:t>Eligibility</a:t>
            </a:r>
            <a:endParaRPr lang="en-US" sz="850" dirty="0"/>
          </a:p>
        </p:txBody>
      </p:sp>
      <p:sp>
        <p:nvSpPr>
          <p:cNvPr id="15" name="Shape 13"/>
          <p:cNvSpPr/>
          <p:nvPr/>
        </p:nvSpPr>
        <p:spPr>
          <a:xfrm>
            <a:off x="3273552" y="5084064"/>
            <a:ext cx="502920" cy="886968"/>
          </a:xfrm>
          <a:prstGeom prst="rect">
            <a:avLst/>
          </a:prstGeom>
          <a:solidFill>
            <a:srgbClr val="F2F7EE"/>
          </a:solidFill>
          <a:ln w="12700">
            <a:solidFill>
              <a:srgbClr val="F2F7EE"/>
            </a:solidFill>
            <a:prstDash val="solid"/>
          </a:ln>
        </p:spPr>
      </p:sp>
      <p:sp>
        <p:nvSpPr>
          <p:cNvPr id="16" name="Text 14"/>
          <p:cNvSpPr/>
          <p:nvPr/>
        </p:nvSpPr>
        <p:spPr>
          <a:xfrm rot="16200000">
            <a:off x="3291840" y="5367528"/>
            <a:ext cx="457200" cy="228600"/>
          </a:xfrm>
          <a:prstGeom prst="rect">
            <a:avLst/>
          </a:prstGeom>
          <a:noFill/>
          <a:ln/>
        </p:spPr>
        <p:txBody>
          <a:bodyPr wrap="square" lIns="0" tIns="0" rIns="0" bIns="0" rtlCol="0" anchor="ctr"/>
          <a:lstStyle/>
          <a:p>
            <a:pPr marL="0" indent="0">
              <a:buNone/>
            </a:pPr>
            <a:r>
              <a:rPr lang="en-US" sz="850" b="1" dirty="0">
                <a:solidFill>
                  <a:srgbClr val="303846"/>
                </a:solidFill>
              </a:rPr>
              <a:t>Included</a:t>
            </a:r>
            <a:endParaRPr lang="en-US" sz="850" dirty="0"/>
          </a:p>
        </p:txBody>
      </p:sp>
      <p:sp>
        <p:nvSpPr>
          <p:cNvPr id="17" name="Shape 15"/>
          <p:cNvSpPr/>
          <p:nvPr/>
        </p:nvSpPr>
        <p:spPr>
          <a:xfrm>
            <a:off x="3840480" y="896112"/>
            <a:ext cx="2743200" cy="777240"/>
          </a:xfrm>
          <a:prstGeom prst="roundRect">
            <a:avLst>
              <a:gd name="adj" fmla="val 4706"/>
            </a:avLst>
          </a:prstGeom>
          <a:solidFill>
            <a:srgbClr val="FFFFFF"/>
          </a:solidFill>
          <a:ln w="12700">
            <a:solidFill>
              <a:srgbClr val="AAB2BD"/>
            </a:solidFill>
            <a:prstDash val="solid"/>
          </a:ln>
        </p:spPr>
      </p:sp>
      <p:sp>
        <p:nvSpPr>
          <p:cNvPr id="18" name="Text 16"/>
          <p:cNvSpPr/>
          <p:nvPr/>
        </p:nvSpPr>
        <p:spPr>
          <a:xfrm>
            <a:off x="3904488" y="950976"/>
            <a:ext cx="2615184" cy="685800"/>
          </a:xfrm>
          <a:prstGeom prst="rect">
            <a:avLst/>
          </a:prstGeom>
          <a:noFill/>
          <a:ln/>
        </p:spPr>
        <p:txBody>
          <a:bodyPr wrap="square" lIns="254" tIns="254" rIns="254" bIns="254" rtlCol="0" anchor="ctr">
            <a:normAutofit/>
          </a:bodyPr>
          <a:lstStyle/>
          <a:p>
            <a:pPr marL="0" indent="0">
              <a:buNone/>
            </a:pPr>
            <a:r>
              <a:rPr lang="en-US" sz="920" dirty="0">
                <a:solidFill>
                  <a:srgbClr val="303846"/>
                </a:solidFill>
              </a:rPr>
              <a:t>Records identified</a:t>
            </a:r>
            <a:endParaRPr lang="en-US" sz="920" dirty="0"/>
          </a:p>
          <a:p>
            <a:pPr marL="0" indent="0">
              <a:buNone/>
            </a:pPr>
            <a:r>
              <a:rPr lang="en-US" sz="920" dirty="0">
                <a:solidFill>
                  <a:srgbClr val="303846"/>
                </a:solidFill>
              </a:rPr>
              <a:t>through database / search</a:t>
            </a:r>
            <a:endParaRPr lang="en-US" sz="920" dirty="0"/>
          </a:p>
          <a:p>
            <a:pPr marL="0" indent="0">
              <a:buNone/>
            </a:pPr>
            <a:r>
              <a:rPr lang="en-US" sz="920" dirty="0">
                <a:solidFill>
                  <a:srgbClr val="303846"/>
                </a:solidFill>
              </a:rPr>
              <a:t>engine queries</a:t>
            </a:r>
            <a:endParaRPr lang="en-US" sz="920" dirty="0"/>
          </a:p>
          <a:p>
            <a:pPr marL="0" indent="0">
              <a:buNone/>
            </a:pPr>
            <a:r>
              <a:rPr lang="en-US" sz="920" dirty="0">
                <a:solidFill>
                  <a:srgbClr val="303846"/>
                </a:solidFill>
              </a:rPr>
              <a:t>(n = 42)</a:t>
            </a:r>
            <a:endParaRPr lang="en-US" sz="920" dirty="0"/>
          </a:p>
        </p:txBody>
      </p:sp>
      <p:sp>
        <p:nvSpPr>
          <p:cNvPr id="19" name="Shape 17"/>
          <p:cNvSpPr/>
          <p:nvPr/>
        </p:nvSpPr>
        <p:spPr>
          <a:xfrm>
            <a:off x="7269480" y="896112"/>
            <a:ext cx="2834640" cy="777240"/>
          </a:xfrm>
          <a:prstGeom prst="roundRect">
            <a:avLst>
              <a:gd name="adj" fmla="val 4706"/>
            </a:avLst>
          </a:prstGeom>
          <a:solidFill>
            <a:srgbClr val="FFFFFF"/>
          </a:solidFill>
          <a:ln w="12700">
            <a:solidFill>
              <a:srgbClr val="AAB2BD"/>
            </a:solidFill>
            <a:prstDash val="solid"/>
          </a:ln>
        </p:spPr>
      </p:sp>
      <p:sp>
        <p:nvSpPr>
          <p:cNvPr id="20" name="Text 18"/>
          <p:cNvSpPr/>
          <p:nvPr/>
        </p:nvSpPr>
        <p:spPr>
          <a:xfrm>
            <a:off x="7333488" y="950976"/>
            <a:ext cx="2706624" cy="685800"/>
          </a:xfrm>
          <a:prstGeom prst="rect">
            <a:avLst/>
          </a:prstGeom>
          <a:noFill/>
          <a:ln/>
        </p:spPr>
        <p:txBody>
          <a:bodyPr wrap="square" lIns="254" tIns="254" rIns="254" bIns="254" rtlCol="0" anchor="ctr">
            <a:normAutofit/>
          </a:bodyPr>
          <a:lstStyle/>
          <a:p>
            <a:pPr marL="0" indent="0">
              <a:buNone/>
            </a:pPr>
            <a:r>
              <a:rPr lang="en-US" sz="920" dirty="0">
                <a:solidFill>
                  <a:srgbClr val="303846"/>
                </a:solidFill>
              </a:rPr>
              <a:t>Records removed before</a:t>
            </a:r>
            <a:endParaRPr lang="en-US" sz="920" dirty="0"/>
          </a:p>
          <a:p>
            <a:pPr marL="0" indent="0">
              <a:buNone/>
            </a:pPr>
            <a:r>
              <a:rPr lang="en-US" sz="920" dirty="0">
                <a:solidFill>
                  <a:srgbClr val="303846"/>
                </a:solidFill>
              </a:rPr>
              <a:t>screening</a:t>
            </a:r>
            <a:endParaRPr lang="en-US" sz="920" dirty="0"/>
          </a:p>
          <a:p>
            <a:pPr marL="0" indent="0">
              <a:buNone/>
            </a:pPr>
            <a:r>
              <a:rPr lang="en-US" sz="920" dirty="0">
                <a:solidFill>
                  <a:srgbClr val="303846"/>
                </a:solidFill>
              </a:rPr>
              <a:t>(n = 7)</a:t>
            </a:r>
            <a:endParaRPr lang="en-US" sz="920" dirty="0"/>
          </a:p>
          <a:p>
            <a:pPr marL="0" indent="0">
              <a:buNone/>
            </a:pPr>
            <a:r>
              <a:rPr lang="en-US" sz="920" dirty="0">
                <a:solidFill>
                  <a:srgbClr val="303846"/>
                </a:solidFill>
              </a:rPr>
              <a:t>Duplicates / non-academic</a:t>
            </a:r>
            <a:endParaRPr lang="en-US" sz="920" dirty="0"/>
          </a:p>
          <a:p>
            <a:pPr marL="0" indent="0">
              <a:buNone/>
            </a:pPr>
            <a:r>
              <a:rPr lang="en-US" sz="920" dirty="0">
                <a:solidFill>
                  <a:srgbClr val="303846"/>
                </a:solidFill>
              </a:rPr>
              <a:t>items removed</a:t>
            </a:r>
            <a:endParaRPr lang="en-US" sz="920" dirty="0"/>
          </a:p>
        </p:txBody>
      </p:sp>
      <p:sp>
        <p:nvSpPr>
          <p:cNvPr id="21" name="Shape 19"/>
          <p:cNvSpPr/>
          <p:nvPr/>
        </p:nvSpPr>
        <p:spPr>
          <a:xfrm>
            <a:off x="6629400" y="1289304"/>
            <a:ext cx="594360" cy="0"/>
          </a:xfrm>
          <a:prstGeom prst="line">
            <a:avLst/>
          </a:prstGeom>
          <a:noFill/>
          <a:ln w="12700">
            <a:solidFill>
              <a:srgbClr val="667085"/>
            </a:solidFill>
            <a:prstDash val="solid"/>
            <a:headEnd type="none"/>
            <a:tailEnd type="triangle"/>
          </a:ln>
        </p:spPr>
      </p:sp>
      <p:sp>
        <p:nvSpPr>
          <p:cNvPr id="22" name="Shape 20"/>
          <p:cNvSpPr/>
          <p:nvPr/>
        </p:nvSpPr>
        <p:spPr>
          <a:xfrm>
            <a:off x="3840480" y="2313432"/>
            <a:ext cx="2743200" cy="749808"/>
          </a:xfrm>
          <a:prstGeom prst="roundRect">
            <a:avLst>
              <a:gd name="adj" fmla="val 4878"/>
            </a:avLst>
          </a:prstGeom>
          <a:solidFill>
            <a:srgbClr val="FFFFFF"/>
          </a:solidFill>
          <a:ln w="12700">
            <a:solidFill>
              <a:srgbClr val="AAB2BD"/>
            </a:solidFill>
            <a:prstDash val="solid"/>
          </a:ln>
        </p:spPr>
      </p:sp>
      <p:sp>
        <p:nvSpPr>
          <p:cNvPr id="23" name="Text 21"/>
          <p:cNvSpPr/>
          <p:nvPr/>
        </p:nvSpPr>
        <p:spPr>
          <a:xfrm>
            <a:off x="3904488" y="2368296"/>
            <a:ext cx="2615184" cy="658368"/>
          </a:xfrm>
          <a:prstGeom prst="rect">
            <a:avLst/>
          </a:prstGeom>
          <a:noFill/>
          <a:ln/>
        </p:spPr>
        <p:txBody>
          <a:bodyPr wrap="square" lIns="254" tIns="254" rIns="254" bIns="254" rtlCol="0" anchor="ctr">
            <a:normAutofit/>
          </a:bodyPr>
          <a:lstStyle/>
          <a:p>
            <a:pPr marL="0" indent="0">
              <a:buNone/>
            </a:pPr>
            <a:r>
              <a:rPr lang="en-US" sz="920" dirty="0">
                <a:solidFill>
                  <a:srgbClr val="303846"/>
                </a:solidFill>
              </a:rPr>
              <a:t>Records screened</a:t>
            </a:r>
            <a:endParaRPr lang="en-US" sz="920" dirty="0"/>
          </a:p>
          <a:p>
            <a:pPr marL="0" indent="0">
              <a:buNone/>
            </a:pPr>
            <a:r>
              <a:rPr lang="en-US" sz="920" dirty="0">
                <a:solidFill>
                  <a:srgbClr val="303846"/>
                </a:solidFill>
              </a:rPr>
              <a:t>Title &amp; Abstract</a:t>
            </a:r>
            <a:endParaRPr lang="en-US" sz="920" dirty="0"/>
          </a:p>
          <a:p>
            <a:pPr marL="0" indent="0">
              <a:buNone/>
            </a:pPr>
            <a:r>
              <a:rPr lang="en-US" sz="920" dirty="0">
                <a:solidFill>
                  <a:srgbClr val="303846"/>
                </a:solidFill>
              </a:rPr>
              <a:t>(n = 35)</a:t>
            </a:r>
            <a:endParaRPr lang="en-US" sz="920" dirty="0"/>
          </a:p>
        </p:txBody>
      </p:sp>
      <p:sp>
        <p:nvSpPr>
          <p:cNvPr id="24" name="Shape 22"/>
          <p:cNvSpPr/>
          <p:nvPr/>
        </p:nvSpPr>
        <p:spPr>
          <a:xfrm>
            <a:off x="7269480" y="2313432"/>
            <a:ext cx="2834640" cy="868680"/>
          </a:xfrm>
          <a:prstGeom prst="roundRect">
            <a:avLst>
              <a:gd name="adj" fmla="val 4211"/>
            </a:avLst>
          </a:prstGeom>
          <a:solidFill>
            <a:srgbClr val="FFFFFF"/>
          </a:solidFill>
          <a:ln w="12700">
            <a:solidFill>
              <a:srgbClr val="AAB2BD"/>
            </a:solidFill>
            <a:prstDash val="solid"/>
          </a:ln>
        </p:spPr>
      </p:sp>
      <p:sp>
        <p:nvSpPr>
          <p:cNvPr id="25" name="Text 23"/>
          <p:cNvSpPr/>
          <p:nvPr/>
        </p:nvSpPr>
        <p:spPr>
          <a:xfrm>
            <a:off x="7333488" y="2368296"/>
            <a:ext cx="2706624" cy="777240"/>
          </a:xfrm>
          <a:prstGeom prst="rect">
            <a:avLst/>
          </a:prstGeom>
          <a:noFill/>
          <a:ln/>
        </p:spPr>
        <p:txBody>
          <a:bodyPr wrap="square" lIns="254" tIns="254" rIns="254" bIns="254" rtlCol="0" anchor="ctr">
            <a:normAutofit/>
          </a:bodyPr>
          <a:lstStyle/>
          <a:p>
            <a:pPr marL="0" indent="0">
              <a:buNone/>
            </a:pPr>
            <a:r>
              <a:rPr lang="en-US" sz="920" dirty="0">
                <a:solidFill>
                  <a:srgbClr val="303846"/>
                </a:solidFill>
              </a:rPr>
              <a:t>Records excluded after</a:t>
            </a:r>
            <a:endParaRPr lang="en-US" sz="920" dirty="0"/>
          </a:p>
          <a:p>
            <a:pPr marL="0" indent="0">
              <a:buNone/>
            </a:pPr>
            <a:r>
              <a:rPr lang="en-US" sz="920" dirty="0">
                <a:solidFill>
                  <a:srgbClr val="303846"/>
                </a:solidFill>
              </a:rPr>
              <a:t>abstract screening</a:t>
            </a:r>
            <a:endParaRPr lang="en-US" sz="920" dirty="0"/>
          </a:p>
          <a:p>
            <a:pPr marL="0" indent="0">
              <a:buNone/>
            </a:pPr>
            <a:r>
              <a:rPr lang="en-US" sz="920" dirty="0">
                <a:solidFill>
                  <a:srgbClr val="303846"/>
                </a:solidFill>
              </a:rPr>
              <a:t>(n = 15)</a:t>
            </a:r>
            <a:endParaRPr lang="en-US" sz="920" dirty="0"/>
          </a:p>
          <a:p>
            <a:pPr marL="0" indent="0">
              <a:buNone/>
            </a:pPr>
            <a:r>
              <a:rPr lang="en-US" sz="920" dirty="0">
                <a:solidFill>
                  <a:srgbClr val="303846"/>
                </a:solidFill>
              </a:rPr>
              <a:t>Generic DT / non-logistics /</a:t>
            </a:r>
            <a:endParaRPr lang="en-US" sz="920" dirty="0"/>
          </a:p>
          <a:p>
            <a:pPr marL="0" indent="0">
              <a:buNone/>
            </a:pPr>
            <a:r>
              <a:rPr lang="en-US" sz="920" dirty="0">
                <a:solidFill>
                  <a:srgbClr val="303846"/>
                </a:solidFill>
              </a:rPr>
              <a:t>insufficient relevance</a:t>
            </a:r>
            <a:endParaRPr lang="en-US" sz="920" dirty="0"/>
          </a:p>
        </p:txBody>
      </p:sp>
      <p:sp>
        <p:nvSpPr>
          <p:cNvPr id="26" name="Shape 24"/>
          <p:cNvSpPr/>
          <p:nvPr/>
        </p:nvSpPr>
        <p:spPr>
          <a:xfrm>
            <a:off x="5212080" y="1691640"/>
            <a:ext cx="0" cy="530352"/>
          </a:xfrm>
          <a:prstGeom prst="line">
            <a:avLst/>
          </a:prstGeom>
          <a:noFill/>
          <a:ln w="12700">
            <a:solidFill>
              <a:srgbClr val="667085"/>
            </a:solidFill>
            <a:prstDash val="solid"/>
            <a:tailEnd type="triangle"/>
          </a:ln>
        </p:spPr>
      </p:sp>
      <p:sp>
        <p:nvSpPr>
          <p:cNvPr id="27" name="Shape 25"/>
          <p:cNvSpPr/>
          <p:nvPr/>
        </p:nvSpPr>
        <p:spPr>
          <a:xfrm>
            <a:off x="6629400" y="2679192"/>
            <a:ext cx="594360" cy="0"/>
          </a:xfrm>
          <a:prstGeom prst="line">
            <a:avLst/>
          </a:prstGeom>
          <a:noFill/>
          <a:ln w="12700">
            <a:solidFill>
              <a:srgbClr val="667085"/>
            </a:solidFill>
            <a:prstDash val="solid"/>
            <a:tailEnd type="triangle"/>
          </a:ln>
        </p:spPr>
      </p:sp>
      <p:sp>
        <p:nvSpPr>
          <p:cNvPr id="28" name="Shape 26"/>
          <p:cNvSpPr/>
          <p:nvPr/>
        </p:nvSpPr>
        <p:spPr>
          <a:xfrm>
            <a:off x="3840480" y="3730752"/>
            <a:ext cx="2743200" cy="749808"/>
          </a:xfrm>
          <a:prstGeom prst="roundRect">
            <a:avLst>
              <a:gd name="adj" fmla="val 4878"/>
            </a:avLst>
          </a:prstGeom>
          <a:solidFill>
            <a:srgbClr val="FFFFFF"/>
          </a:solidFill>
          <a:ln w="12700">
            <a:solidFill>
              <a:srgbClr val="AAB2BD"/>
            </a:solidFill>
            <a:prstDash val="solid"/>
          </a:ln>
        </p:spPr>
      </p:sp>
      <p:sp>
        <p:nvSpPr>
          <p:cNvPr id="29" name="Text 27"/>
          <p:cNvSpPr/>
          <p:nvPr/>
        </p:nvSpPr>
        <p:spPr>
          <a:xfrm>
            <a:off x="3904488" y="3785616"/>
            <a:ext cx="2615184" cy="658368"/>
          </a:xfrm>
          <a:prstGeom prst="rect">
            <a:avLst/>
          </a:prstGeom>
          <a:noFill/>
          <a:ln/>
        </p:spPr>
        <p:txBody>
          <a:bodyPr wrap="square" lIns="254" tIns="254" rIns="254" bIns="254" rtlCol="0" anchor="ctr">
            <a:normAutofit/>
          </a:bodyPr>
          <a:lstStyle/>
          <a:p>
            <a:pPr marL="0" indent="0">
              <a:buNone/>
            </a:pPr>
            <a:r>
              <a:rPr lang="en-US" sz="920" dirty="0">
                <a:solidFill>
                  <a:srgbClr val="303846"/>
                </a:solidFill>
              </a:rPr>
              <a:t>Candidate records</a:t>
            </a:r>
            <a:endParaRPr lang="en-US" sz="920" dirty="0"/>
          </a:p>
          <a:p>
            <a:pPr marL="0" indent="0">
              <a:buNone/>
            </a:pPr>
            <a:r>
              <a:rPr lang="en-US" sz="920" dirty="0">
                <a:solidFill>
                  <a:srgbClr val="303846"/>
                </a:solidFill>
              </a:rPr>
              <a:t>classified by role</a:t>
            </a:r>
            <a:endParaRPr lang="en-US" sz="920" dirty="0"/>
          </a:p>
          <a:p>
            <a:pPr marL="0" indent="0">
              <a:buNone/>
            </a:pPr>
            <a:r>
              <a:rPr lang="en-US" sz="920" dirty="0">
                <a:solidFill>
                  <a:srgbClr val="303846"/>
                </a:solidFill>
              </a:rPr>
              <a:t>(n = 20)</a:t>
            </a:r>
            <a:endParaRPr lang="en-US" sz="920" dirty="0"/>
          </a:p>
        </p:txBody>
      </p:sp>
      <p:sp>
        <p:nvSpPr>
          <p:cNvPr id="30" name="Shape 28"/>
          <p:cNvSpPr/>
          <p:nvPr/>
        </p:nvSpPr>
        <p:spPr>
          <a:xfrm>
            <a:off x="7269480" y="3730752"/>
            <a:ext cx="2834640" cy="841248"/>
          </a:xfrm>
          <a:prstGeom prst="roundRect">
            <a:avLst>
              <a:gd name="adj" fmla="val 4348"/>
            </a:avLst>
          </a:prstGeom>
          <a:solidFill>
            <a:srgbClr val="FFFFFF"/>
          </a:solidFill>
          <a:ln w="12700">
            <a:solidFill>
              <a:srgbClr val="AAB2BD"/>
            </a:solidFill>
            <a:prstDash val="solid"/>
          </a:ln>
        </p:spPr>
      </p:sp>
      <p:sp>
        <p:nvSpPr>
          <p:cNvPr id="31" name="Text 29"/>
          <p:cNvSpPr/>
          <p:nvPr/>
        </p:nvSpPr>
        <p:spPr>
          <a:xfrm>
            <a:off x="7333488" y="3785616"/>
            <a:ext cx="2706624" cy="749808"/>
          </a:xfrm>
          <a:prstGeom prst="rect">
            <a:avLst/>
          </a:prstGeom>
          <a:noFill/>
          <a:ln/>
        </p:spPr>
        <p:txBody>
          <a:bodyPr wrap="square" lIns="254" tIns="254" rIns="254" bIns="254" rtlCol="0" anchor="ctr">
            <a:normAutofit/>
          </a:bodyPr>
          <a:lstStyle/>
          <a:p>
            <a:pPr marL="0" indent="0">
              <a:buNone/>
            </a:pPr>
            <a:r>
              <a:rPr lang="en-US" sz="920" dirty="0">
                <a:solidFill>
                  <a:srgbClr val="303846"/>
                </a:solidFill>
              </a:rPr>
              <a:t>Supporting reviews retained</a:t>
            </a:r>
            <a:endParaRPr lang="en-US" sz="920" dirty="0"/>
          </a:p>
          <a:p>
            <a:pPr marL="0" indent="0">
              <a:buNone/>
            </a:pPr>
            <a:r>
              <a:rPr lang="en-US" sz="920" dirty="0">
                <a:solidFill>
                  <a:srgbClr val="303846"/>
                </a:solidFill>
              </a:rPr>
              <a:t>(n = 5)</a:t>
            </a:r>
            <a:endParaRPr lang="en-US" sz="920" dirty="0"/>
          </a:p>
          <a:p>
            <a:pPr marL="0" indent="0">
              <a:buNone/>
            </a:pPr>
            <a:r>
              <a:rPr lang="en-US" sz="920" dirty="0">
                <a:solidFill>
                  <a:srgbClr val="303846"/>
                </a:solidFill>
              </a:rPr>
              <a:t>R1–R5 used for context</a:t>
            </a:r>
            <a:endParaRPr lang="en-US" sz="920" dirty="0"/>
          </a:p>
          <a:p>
            <a:pPr marL="0" indent="0">
              <a:buNone/>
            </a:pPr>
            <a:r>
              <a:rPr lang="en-US" sz="920" dirty="0">
                <a:solidFill>
                  <a:srgbClr val="303846"/>
                </a:solidFill>
              </a:rPr>
              <a:t>and comparison</a:t>
            </a:r>
            <a:endParaRPr lang="en-US" sz="920" dirty="0"/>
          </a:p>
        </p:txBody>
      </p:sp>
      <p:sp>
        <p:nvSpPr>
          <p:cNvPr id="32" name="Shape 30"/>
          <p:cNvSpPr/>
          <p:nvPr/>
        </p:nvSpPr>
        <p:spPr>
          <a:xfrm>
            <a:off x="5212080" y="3072384"/>
            <a:ext cx="0" cy="566928"/>
          </a:xfrm>
          <a:prstGeom prst="line">
            <a:avLst/>
          </a:prstGeom>
          <a:noFill/>
          <a:ln w="12700">
            <a:solidFill>
              <a:srgbClr val="667085"/>
            </a:solidFill>
            <a:prstDash val="solid"/>
            <a:tailEnd type="triangle"/>
          </a:ln>
        </p:spPr>
      </p:sp>
      <p:sp>
        <p:nvSpPr>
          <p:cNvPr id="33" name="Shape 31"/>
          <p:cNvSpPr/>
          <p:nvPr/>
        </p:nvSpPr>
        <p:spPr>
          <a:xfrm>
            <a:off x="6629400" y="4096512"/>
            <a:ext cx="594360" cy="0"/>
          </a:xfrm>
          <a:prstGeom prst="line">
            <a:avLst/>
          </a:prstGeom>
          <a:noFill/>
          <a:ln w="12700">
            <a:solidFill>
              <a:srgbClr val="667085"/>
            </a:solidFill>
            <a:prstDash val="solid"/>
            <a:tailEnd type="triangle"/>
          </a:ln>
        </p:spPr>
      </p:sp>
      <p:sp>
        <p:nvSpPr>
          <p:cNvPr id="34" name="Shape 32"/>
          <p:cNvSpPr/>
          <p:nvPr/>
        </p:nvSpPr>
        <p:spPr>
          <a:xfrm>
            <a:off x="3840480" y="5120640"/>
            <a:ext cx="2743200" cy="841248"/>
          </a:xfrm>
          <a:prstGeom prst="roundRect">
            <a:avLst>
              <a:gd name="adj" fmla="val 4348"/>
            </a:avLst>
          </a:prstGeom>
          <a:solidFill>
            <a:srgbClr val="F7FFF8"/>
          </a:solidFill>
          <a:ln w="12700">
            <a:solidFill>
              <a:srgbClr val="AAB2BD"/>
            </a:solidFill>
            <a:prstDash val="solid"/>
          </a:ln>
        </p:spPr>
      </p:sp>
      <p:sp>
        <p:nvSpPr>
          <p:cNvPr id="35" name="Text 33"/>
          <p:cNvSpPr/>
          <p:nvPr/>
        </p:nvSpPr>
        <p:spPr>
          <a:xfrm>
            <a:off x="3904488" y="5175504"/>
            <a:ext cx="2615184" cy="749808"/>
          </a:xfrm>
          <a:prstGeom prst="rect">
            <a:avLst/>
          </a:prstGeom>
          <a:noFill/>
          <a:ln/>
        </p:spPr>
        <p:txBody>
          <a:bodyPr wrap="square" lIns="254" tIns="254" rIns="254" bIns="254" rtlCol="0" anchor="ctr">
            <a:normAutofit/>
          </a:bodyPr>
          <a:lstStyle/>
          <a:p>
            <a:pPr marL="0" indent="0">
              <a:buNone/>
            </a:pPr>
            <a:r>
              <a:rPr lang="en-US" sz="920" dirty="0">
                <a:solidFill>
                  <a:srgbClr val="303846"/>
                </a:solidFill>
              </a:rPr>
              <a:t>Studies included in</a:t>
            </a:r>
            <a:endParaRPr lang="en-US" sz="920" dirty="0"/>
          </a:p>
          <a:p>
            <a:pPr marL="0" indent="0">
              <a:buNone/>
            </a:pPr>
            <a:r>
              <a:rPr lang="en-US" sz="920" dirty="0">
                <a:solidFill>
                  <a:srgbClr val="303846"/>
                </a:solidFill>
              </a:rPr>
              <a:t>qualitative synthesis</a:t>
            </a:r>
            <a:endParaRPr lang="en-US" sz="920" dirty="0"/>
          </a:p>
          <a:p>
            <a:pPr marL="0" indent="0">
              <a:buNone/>
            </a:pPr>
            <a:r>
              <a:rPr lang="en-US" sz="920" dirty="0">
                <a:solidFill>
                  <a:srgbClr val="303846"/>
                </a:solidFill>
              </a:rPr>
              <a:t>(n = 15 primary studies)</a:t>
            </a:r>
            <a:endParaRPr lang="en-US" sz="920" dirty="0"/>
          </a:p>
          <a:p>
            <a:pPr marL="0" indent="0">
              <a:buNone/>
            </a:pPr>
            <a:r>
              <a:rPr lang="en-US" sz="920" dirty="0">
                <a:solidFill>
                  <a:srgbClr val="303846"/>
                </a:solidFill>
              </a:rPr>
              <a:t>S1–S15</a:t>
            </a:r>
            <a:endParaRPr lang="en-US" sz="920" dirty="0"/>
          </a:p>
        </p:txBody>
      </p:sp>
      <p:sp>
        <p:nvSpPr>
          <p:cNvPr id="36" name="Shape 34"/>
          <p:cNvSpPr/>
          <p:nvPr/>
        </p:nvSpPr>
        <p:spPr>
          <a:xfrm>
            <a:off x="5212080" y="4480560"/>
            <a:ext cx="0" cy="530352"/>
          </a:xfrm>
          <a:prstGeom prst="line">
            <a:avLst/>
          </a:prstGeom>
          <a:noFill/>
          <a:ln w="12700">
            <a:solidFill>
              <a:srgbClr val="667085"/>
            </a:solidFill>
            <a:prstDash val="solid"/>
            <a:tailEnd type="triangle"/>
          </a:ln>
        </p:spPr>
      </p:sp>
      <p:sp>
        <p:nvSpPr>
          <p:cNvPr id="37" name="Text 35"/>
          <p:cNvSpPr/>
          <p:nvPr/>
        </p:nvSpPr>
        <p:spPr>
          <a:xfrm>
            <a:off x="502920" y="6281928"/>
            <a:ext cx="10789920" cy="164592"/>
          </a:xfrm>
          <a:prstGeom prst="rect">
            <a:avLst/>
          </a:prstGeom>
          <a:noFill/>
          <a:ln/>
        </p:spPr>
        <p:txBody>
          <a:bodyPr wrap="square" lIns="0" tIns="0" rIns="0" bIns="0" rtlCol="0" anchor="ctr"/>
          <a:lstStyle/>
          <a:p>
            <a:pPr marL="0" indent="0">
              <a:buNone/>
            </a:pPr>
            <a:r>
              <a:rPr lang="en-US" sz="760" i="1" dirty="0">
                <a:solidFill>
                  <a:srgbClr val="667085"/>
                </a:solidFill>
              </a:rPr>
              <a:t>PRISMA adapted to abstract-level coursework screening; 15 primary studies + 5 supporting review papers.</a:t>
            </a:r>
            <a:endParaRPr lang="en-US" sz="76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7F9"/>
        </a:solidFill>
        <a:effectLst/>
      </p:bgPr>
    </p:bg>
    <p:spTree>
      <p:nvGrpSpPr>
        <p:cNvPr id="1" name=""/>
        <p:cNvGrpSpPr/>
        <p:nvPr/>
      </p:nvGrpSpPr>
      <p:grpSpPr>
        <a:xfrm>
          <a:off x="0" y="0"/>
          <a:ext cx="0" cy="0"/>
          <a:chOff x="0" y="0"/>
          <a:chExt cx="0" cy="0"/>
        </a:xfrm>
      </p:grpSpPr>
      <p:sp>
        <p:nvSpPr>
          <p:cNvPr id="2" name="Shape 0"/>
          <p:cNvSpPr/>
          <p:nvPr/>
        </p:nvSpPr>
        <p:spPr>
          <a:xfrm>
            <a:off x="347472" y="329184"/>
            <a:ext cx="73152" cy="438912"/>
          </a:xfrm>
          <a:prstGeom prst="rect">
            <a:avLst/>
          </a:prstGeom>
          <a:solidFill>
            <a:srgbClr val="2F6BD8"/>
          </a:solidFill>
          <a:ln w="12700">
            <a:solidFill>
              <a:srgbClr val="2F6BD8"/>
            </a:solidFill>
            <a:prstDash val="solid"/>
          </a:ln>
        </p:spPr>
      </p:sp>
      <p:sp>
        <p:nvSpPr>
          <p:cNvPr id="3" name="Text 1"/>
          <p:cNvSpPr/>
          <p:nvPr/>
        </p:nvSpPr>
        <p:spPr>
          <a:xfrm>
            <a:off x="512064" y="292608"/>
            <a:ext cx="10789920" cy="502920"/>
          </a:xfrm>
          <a:prstGeom prst="rect">
            <a:avLst/>
          </a:prstGeom>
          <a:noFill/>
          <a:ln/>
        </p:spPr>
        <p:txBody>
          <a:bodyPr wrap="square" lIns="0" tIns="0" rIns="0" bIns="0" rtlCol="0" anchor="ctr"/>
          <a:lstStyle/>
          <a:p>
            <a:pPr marL="0" indent="0">
              <a:buNone/>
            </a:pPr>
            <a:r>
              <a:rPr lang="en-US" sz="2700" b="1" dirty="0">
                <a:solidFill>
                  <a:srgbClr val="303846"/>
                </a:solidFill>
                <a:latin typeface="Aptos Display" pitchFamily="34" charset="0"/>
                <a:ea typeface="Aptos Display" pitchFamily="34" charset="-122"/>
                <a:cs typeface="Aptos Display" pitchFamily="34" charset="-120"/>
              </a:rPr>
              <a:t>Characteristics of Included Studies</a:t>
            </a:r>
            <a:endParaRPr lang="en-US" sz="2700" dirty="0"/>
          </a:p>
        </p:txBody>
      </p:sp>
      <p:sp>
        <p:nvSpPr>
          <p:cNvPr id="4" name="Shape 2"/>
          <p:cNvSpPr/>
          <p:nvPr/>
        </p:nvSpPr>
        <p:spPr>
          <a:xfrm>
            <a:off x="0" y="6510528"/>
            <a:ext cx="12191695" cy="347472"/>
          </a:xfrm>
          <a:prstGeom prst="rect">
            <a:avLst/>
          </a:prstGeom>
          <a:solidFill>
            <a:srgbClr val="303846"/>
          </a:solidFill>
          <a:ln w="12700">
            <a:solidFill>
              <a:srgbClr val="303846"/>
            </a:solidFill>
            <a:prstDash val="solid"/>
          </a:ln>
        </p:spPr>
      </p:sp>
      <p:sp>
        <p:nvSpPr>
          <p:cNvPr id="5" name="Text 3"/>
          <p:cNvSpPr/>
          <p:nvPr/>
        </p:nvSpPr>
        <p:spPr>
          <a:xfrm>
            <a:off x="320040" y="6592824"/>
            <a:ext cx="6583680" cy="137160"/>
          </a:xfrm>
          <a:prstGeom prst="rect">
            <a:avLst/>
          </a:prstGeom>
          <a:noFill/>
          <a:ln/>
        </p:spPr>
        <p:txBody>
          <a:bodyPr wrap="square" lIns="0" tIns="0" rIns="0" bIns="0" rtlCol="0" anchor="ctr"/>
          <a:lstStyle/>
          <a:p>
            <a:pPr marL="0" indent="0">
              <a:buNone/>
            </a:pPr>
            <a:r>
              <a:rPr lang="en-US" sz="750" i="1" dirty="0">
                <a:solidFill>
                  <a:srgbClr val="F2F4F7"/>
                </a:solidFill>
              </a:rPr>
              <a:t>Digital Twin-Enabled Intralogistics — Systematic Review | SEN601</a:t>
            </a:r>
            <a:endParaRPr lang="en-US" sz="750" dirty="0"/>
          </a:p>
        </p:txBody>
      </p:sp>
      <p:sp>
        <p:nvSpPr>
          <p:cNvPr id="6" name="Text 4"/>
          <p:cNvSpPr/>
          <p:nvPr/>
        </p:nvSpPr>
        <p:spPr>
          <a:xfrm>
            <a:off x="10195560" y="6592824"/>
            <a:ext cx="1280160" cy="137160"/>
          </a:xfrm>
          <a:prstGeom prst="rect">
            <a:avLst/>
          </a:prstGeom>
          <a:noFill/>
          <a:ln/>
        </p:spPr>
        <p:txBody>
          <a:bodyPr wrap="square" lIns="0" tIns="0" rIns="0" bIns="0" rtlCol="0" anchor="ctr"/>
          <a:lstStyle/>
          <a:p>
            <a:pPr marL="0" indent="0" algn="r">
              <a:buNone/>
            </a:pPr>
            <a:r>
              <a:rPr lang="en-US" sz="750" dirty="0">
                <a:solidFill>
                  <a:srgbClr val="F2F4F7"/>
                </a:solidFill>
              </a:rPr>
              <a:t>Study Characteristics</a:t>
            </a:r>
            <a:endParaRPr lang="en-US" sz="750" dirty="0"/>
          </a:p>
        </p:txBody>
      </p:sp>
      <p:sp>
        <p:nvSpPr>
          <p:cNvPr id="7" name="Text 5"/>
          <p:cNvSpPr/>
          <p:nvPr/>
        </p:nvSpPr>
        <p:spPr>
          <a:xfrm>
            <a:off x="11539728" y="6583680"/>
            <a:ext cx="329184" cy="146304"/>
          </a:xfrm>
          <a:prstGeom prst="rect">
            <a:avLst/>
          </a:prstGeom>
          <a:noFill/>
          <a:ln/>
        </p:spPr>
        <p:txBody>
          <a:bodyPr wrap="square" lIns="0" tIns="0" rIns="0" bIns="0" rtlCol="0" anchor="ctr"/>
          <a:lstStyle/>
          <a:p>
            <a:pPr marL="0" indent="0" algn="r">
              <a:buNone/>
            </a:pPr>
            <a:r>
              <a:rPr lang="en-US" sz="850" dirty="0">
                <a:solidFill>
                  <a:srgbClr val="F2F4F7"/>
                </a:solidFill>
              </a:rPr>
              <a:t>7</a:t>
            </a:r>
            <a:endParaRPr lang="en-US" sz="850" dirty="0"/>
          </a:p>
        </p:txBody>
      </p:sp>
      <p:sp>
        <p:nvSpPr>
          <p:cNvPr id="8" name="Shape 6"/>
          <p:cNvSpPr/>
          <p:nvPr/>
        </p:nvSpPr>
        <p:spPr>
          <a:xfrm>
            <a:off x="685800" y="960120"/>
            <a:ext cx="2194560" cy="1005840"/>
          </a:xfrm>
          <a:prstGeom prst="roundRect">
            <a:avLst>
              <a:gd name="adj" fmla="val 3636"/>
            </a:avLst>
          </a:prstGeom>
          <a:solidFill>
            <a:srgbClr val="303846"/>
          </a:solidFill>
          <a:ln w="12700">
            <a:solidFill>
              <a:srgbClr val="303846"/>
            </a:solidFill>
            <a:prstDash val="solid"/>
          </a:ln>
        </p:spPr>
      </p:sp>
      <p:sp>
        <p:nvSpPr>
          <p:cNvPr id="9" name="Text 7"/>
          <p:cNvSpPr/>
          <p:nvPr/>
        </p:nvSpPr>
        <p:spPr>
          <a:xfrm>
            <a:off x="685800" y="1179576"/>
            <a:ext cx="2194560" cy="402336"/>
          </a:xfrm>
          <a:prstGeom prst="rect">
            <a:avLst/>
          </a:prstGeom>
          <a:noFill/>
          <a:ln/>
        </p:spPr>
        <p:txBody>
          <a:bodyPr wrap="square" lIns="0" tIns="0" rIns="0" bIns="0" rtlCol="0" anchor="ctr"/>
          <a:lstStyle/>
          <a:p>
            <a:pPr marL="0" indent="0" algn="ctr">
              <a:buNone/>
            </a:pPr>
            <a:r>
              <a:rPr lang="en-US" sz="3000" b="1" dirty="0">
                <a:solidFill>
                  <a:srgbClr val="FFFFFF"/>
                </a:solidFill>
              </a:rPr>
              <a:t>15</a:t>
            </a:r>
            <a:endParaRPr lang="en-US" sz="3000" dirty="0"/>
          </a:p>
        </p:txBody>
      </p:sp>
      <p:sp>
        <p:nvSpPr>
          <p:cNvPr id="10" name="Text 8"/>
          <p:cNvSpPr/>
          <p:nvPr/>
        </p:nvSpPr>
        <p:spPr>
          <a:xfrm>
            <a:off x="795528" y="1673352"/>
            <a:ext cx="1975104" cy="228600"/>
          </a:xfrm>
          <a:prstGeom prst="rect">
            <a:avLst/>
          </a:prstGeom>
          <a:noFill/>
          <a:ln/>
        </p:spPr>
        <p:txBody>
          <a:bodyPr wrap="square" lIns="0" tIns="0" rIns="0" bIns="0" rtlCol="0" anchor="ctr">
            <a:normAutofit/>
          </a:bodyPr>
          <a:lstStyle/>
          <a:p>
            <a:pPr marL="0" indent="0" algn="ctr">
              <a:buNone/>
            </a:pPr>
            <a:r>
              <a:rPr lang="en-US" sz="1050" dirty="0">
                <a:solidFill>
                  <a:srgbClr val="FFFFFF"/>
                </a:solidFill>
              </a:rPr>
              <a:t>Primary studies included</a:t>
            </a:r>
            <a:endParaRPr lang="en-US" sz="1050" dirty="0"/>
          </a:p>
        </p:txBody>
      </p:sp>
      <p:sp>
        <p:nvSpPr>
          <p:cNvPr id="11" name="Shape 9"/>
          <p:cNvSpPr/>
          <p:nvPr/>
        </p:nvSpPr>
        <p:spPr>
          <a:xfrm>
            <a:off x="3154680" y="960120"/>
            <a:ext cx="2194560" cy="1005840"/>
          </a:xfrm>
          <a:prstGeom prst="roundRect">
            <a:avLst>
              <a:gd name="adj" fmla="val 3636"/>
            </a:avLst>
          </a:prstGeom>
          <a:solidFill>
            <a:srgbClr val="2F6BD8"/>
          </a:solidFill>
          <a:ln w="12700">
            <a:solidFill>
              <a:srgbClr val="2F6BD8"/>
            </a:solidFill>
            <a:prstDash val="solid"/>
          </a:ln>
        </p:spPr>
      </p:sp>
      <p:sp>
        <p:nvSpPr>
          <p:cNvPr id="12" name="Text 10"/>
          <p:cNvSpPr/>
          <p:nvPr/>
        </p:nvSpPr>
        <p:spPr>
          <a:xfrm>
            <a:off x="3154680" y="1179576"/>
            <a:ext cx="2194560" cy="402336"/>
          </a:xfrm>
          <a:prstGeom prst="rect">
            <a:avLst/>
          </a:prstGeom>
          <a:noFill/>
          <a:ln/>
        </p:spPr>
        <p:txBody>
          <a:bodyPr wrap="square" lIns="0" tIns="0" rIns="0" bIns="0" rtlCol="0" anchor="ctr"/>
          <a:lstStyle/>
          <a:p>
            <a:pPr marL="0" indent="0" algn="ctr">
              <a:buNone/>
            </a:pPr>
            <a:r>
              <a:rPr lang="en-US" sz="3000" b="1" dirty="0">
                <a:solidFill>
                  <a:srgbClr val="FFFFFF"/>
                </a:solidFill>
              </a:rPr>
              <a:t>5</a:t>
            </a:r>
            <a:endParaRPr lang="en-US" sz="3000" dirty="0"/>
          </a:p>
        </p:txBody>
      </p:sp>
      <p:sp>
        <p:nvSpPr>
          <p:cNvPr id="13" name="Text 11"/>
          <p:cNvSpPr/>
          <p:nvPr/>
        </p:nvSpPr>
        <p:spPr>
          <a:xfrm>
            <a:off x="3264408" y="1673352"/>
            <a:ext cx="1975104" cy="228600"/>
          </a:xfrm>
          <a:prstGeom prst="rect">
            <a:avLst/>
          </a:prstGeom>
          <a:noFill/>
          <a:ln/>
        </p:spPr>
        <p:txBody>
          <a:bodyPr wrap="square" lIns="0" tIns="0" rIns="0" bIns="0" rtlCol="0" anchor="ctr">
            <a:normAutofit/>
          </a:bodyPr>
          <a:lstStyle/>
          <a:p>
            <a:pPr marL="0" indent="0" algn="ctr">
              <a:buNone/>
            </a:pPr>
            <a:r>
              <a:rPr lang="en-US" sz="1050" dirty="0">
                <a:solidFill>
                  <a:srgbClr val="FFFFFF"/>
                </a:solidFill>
              </a:rPr>
              <a:t>Supporting review papers</a:t>
            </a:r>
            <a:endParaRPr lang="en-US" sz="1050" dirty="0"/>
          </a:p>
        </p:txBody>
      </p:sp>
      <p:sp>
        <p:nvSpPr>
          <p:cNvPr id="14" name="Shape 12"/>
          <p:cNvSpPr/>
          <p:nvPr/>
        </p:nvSpPr>
        <p:spPr>
          <a:xfrm>
            <a:off x="5623560" y="960120"/>
            <a:ext cx="2194560" cy="1005840"/>
          </a:xfrm>
          <a:prstGeom prst="roundRect">
            <a:avLst>
              <a:gd name="adj" fmla="val 3636"/>
            </a:avLst>
          </a:prstGeom>
          <a:solidFill>
            <a:srgbClr val="177E89"/>
          </a:solidFill>
          <a:ln w="12700">
            <a:solidFill>
              <a:srgbClr val="177E89"/>
            </a:solidFill>
            <a:prstDash val="solid"/>
          </a:ln>
        </p:spPr>
      </p:sp>
      <p:sp>
        <p:nvSpPr>
          <p:cNvPr id="15" name="Text 13"/>
          <p:cNvSpPr/>
          <p:nvPr/>
        </p:nvSpPr>
        <p:spPr>
          <a:xfrm>
            <a:off x="5623560" y="1179576"/>
            <a:ext cx="2194560" cy="402336"/>
          </a:xfrm>
          <a:prstGeom prst="rect">
            <a:avLst/>
          </a:prstGeom>
          <a:noFill/>
          <a:ln/>
        </p:spPr>
        <p:txBody>
          <a:bodyPr wrap="square" lIns="0" tIns="0" rIns="0" bIns="0" rtlCol="0" anchor="ctr"/>
          <a:lstStyle/>
          <a:p>
            <a:pPr marL="0" indent="0" algn="ctr">
              <a:buNone/>
            </a:pPr>
            <a:r>
              <a:rPr lang="en-US" sz="3000" b="1" dirty="0">
                <a:solidFill>
                  <a:srgbClr val="FFFFFF"/>
                </a:solidFill>
              </a:rPr>
              <a:t>2021–2026</a:t>
            </a:r>
            <a:endParaRPr lang="en-US" sz="3000" dirty="0"/>
          </a:p>
        </p:txBody>
      </p:sp>
      <p:sp>
        <p:nvSpPr>
          <p:cNvPr id="16" name="Text 14"/>
          <p:cNvSpPr/>
          <p:nvPr/>
        </p:nvSpPr>
        <p:spPr>
          <a:xfrm>
            <a:off x="5733288" y="1673352"/>
            <a:ext cx="1975104" cy="228600"/>
          </a:xfrm>
          <a:prstGeom prst="rect">
            <a:avLst/>
          </a:prstGeom>
          <a:noFill/>
          <a:ln/>
        </p:spPr>
        <p:txBody>
          <a:bodyPr wrap="square" lIns="0" tIns="0" rIns="0" bIns="0" rtlCol="0" anchor="ctr">
            <a:normAutofit/>
          </a:bodyPr>
          <a:lstStyle/>
          <a:p>
            <a:pPr marL="0" indent="0" algn="ctr">
              <a:buNone/>
            </a:pPr>
            <a:r>
              <a:rPr lang="en-US" sz="1050" dirty="0">
                <a:solidFill>
                  <a:srgbClr val="FFFFFF"/>
                </a:solidFill>
              </a:rPr>
              <a:t>Core publication range</a:t>
            </a:r>
            <a:endParaRPr lang="en-US" sz="1050" dirty="0"/>
          </a:p>
        </p:txBody>
      </p:sp>
      <p:sp>
        <p:nvSpPr>
          <p:cNvPr id="17" name="Shape 15"/>
          <p:cNvSpPr/>
          <p:nvPr/>
        </p:nvSpPr>
        <p:spPr>
          <a:xfrm>
            <a:off x="8092440" y="960120"/>
            <a:ext cx="2194560" cy="1005840"/>
          </a:xfrm>
          <a:prstGeom prst="roundRect">
            <a:avLst>
              <a:gd name="adj" fmla="val 3636"/>
            </a:avLst>
          </a:prstGeom>
          <a:solidFill>
            <a:srgbClr val="25A75A"/>
          </a:solidFill>
          <a:ln w="12700">
            <a:solidFill>
              <a:srgbClr val="25A75A"/>
            </a:solidFill>
            <a:prstDash val="solid"/>
          </a:ln>
        </p:spPr>
      </p:sp>
      <p:sp>
        <p:nvSpPr>
          <p:cNvPr id="18" name="Text 16"/>
          <p:cNvSpPr/>
          <p:nvPr/>
        </p:nvSpPr>
        <p:spPr>
          <a:xfrm>
            <a:off x="8092440" y="1179576"/>
            <a:ext cx="2194560" cy="402336"/>
          </a:xfrm>
          <a:prstGeom prst="rect">
            <a:avLst/>
          </a:prstGeom>
          <a:noFill/>
          <a:ln/>
        </p:spPr>
        <p:txBody>
          <a:bodyPr wrap="square" lIns="0" tIns="0" rIns="0" bIns="0" rtlCol="0" anchor="ctr"/>
          <a:lstStyle/>
          <a:p>
            <a:pPr marL="0" indent="0" algn="ctr">
              <a:buNone/>
            </a:pPr>
            <a:r>
              <a:rPr lang="en-US" sz="3000" b="1" dirty="0">
                <a:solidFill>
                  <a:srgbClr val="FFFFFF"/>
                </a:solidFill>
              </a:rPr>
              <a:t>0</a:t>
            </a:r>
            <a:endParaRPr lang="en-US" sz="3000" dirty="0"/>
          </a:p>
        </p:txBody>
      </p:sp>
      <p:sp>
        <p:nvSpPr>
          <p:cNvPr id="19" name="Text 17"/>
          <p:cNvSpPr/>
          <p:nvPr/>
        </p:nvSpPr>
        <p:spPr>
          <a:xfrm>
            <a:off x="8202168" y="1673352"/>
            <a:ext cx="1975104" cy="228600"/>
          </a:xfrm>
          <a:prstGeom prst="rect">
            <a:avLst/>
          </a:prstGeom>
          <a:noFill/>
          <a:ln/>
        </p:spPr>
        <p:txBody>
          <a:bodyPr wrap="square" lIns="0" tIns="0" rIns="0" bIns="0" rtlCol="0" anchor="ctr">
            <a:normAutofit/>
          </a:bodyPr>
          <a:lstStyle/>
          <a:p>
            <a:pPr marL="0" indent="0" algn="ctr">
              <a:buNone/>
            </a:pPr>
            <a:r>
              <a:rPr lang="en-US" sz="1050" dirty="0">
                <a:solidFill>
                  <a:srgbClr val="FFFFFF"/>
                </a:solidFill>
              </a:rPr>
              <a:t>Low relevance after selection</a:t>
            </a:r>
            <a:endParaRPr lang="en-US" sz="1050" dirty="0"/>
          </a:p>
        </p:txBody>
      </p:sp>
      <p:sp>
        <p:nvSpPr>
          <p:cNvPr id="20" name="Shape 18"/>
          <p:cNvSpPr/>
          <p:nvPr/>
        </p:nvSpPr>
        <p:spPr>
          <a:xfrm>
            <a:off x="713232" y="2423160"/>
            <a:ext cx="2323490" cy="434340"/>
          </a:xfrm>
          <a:prstGeom prst="rect">
            <a:avLst/>
          </a:prstGeom>
          <a:solidFill>
            <a:srgbClr val="3D4656"/>
          </a:solidFill>
          <a:ln w="6350">
            <a:solidFill>
              <a:srgbClr val="CED4DA"/>
            </a:solidFill>
            <a:prstDash val="solid"/>
          </a:ln>
        </p:spPr>
      </p:sp>
      <p:sp>
        <p:nvSpPr>
          <p:cNvPr id="21" name="Text 19"/>
          <p:cNvSpPr/>
          <p:nvPr/>
        </p:nvSpPr>
        <p:spPr>
          <a:xfrm>
            <a:off x="758952" y="2459736"/>
            <a:ext cx="2232050" cy="379476"/>
          </a:xfrm>
          <a:prstGeom prst="rect">
            <a:avLst/>
          </a:prstGeom>
          <a:noFill/>
          <a:ln/>
        </p:spPr>
        <p:txBody>
          <a:bodyPr wrap="square" lIns="254" tIns="254" rIns="254" bIns="254" rtlCol="0" anchor="ctr">
            <a:normAutofit/>
          </a:bodyPr>
          <a:lstStyle/>
          <a:p>
            <a:pPr marL="0" indent="0">
              <a:buNone/>
            </a:pPr>
            <a:r>
              <a:rPr lang="en-US" sz="970" b="1" dirty="0">
                <a:solidFill>
                  <a:srgbClr val="FFFFFF"/>
                </a:solidFill>
              </a:rPr>
              <a:t>Evidence / Study Type</a:t>
            </a:r>
            <a:endParaRPr lang="en-US" sz="970" dirty="0"/>
          </a:p>
        </p:txBody>
      </p:sp>
      <p:sp>
        <p:nvSpPr>
          <p:cNvPr id="22" name="Shape 20"/>
          <p:cNvSpPr/>
          <p:nvPr/>
        </p:nvSpPr>
        <p:spPr>
          <a:xfrm>
            <a:off x="3036722" y="2423160"/>
            <a:ext cx="663854" cy="434340"/>
          </a:xfrm>
          <a:prstGeom prst="rect">
            <a:avLst/>
          </a:prstGeom>
          <a:solidFill>
            <a:srgbClr val="3D4656"/>
          </a:solidFill>
          <a:ln w="6350">
            <a:solidFill>
              <a:srgbClr val="CED4DA"/>
            </a:solidFill>
            <a:prstDash val="solid"/>
          </a:ln>
        </p:spPr>
      </p:sp>
      <p:sp>
        <p:nvSpPr>
          <p:cNvPr id="23" name="Text 21"/>
          <p:cNvSpPr/>
          <p:nvPr/>
        </p:nvSpPr>
        <p:spPr>
          <a:xfrm>
            <a:off x="3082442" y="2459736"/>
            <a:ext cx="572414" cy="379476"/>
          </a:xfrm>
          <a:prstGeom prst="rect">
            <a:avLst/>
          </a:prstGeom>
          <a:noFill/>
          <a:ln/>
        </p:spPr>
        <p:txBody>
          <a:bodyPr wrap="square" lIns="254" tIns="254" rIns="254" bIns="254" rtlCol="0" anchor="ctr">
            <a:normAutofit/>
          </a:bodyPr>
          <a:lstStyle/>
          <a:p>
            <a:pPr marL="0" indent="0">
              <a:buNone/>
            </a:pPr>
            <a:r>
              <a:rPr lang="en-US" sz="970" b="1" dirty="0">
                <a:solidFill>
                  <a:srgbClr val="FFFFFF"/>
                </a:solidFill>
              </a:rPr>
              <a:t>n</a:t>
            </a:r>
            <a:endParaRPr lang="en-US" sz="970" dirty="0"/>
          </a:p>
        </p:txBody>
      </p:sp>
      <p:sp>
        <p:nvSpPr>
          <p:cNvPr id="24" name="Shape 22"/>
          <p:cNvSpPr/>
          <p:nvPr/>
        </p:nvSpPr>
        <p:spPr>
          <a:xfrm>
            <a:off x="3700577" y="2423160"/>
            <a:ext cx="2544775" cy="434340"/>
          </a:xfrm>
          <a:prstGeom prst="rect">
            <a:avLst/>
          </a:prstGeom>
          <a:solidFill>
            <a:srgbClr val="3D4656"/>
          </a:solidFill>
          <a:ln w="6350">
            <a:solidFill>
              <a:srgbClr val="CED4DA"/>
            </a:solidFill>
            <a:prstDash val="solid"/>
          </a:ln>
        </p:spPr>
      </p:sp>
      <p:sp>
        <p:nvSpPr>
          <p:cNvPr id="25" name="Text 23"/>
          <p:cNvSpPr/>
          <p:nvPr/>
        </p:nvSpPr>
        <p:spPr>
          <a:xfrm>
            <a:off x="3746297" y="2459736"/>
            <a:ext cx="2453335" cy="379476"/>
          </a:xfrm>
          <a:prstGeom prst="rect">
            <a:avLst/>
          </a:prstGeom>
          <a:noFill/>
          <a:ln/>
        </p:spPr>
        <p:txBody>
          <a:bodyPr wrap="square" lIns="254" tIns="254" rIns="254" bIns="254" rtlCol="0" anchor="ctr">
            <a:normAutofit/>
          </a:bodyPr>
          <a:lstStyle/>
          <a:p>
            <a:pPr marL="0" indent="0">
              <a:buNone/>
            </a:pPr>
            <a:r>
              <a:rPr lang="en-US" sz="970" b="1" dirty="0">
                <a:solidFill>
                  <a:srgbClr val="FFFFFF"/>
                </a:solidFill>
              </a:rPr>
              <a:t>Representative studies</a:t>
            </a:r>
            <a:endParaRPr lang="en-US" sz="970" dirty="0"/>
          </a:p>
        </p:txBody>
      </p:sp>
      <p:sp>
        <p:nvSpPr>
          <p:cNvPr id="26" name="Shape 24"/>
          <p:cNvSpPr/>
          <p:nvPr/>
        </p:nvSpPr>
        <p:spPr>
          <a:xfrm>
            <a:off x="713232" y="2857500"/>
            <a:ext cx="2323490" cy="434340"/>
          </a:xfrm>
          <a:prstGeom prst="rect">
            <a:avLst/>
          </a:prstGeom>
          <a:solidFill>
            <a:srgbClr val="F0F5F7"/>
          </a:solidFill>
          <a:ln w="6350">
            <a:solidFill>
              <a:srgbClr val="CED4DA"/>
            </a:solidFill>
            <a:prstDash val="solid"/>
          </a:ln>
        </p:spPr>
      </p:sp>
      <p:sp>
        <p:nvSpPr>
          <p:cNvPr id="27" name="Text 25"/>
          <p:cNvSpPr/>
          <p:nvPr/>
        </p:nvSpPr>
        <p:spPr>
          <a:xfrm>
            <a:off x="758952" y="2894076"/>
            <a:ext cx="2232050" cy="379476"/>
          </a:xfrm>
          <a:prstGeom prst="rect">
            <a:avLst/>
          </a:prstGeom>
          <a:noFill/>
          <a:ln/>
        </p:spPr>
        <p:txBody>
          <a:bodyPr wrap="square" lIns="254" tIns="254" rIns="254" bIns="254" rtlCol="0" anchor="ctr">
            <a:normAutofit/>
          </a:bodyPr>
          <a:lstStyle/>
          <a:p>
            <a:pPr marL="0" indent="0">
              <a:buNone/>
            </a:pPr>
            <a:r>
              <a:rPr lang="en-US" sz="970" dirty="0">
                <a:solidFill>
                  <a:srgbClr val="303846"/>
                </a:solidFill>
              </a:rPr>
              <a:t>Industrial / case study</a:t>
            </a:r>
            <a:endParaRPr lang="en-US" sz="970" dirty="0"/>
          </a:p>
        </p:txBody>
      </p:sp>
      <p:sp>
        <p:nvSpPr>
          <p:cNvPr id="28" name="Shape 26"/>
          <p:cNvSpPr/>
          <p:nvPr/>
        </p:nvSpPr>
        <p:spPr>
          <a:xfrm>
            <a:off x="3036722" y="2857500"/>
            <a:ext cx="663854" cy="434340"/>
          </a:xfrm>
          <a:prstGeom prst="rect">
            <a:avLst/>
          </a:prstGeom>
          <a:solidFill>
            <a:srgbClr val="F0F5F7"/>
          </a:solidFill>
          <a:ln w="6350">
            <a:solidFill>
              <a:srgbClr val="CED4DA"/>
            </a:solidFill>
            <a:prstDash val="solid"/>
          </a:ln>
        </p:spPr>
      </p:sp>
      <p:sp>
        <p:nvSpPr>
          <p:cNvPr id="29" name="Text 27"/>
          <p:cNvSpPr/>
          <p:nvPr/>
        </p:nvSpPr>
        <p:spPr>
          <a:xfrm>
            <a:off x="3082442" y="2894076"/>
            <a:ext cx="572414" cy="379476"/>
          </a:xfrm>
          <a:prstGeom prst="rect">
            <a:avLst/>
          </a:prstGeom>
          <a:noFill/>
          <a:ln/>
        </p:spPr>
        <p:txBody>
          <a:bodyPr wrap="square" lIns="254" tIns="254" rIns="254" bIns="254" rtlCol="0" anchor="ctr">
            <a:normAutofit/>
          </a:bodyPr>
          <a:lstStyle/>
          <a:p>
            <a:pPr marL="0" indent="0">
              <a:buNone/>
            </a:pPr>
            <a:r>
              <a:rPr lang="en-US" sz="970" dirty="0">
                <a:solidFill>
                  <a:srgbClr val="303846"/>
                </a:solidFill>
              </a:rPr>
              <a:t>5</a:t>
            </a:r>
            <a:endParaRPr lang="en-US" sz="970" dirty="0"/>
          </a:p>
        </p:txBody>
      </p:sp>
      <p:sp>
        <p:nvSpPr>
          <p:cNvPr id="30" name="Shape 28"/>
          <p:cNvSpPr/>
          <p:nvPr/>
        </p:nvSpPr>
        <p:spPr>
          <a:xfrm>
            <a:off x="3700577" y="2857500"/>
            <a:ext cx="2544775" cy="434340"/>
          </a:xfrm>
          <a:prstGeom prst="rect">
            <a:avLst/>
          </a:prstGeom>
          <a:solidFill>
            <a:srgbClr val="F0F5F7"/>
          </a:solidFill>
          <a:ln w="6350">
            <a:solidFill>
              <a:srgbClr val="CED4DA"/>
            </a:solidFill>
            <a:prstDash val="solid"/>
          </a:ln>
        </p:spPr>
      </p:sp>
      <p:sp>
        <p:nvSpPr>
          <p:cNvPr id="31" name="Text 29"/>
          <p:cNvSpPr/>
          <p:nvPr/>
        </p:nvSpPr>
        <p:spPr>
          <a:xfrm>
            <a:off x="3746297" y="2894076"/>
            <a:ext cx="2453335" cy="379476"/>
          </a:xfrm>
          <a:prstGeom prst="rect">
            <a:avLst/>
          </a:prstGeom>
          <a:noFill/>
          <a:ln/>
        </p:spPr>
        <p:txBody>
          <a:bodyPr wrap="square" lIns="254" tIns="254" rIns="254" bIns="254" rtlCol="0" anchor="ctr">
            <a:normAutofit/>
          </a:bodyPr>
          <a:lstStyle/>
          <a:p>
            <a:pPr marL="0" indent="0">
              <a:buNone/>
            </a:pPr>
            <a:r>
              <a:rPr lang="en-US" sz="970" dirty="0">
                <a:solidFill>
                  <a:srgbClr val="303846"/>
                </a:solidFill>
              </a:rPr>
              <a:t>S1, S3, S8, S14, S15</a:t>
            </a:r>
            <a:endParaRPr lang="en-US" sz="970" dirty="0"/>
          </a:p>
        </p:txBody>
      </p:sp>
      <p:sp>
        <p:nvSpPr>
          <p:cNvPr id="32" name="Shape 30"/>
          <p:cNvSpPr/>
          <p:nvPr/>
        </p:nvSpPr>
        <p:spPr>
          <a:xfrm>
            <a:off x="713232" y="3291840"/>
            <a:ext cx="2323490" cy="434340"/>
          </a:xfrm>
          <a:prstGeom prst="rect">
            <a:avLst/>
          </a:prstGeom>
          <a:solidFill>
            <a:srgbClr val="FFFFFF"/>
          </a:solidFill>
          <a:ln w="6350">
            <a:solidFill>
              <a:srgbClr val="CED4DA"/>
            </a:solidFill>
            <a:prstDash val="solid"/>
          </a:ln>
        </p:spPr>
      </p:sp>
      <p:sp>
        <p:nvSpPr>
          <p:cNvPr id="33" name="Text 31"/>
          <p:cNvSpPr/>
          <p:nvPr/>
        </p:nvSpPr>
        <p:spPr>
          <a:xfrm>
            <a:off x="758952" y="3328416"/>
            <a:ext cx="2232050" cy="379476"/>
          </a:xfrm>
          <a:prstGeom prst="rect">
            <a:avLst/>
          </a:prstGeom>
          <a:noFill/>
          <a:ln/>
        </p:spPr>
        <p:txBody>
          <a:bodyPr wrap="square" lIns="254" tIns="254" rIns="254" bIns="254" rtlCol="0" anchor="ctr">
            <a:normAutofit/>
          </a:bodyPr>
          <a:lstStyle/>
          <a:p>
            <a:pPr marL="0" indent="0">
              <a:buNone/>
            </a:pPr>
            <a:r>
              <a:rPr lang="en-US" sz="970" dirty="0">
                <a:solidFill>
                  <a:srgbClr val="303846"/>
                </a:solidFill>
              </a:rPr>
              <a:t>Simulation / optimization</a:t>
            </a:r>
            <a:endParaRPr lang="en-US" sz="970" dirty="0"/>
          </a:p>
        </p:txBody>
      </p:sp>
      <p:sp>
        <p:nvSpPr>
          <p:cNvPr id="34" name="Shape 32"/>
          <p:cNvSpPr/>
          <p:nvPr/>
        </p:nvSpPr>
        <p:spPr>
          <a:xfrm>
            <a:off x="3036722" y="3291840"/>
            <a:ext cx="663854" cy="434340"/>
          </a:xfrm>
          <a:prstGeom prst="rect">
            <a:avLst/>
          </a:prstGeom>
          <a:solidFill>
            <a:srgbClr val="FFFFFF"/>
          </a:solidFill>
          <a:ln w="6350">
            <a:solidFill>
              <a:srgbClr val="CED4DA"/>
            </a:solidFill>
            <a:prstDash val="solid"/>
          </a:ln>
        </p:spPr>
      </p:sp>
      <p:sp>
        <p:nvSpPr>
          <p:cNvPr id="35" name="Text 33"/>
          <p:cNvSpPr/>
          <p:nvPr/>
        </p:nvSpPr>
        <p:spPr>
          <a:xfrm>
            <a:off x="3082442" y="3328416"/>
            <a:ext cx="572414" cy="379476"/>
          </a:xfrm>
          <a:prstGeom prst="rect">
            <a:avLst/>
          </a:prstGeom>
          <a:noFill/>
          <a:ln/>
        </p:spPr>
        <p:txBody>
          <a:bodyPr wrap="square" lIns="254" tIns="254" rIns="254" bIns="254" rtlCol="0" anchor="ctr">
            <a:normAutofit/>
          </a:bodyPr>
          <a:lstStyle/>
          <a:p>
            <a:pPr marL="0" indent="0">
              <a:buNone/>
            </a:pPr>
            <a:r>
              <a:rPr lang="en-US" sz="970" dirty="0">
                <a:solidFill>
                  <a:srgbClr val="303846"/>
                </a:solidFill>
              </a:rPr>
              <a:t>4</a:t>
            </a:r>
            <a:endParaRPr lang="en-US" sz="970" dirty="0"/>
          </a:p>
        </p:txBody>
      </p:sp>
      <p:sp>
        <p:nvSpPr>
          <p:cNvPr id="36" name="Shape 34"/>
          <p:cNvSpPr/>
          <p:nvPr/>
        </p:nvSpPr>
        <p:spPr>
          <a:xfrm>
            <a:off x="3700577" y="3291840"/>
            <a:ext cx="2544775" cy="434340"/>
          </a:xfrm>
          <a:prstGeom prst="rect">
            <a:avLst/>
          </a:prstGeom>
          <a:solidFill>
            <a:srgbClr val="FFFFFF"/>
          </a:solidFill>
          <a:ln w="6350">
            <a:solidFill>
              <a:srgbClr val="CED4DA"/>
            </a:solidFill>
            <a:prstDash val="solid"/>
          </a:ln>
        </p:spPr>
      </p:sp>
      <p:sp>
        <p:nvSpPr>
          <p:cNvPr id="37" name="Text 35"/>
          <p:cNvSpPr/>
          <p:nvPr/>
        </p:nvSpPr>
        <p:spPr>
          <a:xfrm>
            <a:off x="3746297" y="3328416"/>
            <a:ext cx="2453335" cy="379476"/>
          </a:xfrm>
          <a:prstGeom prst="rect">
            <a:avLst/>
          </a:prstGeom>
          <a:noFill/>
          <a:ln/>
        </p:spPr>
        <p:txBody>
          <a:bodyPr wrap="square" lIns="254" tIns="254" rIns="254" bIns="254" rtlCol="0" anchor="ctr">
            <a:normAutofit/>
          </a:bodyPr>
          <a:lstStyle/>
          <a:p>
            <a:pPr marL="0" indent="0">
              <a:buNone/>
            </a:pPr>
            <a:r>
              <a:rPr lang="en-US" sz="970" dirty="0">
                <a:solidFill>
                  <a:srgbClr val="303846"/>
                </a:solidFill>
              </a:rPr>
              <a:t>S2, S4, S6, S10</a:t>
            </a:r>
            <a:endParaRPr lang="en-US" sz="970" dirty="0"/>
          </a:p>
        </p:txBody>
      </p:sp>
      <p:sp>
        <p:nvSpPr>
          <p:cNvPr id="38" name="Shape 36"/>
          <p:cNvSpPr/>
          <p:nvPr/>
        </p:nvSpPr>
        <p:spPr>
          <a:xfrm>
            <a:off x="713232" y="3726180"/>
            <a:ext cx="2323490" cy="434340"/>
          </a:xfrm>
          <a:prstGeom prst="rect">
            <a:avLst/>
          </a:prstGeom>
          <a:solidFill>
            <a:srgbClr val="F0F5F7"/>
          </a:solidFill>
          <a:ln w="6350">
            <a:solidFill>
              <a:srgbClr val="CED4DA"/>
            </a:solidFill>
            <a:prstDash val="solid"/>
          </a:ln>
        </p:spPr>
      </p:sp>
      <p:sp>
        <p:nvSpPr>
          <p:cNvPr id="39" name="Text 37"/>
          <p:cNvSpPr/>
          <p:nvPr/>
        </p:nvSpPr>
        <p:spPr>
          <a:xfrm>
            <a:off x="758952" y="3762756"/>
            <a:ext cx="2232050" cy="379476"/>
          </a:xfrm>
          <a:prstGeom prst="rect">
            <a:avLst/>
          </a:prstGeom>
          <a:noFill/>
          <a:ln/>
        </p:spPr>
        <p:txBody>
          <a:bodyPr wrap="square" lIns="254" tIns="254" rIns="254" bIns="254" rtlCol="0" anchor="ctr">
            <a:normAutofit/>
          </a:bodyPr>
          <a:lstStyle/>
          <a:p>
            <a:pPr marL="0" indent="0">
              <a:buNone/>
            </a:pPr>
            <a:r>
              <a:rPr lang="en-US" sz="970" dirty="0">
                <a:solidFill>
                  <a:srgbClr val="303846"/>
                </a:solidFill>
              </a:rPr>
              <a:t>Prototype / laboratory</a:t>
            </a:r>
            <a:endParaRPr lang="en-US" sz="970" dirty="0"/>
          </a:p>
        </p:txBody>
      </p:sp>
      <p:sp>
        <p:nvSpPr>
          <p:cNvPr id="40" name="Shape 38"/>
          <p:cNvSpPr/>
          <p:nvPr/>
        </p:nvSpPr>
        <p:spPr>
          <a:xfrm>
            <a:off x="3036722" y="3726180"/>
            <a:ext cx="663854" cy="434340"/>
          </a:xfrm>
          <a:prstGeom prst="rect">
            <a:avLst/>
          </a:prstGeom>
          <a:solidFill>
            <a:srgbClr val="F0F5F7"/>
          </a:solidFill>
          <a:ln w="6350">
            <a:solidFill>
              <a:srgbClr val="CED4DA"/>
            </a:solidFill>
            <a:prstDash val="solid"/>
          </a:ln>
        </p:spPr>
      </p:sp>
      <p:sp>
        <p:nvSpPr>
          <p:cNvPr id="41" name="Text 39"/>
          <p:cNvSpPr/>
          <p:nvPr/>
        </p:nvSpPr>
        <p:spPr>
          <a:xfrm>
            <a:off x="3082442" y="3762756"/>
            <a:ext cx="572414" cy="379476"/>
          </a:xfrm>
          <a:prstGeom prst="rect">
            <a:avLst/>
          </a:prstGeom>
          <a:noFill/>
          <a:ln/>
        </p:spPr>
        <p:txBody>
          <a:bodyPr wrap="square" lIns="254" tIns="254" rIns="254" bIns="254" rtlCol="0" anchor="ctr">
            <a:normAutofit/>
          </a:bodyPr>
          <a:lstStyle/>
          <a:p>
            <a:pPr marL="0" indent="0">
              <a:buNone/>
            </a:pPr>
            <a:r>
              <a:rPr lang="en-US" sz="970" dirty="0">
                <a:solidFill>
                  <a:srgbClr val="303846"/>
                </a:solidFill>
              </a:rPr>
              <a:t>4</a:t>
            </a:r>
            <a:endParaRPr lang="en-US" sz="970" dirty="0"/>
          </a:p>
        </p:txBody>
      </p:sp>
      <p:sp>
        <p:nvSpPr>
          <p:cNvPr id="42" name="Shape 40"/>
          <p:cNvSpPr/>
          <p:nvPr/>
        </p:nvSpPr>
        <p:spPr>
          <a:xfrm>
            <a:off x="3700577" y="3726180"/>
            <a:ext cx="2544775" cy="434340"/>
          </a:xfrm>
          <a:prstGeom prst="rect">
            <a:avLst/>
          </a:prstGeom>
          <a:solidFill>
            <a:srgbClr val="F0F5F7"/>
          </a:solidFill>
          <a:ln w="6350">
            <a:solidFill>
              <a:srgbClr val="CED4DA"/>
            </a:solidFill>
            <a:prstDash val="solid"/>
          </a:ln>
        </p:spPr>
      </p:sp>
      <p:sp>
        <p:nvSpPr>
          <p:cNvPr id="43" name="Text 41"/>
          <p:cNvSpPr/>
          <p:nvPr/>
        </p:nvSpPr>
        <p:spPr>
          <a:xfrm>
            <a:off x="3746297" y="3762756"/>
            <a:ext cx="2453335" cy="379476"/>
          </a:xfrm>
          <a:prstGeom prst="rect">
            <a:avLst/>
          </a:prstGeom>
          <a:noFill/>
          <a:ln/>
        </p:spPr>
        <p:txBody>
          <a:bodyPr wrap="square" lIns="254" tIns="254" rIns="254" bIns="254" rtlCol="0" anchor="ctr">
            <a:normAutofit/>
          </a:bodyPr>
          <a:lstStyle/>
          <a:p>
            <a:pPr marL="0" indent="0">
              <a:buNone/>
            </a:pPr>
            <a:r>
              <a:rPr lang="en-US" sz="970" dirty="0">
                <a:solidFill>
                  <a:srgbClr val="303846"/>
                </a:solidFill>
              </a:rPr>
              <a:t>S5, S11, S12, S13</a:t>
            </a:r>
            <a:endParaRPr lang="en-US" sz="970" dirty="0"/>
          </a:p>
        </p:txBody>
      </p:sp>
      <p:sp>
        <p:nvSpPr>
          <p:cNvPr id="44" name="Shape 42"/>
          <p:cNvSpPr/>
          <p:nvPr/>
        </p:nvSpPr>
        <p:spPr>
          <a:xfrm>
            <a:off x="713232" y="4160520"/>
            <a:ext cx="2323490" cy="434340"/>
          </a:xfrm>
          <a:prstGeom prst="rect">
            <a:avLst/>
          </a:prstGeom>
          <a:solidFill>
            <a:srgbClr val="FFFFFF"/>
          </a:solidFill>
          <a:ln w="6350">
            <a:solidFill>
              <a:srgbClr val="CED4DA"/>
            </a:solidFill>
            <a:prstDash val="solid"/>
          </a:ln>
        </p:spPr>
      </p:sp>
      <p:sp>
        <p:nvSpPr>
          <p:cNvPr id="45" name="Text 43"/>
          <p:cNvSpPr/>
          <p:nvPr/>
        </p:nvSpPr>
        <p:spPr>
          <a:xfrm>
            <a:off x="758952" y="4197096"/>
            <a:ext cx="2232050" cy="379476"/>
          </a:xfrm>
          <a:prstGeom prst="rect">
            <a:avLst/>
          </a:prstGeom>
          <a:noFill/>
          <a:ln/>
        </p:spPr>
        <p:txBody>
          <a:bodyPr wrap="square" lIns="254" tIns="254" rIns="254" bIns="254" rtlCol="0" anchor="ctr">
            <a:normAutofit/>
          </a:bodyPr>
          <a:lstStyle/>
          <a:p>
            <a:pPr marL="0" indent="0">
              <a:buNone/>
            </a:pPr>
            <a:r>
              <a:rPr lang="en-US" sz="970" dirty="0">
                <a:solidFill>
                  <a:srgbClr val="303846"/>
                </a:solidFill>
              </a:rPr>
              <a:t>Conceptual / roadmap</a:t>
            </a:r>
            <a:endParaRPr lang="en-US" sz="970" dirty="0"/>
          </a:p>
        </p:txBody>
      </p:sp>
      <p:sp>
        <p:nvSpPr>
          <p:cNvPr id="46" name="Shape 44"/>
          <p:cNvSpPr/>
          <p:nvPr/>
        </p:nvSpPr>
        <p:spPr>
          <a:xfrm>
            <a:off x="3036722" y="4160520"/>
            <a:ext cx="663854" cy="434340"/>
          </a:xfrm>
          <a:prstGeom prst="rect">
            <a:avLst/>
          </a:prstGeom>
          <a:solidFill>
            <a:srgbClr val="FFFFFF"/>
          </a:solidFill>
          <a:ln w="6350">
            <a:solidFill>
              <a:srgbClr val="CED4DA"/>
            </a:solidFill>
            <a:prstDash val="solid"/>
          </a:ln>
        </p:spPr>
      </p:sp>
      <p:sp>
        <p:nvSpPr>
          <p:cNvPr id="47" name="Text 45"/>
          <p:cNvSpPr/>
          <p:nvPr/>
        </p:nvSpPr>
        <p:spPr>
          <a:xfrm>
            <a:off x="3082442" y="4197096"/>
            <a:ext cx="572414" cy="379476"/>
          </a:xfrm>
          <a:prstGeom prst="rect">
            <a:avLst/>
          </a:prstGeom>
          <a:noFill/>
          <a:ln/>
        </p:spPr>
        <p:txBody>
          <a:bodyPr wrap="square" lIns="254" tIns="254" rIns="254" bIns="254" rtlCol="0" anchor="ctr">
            <a:normAutofit/>
          </a:bodyPr>
          <a:lstStyle/>
          <a:p>
            <a:pPr marL="0" indent="0">
              <a:buNone/>
            </a:pPr>
            <a:r>
              <a:rPr lang="en-US" sz="970" dirty="0">
                <a:solidFill>
                  <a:srgbClr val="303846"/>
                </a:solidFill>
              </a:rPr>
              <a:t>2</a:t>
            </a:r>
            <a:endParaRPr lang="en-US" sz="970" dirty="0"/>
          </a:p>
        </p:txBody>
      </p:sp>
      <p:sp>
        <p:nvSpPr>
          <p:cNvPr id="48" name="Shape 46"/>
          <p:cNvSpPr/>
          <p:nvPr/>
        </p:nvSpPr>
        <p:spPr>
          <a:xfrm>
            <a:off x="3700577" y="4160520"/>
            <a:ext cx="2544775" cy="434340"/>
          </a:xfrm>
          <a:prstGeom prst="rect">
            <a:avLst/>
          </a:prstGeom>
          <a:solidFill>
            <a:srgbClr val="FFFFFF"/>
          </a:solidFill>
          <a:ln w="6350">
            <a:solidFill>
              <a:srgbClr val="CED4DA"/>
            </a:solidFill>
            <a:prstDash val="solid"/>
          </a:ln>
        </p:spPr>
      </p:sp>
      <p:sp>
        <p:nvSpPr>
          <p:cNvPr id="49" name="Text 47"/>
          <p:cNvSpPr/>
          <p:nvPr/>
        </p:nvSpPr>
        <p:spPr>
          <a:xfrm>
            <a:off x="3746297" y="4197096"/>
            <a:ext cx="2453335" cy="379476"/>
          </a:xfrm>
          <a:prstGeom prst="rect">
            <a:avLst/>
          </a:prstGeom>
          <a:noFill/>
          <a:ln/>
        </p:spPr>
        <p:txBody>
          <a:bodyPr wrap="square" lIns="254" tIns="254" rIns="254" bIns="254" rtlCol="0" anchor="ctr">
            <a:normAutofit/>
          </a:bodyPr>
          <a:lstStyle/>
          <a:p>
            <a:pPr marL="0" indent="0">
              <a:buNone/>
            </a:pPr>
            <a:r>
              <a:rPr lang="en-US" sz="970" dirty="0">
                <a:solidFill>
                  <a:srgbClr val="303846"/>
                </a:solidFill>
              </a:rPr>
              <a:t>S9, S10</a:t>
            </a:r>
            <a:endParaRPr lang="en-US" sz="970" dirty="0"/>
          </a:p>
        </p:txBody>
      </p:sp>
      <p:sp>
        <p:nvSpPr>
          <p:cNvPr id="50" name="Shape 48"/>
          <p:cNvSpPr/>
          <p:nvPr/>
        </p:nvSpPr>
        <p:spPr>
          <a:xfrm>
            <a:off x="713232" y="4594860"/>
            <a:ext cx="2323490" cy="434340"/>
          </a:xfrm>
          <a:prstGeom prst="rect">
            <a:avLst/>
          </a:prstGeom>
          <a:solidFill>
            <a:srgbClr val="F0F5F7"/>
          </a:solidFill>
          <a:ln w="6350">
            <a:solidFill>
              <a:srgbClr val="CED4DA"/>
            </a:solidFill>
            <a:prstDash val="solid"/>
          </a:ln>
        </p:spPr>
      </p:sp>
      <p:sp>
        <p:nvSpPr>
          <p:cNvPr id="51" name="Text 49"/>
          <p:cNvSpPr/>
          <p:nvPr/>
        </p:nvSpPr>
        <p:spPr>
          <a:xfrm>
            <a:off x="758952" y="4631436"/>
            <a:ext cx="2232050" cy="379476"/>
          </a:xfrm>
          <a:prstGeom prst="rect">
            <a:avLst/>
          </a:prstGeom>
          <a:noFill/>
          <a:ln/>
        </p:spPr>
        <p:txBody>
          <a:bodyPr wrap="square" lIns="254" tIns="254" rIns="254" bIns="254" rtlCol="0" anchor="ctr">
            <a:normAutofit/>
          </a:bodyPr>
          <a:lstStyle/>
          <a:p>
            <a:pPr marL="0" indent="0">
              <a:buNone/>
            </a:pPr>
            <a:r>
              <a:rPr lang="en-US" sz="970" dirty="0">
                <a:solidFill>
                  <a:srgbClr val="303846"/>
                </a:solidFill>
              </a:rPr>
              <a:t>Supporting review papers</a:t>
            </a:r>
            <a:endParaRPr lang="en-US" sz="970" dirty="0"/>
          </a:p>
        </p:txBody>
      </p:sp>
      <p:sp>
        <p:nvSpPr>
          <p:cNvPr id="52" name="Shape 50"/>
          <p:cNvSpPr/>
          <p:nvPr/>
        </p:nvSpPr>
        <p:spPr>
          <a:xfrm>
            <a:off x="3036722" y="4594860"/>
            <a:ext cx="663854" cy="434340"/>
          </a:xfrm>
          <a:prstGeom prst="rect">
            <a:avLst/>
          </a:prstGeom>
          <a:solidFill>
            <a:srgbClr val="F0F5F7"/>
          </a:solidFill>
          <a:ln w="6350">
            <a:solidFill>
              <a:srgbClr val="CED4DA"/>
            </a:solidFill>
            <a:prstDash val="solid"/>
          </a:ln>
        </p:spPr>
      </p:sp>
      <p:sp>
        <p:nvSpPr>
          <p:cNvPr id="53" name="Text 51"/>
          <p:cNvSpPr/>
          <p:nvPr/>
        </p:nvSpPr>
        <p:spPr>
          <a:xfrm>
            <a:off x="3082442" y="4631436"/>
            <a:ext cx="572414" cy="379476"/>
          </a:xfrm>
          <a:prstGeom prst="rect">
            <a:avLst/>
          </a:prstGeom>
          <a:noFill/>
          <a:ln/>
        </p:spPr>
        <p:txBody>
          <a:bodyPr wrap="square" lIns="254" tIns="254" rIns="254" bIns="254" rtlCol="0" anchor="ctr">
            <a:normAutofit/>
          </a:bodyPr>
          <a:lstStyle/>
          <a:p>
            <a:pPr marL="0" indent="0">
              <a:buNone/>
            </a:pPr>
            <a:r>
              <a:rPr lang="en-US" sz="970" dirty="0">
                <a:solidFill>
                  <a:srgbClr val="303846"/>
                </a:solidFill>
              </a:rPr>
              <a:t>5</a:t>
            </a:r>
            <a:endParaRPr lang="en-US" sz="970" dirty="0"/>
          </a:p>
        </p:txBody>
      </p:sp>
      <p:sp>
        <p:nvSpPr>
          <p:cNvPr id="54" name="Shape 52"/>
          <p:cNvSpPr/>
          <p:nvPr/>
        </p:nvSpPr>
        <p:spPr>
          <a:xfrm>
            <a:off x="3700577" y="4594860"/>
            <a:ext cx="2544775" cy="434340"/>
          </a:xfrm>
          <a:prstGeom prst="rect">
            <a:avLst/>
          </a:prstGeom>
          <a:solidFill>
            <a:srgbClr val="F0F5F7"/>
          </a:solidFill>
          <a:ln w="6350">
            <a:solidFill>
              <a:srgbClr val="CED4DA"/>
            </a:solidFill>
            <a:prstDash val="solid"/>
          </a:ln>
        </p:spPr>
      </p:sp>
      <p:sp>
        <p:nvSpPr>
          <p:cNvPr id="55" name="Text 53"/>
          <p:cNvSpPr/>
          <p:nvPr/>
        </p:nvSpPr>
        <p:spPr>
          <a:xfrm>
            <a:off x="3746297" y="4631436"/>
            <a:ext cx="2453335" cy="379476"/>
          </a:xfrm>
          <a:prstGeom prst="rect">
            <a:avLst/>
          </a:prstGeom>
          <a:noFill/>
          <a:ln/>
        </p:spPr>
        <p:txBody>
          <a:bodyPr wrap="square" lIns="254" tIns="254" rIns="254" bIns="254" rtlCol="0" anchor="ctr">
            <a:normAutofit/>
          </a:bodyPr>
          <a:lstStyle/>
          <a:p>
            <a:pPr marL="0" indent="0">
              <a:buNone/>
            </a:pPr>
            <a:r>
              <a:rPr lang="en-US" sz="970" dirty="0">
                <a:solidFill>
                  <a:srgbClr val="303846"/>
                </a:solidFill>
              </a:rPr>
              <a:t>R1–R5</a:t>
            </a:r>
            <a:endParaRPr lang="en-US" sz="970" dirty="0"/>
          </a:p>
        </p:txBody>
      </p:sp>
      <p:sp>
        <p:nvSpPr>
          <p:cNvPr id="56" name="Shape 54"/>
          <p:cNvSpPr/>
          <p:nvPr/>
        </p:nvSpPr>
        <p:spPr>
          <a:xfrm>
            <a:off x="6565392" y="2423160"/>
            <a:ext cx="4892040" cy="2606040"/>
          </a:xfrm>
          <a:prstGeom prst="roundRect">
            <a:avLst>
              <a:gd name="adj" fmla="val 1404"/>
            </a:avLst>
          </a:prstGeom>
          <a:solidFill>
            <a:srgbClr val="FFFFFF"/>
          </a:solidFill>
          <a:ln w="12700">
            <a:solidFill>
              <a:srgbClr val="E8ECF2"/>
            </a:solidFill>
            <a:prstDash val="solid"/>
          </a:ln>
        </p:spPr>
      </p:sp>
      <p:sp>
        <p:nvSpPr>
          <p:cNvPr id="57" name="Text 55"/>
          <p:cNvSpPr/>
          <p:nvPr/>
        </p:nvSpPr>
        <p:spPr>
          <a:xfrm>
            <a:off x="6784848" y="2633472"/>
            <a:ext cx="2560320" cy="228600"/>
          </a:xfrm>
          <a:prstGeom prst="rect">
            <a:avLst/>
          </a:prstGeom>
          <a:noFill/>
          <a:ln/>
        </p:spPr>
        <p:txBody>
          <a:bodyPr wrap="square" lIns="0" tIns="0" rIns="0" bIns="0" rtlCol="0" anchor="ctr"/>
          <a:lstStyle/>
          <a:p>
            <a:pPr marL="0" indent="0">
              <a:buNone/>
            </a:pPr>
            <a:r>
              <a:rPr lang="en-US" sz="1600" b="1" dirty="0">
                <a:solidFill>
                  <a:srgbClr val="303846"/>
                </a:solidFill>
              </a:rPr>
              <a:t>Topic Coverage</a:t>
            </a:r>
            <a:endParaRPr lang="en-US" sz="1600" dirty="0"/>
          </a:p>
        </p:txBody>
      </p:sp>
      <p:sp>
        <p:nvSpPr>
          <p:cNvPr id="58" name="Text 56"/>
          <p:cNvSpPr/>
          <p:nvPr/>
        </p:nvSpPr>
        <p:spPr>
          <a:xfrm>
            <a:off x="6803136" y="3063240"/>
            <a:ext cx="4251960" cy="1417320"/>
          </a:xfrm>
          <a:prstGeom prst="rect">
            <a:avLst/>
          </a:prstGeom>
          <a:noFill/>
          <a:ln/>
        </p:spPr>
        <p:txBody>
          <a:bodyPr wrap="square" lIns="889" tIns="889" rIns="889" bIns="889" rtlCol="0" anchor="ctr">
            <a:normAutofit/>
          </a:bodyPr>
          <a:lstStyle/>
          <a:p>
            <a:pPr marL="0" indent="0">
              <a:buNone/>
            </a:pPr>
            <a:r>
              <a:rPr lang="en-US" sz="1230" dirty="0">
                <a:solidFill>
                  <a:srgbClr val="303846"/>
                </a:solidFill>
              </a:rPr>
              <a:t>• Order picking and fulfillment
• AGV/AMR routing, capacity and dispatching
• Internal transport and material handling
• Production–logistics synchronization
• Smart warehouse state control and resilience</a:t>
            </a:r>
            <a:endParaRPr lang="en-US" sz="1230" dirty="0"/>
          </a:p>
        </p:txBody>
      </p:sp>
      <p:sp>
        <p:nvSpPr>
          <p:cNvPr id="59" name="Text 57"/>
          <p:cNvSpPr/>
          <p:nvPr/>
        </p:nvSpPr>
        <p:spPr>
          <a:xfrm>
            <a:off x="502920" y="6281928"/>
            <a:ext cx="10789920" cy="164592"/>
          </a:xfrm>
          <a:prstGeom prst="rect">
            <a:avLst/>
          </a:prstGeom>
          <a:noFill/>
          <a:ln/>
        </p:spPr>
        <p:txBody>
          <a:bodyPr wrap="square" lIns="0" tIns="0" rIns="0" bIns="0" rtlCol="0" anchor="ctr"/>
          <a:lstStyle/>
          <a:p>
            <a:pPr marL="0" indent="0">
              <a:buNone/>
            </a:pPr>
            <a:r>
              <a:rPr lang="en-US" sz="760" i="1" dirty="0">
                <a:solidFill>
                  <a:srgbClr val="667085"/>
                </a:solidFill>
              </a:rPr>
              <a:t>Included study types and topics from the revised review’s study matrix.</a:t>
            </a:r>
            <a:endParaRPr lang="en-US" sz="76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7F9"/>
        </a:solidFill>
        <a:effectLst/>
      </p:bgPr>
    </p:bg>
    <p:spTree>
      <p:nvGrpSpPr>
        <p:cNvPr id="1" name=""/>
        <p:cNvGrpSpPr/>
        <p:nvPr/>
      </p:nvGrpSpPr>
      <p:grpSpPr>
        <a:xfrm>
          <a:off x="0" y="0"/>
          <a:ext cx="0" cy="0"/>
          <a:chOff x="0" y="0"/>
          <a:chExt cx="0" cy="0"/>
        </a:xfrm>
      </p:grpSpPr>
      <p:sp>
        <p:nvSpPr>
          <p:cNvPr id="2" name="Shape 0"/>
          <p:cNvSpPr/>
          <p:nvPr/>
        </p:nvSpPr>
        <p:spPr>
          <a:xfrm>
            <a:off x="347472" y="329184"/>
            <a:ext cx="73152" cy="438912"/>
          </a:xfrm>
          <a:prstGeom prst="rect">
            <a:avLst/>
          </a:prstGeom>
          <a:solidFill>
            <a:srgbClr val="2F6BD8"/>
          </a:solidFill>
          <a:ln w="12700">
            <a:solidFill>
              <a:srgbClr val="2F6BD8"/>
            </a:solidFill>
            <a:prstDash val="solid"/>
          </a:ln>
        </p:spPr>
      </p:sp>
      <p:sp>
        <p:nvSpPr>
          <p:cNvPr id="3" name="Text 1"/>
          <p:cNvSpPr/>
          <p:nvPr/>
        </p:nvSpPr>
        <p:spPr>
          <a:xfrm>
            <a:off x="512064" y="292608"/>
            <a:ext cx="10789920" cy="502920"/>
          </a:xfrm>
          <a:prstGeom prst="rect">
            <a:avLst/>
          </a:prstGeom>
          <a:noFill/>
          <a:ln/>
        </p:spPr>
        <p:txBody>
          <a:bodyPr wrap="square" lIns="0" tIns="0" rIns="0" bIns="0" rtlCol="0" anchor="ctr"/>
          <a:lstStyle/>
          <a:p>
            <a:pPr marL="0" indent="0">
              <a:buNone/>
            </a:pPr>
            <a:r>
              <a:rPr lang="en-US" sz="2700" b="1" dirty="0">
                <a:solidFill>
                  <a:srgbClr val="303846"/>
                </a:solidFill>
                <a:latin typeface="Aptos Display" pitchFamily="34" charset="0"/>
                <a:ea typeface="Aptos Display" pitchFamily="34" charset="-122"/>
                <a:cs typeface="Aptos Display" pitchFamily="34" charset="-120"/>
              </a:rPr>
              <a:t>Characteristics of Included Studies</a:t>
            </a:r>
            <a:endParaRPr lang="en-US" sz="2700" dirty="0"/>
          </a:p>
        </p:txBody>
      </p:sp>
      <p:sp>
        <p:nvSpPr>
          <p:cNvPr id="4" name="Shape 2"/>
          <p:cNvSpPr/>
          <p:nvPr/>
        </p:nvSpPr>
        <p:spPr>
          <a:xfrm>
            <a:off x="0" y="6510528"/>
            <a:ext cx="12191695" cy="347472"/>
          </a:xfrm>
          <a:prstGeom prst="rect">
            <a:avLst/>
          </a:prstGeom>
          <a:solidFill>
            <a:srgbClr val="303846"/>
          </a:solidFill>
          <a:ln w="12700">
            <a:solidFill>
              <a:srgbClr val="303846"/>
            </a:solidFill>
            <a:prstDash val="solid"/>
          </a:ln>
        </p:spPr>
      </p:sp>
      <p:sp>
        <p:nvSpPr>
          <p:cNvPr id="5" name="Text 3"/>
          <p:cNvSpPr/>
          <p:nvPr/>
        </p:nvSpPr>
        <p:spPr>
          <a:xfrm>
            <a:off x="320040" y="6592824"/>
            <a:ext cx="6583680" cy="137160"/>
          </a:xfrm>
          <a:prstGeom prst="rect">
            <a:avLst/>
          </a:prstGeom>
          <a:noFill/>
          <a:ln/>
        </p:spPr>
        <p:txBody>
          <a:bodyPr wrap="square" lIns="0" tIns="0" rIns="0" bIns="0" rtlCol="0" anchor="ctr"/>
          <a:lstStyle/>
          <a:p>
            <a:pPr marL="0" indent="0">
              <a:buNone/>
            </a:pPr>
            <a:r>
              <a:rPr lang="en-US" sz="750" i="1" dirty="0">
                <a:solidFill>
                  <a:srgbClr val="F2F4F7"/>
                </a:solidFill>
              </a:rPr>
              <a:t>Digital Twin-Enabled Intralogistics — Systematic Review | SEN601</a:t>
            </a:r>
            <a:endParaRPr lang="en-US" sz="750" dirty="0"/>
          </a:p>
        </p:txBody>
      </p:sp>
      <p:sp>
        <p:nvSpPr>
          <p:cNvPr id="6" name="Text 4"/>
          <p:cNvSpPr/>
          <p:nvPr/>
        </p:nvSpPr>
        <p:spPr>
          <a:xfrm>
            <a:off x="10195560" y="6592824"/>
            <a:ext cx="1280160" cy="137160"/>
          </a:xfrm>
          <a:prstGeom prst="rect">
            <a:avLst/>
          </a:prstGeom>
          <a:noFill/>
          <a:ln/>
        </p:spPr>
        <p:txBody>
          <a:bodyPr wrap="square" lIns="0" tIns="0" rIns="0" bIns="0" rtlCol="0" anchor="ctr"/>
          <a:lstStyle/>
          <a:p>
            <a:pPr marL="0" indent="0" algn="r">
              <a:buNone/>
            </a:pPr>
            <a:r>
              <a:rPr lang="en-US" sz="750" dirty="0">
                <a:solidFill>
                  <a:srgbClr val="F2F4F7"/>
                </a:solidFill>
              </a:rPr>
              <a:t>Study Characteristics</a:t>
            </a:r>
            <a:endParaRPr lang="en-US" sz="750" dirty="0"/>
          </a:p>
        </p:txBody>
      </p:sp>
      <p:sp>
        <p:nvSpPr>
          <p:cNvPr id="7" name="Text 5"/>
          <p:cNvSpPr/>
          <p:nvPr/>
        </p:nvSpPr>
        <p:spPr>
          <a:xfrm>
            <a:off x="11539728" y="6583680"/>
            <a:ext cx="329184" cy="146304"/>
          </a:xfrm>
          <a:prstGeom prst="rect">
            <a:avLst/>
          </a:prstGeom>
          <a:noFill/>
          <a:ln/>
        </p:spPr>
        <p:txBody>
          <a:bodyPr wrap="square" lIns="0" tIns="0" rIns="0" bIns="0" rtlCol="0" anchor="ctr"/>
          <a:lstStyle/>
          <a:p>
            <a:pPr marL="0" indent="0" algn="r">
              <a:buNone/>
            </a:pPr>
            <a:r>
              <a:rPr lang="en-US" sz="850" dirty="0">
                <a:solidFill>
                  <a:srgbClr val="F2F4F7"/>
                </a:solidFill>
              </a:rPr>
              <a:t>8</a:t>
            </a:r>
            <a:endParaRPr lang="en-US" sz="850" dirty="0"/>
          </a:p>
        </p:txBody>
      </p:sp>
      <p:sp>
        <p:nvSpPr>
          <p:cNvPr id="8" name="Text 6"/>
          <p:cNvSpPr/>
          <p:nvPr/>
        </p:nvSpPr>
        <p:spPr>
          <a:xfrm>
            <a:off x="685800" y="969264"/>
            <a:ext cx="4572000" cy="256032"/>
          </a:xfrm>
          <a:prstGeom prst="rect">
            <a:avLst/>
          </a:prstGeom>
          <a:noFill/>
          <a:ln/>
        </p:spPr>
        <p:txBody>
          <a:bodyPr wrap="square" lIns="0" tIns="0" rIns="0" bIns="0" rtlCol="0" anchor="ctr"/>
          <a:lstStyle/>
          <a:p>
            <a:pPr marL="0" indent="0">
              <a:buNone/>
            </a:pPr>
            <a:r>
              <a:rPr lang="en-US" sz="1500" b="1" dirty="0">
                <a:solidFill>
                  <a:srgbClr val="303846"/>
                </a:solidFill>
              </a:rPr>
              <a:t>Source Studies (S1–S15) — 15 primary studies</a:t>
            </a:r>
            <a:endParaRPr lang="en-US" sz="1500" dirty="0"/>
          </a:p>
        </p:txBody>
      </p:sp>
      <p:sp>
        <p:nvSpPr>
          <p:cNvPr id="9" name="Shape 7"/>
          <p:cNvSpPr/>
          <p:nvPr/>
        </p:nvSpPr>
        <p:spPr>
          <a:xfrm>
            <a:off x="685800" y="1389888"/>
            <a:ext cx="647395" cy="520065"/>
          </a:xfrm>
          <a:prstGeom prst="rect">
            <a:avLst/>
          </a:prstGeom>
          <a:solidFill>
            <a:srgbClr val="3D4656"/>
          </a:solidFill>
          <a:ln w="6350">
            <a:solidFill>
              <a:srgbClr val="CED4DA"/>
            </a:solidFill>
            <a:prstDash val="solid"/>
          </a:ln>
        </p:spPr>
      </p:sp>
      <p:sp>
        <p:nvSpPr>
          <p:cNvPr id="10" name="Text 8"/>
          <p:cNvSpPr/>
          <p:nvPr/>
        </p:nvSpPr>
        <p:spPr>
          <a:xfrm>
            <a:off x="731520" y="1426464"/>
            <a:ext cx="555955" cy="465201"/>
          </a:xfrm>
          <a:prstGeom prst="rect">
            <a:avLst/>
          </a:prstGeom>
          <a:noFill/>
          <a:ln/>
        </p:spPr>
        <p:txBody>
          <a:bodyPr wrap="square" lIns="254" tIns="254" rIns="254" bIns="254" rtlCol="0" anchor="ctr">
            <a:normAutofit/>
          </a:bodyPr>
          <a:lstStyle/>
          <a:p>
            <a:pPr marL="0" indent="0">
              <a:buNone/>
            </a:pPr>
            <a:r>
              <a:rPr lang="en-US" sz="870" b="1" dirty="0">
                <a:solidFill>
                  <a:srgbClr val="FFFFFF"/>
                </a:solidFill>
              </a:rPr>
              <a:t>ID</a:t>
            </a:r>
            <a:endParaRPr lang="en-US" sz="870" dirty="0"/>
          </a:p>
        </p:txBody>
      </p:sp>
      <p:sp>
        <p:nvSpPr>
          <p:cNvPr id="11" name="Shape 9"/>
          <p:cNvSpPr/>
          <p:nvPr/>
        </p:nvSpPr>
        <p:spPr>
          <a:xfrm>
            <a:off x="1333195" y="1389888"/>
            <a:ext cx="1996135" cy="520065"/>
          </a:xfrm>
          <a:prstGeom prst="rect">
            <a:avLst/>
          </a:prstGeom>
          <a:solidFill>
            <a:srgbClr val="3D4656"/>
          </a:solidFill>
          <a:ln w="6350">
            <a:solidFill>
              <a:srgbClr val="CED4DA"/>
            </a:solidFill>
            <a:prstDash val="solid"/>
          </a:ln>
        </p:spPr>
      </p:sp>
      <p:sp>
        <p:nvSpPr>
          <p:cNvPr id="12" name="Text 10"/>
          <p:cNvSpPr/>
          <p:nvPr/>
        </p:nvSpPr>
        <p:spPr>
          <a:xfrm>
            <a:off x="1378915" y="1426464"/>
            <a:ext cx="1904695" cy="465201"/>
          </a:xfrm>
          <a:prstGeom prst="rect">
            <a:avLst/>
          </a:prstGeom>
          <a:noFill/>
          <a:ln/>
        </p:spPr>
        <p:txBody>
          <a:bodyPr wrap="square" lIns="254" tIns="254" rIns="254" bIns="254" rtlCol="0" anchor="ctr">
            <a:normAutofit/>
          </a:bodyPr>
          <a:lstStyle/>
          <a:p>
            <a:pPr marL="0" indent="0">
              <a:buNone/>
            </a:pPr>
            <a:r>
              <a:rPr lang="en-US" sz="870" b="1" dirty="0">
                <a:solidFill>
                  <a:srgbClr val="FFFFFF"/>
                </a:solidFill>
              </a:rPr>
              <a:t>Study</a:t>
            </a:r>
            <a:endParaRPr lang="en-US" sz="870" dirty="0"/>
          </a:p>
        </p:txBody>
      </p:sp>
      <p:sp>
        <p:nvSpPr>
          <p:cNvPr id="13" name="Shape 11"/>
          <p:cNvSpPr/>
          <p:nvPr/>
        </p:nvSpPr>
        <p:spPr>
          <a:xfrm>
            <a:off x="3329330" y="1389888"/>
            <a:ext cx="2751430" cy="520065"/>
          </a:xfrm>
          <a:prstGeom prst="rect">
            <a:avLst/>
          </a:prstGeom>
          <a:solidFill>
            <a:srgbClr val="3D4656"/>
          </a:solidFill>
          <a:ln w="6350">
            <a:solidFill>
              <a:srgbClr val="CED4DA"/>
            </a:solidFill>
            <a:prstDash val="solid"/>
          </a:ln>
        </p:spPr>
      </p:sp>
      <p:sp>
        <p:nvSpPr>
          <p:cNvPr id="14" name="Text 12"/>
          <p:cNvSpPr/>
          <p:nvPr/>
        </p:nvSpPr>
        <p:spPr>
          <a:xfrm>
            <a:off x="3375050" y="1426464"/>
            <a:ext cx="2659990" cy="465201"/>
          </a:xfrm>
          <a:prstGeom prst="rect">
            <a:avLst/>
          </a:prstGeom>
          <a:noFill/>
          <a:ln/>
        </p:spPr>
        <p:txBody>
          <a:bodyPr wrap="square" lIns="254" tIns="254" rIns="254" bIns="254" rtlCol="0" anchor="ctr">
            <a:normAutofit/>
          </a:bodyPr>
          <a:lstStyle/>
          <a:p>
            <a:pPr marL="0" indent="0">
              <a:buNone/>
            </a:pPr>
            <a:r>
              <a:rPr lang="en-US" sz="870" b="1" dirty="0">
                <a:solidFill>
                  <a:srgbClr val="FFFFFF"/>
                </a:solidFill>
              </a:rPr>
              <a:t>Primary focus</a:t>
            </a:r>
            <a:endParaRPr lang="en-US" sz="870" dirty="0"/>
          </a:p>
        </p:txBody>
      </p:sp>
      <p:sp>
        <p:nvSpPr>
          <p:cNvPr id="15" name="Shape 13"/>
          <p:cNvSpPr/>
          <p:nvPr/>
        </p:nvSpPr>
        <p:spPr>
          <a:xfrm>
            <a:off x="685800" y="1909953"/>
            <a:ext cx="647395" cy="520065"/>
          </a:xfrm>
          <a:prstGeom prst="rect">
            <a:avLst/>
          </a:prstGeom>
          <a:solidFill>
            <a:srgbClr val="F0F5F7"/>
          </a:solidFill>
          <a:ln w="6350">
            <a:solidFill>
              <a:srgbClr val="CED4DA"/>
            </a:solidFill>
            <a:prstDash val="solid"/>
          </a:ln>
        </p:spPr>
      </p:sp>
      <p:sp>
        <p:nvSpPr>
          <p:cNvPr id="16" name="Text 14"/>
          <p:cNvSpPr/>
          <p:nvPr/>
        </p:nvSpPr>
        <p:spPr>
          <a:xfrm>
            <a:off x="731520" y="1946529"/>
            <a:ext cx="555955" cy="465201"/>
          </a:xfrm>
          <a:prstGeom prst="rect">
            <a:avLst/>
          </a:prstGeom>
          <a:noFill/>
          <a:ln/>
        </p:spPr>
        <p:txBody>
          <a:bodyPr wrap="square" lIns="254" tIns="254" rIns="254" bIns="254" rtlCol="0" anchor="ctr">
            <a:normAutofit/>
          </a:bodyPr>
          <a:lstStyle/>
          <a:p>
            <a:pPr marL="0" indent="0">
              <a:buNone/>
            </a:pPr>
            <a:r>
              <a:rPr lang="en-US" sz="870" dirty="0">
                <a:solidFill>
                  <a:srgbClr val="303846"/>
                </a:solidFill>
              </a:rPr>
              <a:t>S1</a:t>
            </a:r>
            <a:endParaRPr lang="en-US" sz="870" dirty="0"/>
          </a:p>
        </p:txBody>
      </p:sp>
      <p:sp>
        <p:nvSpPr>
          <p:cNvPr id="17" name="Shape 15"/>
          <p:cNvSpPr/>
          <p:nvPr/>
        </p:nvSpPr>
        <p:spPr>
          <a:xfrm>
            <a:off x="1333195" y="1909953"/>
            <a:ext cx="1996135" cy="520065"/>
          </a:xfrm>
          <a:prstGeom prst="rect">
            <a:avLst/>
          </a:prstGeom>
          <a:solidFill>
            <a:srgbClr val="F0F5F7"/>
          </a:solidFill>
          <a:ln w="6350">
            <a:solidFill>
              <a:srgbClr val="CED4DA"/>
            </a:solidFill>
            <a:prstDash val="solid"/>
          </a:ln>
        </p:spPr>
      </p:sp>
      <p:sp>
        <p:nvSpPr>
          <p:cNvPr id="18" name="Text 16"/>
          <p:cNvSpPr/>
          <p:nvPr/>
        </p:nvSpPr>
        <p:spPr>
          <a:xfrm>
            <a:off x="1378915" y="1946529"/>
            <a:ext cx="1904695" cy="465201"/>
          </a:xfrm>
          <a:prstGeom prst="rect">
            <a:avLst/>
          </a:prstGeom>
          <a:noFill/>
          <a:ln/>
        </p:spPr>
        <p:txBody>
          <a:bodyPr wrap="square" lIns="254" tIns="254" rIns="254" bIns="254" rtlCol="0" anchor="ctr">
            <a:normAutofit/>
          </a:bodyPr>
          <a:lstStyle/>
          <a:p>
            <a:pPr marL="0" indent="0">
              <a:buNone/>
            </a:pPr>
            <a:r>
              <a:rPr lang="en-US" sz="870" dirty="0">
                <a:solidFill>
                  <a:srgbClr val="303846"/>
                </a:solidFill>
              </a:rPr>
              <a:t>Kawczynski et al. (2023)</a:t>
            </a:r>
            <a:endParaRPr lang="en-US" sz="870" dirty="0"/>
          </a:p>
        </p:txBody>
      </p:sp>
      <p:sp>
        <p:nvSpPr>
          <p:cNvPr id="19" name="Shape 17"/>
          <p:cNvSpPr/>
          <p:nvPr/>
        </p:nvSpPr>
        <p:spPr>
          <a:xfrm>
            <a:off x="3329330" y="1909953"/>
            <a:ext cx="2751430" cy="520065"/>
          </a:xfrm>
          <a:prstGeom prst="rect">
            <a:avLst/>
          </a:prstGeom>
          <a:solidFill>
            <a:srgbClr val="F0F5F7"/>
          </a:solidFill>
          <a:ln w="6350">
            <a:solidFill>
              <a:srgbClr val="CED4DA"/>
            </a:solidFill>
            <a:prstDash val="solid"/>
          </a:ln>
        </p:spPr>
      </p:sp>
      <p:sp>
        <p:nvSpPr>
          <p:cNvPr id="20" name="Text 18"/>
          <p:cNvSpPr/>
          <p:nvPr/>
        </p:nvSpPr>
        <p:spPr>
          <a:xfrm>
            <a:off x="3375050" y="1946529"/>
            <a:ext cx="2659990" cy="465201"/>
          </a:xfrm>
          <a:prstGeom prst="rect">
            <a:avLst/>
          </a:prstGeom>
          <a:noFill/>
          <a:ln/>
        </p:spPr>
        <p:txBody>
          <a:bodyPr wrap="square" lIns="254" tIns="254" rIns="254" bIns="254" rtlCol="0" anchor="ctr">
            <a:normAutofit/>
          </a:bodyPr>
          <a:lstStyle/>
          <a:p>
            <a:pPr marL="0" indent="0">
              <a:buNone/>
            </a:pPr>
            <a:r>
              <a:rPr lang="en-US" sz="870" dirty="0">
                <a:solidFill>
                  <a:srgbClr val="303846"/>
                </a:solidFill>
              </a:rPr>
              <a:t>Automated order picking / fulfillment</a:t>
            </a:r>
            <a:endParaRPr lang="en-US" sz="870" dirty="0"/>
          </a:p>
        </p:txBody>
      </p:sp>
      <p:sp>
        <p:nvSpPr>
          <p:cNvPr id="21" name="Shape 19"/>
          <p:cNvSpPr/>
          <p:nvPr/>
        </p:nvSpPr>
        <p:spPr>
          <a:xfrm>
            <a:off x="685800" y="2430018"/>
            <a:ext cx="647395" cy="520065"/>
          </a:xfrm>
          <a:prstGeom prst="rect">
            <a:avLst/>
          </a:prstGeom>
          <a:solidFill>
            <a:srgbClr val="FFFFFF"/>
          </a:solidFill>
          <a:ln w="6350">
            <a:solidFill>
              <a:srgbClr val="CED4DA"/>
            </a:solidFill>
            <a:prstDash val="solid"/>
          </a:ln>
        </p:spPr>
      </p:sp>
      <p:sp>
        <p:nvSpPr>
          <p:cNvPr id="22" name="Text 20"/>
          <p:cNvSpPr/>
          <p:nvPr/>
        </p:nvSpPr>
        <p:spPr>
          <a:xfrm>
            <a:off x="731520" y="2466594"/>
            <a:ext cx="555955" cy="465201"/>
          </a:xfrm>
          <a:prstGeom prst="rect">
            <a:avLst/>
          </a:prstGeom>
          <a:noFill/>
          <a:ln/>
        </p:spPr>
        <p:txBody>
          <a:bodyPr wrap="square" lIns="254" tIns="254" rIns="254" bIns="254" rtlCol="0" anchor="ctr">
            <a:normAutofit/>
          </a:bodyPr>
          <a:lstStyle/>
          <a:p>
            <a:pPr marL="0" indent="0">
              <a:buNone/>
            </a:pPr>
            <a:r>
              <a:rPr lang="en-US" sz="870" dirty="0">
                <a:solidFill>
                  <a:srgbClr val="303846"/>
                </a:solidFill>
              </a:rPr>
              <a:t>S2</a:t>
            </a:r>
            <a:endParaRPr lang="en-US" sz="870" dirty="0"/>
          </a:p>
        </p:txBody>
      </p:sp>
      <p:sp>
        <p:nvSpPr>
          <p:cNvPr id="23" name="Shape 21"/>
          <p:cNvSpPr/>
          <p:nvPr/>
        </p:nvSpPr>
        <p:spPr>
          <a:xfrm>
            <a:off x="1333195" y="2430018"/>
            <a:ext cx="1996135" cy="520065"/>
          </a:xfrm>
          <a:prstGeom prst="rect">
            <a:avLst/>
          </a:prstGeom>
          <a:solidFill>
            <a:srgbClr val="FFFFFF"/>
          </a:solidFill>
          <a:ln w="6350">
            <a:solidFill>
              <a:srgbClr val="CED4DA"/>
            </a:solidFill>
            <a:prstDash val="solid"/>
          </a:ln>
        </p:spPr>
      </p:sp>
      <p:sp>
        <p:nvSpPr>
          <p:cNvPr id="24" name="Text 22"/>
          <p:cNvSpPr/>
          <p:nvPr/>
        </p:nvSpPr>
        <p:spPr>
          <a:xfrm>
            <a:off x="1378915" y="2466594"/>
            <a:ext cx="1904695" cy="465201"/>
          </a:xfrm>
          <a:prstGeom prst="rect">
            <a:avLst/>
          </a:prstGeom>
          <a:noFill/>
          <a:ln/>
        </p:spPr>
        <p:txBody>
          <a:bodyPr wrap="square" lIns="254" tIns="254" rIns="254" bIns="254" rtlCol="0" anchor="ctr">
            <a:normAutofit/>
          </a:bodyPr>
          <a:lstStyle/>
          <a:p>
            <a:pPr marL="0" indent="0">
              <a:buNone/>
            </a:pPr>
            <a:r>
              <a:rPr lang="en-US" sz="870" dirty="0">
                <a:solidFill>
                  <a:srgbClr val="303846"/>
                </a:solidFill>
              </a:rPr>
              <a:t>Legato &amp; Mazza (2026)</a:t>
            </a:r>
            <a:endParaRPr lang="en-US" sz="870" dirty="0"/>
          </a:p>
        </p:txBody>
      </p:sp>
      <p:sp>
        <p:nvSpPr>
          <p:cNvPr id="25" name="Shape 23"/>
          <p:cNvSpPr/>
          <p:nvPr/>
        </p:nvSpPr>
        <p:spPr>
          <a:xfrm>
            <a:off x="3329330" y="2430018"/>
            <a:ext cx="2751430" cy="520065"/>
          </a:xfrm>
          <a:prstGeom prst="rect">
            <a:avLst/>
          </a:prstGeom>
          <a:solidFill>
            <a:srgbClr val="FFFFFF"/>
          </a:solidFill>
          <a:ln w="6350">
            <a:solidFill>
              <a:srgbClr val="CED4DA"/>
            </a:solidFill>
            <a:prstDash val="solid"/>
          </a:ln>
        </p:spPr>
      </p:sp>
      <p:sp>
        <p:nvSpPr>
          <p:cNvPr id="26" name="Text 24"/>
          <p:cNvSpPr/>
          <p:nvPr/>
        </p:nvSpPr>
        <p:spPr>
          <a:xfrm>
            <a:off x="3375050" y="2466594"/>
            <a:ext cx="2659990" cy="465201"/>
          </a:xfrm>
          <a:prstGeom prst="rect">
            <a:avLst/>
          </a:prstGeom>
          <a:noFill/>
          <a:ln/>
        </p:spPr>
        <p:txBody>
          <a:bodyPr wrap="square" lIns="254" tIns="254" rIns="254" bIns="254" rtlCol="0" anchor="ctr">
            <a:normAutofit/>
          </a:bodyPr>
          <a:lstStyle/>
          <a:p>
            <a:pPr marL="0" indent="0">
              <a:buNone/>
            </a:pPr>
            <a:r>
              <a:rPr lang="en-US" sz="870" dirty="0">
                <a:solidFill>
                  <a:srgbClr val="303846"/>
                </a:solidFill>
              </a:rPr>
              <a:t>Manual order-picking digital shadow</a:t>
            </a:r>
            <a:endParaRPr lang="en-US" sz="870" dirty="0"/>
          </a:p>
        </p:txBody>
      </p:sp>
      <p:sp>
        <p:nvSpPr>
          <p:cNvPr id="27" name="Shape 25"/>
          <p:cNvSpPr/>
          <p:nvPr/>
        </p:nvSpPr>
        <p:spPr>
          <a:xfrm>
            <a:off x="685800" y="2950083"/>
            <a:ext cx="647395" cy="520065"/>
          </a:xfrm>
          <a:prstGeom prst="rect">
            <a:avLst/>
          </a:prstGeom>
          <a:solidFill>
            <a:srgbClr val="F0F5F7"/>
          </a:solidFill>
          <a:ln w="6350">
            <a:solidFill>
              <a:srgbClr val="CED4DA"/>
            </a:solidFill>
            <a:prstDash val="solid"/>
          </a:ln>
        </p:spPr>
      </p:sp>
      <p:sp>
        <p:nvSpPr>
          <p:cNvPr id="28" name="Text 26"/>
          <p:cNvSpPr/>
          <p:nvPr/>
        </p:nvSpPr>
        <p:spPr>
          <a:xfrm>
            <a:off x="731520" y="2986659"/>
            <a:ext cx="555955" cy="465201"/>
          </a:xfrm>
          <a:prstGeom prst="rect">
            <a:avLst/>
          </a:prstGeom>
          <a:noFill/>
          <a:ln/>
        </p:spPr>
        <p:txBody>
          <a:bodyPr wrap="square" lIns="254" tIns="254" rIns="254" bIns="254" rtlCol="0" anchor="ctr">
            <a:normAutofit/>
          </a:bodyPr>
          <a:lstStyle/>
          <a:p>
            <a:pPr marL="0" indent="0">
              <a:buNone/>
            </a:pPr>
            <a:r>
              <a:rPr lang="en-US" sz="870" dirty="0">
                <a:solidFill>
                  <a:srgbClr val="303846"/>
                </a:solidFill>
              </a:rPr>
              <a:t>S3</a:t>
            </a:r>
            <a:endParaRPr lang="en-US" sz="870" dirty="0"/>
          </a:p>
        </p:txBody>
      </p:sp>
      <p:sp>
        <p:nvSpPr>
          <p:cNvPr id="29" name="Shape 27"/>
          <p:cNvSpPr/>
          <p:nvPr/>
        </p:nvSpPr>
        <p:spPr>
          <a:xfrm>
            <a:off x="1333195" y="2950083"/>
            <a:ext cx="1996135" cy="520065"/>
          </a:xfrm>
          <a:prstGeom prst="rect">
            <a:avLst/>
          </a:prstGeom>
          <a:solidFill>
            <a:srgbClr val="F0F5F7"/>
          </a:solidFill>
          <a:ln w="6350">
            <a:solidFill>
              <a:srgbClr val="CED4DA"/>
            </a:solidFill>
            <a:prstDash val="solid"/>
          </a:ln>
        </p:spPr>
      </p:sp>
      <p:sp>
        <p:nvSpPr>
          <p:cNvPr id="30" name="Text 28"/>
          <p:cNvSpPr/>
          <p:nvPr/>
        </p:nvSpPr>
        <p:spPr>
          <a:xfrm>
            <a:off x="1378915" y="2986659"/>
            <a:ext cx="1904695" cy="465201"/>
          </a:xfrm>
          <a:prstGeom prst="rect">
            <a:avLst/>
          </a:prstGeom>
          <a:noFill/>
          <a:ln/>
        </p:spPr>
        <p:txBody>
          <a:bodyPr wrap="square" lIns="254" tIns="254" rIns="254" bIns="254" rtlCol="0" anchor="ctr">
            <a:normAutofit/>
          </a:bodyPr>
          <a:lstStyle/>
          <a:p>
            <a:pPr marL="0" indent="0">
              <a:buNone/>
            </a:pPr>
            <a:r>
              <a:rPr lang="en-US" sz="870" dirty="0">
                <a:solidFill>
                  <a:srgbClr val="303846"/>
                </a:solidFill>
              </a:rPr>
              <a:t>Guerrazzi et al. (2024)</a:t>
            </a:r>
            <a:endParaRPr lang="en-US" sz="870" dirty="0"/>
          </a:p>
        </p:txBody>
      </p:sp>
      <p:sp>
        <p:nvSpPr>
          <p:cNvPr id="31" name="Shape 29"/>
          <p:cNvSpPr/>
          <p:nvPr/>
        </p:nvSpPr>
        <p:spPr>
          <a:xfrm>
            <a:off x="3329330" y="2950083"/>
            <a:ext cx="2751430" cy="520065"/>
          </a:xfrm>
          <a:prstGeom prst="rect">
            <a:avLst/>
          </a:prstGeom>
          <a:solidFill>
            <a:srgbClr val="F0F5F7"/>
          </a:solidFill>
          <a:ln w="6350">
            <a:solidFill>
              <a:srgbClr val="CED4DA"/>
            </a:solidFill>
            <a:prstDash val="solid"/>
          </a:ln>
        </p:spPr>
      </p:sp>
      <p:sp>
        <p:nvSpPr>
          <p:cNvPr id="32" name="Text 30"/>
          <p:cNvSpPr/>
          <p:nvPr/>
        </p:nvSpPr>
        <p:spPr>
          <a:xfrm>
            <a:off x="3375050" y="2986659"/>
            <a:ext cx="2659990" cy="465201"/>
          </a:xfrm>
          <a:prstGeom prst="rect">
            <a:avLst/>
          </a:prstGeom>
          <a:noFill/>
          <a:ln/>
        </p:spPr>
        <p:txBody>
          <a:bodyPr wrap="square" lIns="254" tIns="254" rIns="254" bIns="254" rtlCol="0" anchor="ctr">
            <a:normAutofit/>
          </a:bodyPr>
          <a:lstStyle/>
          <a:p>
            <a:pPr marL="0" indent="0">
              <a:buNone/>
            </a:pPr>
            <a:r>
              <a:rPr lang="en-US" sz="870" dirty="0">
                <a:solidFill>
                  <a:srgbClr val="303846"/>
                </a:solidFill>
              </a:rPr>
              <a:t>SBS/RS picking–outbound loading balance</a:t>
            </a:r>
            <a:endParaRPr lang="en-US" sz="870" dirty="0"/>
          </a:p>
        </p:txBody>
      </p:sp>
      <p:sp>
        <p:nvSpPr>
          <p:cNvPr id="33" name="Shape 31"/>
          <p:cNvSpPr/>
          <p:nvPr/>
        </p:nvSpPr>
        <p:spPr>
          <a:xfrm>
            <a:off x="685800" y="3470148"/>
            <a:ext cx="647395" cy="520065"/>
          </a:xfrm>
          <a:prstGeom prst="rect">
            <a:avLst/>
          </a:prstGeom>
          <a:solidFill>
            <a:srgbClr val="FFFFFF"/>
          </a:solidFill>
          <a:ln w="6350">
            <a:solidFill>
              <a:srgbClr val="CED4DA"/>
            </a:solidFill>
            <a:prstDash val="solid"/>
          </a:ln>
        </p:spPr>
      </p:sp>
      <p:sp>
        <p:nvSpPr>
          <p:cNvPr id="34" name="Text 32"/>
          <p:cNvSpPr/>
          <p:nvPr/>
        </p:nvSpPr>
        <p:spPr>
          <a:xfrm>
            <a:off x="731520" y="3506724"/>
            <a:ext cx="555955" cy="465201"/>
          </a:xfrm>
          <a:prstGeom prst="rect">
            <a:avLst/>
          </a:prstGeom>
          <a:noFill/>
          <a:ln/>
        </p:spPr>
        <p:txBody>
          <a:bodyPr wrap="square" lIns="254" tIns="254" rIns="254" bIns="254" rtlCol="0" anchor="ctr">
            <a:normAutofit/>
          </a:bodyPr>
          <a:lstStyle/>
          <a:p>
            <a:pPr marL="0" indent="0">
              <a:buNone/>
            </a:pPr>
            <a:r>
              <a:rPr lang="en-US" sz="870" dirty="0">
                <a:solidFill>
                  <a:srgbClr val="303846"/>
                </a:solidFill>
              </a:rPr>
              <a:t>S4</a:t>
            </a:r>
            <a:endParaRPr lang="en-US" sz="870" dirty="0"/>
          </a:p>
        </p:txBody>
      </p:sp>
      <p:sp>
        <p:nvSpPr>
          <p:cNvPr id="35" name="Shape 33"/>
          <p:cNvSpPr/>
          <p:nvPr/>
        </p:nvSpPr>
        <p:spPr>
          <a:xfrm>
            <a:off x="1333195" y="3470148"/>
            <a:ext cx="1996135" cy="520065"/>
          </a:xfrm>
          <a:prstGeom prst="rect">
            <a:avLst/>
          </a:prstGeom>
          <a:solidFill>
            <a:srgbClr val="FFFFFF"/>
          </a:solidFill>
          <a:ln w="6350">
            <a:solidFill>
              <a:srgbClr val="CED4DA"/>
            </a:solidFill>
            <a:prstDash val="solid"/>
          </a:ln>
        </p:spPr>
      </p:sp>
      <p:sp>
        <p:nvSpPr>
          <p:cNvPr id="36" name="Text 34"/>
          <p:cNvSpPr/>
          <p:nvPr/>
        </p:nvSpPr>
        <p:spPr>
          <a:xfrm>
            <a:off x="1378915" y="3506724"/>
            <a:ext cx="1904695" cy="465201"/>
          </a:xfrm>
          <a:prstGeom prst="rect">
            <a:avLst/>
          </a:prstGeom>
          <a:noFill/>
          <a:ln/>
        </p:spPr>
        <p:txBody>
          <a:bodyPr wrap="square" lIns="254" tIns="254" rIns="254" bIns="254" rtlCol="0" anchor="ctr">
            <a:normAutofit/>
          </a:bodyPr>
          <a:lstStyle/>
          <a:p>
            <a:pPr marL="0" indent="0">
              <a:buNone/>
            </a:pPr>
            <a:r>
              <a:rPr lang="en-US" sz="870" dirty="0">
                <a:solidFill>
                  <a:srgbClr val="303846"/>
                </a:solidFill>
              </a:rPr>
              <a:t>Zhang et al. (2024)</a:t>
            </a:r>
            <a:endParaRPr lang="en-US" sz="870" dirty="0"/>
          </a:p>
        </p:txBody>
      </p:sp>
      <p:sp>
        <p:nvSpPr>
          <p:cNvPr id="37" name="Shape 35"/>
          <p:cNvSpPr/>
          <p:nvPr/>
        </p:nvSpPr>
        <p:spPr>
          <a:xfrm>
            <a:off x="3329330" y="3470148"/>
            <a:ext cx="2751430" cy="520065"/>
          </a:xfrm>
          <a:prstGeom prst="rect">
            <a:avLst/>
          </a:prstGeom>
          <a:solidFill>
            <a:srgbClr val="FFFFFF"/>
          </a:solidFill>
          <a:ln w="6350">
            <a:solidFill>
              <a:srgbClr val="CED4DA"/>
            </a:solidFill>
            <a:prstDash val="solid"/>
          </a:ln>
        </p:spPr>
      </p:sp>
      <p:sp>
        <p:nvSpPr>
          <p:cNvPr id="38" name="Text 36"/>
          <p:cNvSpPr/>
          <p:nvPr/>
        </p:nvSpPr>
        <p:spPr>
          <a:xfrm>
            <a:off x="3375050" y="3506724"/>
            <a:ext cx="2659990" cy="465201"/>
          </a:xfrm>
          <a:prstGeom prst="rect">
            <a:avLst/>
          </a:prstGeom>
          <a:noFill/>
          <a:ln/>
        </p:spPr>
        <p:txBody>
          <a:bodyPr wrap="square" lIns="254" tIns="254" rIns="254" bIns="254" rtlCol="0" anchor="ctr">
            <a:normAutofit/>
          </a:bodyPr>
          <a:lstStyle/>
          <a:p>
            <a:pPr marL="0" indent="0">
              <a:buNone/>
            </a:pPr>
            <a:r>
              <a:rPr lang="en-US" sz="870" dirty="0">
                <a:solidFill>
                  <a:srgbClr val="303846"/>
                </a:solidFill>
              </a:rPr>
              <a:t>AGV dispatching and routing with DRL</a:t>
            </a:r>
            <a:endParaRPr lang="en-US" sz="870" dirty="0"/>
          </a:p>
        </p:txBody>
      </p:sp>
      <p:sp>
        <p:nvSpPr>
          <p:cNvPr id="39" name="Shape 37"/>
          <p:cNvSpPr/>
          <p:nvPr/>
        </p:nvSpPr>
        <p:spPr>
          <a:xfrm>
            <a:off x="685800" y="3990213"/>
            <a:ext cx="647395" cy="520065"/>
          </a:xfrm>
          <a:prstGeom prst="rect">
            <a:avLst/>
          </a:prstGeom>
          <a:solidFill>
            <a:srgbClr val="F0F5F7"/>
          </a:solidFill>
          <a:ln w="6350">
            <a:solidFill>
              <a:srgbClr val="CED4DA"/>
            </a:solidFill>
            <a:prstDash val="solid"/>
          </a:ln>
        </p:spPr>
      </p:sp>
      <p:sp>
        <p:nvSpPr>
          <p:cNvPr id="40" name="Text 38"/>
          <p:cNvSpPr/>
          <p:nvPr/>
        </p:nvSpPr>
        <p:spPr>
          <a:xfrm>
            <a:off x="731520" y="4026789"/>
            <a:ext cx="555955" cy="465201"/>
          </a:xfrm>
          <a:prstGeom prst="rect">
            <a:avLst/>
          </a:prstGeom>
          <a:noFill/>
          <a:ln/>
        </p:spPr>
        <p:txBody>
          <a:bodyPr wrap="square" lIns="254" tIns="254" rIns="254" bIns="254" rtlCol="0" anchor="ctr">
            <a:normAutofit/>
          </a:bodyPr>
          <a:lstStyle/>
          <a:p>
            <a:pPr marL="0" indent="0">
              <a:buNone/>
            </a:pPr>
            <a:r>
              <a:rPr lang="en-US" sz="870" dirty="0">
                <a:solidFill>
                  <a:srgbClr val="303846"/>
                </a:solidFill>
              </a:rPr>
              <a:t>S5</a:t>
            </a:r>
            <a:endParaRPr lang="en-US" sz="870" dirty="0"/>
          </a:p>
        </p:txBody>
      </p:sp>
      <p:sp>
        <p:nvSpPr>
          <p:cNvPr id="41" name="Shape 39"/>
          <p:cNvSpPr/>
          <p:nvPr/>
        </p:nvSpPr>
        <p:spPr>
          <a:xfrm>
            <a:off x="1333195" y="3990213"/>
            <a:ext cx="1996135" cy="520065"/>
          </a:xfrm>
          <a:prstGeom prst="rect">
            <a:avLst/>
          </a:prstGeom>
          <a:solidFill>
            <a:srgbClr val="F0F5F7"/>
          </a:solidFill>
          <a:ln w="6350">
            <a:solidFill>
              <a:srgbClr val="CED4DA"/>
            </a:solidFill>
            <a:prstDash val="solid"/>
          </a:ln>
        </p:spPr>
      </p:sp>
      <p:sp>
        <p:nvSpPr>
          <p:cNvPr id="42" name="Text 40"/>
          <p:cNvSpPr/>
          <p:nvPr/>
        </p:nvSpPr>
        <p:spPr>
          <a:xfrm>
            <a:off x="1378915" y="4026789"/>
            <a:ext cx="1904695" cy="465201"/>
          </a:xfrm>
          <a:prstGeom prst="rect">
            <a:avLst/>
          </a:prstGeom>
          <a:noFill/>
          <a:ln/>
        </p:spPr>
        <p:txBody>
          <a:bodyPr wrap="square" lIns="254" tIns="254" rIns="254" bIns="254" rtlCol="0" anchor="ctr">
            <a:normAutofit/>
          </a:bodyPr>
          <a:lstStyle/>
          <a:p>
            <a:pPr marL="0" indent="0">
              <a:buNone/>
            </a:pPr>
            <a:r>
              <a:rPr lang="en-US" sz="870" dirty="0">
                <a:solidFill>
                  <a:srgbClr val="303846"/>
                </a:solidFill>
              </a:rPr>
              <a:t>Yao et al. (2024)</a:t>
            </a:r>
            <a:endParaRPr lang="en-US" sz="870" dirty="0"/>
          </a:p>
        </p:txBody>
      </p:sp>
      <p:sp>
        <p:nvSpPr>
          <p:cNvPr id="43" name="Shape 41"/>
          <p:cNvSpPr/>
          <p:nvPr/>
        </p:nvSpPr>
        <p:spPr>
          <a:xfrm>
            <a:off x="3329330" y="3990213"/>
            <a:ext cx="2751430" cy="520065"/>
          </a:xfrm>
          <a:prstGeom prst="rect">
            <a:avLst/>
          </a:prstGeom>
          <a:solidFill>
            <a:srgbClr val="F0F5F7"/>
          </a:solidFill>
          <a:ln w="6350">
            <a:solidFill>
              <a:srgbClr val="CED4DA"/>
            </a:solidFill>
            <a:prstDash val="solid"/>
          </a:ln>
        </p:spPr>
      </p:sp>
      <p:sp>
        <p:nvSpPr>
          <p:cNvPr id="44" name="Text 42"/>
          <p:cNvSpPr/>
          <p:nvPr/>
        </p:nvSpPr>
        <p:spPr>
          <a:xfrm>
            <a:off x="3375050" y="4026789"/>
            <a:ext cx="2659990" cy="465201"/>
          </a:xfrm>
          <a:prstGeom prst="rect">
            <a:avLst/>
          </a:prstGeom>
          <a:noFill/>
          <a:ln/>
        </p:spPr>
        <p:txBody>
          <a:bodyPr wrap="square" lIns="254" tIns="254" rIns="254" bIns="254" rtlCol="0" anchor="ctr">
            <a:normAutofit/>
          </a:bodyPr>
          <a:lstStyle/>
          <a:p>
            <a:pPr marL="0" indent="0">
              <a:buNone/>
            </a:pPr>
            <a:r>
              <a:rPr lang="en-US" sz="870" dirty="0">
                <a:solidFill>
                  <a:srgbClr val="303846"/>
                </a:solidFill>
              </a:rPr>
              <a:t>Smart warehouse DT standardization</a:t>
            </a:r>
            <a:endParaRPr lang="en-US" sz="870" dirty="0"/>
          </a:p>
        </p:txBody>
      </p:sp>
      <p:sp>
        <p:nvSpPr>
          <p:cNvPr id="45" name="Shape 43"/>
          <p:cNvSpPr/>
          <p:nvPr/>
        </p:nvSpPr>
        <p:spPr>
          <a:xfrm>
            <a:off x="685800" y="4510278"/>
            <a:ext cx="647395" cy="520065"/>
          </a:xfrm>
          <a:prstGeom prst="rect">
            <a:avLst/>
          </a:prstGeom>
          <a:solidFill>
            <a:srgbClr val="FFFFFF"/>
          </a:solidFill>
          <a:ln w="6350">
            <a:solidFill>
              <a:srgbClr val="CED4DA"/>
            </a:solidFill>
            <a:prstDash val="solid"/>
          </a:ln>
        </p:spPr>
      </p:sp>
      <p:sp>
        <p:nvSpPr>
          <p:cNvPr id="46" name="Text 44"/>
          <p:cNvSpPr/>
          <p:nvPr/>
        </p:nvSpPr>
        <p:spPr>
          <a:xfrm>
            <a:off x="731520" y="4546854"/>
            <a:ext cx="555955" cy="465201"/>
          </a:xfrm>
          <a:prstGeom prst="rect">
            <a:avLst/>
          </a:prstGeom>
          <a:noFill/>
          <a:ln/>
        </p:spPr>
        <p:txBody>
          <a:bodyPr wrap="square" lIns="254" tIns="254" rIns="254" bIns="254" rtlCol="0" anchor="ctr">
            <a:normAutofit/>
          </a:bodyPr>
          <a:lstStyle/>
          <a:p>
            <a:pPr marL="0" indent="0">
              <a:buNone/>
            </a:pPr>
            <a:r>
              <a:rPr lang="en-US" sz="870" dirty="0">
                <a:solidFill>
                  <a:srgbClr val="303846"/>
                </a:solidFill>
              </a:rPr>
              <a:t>S6</a:t>
            </a:r>
            <a:endParaRPr lang="en-US" sz="870" dirty="0"/>
          </a:p>
        </p:txBody>
      </p:sp>
      <p:sp>
        <p:nvSpPr>
          <p:cNvPr id="47" name="Shape 45"/>
          <p:cNvSpPr/>
          <p:nvPr/>
        </p:nvSpPr>
        <p:spPr>
          <a:xfrm>
            <a:off x="1333195" y="4510278"/>
            <a:ext cx="1996135" cy="520065"/>
          </a:xfrm>
          <a:prstGeom prst="rect">
            <a:avLst/>
          </a:prstGeom>
          <a:solidFill>
            <a:srgbClr val="FFFFFF"/>
          </a:solidFill>
          <a:ln w="6350">
            <a:solidFill>
              <a:srgbClr val="CED4DA"/>
            </a:solidFill>
            <a:prstDash val="solid"/>
          </a:ln>
        </p:spPr>
      </p:sp>
      <p:sp>
        <p:nvSpPr>
          <p:cNvPr id="48" name="Text 46"/>
          <p:cNvSpPr/>
          <p:nvPr/>
        </p:nvSpPr>
        <p:spPr>
          <a:xfrm>
            <a:off x="1378915" y="4546854"/>
            <a:ext cx="1904695" cy="465201"/>
          </a:xfrm>
          <a:prstGeom prst="rect">
            <a:avLst/>
          </a:prstGeom>
          <a:noFill/>
          <a:ln/>
        </p:spPr>
        <p:txBody>
          <a:bodyPr wrap="square" lIns="254" tIns="254" rIns="254" bIns="254" rtlCol="0" anchor="ctr">
            <a:normAutofit/>
          </a:bodyPr>
          <a:lstStyle/>
          <a:p>
            <a:pPr marL="0" indent="0">
              <a:buNone/>
            </a:pPr>
            <a:r>
              <a:rPr lang="en-US" sz="870" dirty="0">
                <a:solidFill>
                  <a:srgbClr val="303846"/>
                </a:solidFill>
              </a:rPr>
              <a:t>Felix-Cigalat &amp; Domingo (2023)</a:t>
            </a:r>
            <a:endParaRPr lang="en-US" sz="870" dirty="0"/>
          </a:p>
        </p:txBody>
      </p:sp>
      <p:sp>
        <p:nvSpPr>
          <p:cNvPr id="49" name="Shape 47"/>
          <p:cNvSpPr/>
          <p:nvPr/>
        </p:nvSpPr>
        <p:spPr>
          <a:xfrm>
            <a:off x="3329330" y="4510278"/>
            <a:ext cx="2751430" cy="520065"/>
          </a:xfrm>
          <a:prstGeom prst="rect">
            <a:avLst/>
          </a:prstGeom>
          <a:solidFill>
            <a:srgbClr val="FFFFFF"/>
          </a:solidFill>
          <a:ln w="6350">
            <a:solidFill>
              <a:srgbClr val="CED4DA"/>
            </a:solidFill>
            <a:prstDash val="solid"/>
          </a:ln>
        </p:spPr>
      </p:sp>
      <p:sp>
        <p:nvSpPr>
          <p:cNvPr id="50" name="Text 48"/>
          <p:cNvSpPr/>
          <p:nvPr/>
        </p:nvSpPr>
        <p:spPr>
          <a:xfrm>
            <a:off x="3375050" y="4546854"/>
            <a:ext cx="2659990" cy="465201"/>
          </a:xfrm>
          <a:prstGeom prst="rect">
            <a:avLst/>
          </a:prstGeom>
          <a:noFill/>
          <a:ln/>
        </p:spPr>
        <p:txBody>
          <a:bodyPr wrap="square" lIns="254" tIns="254" rIns="254" bIns="254" rtlCol="0" anchor="ctr">
            <a:normAutofit/>
          </a:bodyPr>
          <a:lstStyle/>
          <a:p>
            <a:pPr marL="0" indent="0">
              <a:buNone/>
            </a:pPr>
            <a:r>
              <a:rPr lang="en-US" sz="870" dirty="0">
                <a:solidFill>
                  <a:srgbClr val="303846"/>
                </a:solidFill>
              </a:rPr>
              <a:t>Internal transport optimization</a:t>
            </a:r>
            <a:endParaRPr lang="en-US" sz="870" dirty="0"/>
          </a:p>
        </p:txBody>
      </p:sp>
      <p:sp>
        <p:nvSpPr>
          <p:cNvPr id="51" name="Shape 49"/>
          <p:cNvSpPr/>
          <p:nvPr/>
        </p:nvSpPr>
        <p:spPr>
          <a:xfrm>
            <a:off x="685800" y="5030343"/>
            <a:ext cx="647395" cy="520065"/>
          </a:xfrm>
          <a:prstGeom prst="rect">
            <a:avLst/>
          </a:prstGeom>
          <a:solidFill>
            <a:srgbClr val="F0F5F7"/>
          </a:solidFill>
          <a:ln w="6350">
            <a:solidFill>
              <a:srgbClr val="CED4DA"/>
            </a:solidFill>
            <a:prstDash val="solid"/>
          </a:ln>
        </p:spPr>
      </p:sp>
      <p:sp>
        <p:nvSpPr>
          <p:cNvPr id="52" name="Text 50"/>
          <p:cNvSpPr/>
          <p:nvPr/>
        </p:nvSpPr>
        <p:spPr>
          <a:xfrm>
            <a:off x="731520" y="5066919"/>
            <a:ext cx="555955" cy="465201"/>
          </a:xfrm>
          <a:prstGeom prst="rect">
            <a:avLst/>
          </a:prstGeom>
          <a:noFill/>
          <a:ln/>
        </p:spPr>
        <p:txBody>
          <a:bodyPr wrap="square" lIns="254" tIns="254" rIns="254" bIns="254" rtlCol="0" anchor="ctr">
            <a:normAutofit/>
          </a:bodyPr>
          <a:lstStyle/>
          <a:p>
            <a:pPr marL="0" indent="0">
              <a:buNone/>
            </a:pPr>
            <a:r>
              <a:rPr lang="en-US" sz="870" dirty="0">
                <a:solidFill>
                  <a:srgbClr val="303846"/>
                </a:solidFill>
              </a:rPr>
              <a:t>S7</a:t>
            </a:r>
            <a:endParaRPr lang="en-US" sz="870" dirty="0"/>
          </a:p>
        </p:txBody>
      </p:sp>
      <p:sp>
        <p:nvSpPr>
          <p:cNvPr id="53" name="Shape 51"/>
          <p:cNvSpPr/>
          <p:nvPr/>
        </p:nvSpPr>
        <p:spPr>
          <a:xfrm>
            <a:off x="1333195" y="5030343"/>
            <a:ext cx="1996135" cy="520065"/>
          </a:xfrm>
          <a:prstGeom prst="rect">
            <a:avLst/>
          </a:prstGeom>
          <a:solidFill>
            <a:srgbClr val="F0F5F7"/>
          </a:solidFill>
          <a:ln w="6350">
            <a:solidFill>
              <a:srgbClr val="CED4DA"/>
            </a:solidFill>
            <a:prstDash val="solid"/>
          </a:ln>
        </p:spPr>
      </p:sp>
      <p:sp>
        <p:nvSpPr>
          <p:cNvPr id="54" name="Text 52"/>
          <p:cNvSpPr/>
          <p:nvPr/>
        </p:nvSpPr>
        <p:spPr>
          <a:xfrm>
            <a:off x="1378915" y="5066919"/>
            <a:ext cx="1904695" cy="465201"/>
          </a:xfrm>
          <a:prstGeom prst="rect">
            <a:avLst/>
          </a:prstGeom>
          <a:noFill/>
          <a:ln/>
        </p:spPr>
        <p:txBody>
          <a:bodyPr wrap="square" lIns="254" tIns="254" rIns="254" bIns="254" rtlCol="0" anchor="ctr">
            <a:normAutofit/>
          </a:bodyPr>
          <a:lstStyle/>
          <a:p>
            <a:pPr marL="0" indent="0">
              <a:buNone/>
            </a:pPr>
            <a:r>
              <a:rPr lang="en-US" sz="870" dirty="0">
                <a:solidFill>
                  <a:srgbClr val="303846"/>
                </a:solidFill>
              </a:rPr>
              <a:t>Liu et al. (2024)</a:t>
            </a:r>
            <a:endParaRPr lang="en-US" sz="870" dirty="0"/>
          </a:p>
        </p:txBody>
      </p:sp>
      <p:sp>
        <p:nvSpPr>
          <p:cNvPr id="55" name="Shape 53"/>
          <p:cNvSpPr/>
          <p:nvPr/>
        </p:nvSpPr>
        <p:spPr>
          <a:xfrm>
            <a:off x="3329330" y="5030343"/>
            <a:ext cx="2751430" cy="520065"/>
          </a:xfrm>
          <a:prstGeom prst="rect">
            <a:avLst/>
          </a:prstGeom>
          <a:solidFill>
            <a:srgbClr val="F0F5F7"/>
          </a:solidFill>
          <a:ln w="6350">
            <a:solidFill>
              <a:srgbClr val="CED4DA"/>
            </a:solidFill>
            <a:prstDash val="solid"/>
          </a:ln>
        </p:spPr>
      </p:sp>
      <p:sp>
        <p:nvSpPr>
          <p:cNvPr id="56" name="Text 54"/>
          <p:cNvSpPr/>
          <p:nvPr/>
        </p:nvSpPr>
        <p:spPr>
          <a:xfrm>
            <a:off x="3375050" y="5066919"/>
            <a:ext cx="2659990" cy="465201"/>
          </a:xfrm>
          <a:prstGeom prst="rect">
            <a:avLst/>
          </a:prstGeom>
          <a:noFill/>
          <a:ln/>
        </p:spPr>
        <p:txBody>
          <a:bodyPr wrap="square" lIns="254" tIns="254" rIns="254" bIns="254" rtlCol="0" anchor="ctr">
            <a:normAutofit/>
          </a:bodyPr>
          <a:lstStyle/>
          <a:p>
            <a:pPr marL="0" indent="0">
              <a:buNone/>
            </a:pPr>
            <a:r>
              <a:rPr lang="en-US" sz="870" dirty="0">
                <a:solidFill>
                  <a:srgbClr val="303846"/>
                </a:solidFill>
              </a:rPr>
              <a:t>Production-logistics synchronization</a:t>
            </a:r>
            <a:endParaRPr lang="en-US" sz="870" dirty="0"/>
          </a:p>
        </p:txBody>
      </p:sp>
      <p:sp>
        <p:nvSpPr>
          <p:cNvPr id="57" name="Shape 55"/>
          <p:cNvSpPr/>
          <p:nvPr/>
        </p:nvSpPr>
        <p:spPr>
          <a:xfrm>
            <a:off x="6355080" y="1389888"/>
            <a:ext cx="614477" cy="502920"/>
          </a:xfrm>
          <a:prstGeom prst="rect">
            <a:avLst/>
          </a:prstGeom>
          <a:solidFill>
            <a:srgbClr val="3D4656"/>
          </a:solidFill>
          <a:ln w="6350">
            <a:solidFill>
              <a:srgbClr val="CED4DA"/>
            </a:solidFill>
            <a:prstDash val="solid"/>
          </a:ln>
        </p:spPr>
      </p:sp>
      <p:sp>
        <p:nvSpPr>
          <p:cNvPr id="58" name="Text 56"/>
          <p:cNvSpPr/>
          <p:nvPr/>
        </p:nvSpPr>
        <p:spPr>
          <a:xfrm>
            <a:off x="6400800" y="1426464"/>
            <a:ext cx="523037" cy="448056"/>
          </a:xfrm>
          <a:prstGeom prst="rect">
            <a:avLst/>
          </a:prstGeom>
          <a:noFill/>
          <a:ln/>
        </p:spPr>
        <p:txBody>
          <a:bodyPr wrap="square" lIns="254" tIns="254" rIns="254" bIns="254" rtlCol="0" anchor="ctr">
            <a:normAutofit/>
          </a:bodyPr>
          <a:lstStyle/>
          <a:p>
            <a:pPr marL="0" indent="0">
              <a:buNone/>
            </a:pPr>
            <a:r>
              <a:rPr lang="en-US" sz="820" b="1" dirty="0">
                <a:solidFill>
                  <a:srgbClr val="FFFFFF"/>
                </a:solidFill>
              </a:rPr>
              <a:t>ID</a:t>
            </a:r>
            <a:endParaRPr lang="en-US" sz="820" dirty="0"/>
          </a:p>
        </p:txBody>
      </p:sp>
      <p:sp>
        <p:nvSpPr>
          <p:cNvPr id="59" name="Shape 57"/>
          <p:cNvSpPr/>
          <p:nvPr/>
        </p:nvSpPr>
        <p:spPr>
          <a:xfrm>
            <a:off x="6969557" y="1389888"/>
            <a:ext cx="1894637" cy="502920"/>
          </a:xfrm>
          <a:prstGeom prst="rect">
            <a:avLst/>
          </a:prstGeom>
          <a:solidFill>
            <a:srgbClr val="3D4656"/>
          </a:solidFill>
          <a:ln w="6350">
            <a:solidFill>
              <a:srgbClr val="CED4DA"/>
            </a:solidFill>
            <a:prstDash val="solid"/>
          </a:ln>
        </p:spPr>
      </p:sp>
      <p:sp>
        <p:nvSpPr>
          <p:cNvPr id="60" name="Text 58"/>
          <p:cNvSpPr/>
          <p:nvPr/>
        </p:nvSpPr>
        <p:spPr>
          <a:xfrm>
            <a:off x="7015277" y="1426464"/>
            <a:ext cx="1803197" cy="448056"/>
          </a:xfrm>
          <a:prstGeom prst="rect">
            <a:avLst/>
          </a:prstGeom>
          <a:noFill/>
          <a:ln/>
        </p:spPr>
        <p:txBody>
          <a:bodyPr wrap="square" lIns="254" tIns="254" rIns="254" bIns="254" rtlCol="0" anchor="ctr">
            <a:normAutofit/>
          </a:bodyPr>
          <a:lstStyle/>
          <a:p>
            <a:pPr marL="0" indent="0">
              <a:buNone/>
            </a:pPr>
            <a:r>
              <a:rPr lang="en-US" sz="820" b="1" dirty="0">
                <a:solidFill>
                  <a:srgbClr val="FFFFFF"/>
                </a:solidFill>
              </a:rPr>
              <a:t>Study</a:t>
            </a:r>
            <a:endParaRPr lang="en-US" sz="820" dirty="0"/>
          </a:p>
        </p:txBody>
      </p:sp>
      <p:sp>
        <p:nvSpPr>
          <p:cNvPr id="61" name="Shape 59"/>
          <p:cNvSpPr/>
          <p:nvPr/>
        </p:nvSpPr>
        <p:spPr>
          <a:xfrm>
            <a:off x="8864194" y="1389888"/>
            <a:ext cx="2611526" cy="502920"/>
          </a:xfrm>
          <a:prstGeom prst="rect">
            <a:avLst/>
          </a:prstGeom>
          <a:solidFill>
            <a:srgbClr val="3D4656"/>
          </a:solidFill>
          <a:ln w="6350">
            <a:solidFill>
              <a:srgbClr val="CED4DA"/>
            </a:solidFill>
            <a:prstDash val="solid"/>
          </a:ln>
        </p:spPr>
      </p:sp>
      <p:sp>
        <p:nvSpPr>
          <p:cNvPr id="62" name="Text 60"/>
          <p:cNvSpPr/>
          <p:nvPr/>
        </p:nvSpPr>
        <p:spPr>
          <a:xfrm>
            <a:off x="8909914" y="1426464"/>
            <a:ext cx="2520086" cy="448056"/>
          </a:xfrm>
          <a:prstGeom prst="rect">
            <a:avLst/>
          </a:prstGeom>
          <a:noFill/>
          <a:ln/>
        </p:spPr>
        <p:txBody>
          <a:bodyPr wrap="square" lIns="254" tIns="254" rIns="254" bIns="254" rtlCol="0" anchor="ctr">
            <a:normAutofit/>
          </a:bodyPr>
          <a:lstStyle/>
          <a:p>
            <a:pPr marL="0" indent="0">
              <a:buNone/>
            </a:pPr>
            <a:r>
              <a:rPr lang="en-US" sz="820" b="1" dirty="0">
                <a:solidFill>
                  <a:srgbClr val="FFFFFF"/>
                </a:solidFill>
              </a:rPr>
              <a:t>Primary focus</a:t>
            </a:r>
            <a:endParaRPr lang="en-US" sz="820" dirty="0"/>
          </a:p>
        </p:txBody>
      </p:sp>
      <p:sp>
        <p:nvSpPr>
          <p:cNvPr id="63" name="Shape 61"/>
          <p:cNvSpPr/>
          <p:nvPr/>
        </p:nvSpPr>
        <p:spPr>
          <a:xfrm>
            <a:off x="6355080" y="1892808"/>
            <a:ext cx="614477" cy="502920"/>
          </a:xfrm>
          <a:prstGeom prst="rect">
            <a:avLst/>
          </a:prstGeom>
          <a:solidFill>
            <a:srgbClr val="F0F5F7"/>
          </a:solidFill>
          <a:ln w="6350">
            <a:solidFill>
              <a:srgbClr val="CED4DA"/>
            </a:solidFill>
            <a:prstDash val="solid"/>
          </a:ln>
        </p:spPr>
      </p:sp>
      <p:sp>
        <p:nvSpPr>
          <p:cNvPr id="64" name="Text 62"/>
          <p:cNvSpPr/>
          <p:nvPr/>
        </p:nvSpPr>
        <p:spPr>
          <a:xfrm>
            <a:off x="6400800" y="1929384"/>
            <a:ext cx="523037" cy="448056"/>
          </a:xfrm>
          <a:prstGeom prst="rect">
            <a:avLst/>
          </a:prstGeom>
          <a:noFill/>
          <a:ln/>
        </p:spPr>
        <p:txBody>
          <a:bodyPr wrap="square" lIns="254" tIns="254" rIns="254" bIns="254" rtlCol="0" anchor="ctr">
            <a:normAutofit/>
          </a:bodyPr>
          <a:lstStyle/>
          <a:p>
            <a:pPr marL="0" indent="0">
              <a:buNone/>
            </a:pPr>
            <a:r>
              <a:rPr lang="en-US" sz="820" dirty="0">
                <a:solidFill>
                  <a:srgbClr val="303846"/>
                </a:solidFill>
              </a:rPr>
              <a:t>S8</a:t>
            </a:r>
            <a:endParaRPr lang="en-US" sz="820" dirty="0"/>
          </a:p>
        </p:txBody>
      </p:sp>
      <p:sp>
        <p:nvSpPr>
          <p:cNvPr id="65" name="Shape 63"/>
          <p:cNvSpPr/>
          <p:nvPr/>
        </p:nvSpPr>
        <p:spPr>
          <a:xfrm>
            <a:off x="6969557" y="1892808"/>
            <a:ext cx="1894637" cy="502920"/>
          </a:xfrm>
          <a:prstGeom prst="rect">
            <a:avLst/>
          </a:prstGeom>
          <a:solidFill>
            <a:srgbClr val="F0F5F7"/>
          </a:solidFill>
          <a:ln w="6350">
            <a:solidFill>
              <a:srgbClr val="CED4DA"/>
            </a:solidFill>
            <a:prstDash val="solid"/>
          </a:ln>
        </p:spPr>
      </p:sp>
      <p:sp>
        <p:nvSpPr>
          <p:cNvPr id="66" name="Text 64"/>
          <p:cNvSpPr/>
          <p:nvPr/>
        </p:nvSpPr>
        <p:spPr>
          <a:xfrm>
            <a:off x="7015277" y="1929384"/>
            <a:ext cx="1803197" cy="448056"/>
          </a:xfrm>
          <a:prstGeom prst="rect">
            <a:avLst/>
          </a:prstGeom>
          <a:noFill/>
          <a:ln/>
        </p:spPr>
        <p:txBody>
          <a:bodyPr wrap="square" lIns="254" tIns="254" rIns="254" bIns="254" rtlCol="0" anchor="ctr">
            <a:normAutofit/>
          </a:bodyPr>
          <a:lstStyle/>
          <a:p>
            <a:pPr marL="0" indent="0">
              <a:buNone/>
            </a:pPr>
            <a:r>
              <a:rPr lang="en-US" sz="820" dirty="0">
                <a:solidFill>
                  <a:srgbClr val="303846"/>
                </a:solidFill>
              </a:rPr>
              <a:t>Zhao et al. (2022)</a:t>
            </a:r>
            <a:endParaRPr lang="en-US" sz="820" dirty="0"/>
          </a:p>
        </p:txBody>
      </p:sp>
      <p:sp>
        <p:nvSpPr>
          <p:cNvPr id="67" name="Shape 65"/>
          <p:cNvSpPr/>
          <p:nvPr/>
        </p:nvSpPr>
        <p:spPr>
          <a:xfrm>
            <a:off x="8864194" y="1892808"/>
            <a:ext cx="2611526" cy="502920"/>
          </a:xfrm>
          <a:prstGeom prst="rect">
            <a:avLst/>
          </a:prstGeom>
          <a:solidFill>
            <a:srgbClr val="F0F5F7"/>
          </a:solidFill>
          <a:ln w="6350">
            <a:solidFill>
              <a:srgbClr val="CED4DA"/>
            </a:solidFill>
            <a:prstDash val="solid"/>
          </a:ln>
        </p:spPr>
      </p:sp>
      <p:sp>
        <p:nvSpPr>
          <p:cNvPr id="68" name="Text 66"/>
          <p:cNvSpPr/>
          <p:nvPr/>
        </p:nvSpPr>
        <p:spPr>
          <a:xfrm>
            <a:off x="8909914" y="1929384"/>
            <a:ext cx="2520086" cy="448056"/>
          </a:xfrm>
          <a:prstGeom prst="rect">
            <a:avLst/>
          </a:prstGeom>
          <a:noFill/>
          <a:ln/>
        </p:spPr>
        <p:txBody>
          <a:bodyPr wrap="square" lIns="254" tIns="254" rIns="254" bIns="254" rtlCol="0" anchor="ctr">
            <a:normAutofit/>
          </a:bodyPr>
          <a:lstStyle/>
          <a:p>
            <a:pPr marL="0" indent="0">
              <a:buNone/>
            </a:pPr>
            <a:r>
              <a:rPr lang="en-US" sz="820" dirty="0">
                <a:solidFill>
                  <a:srgbClr val="303846"/>
                </a:solidFill>
              </a:rPr>
              <a:t>Spatial-temporal knowledge graph</a:t>
            </a:r>
            <a:endParaRPr lang="en-US" sz="820" dirty="0"/>
          </a:p>
        </p:txBody>
      </p:sp>
      <p:sp>
        <p:nvSpPr>
          <p:cNvPr id="69" name="Shape 67"/>
          <p:cNvSpPr/>
          <p:nvPr/>
        </p:nvSpPr>
        <p:spPr>
          <a:xfrm>
            <a:off x="6355080" y="2395728"/>
            <a:ext cx="614477" cy="502920"/>
          </a:xfrm>
          <a:prstGeom prst="rect">
            <a:avLst/>
          </a:prstGeom>
          <a:solidFill>
            <a:srgbClr val="FFFFFF"/>
          </a:solidFill>
          <a:ln w="6350">
            <a:solidFill>
              <a:srgbClr val="CED4DA"/>
            </a:solidFill>
            <a:prstDash val="solid"/>
          </a:ln>
        </p:spPr>
      </p:sp>
      <p:sp>
        <p:nvSpPr>
          <p:cNvPr id="70" name="Text 68"/>
          <p:cNvSpPr/>
          <p:nvPr/>
        </p:nvSpPr>
        <p:spPr>
          <a:xfrm>
            <a:off x="6400800" y="2432304"/>
            <a:ext cx="523037" cy="448056"/>
          </a:xfrm>
          <a:prstGeom prst="rect">
            <a:avLst/>
          </a:prstGeom>
          <a:noFill/>
          <a:ln/>
        </p:spPr>
        <p:txBody>
          <a:bodyPr wrap="square" lIns="254" tIns="254" rIns="254" bIns="254" rtlCol="0" anchor="ctr">
            <a:normAutofit/>
          </a:bodyPr>
          <a:lstStyle/>
          <a:p>
            <a:pPr marL="0" indent="0">
              <a:buNone/>
            </a:pPr>
            <a:r>
              <a:rPr lang="en-US" sz="820" dirty="0">
                <a:solidFill>
                  <a:srgbClr val="303846"/>
                </a:solidFill>
              </a:rPr>
              <a:t>S9</a:t>
            </a:r>
            <a:endParaRPr lang="en-US" sz="820" dirty="0"/>
          </a:p>
        </p:txBody>
      </p:sp>
      <p:sp>
        <p:nvSpPr>
          <p:cNvPr id="71" name="Shape 69"/>
          <p:cNvSpPr/>
          <p:nvPr/>
        </p:nvSpPr>
        <p:spPr>
          <a:xfrm>
            <a:off x="6969557" y="2395728"/>
            <a:ext cx="1894637" cy="502920"/>
          </a:xfrm>
          <a:prstGeom prst="rect">
            <a:avLst/>
          </a:prstGeom>
          <a:solidFill>
            <a:srgbClr val="FFFFFF"/>
          </a:solidFill>
          <a:ln w="6350">
            <a:solidFill>
              <a:srgbClr val="CED4DA"/>
            </a:solidFill>
            <a:prstDash val="solid"/>
          </a:ln>
        </p:spPr>
      </p:sp>
      <p:sp>
        <p:nvSpPr>
          <p:cNvPr id="72" name="Text 70"/>
          <p:cNvSpPr/>
          <p:nvPr/>
        </p:nvSpPr>
        <p:spPr>
          <a:xfrm>
            <a:off x="7015277" y="2432304"/>
            <a:ext cx="1803197" cy="448056"/>
          </a:xfrm>
          <a:prstGeom prst="rect">
            <a:avLst/>
          </a:prstGeom>
          <a:noFill/>
          <a:ln/>
        </p:spPr>
        <p:txBody>
          <a:bodyPr wrap="square" lIns="254" tIns="254" rIns="254" bIns="254" rtlCol="0" anchor="ctr">
            <a:normAutofit/>
          </a:bodyPr>
          <a:lstStyle/>
          <a:p>
            <a:pPr marL="0" indent="0">
              <a:buNone/>
            </a:pPr>
            <a:r>
              <a:rPr lang="en-US" sz="820" dirty="0">
                <a:solidFill>
                  <a:srgbClr val="303846"/>
                </a:solidFill>
              </a:rPr>
              <a:t>Li et al. (2022)</a:t>
            </a:r>
            <a:endParaRPr lang="en-US" sz="820" dirty="0"/>
          </a:p>
        </p:txBody>
      </p:sp>
      <p:sp>
        <p:nvSpPr>
          <p:cNvPr id="73" name="Shape 71"/>
          <p:cNvSpPr/>
          <p:nvPr/>
        </p:nvSpPr>
        <p:spPr>
          <a:xfrm>
            <a:off x="8864194" y="2395728"/>
            <a:ext cx="2611526" cy="502920"/>
          </a:xfrm>
          <a:prstGeom prst="rect">
            <a:avLst/>
          </a:prstGeom>
          <a:solidFill>
            <a:srgbClr val="FFFFFF"/>
          </a:solidFill>
          <a:ln w="6350">
            <a:solidFill>
              <a:srgbClr val="CED4DA"/>
            </a:solidFill>
            <a:prstDash val="solid"/>
          </a:ln>
        </p:spPr>
      </p:sp>
      <p:sp>
        <p:nvSpPr>
          <p:cNvPr id="74" name="Text 72"/>
          <p:cNvSpPr/>
          <p:nvPr/>
        </p:nvSpPr>
        <p:spPr>
          <a:xfrm>
            <a:off x="8909914" y="2432304"/>
            <a:ext cx="2520086" cy="448056"/>
          </a:xfrm>
          <a:prstGeom prst="rect">
            <a:avLst/>
          </a:prstGeom>
          <a:noFill/>
          <a:ln/>
        </p:spPr>
        <p:txBody>
          <a:bodyPr wrap="square" lIns="254" tIns="254" rIns="254" bIns="254" rtlCol="0" anchor="ctr">
            <a:normAutofit/>
          </a:bodyPr>
          <a:lstStyle/>
          <a:p>
            <a:pPr marL="0" indent="0">
              <a:buNone/>
            </a:pPr>
            <a:r>
              <a:rPr lang="en-US" sz="820" dirty="0">
                <a:solidFill>
                  <a:srgbClr val="303846"/>
                </a:solidFill>
              </a:rPr>
              <a:t>Operation twins for synchronization</a:t>
            </a:r>
            <a:endParaRPr lang="en-US" sz="820" dirty="0"/>
          </a:p>
        </p:txBody>
      </p:sp>
      <p:sp>
        <p:nvSpPr>
          <p:cNvPr id="75" name="Shape 73"/>
          <p:cNvSpPr/>
          <p:nvPr/>
        </p:nvSpPr>
        <p:spPr>
          <a:xfrm>
            <a:off x="6355080" y="2898648"/>
            <a:ext cx="614477" cy="502920"/>
          </a:xfrm>
          <a:prstGeom prst="rect">
            <a:avLst/>
          </a:prstGeom>
          <a:solidFill>
            <a:srgbClr val="F0F5F7"/>
          </a:solidFill>
          <a:ln w="6350">
            <a:solidFill>
              <a:srgbClr val="CED4DA"/>
            </a:solidFill>
            <a:prstDash val="solid"/>
          </a:ln>
        </p:spPr>
      </p:sp>
      <p:sp>
        <p:nvSpPr>
          <p:cNvPr id="76" name="Text 74"/>
          <p:cNvSpPr/>
          <p:nvPr/>
        </p:nvSpPr>
        <p:spPr>
          <a:xfrm>
            <a:off x="6400800" y="2935224"/>
            <a:ext cx="523037" cy="448056"/>
          </a:xfrm>
          <a:prstGeom prst="rect">
            <a:avLst/>
          </a:prstGeom>
          <a:noFill/>
          <a:ln/>
        </p:spPr>
        <p:txBody>
          <a:bodyPr wrap="square" lIns="254" tIns="254" rIns="254" bIns="254" rtlCol="0" anchor="ctr">
            <a:normAutofit/>
          </a:bodyPr>
          <a:lstStyle/>
          <a:p>
            <a:pPr marL="0" indent="0">
              <a:buNone/>
            </a:pPr>
            <a:r>
              <a:rPr lang="en-US" sz="820" dirty="0">
                <a:solidFill>
                  <a:srgbClr val="303846"/>
                </a:solidFill>
              </a:rPr>
              <a:t>S10</a:t>
            </a:r>
            <a:endParaRPr lang="en-US" sz="820" dirty="0"/>
          </a:p>
        </p:txBody>
      </p:sp>
      <p:sp>
        <p:nvSpPr>
          <p:cNvPr id="77" name="Shape 75"/>
          <p:cNvSpPr/>
          <p:nvPr/>
        </p:nvSpPr>
        <p:spPr>
          <a:xfrm>
            <a:off x="6969557" y="2898648"/>
            <a:ext cx="1894637" cy="502920"/>
          </a:xfrm>
          <a:prstGeom prst="rect">
            <a:avLst/>
          </a:prstGeom>
          <a:solidFill>
            <a:srgbClr val="F0F5F7"/>
          </a:solidFill>
          <a:ln w="6350">
            <a:solidFill>
              <a:srgbClr val="CED4DA"/>
            </a:solidFill>
            <a:prstDash val="solid"/>
          </a:ln>
        </p:spPr>
      </p:sp>
      <p:sp>
        <p:nvSpPr>
          <p:cNvPr id="78" name="Text 76"/>
          <p:cNvSpPr/>
          <p:nvPr/>
        </p:nvSpPr>
        <p:spPr>
          <a:xfrm>
            <a:off x="7015277" y="2935224"/>
            <a:ext cx="1803197" cy="448056"/>
          </a:xfrm>
          <a:prstGeom prst="rect">
            <a:avLst/>
          </a:prstGeom>
          <a:noFill/>
          <a:ln/>
        </p:spPr>
        <p:txBody>
          <a:bodyPr wrap="square" lIns="254" tIns="254" rIns="254" bIns="254" rtlCol="0" anchor="ctr">
            <a:normAutofit/>
          </a:bodyPr>
          <a:lstStyle/>
          <a:p>
            <a:pPr marL="0" indent="0">
              <a:buNone/>
            </a:pPr>
            <a:r>
              <a:rPr lang="en-US" sz="820" dirty="0">
                <a:solidFill>
                  <a:srgbClr val="303846"/>
                </a:solidFill>
              </a:rPr>
              <a:t>Ferrari et al. (2022)</a:t>
            </a:r>
            <a:endParaRPr lang="en-US" sz="820" dirty="0"/>
          </a:p>
        </p:txBody>
      </p:sp>
      <p:sp>
        <p:nvSpPr>
          <p:cNvPr id="79" name="Shape 77"/>
          <p:cNvSpPr/>
          <p:nvPr/>
        </p:nvSpPr>
        <p:spPr>
          <a:xfrm>
            <a:off x="8864194" y="2898648"/>
            <a:ext cx="2611526" cy="502920"/>
          </a:xfrm>
          <a:prstGeom prst="rect">
            <a:avLst/>
          </a:prstGeom>
          <a:solidFill>
            <a:srgbClr val="F0F5F7"/>
          </a:solidFill>
          <a:ln w="6350">
            <a:solidFill>
              <a:srgbClr val="CED4DA"/>
            </a:solidFill>
            <a:prstDash val="solid"/>
          </a:ln>
        </p:spPr>
      </p:sp>
      <p:sp>
        <p:nvSpPr>
          <p:cNvPr id="80" name="Text 78"/>
          <p:cNvSpPr/>
          <p:nvPr/>
        </p:nvSpPr>
        <p:spPr>
          <a:xfrm>
            <a:off x="8909914" y="2935224"/>
            <a:ext cx="2520086" cy="448056"/>
          </a:xfrm>
          <a:prstGeom prst="rect">
            <a:avLst/>
          </a:prstGeom>
          <a:noFill/>
          <a:ln/>
        </p:spPr>
        <p:txBody>
          <a:bodyPr wrap="square" lIns="254" tIns="254" rIns="254" bIns="254" rtlCol="0" anchor="ctr">
            <a:normAutofit/>
          </a:bodyPr>
          <a:lstStyle/>
          <a:p>
            <a:pPr marL="0" indent="0">
              <a:buNone/>
            </a:pPr>
            <a:r>
              <a:rPr lang="en-US" sz="820" dirty="0">
                <a:solidFill>
                  <a:srgbClr val="303846"/>
                </a:solidFill>
              </a:rPr>
              <a:t>Automated warehouse DT roadmap</a:t>
            </a:r>
            <a:endParaRPr lang="en-US" sz="820" dirty="0"/>
          </a:p>
        </p:txBody>
      </p:sp>
      <p:sp>
        <p:nvSpPr>
          <p:cNvPr id="81" name="Shape 79"/>
          <p:cNvSpPr/>
          <p:nvPr/>
        </p:nvSpPr>
        <p:spPr>
          <a:xfrm>
            <a:off x="6355080" y="3401568"/>
            <a:ext cx="614477" cy="502920"/>
          </a:xfrm>
          <a:prstGeom prst="rect">
            <a:avLst/>
          </a:prstGeom>
          <a:solidFill>
            <a:srgbClr val="FFFFFF"/>
          </a:solidFill>
          <a:ln w="6350">
            <a:solidFill>
              <a:srgbClr val="CED4DA"/>
            </a:solidFill>
            <a:prstDash val="solid"/>
          </a:ln>
        </p:spPr>
      </p:sp>
      <p:sp>
        <p:nvSpPr>
          <p:cNvPr id="82" name="Text 80"/>
          <p:cNvSpPr/>
          <p:nvPr/>
        </p:nvSpPr>
        <p:spPr>
          <a:xfrm>
            <a:off x="6400800" y="3438144"/>
            <a:ext cx="523037" cy="448056"/>
          </a:xfrm>
          <a:prstGeom prst="rect">
            <a:avLst/>
          </a:prstGeom>
          <a:noFill/>
          <a:ln/>
        </p:spPr>
        <p:txBody>
          <a:bodyPr wrap="square" lIns="254" tIns="254" rIns="254" bIns="254" rtlCol="0" anchor="ctr">
            <a:normAutofit/>
          </a:bodyPr>
          <a:lstStyle/>
          <a:p>
            <a:pPr marL="0" indent="0">
              <a:buNone/>
            </a:pPr>
            <a:r>
              <a:rPr lang="en-US" sz="820" dirty="0">
                <a:solidFill>
                  <a:srgbClr val="303846"/>
                </a:solidFill>
              </a:rPr>
              <a:t>S11</a:t>
            </a:r>
            <a:endParaRPr lang="en-US" sz="820" dirty="0"/>
          </a:p>
        </p:txBody>
      </p:sp>
      <p:sp>
        <p:nvSpPr>
          <p:cNvPr id="83" name="Shape 81"/>
          <p:cNvSpPr/>
          <p:nvPr/>
        </p:nvSpPr>
        <p:spPr>
          <a:xfrm>
            <a:off x="6969557" y="3401568"/>
            <a:ext cx="1894637" cy="502920"/>
          </a:xfrm>
          <a:prstGeom prst="rect">
            <a:avLst/>
          </a:prstGeom>
          <a:solidFill>
            <a:srgbClr val="FFFFFF"/>
          </a:solidFill>
          <a:ln w="6350">
            <a:solidFill>
              <a:srgbClr val="CED4DA"/>
            </a:solidFill>
            <a:prstDash val="solid"/>
          </a:ln>
        </p:spPr>
      </p:sp>
      <p:sp>
        <p:nvSpPr>
          <p:cNvPr id="84" name="Text 82"/>
          <p:cNvSpPr/>
          <p:nvPr/>
        </p:nvSpPr>
        <p:spPr>
          <a:xfrm>
            <a:off x="7015277" y="3438144"/>
            <a:ext cx="1803197" cy="448056"/>
          </a:xfrm>
          <a:prstGeom prst="rect">
            <a:avLst/>
          </a:prstGeom>
          <a:noFill/>
          <a:ln/>
        </p:spPr>
        <p:txBody>
          <a:bodyPr wrap="square" lIns="254" tIns="254" rIns="254" bIns="254" rtlCol="0" anchor="ctr">
            <a:normAutofit/>
          </a:bodyPr>
          <a:lstStyle/>
          <a:p>
            <a:pPr marL="0" indent="0">
              <a:buNone/>
            </a:pPr>
            <a:r>
              <a:rPr lang="en-US" sz="820" dirty="0">
                <a:solidFill>
                  <a:srgbClr val="303846"/>
                </a:solidFill>
              </a:rPr>
              <a:t>Vachalek et al. (2021)</a:t>
            </a:r>
            <a:endParaRPr lang="en-US" sz="820" dirty="0"/>
          </a:p>
        </p:txBody>
      </p:sp>
      <p:sp>
        <p:nvSpPr>
          <p:cNvPr id="85" name="Shape 83"/>
          <p:cNvSpPr/>
          <p:nvPr/>
        </p:nvSpPr>
        <p:spPr>
          <a:xfrm>
            <a:off x="8864194" y="3401568"/>
            <a:ext cx="2611526" cy="502920"/>
          </a:xfrm>
          <a:prstGeom prst="rect">
            <a:avLst/>
          </a:prstGeom>
          <a:solidFill>
            <a:srgbClr val="FFFFFF"/>
          </a:solidFill>
          <a:ln w="6350">
            <a:solidFill>
              <a:srgbClr val="CED4DA"/>
            </a:solidFill>
            <a:prstDash val="solid"/>
          </a:ln>
        </p:spPr>
      </p:sp>
      <p:sp>
        <p:nvSpPr>
          <p:cNvPr id="86" name="Text 84"/>
          <p:cNvSpPr/>
          <p:nvPr/>
        </p:nvSpPr>
        <p:spPr>
          <a:xfrm>
            <a:off x="8909914" y="3438144"/>
            <a:ext cx="2520086" cy="448056"/>
          </a:xfrm>
          <a:prstGeom prst="rect">
            <a:avLst/>
          </a:prstGeom>
          <a:noFill/>
          <a:ln/>
        </p:spPr>
        <p:txBody>
          <a:bodyPr wrap="square" lIns="254" tIns="254" rIns="254" bIns="254" rtlCol="0" anchor="ctr">
            <a:normAutofit/>
          </a:bodyPr>
          <a:lstStyle/>
          <a:p>
            <a:pPr marL="0" indent="0">
              <a:buNone/>
            </a:pPr>
            <a:r>
              <a:rPr lang="en-US" sz="820" dirty="0">
                <a:solidFill>
                  <a:srgbClr val="303846"/>
                </a:solidFill>
              </a:rPr>
              <a:t>CPS testing of logistics algorithms</a:t>
            </a:r>
            <a:endParaRPr lang="en-US" sz="820" dirty="0"/>
          </a:p>
        </p:txBody>
      </p:sp>
      <p:sp>
        <p:nvSpPr>
          <p:cNvPr id="87" name="Shape 85"/>
          <p:cNvSpPr/>
          <p:nvPr/>
        </p:nvSpPr>
        <p:spPr>
          <a:xfrm>
            <a:off x="6355080" y="3904488"/>
            <a:ext cx="614477" cy="502920"/>
          </a:xfrm>
          <a:prstGeom prst="rect">
            <a:avLst/>
          </a:prstGeom>
          <a:solidFill>
            <a:srgbClr val="F0F5F7"/>
          </a:solidFill>
          <a:ln w="6350">
            <a:solidFill>
              <a:srgbClr val="CED4DA"/>
            </a:solidFill>
            <a:prstDash val="solid"/>
          </a:ln>
        </p:spPr>
      </p:sp>
      <p:sp>
        <p:nvSpPr>
          <p:cNvPr id="88" name="Text 86"/>
          <p:cNvSpPr/>
          <p:nvPr/>
        </p:nvSpPr>
        <p:spPr>
          <a:xfrm>
            <a:off x="6400800" y="3941064"/>
            <a:ext cx="523037" cy="448056"/>
          </a:xfrm>
          <a:prstGeom prst="rect">
            <a:avLst/>
          </a:prstGeom>
          <a:noFill/>
          <a:ln/>
        </p:spPr>
        <p:txBody>
          <a:bodyPr wrap="square" lIns="254" tIns="254" rIns="254" bIns="254" rtlCol="0" anchor="ctr">
            <a:normAutofit/>
          </a:bodyPr>
          <a:lstStyle/>
          <a:p>
            <a:pPr marL="0" indent="0">
              <a:buNone/>
            </a:pPr>
            <a:r>
              <a:rPr lang="en-US" sz="820" dirty="0">
                <a:solidFill>
                  <a:srgbClr val="303846"/>
                </a:solidFill>
              </a:rPr>
              <a:t>S12</a:t>
            </a:r>
            <a:endParaRPr lang="en-US" sz="820" dirty="0"/>
          </a:p>
        </p:txBody>
      </p:sp>
      <p:sp>
        <p:nvSpPr>
          <p:cNvPr id="89" name="Shape 87"/>
          <p:cNvSpPr/>
          <p:nvPr/>
        </p:nvSpPr>
        <p:spPr>
          <a:xfrm>
            <a:off x="6969557" y="3904488"/>
            <a:ext cx="1894637" cy="502920"/>
          </a:xfrm>
          <a:prstGeom prst="rect">
            <a:avLst/>
          </a:prstGeom>
          <a:solidFill>
            <a:srgbClr val="F0F5F7"/>
          </a:solidFill>
          <a:ln w="6350">
            <a:solidFill>
              <a:srgbClr val="CED4DA"/>
            </a:solidFill>
            <a:prstDash val="solid"/>
          </a:ln>
        </p:spPr>
      </p:sp>
      <p:sp>
        <p:nvSpPr>
          <p:cNvPr id="90" name="Text 88"/>
          <p:cNvSpPr/>
          <p:nvPr/>
        </p:nvSpPr>
        <p:spPr>
          <a:xfrm>
            <a:off x="7015277" y="3941064"/>
            <a:ext cx="1803197" cy="448056"/>
          </a:xfrm>
          <a:prstGeom prst="rect">
            <a:avLst/>
          </a:prstGeom>
          <a:noFill/>
          <a:ln/>
        </p:spPr>
        <p:txBody>
          <a:bodyPr wrap="square" lIns="254" tIns="254" rIns="254" bIns="254" rtlCol="0" anchor="ctr">
            <a:normAutofit/>
          </a:bodyPr>
          <a:lstStyle/>
          <a:p>
            <a:pPr marL="0" indent="0">
              <a:buNone/>
            </a:pPr>
            <a:r>
              <a:rPr lang="en-US" sz="820" dirty="0">
                <a:solidFill>
                  <a:srgbClr val="303846"/>
                </a:solidFill>
              </a:rPr>
              <a:t>Rigo et al. (2026)</a:t>
            </a:r>
            <a:endParaRPr lang="en-US" sz="820" dirty="0"/>
          </a:p>
        </p:txBody>
      </p:sp>
      <p:sp>
        <p:nvSpPr>
          <p:cNvPr id="91" name="Shape 89"/>
          <p:cNvSpPr/>
          <p:nvPr/>
        </p:nvSpPr>
        <p:spPr>
          <a:xfrm>
            <a:off x="8864194" y="3904488"/>
            <a:ext cx="2611526" cy="502920"/>
          </a:xfrm>
          <a:prstGeom prst="rect">
            <a:avLst/>
          </a:prstGeom>
          <a:solidFill>
            <a:srgbClr val="F0F5F7"/>
          </a:solidFill>
          <a:ln w="6350">
            <a:solidFill>
              <a:srgbClr val="CED4DA"/>
            </a:solidFill>
            <a:prstDash val="solid"/>
          </a:ln>
        </p:spPr>
      </p:sp>
      <p:sp>
        <p:nvSpPr>
          <p:cNvPr id="92" name="Text 90"/>
          <p:cNvSpPr/>
          <p:nvPr/>
        </p:nvSpPr>
        <p:spPr>
          <a:xfrm>
            <a:off x="8909914" y="3941064"/>
            <a:ext cx="2520086" cy="448056"/>
          </a:xfrm>
          <a:prstGeom prst="rect">
            <a:avLst/>
          </a:prstGeom>
          <a:noFill/>
          <a:ln/>
        </p:spPr>
        <p:txBody>
          <a:bodyPr wrap="square" lIns="254" tIns="254" rIns="254" bIns="254" rtlCol="0" anchor="ctr">
            <a:normAutofit/>
          </a:bodyPr>
          <a:lstStyle/>
          <a:p>
            <a:pPr marL="0" indent="0">
              <a:buNone/>
            </a:pPr>
            <a:r>
              <a:rPr lang="en-US" sz="820" dirty="0">
                <a:solidFill>
                  <a:srgbClr val="303846"/>
                </a:solidFill>
              </a:rPr>
              <a:t>Material handling DT lab model</a:t>
            </a:r>
            <a:endParaRPr lang="en-US" sz="820" dirty="0"/>
          </a:p>
        </p:txBody>
      </p:sp>
      <p:sp>
        <p:nvSpPr>
          <p:cNvPr id="93" name="Shape 91"/>
          <p:cNvSpPr/>
          <p:nvPr/>
        </p:nvSpPr>
        <p:spPr>
          <a:xfrm>
            <a:off x="6355080" y="4407408"/>
            <a:ext cx="614477" cy="502920"/>
          </a:xfrm>
          <a:prstGeom prst="rect">
            <a:avLst/>
          </a:prstGeom>
          <a:solidFill>
            <a:srgbClr val="FFFFFF"/>
          </a:solidFill>
          <a:ln w="6350">
            <a:solidFill>
              <a:srgbClr val="CED4DA"/>
            </a:solidFill>
            <a:prstDash val="solid"/>
          </a:ln>
        </p:spPr>
      </p:sp>
      <p:sp>
        <p:nvSpPr>
          <p:cNvPr id="94" name="Text 92"/>
          <p:cNvSpPr/>
          <p:nvPr/>
        </p:nvSpPr>
        <p:spPr>
          <a:xfrm>
            <a:off x="6400800" y="4443984"/>
            <a:ext cx="523037" cy="448056"/>
          </a:xfrm>
          <a:prstGeom prst="rect">
            <a:avLst/>
          </a:prstGeom>
          <a:noFill/>
          <a:ln/>
        </p:spPr>
        <p:txBody>
          <a:bodyPr wrap="square" lIns="254" tIns="254" rIns="254" bIns="254" rtlCol="0" anchor="ctr">
            <a:normAutofit/>
          </a:bodyPr>
          <a:lstStyle/>
          <a:p>
            <a:pPr marL="0" indent="0">
              <a:buNone/>
            </a:pPr>
            <a:r>
              <a:rPr lang="en-US" sz="820" dirty="0">
                <a:solidFill>
                  <a:srgbClr val="303846"/>
                </a:solidFill>
              </a:rPr>
              <a:t>S13</a:t>
            </a:r>
            <a:endParaRPr lang="en-US" sz="820" dirty="0"/>
          </a:p>
        </p:txBody>
      </p:sp>
      <p:sp>
        <p:nvSpPr>
          <p:cNvPr id="95" name="Shape 93"/>
          <p:cNvSpPr/>
          <p:nvPr/>
        </p:nvSpPr>
        <p:spPr>
          <a:xfrm>
            <a:off x="6969557" y="4407408"/>
            <a:ext cx="1894637" cy="502920"/>
          </a:xfrm>
          <a:prstGeom prst="rect">
            <a:avLst/>
          </a:prstGeom>
          <a:solidFill>
            <a:srgbClr val="FFFFFF"/>
          </a:solidFill>
          <a:ln w="6350">
            <a:solidFill>
              <a:srgbClr val="CED4DA"/>
            </a:solidFill>
            <a:prstDash val="solid"/>
          </a:ln>
        </p:spPr>
      </p:sp>
      <p:sp>
        <p:nvSpPr>
          <p:cNvPr id="96" name="Text 94"/>
          <p:cNvSpPr/>
          <p:nvPr/>
        </p:nvSpPr>
        <p:spPr>
          <a:xfrm>
            <a:off x="7015277" y="4443984"/>
            <a:ext cx="1803197" cy="448056"/>
          </a:xfrm>
          <a:prstGeom prst="rect">
            <a:avLst/>
          </a:prstGeom>
          <a:noFill/>
          <a:ln/>
        </p:spPr>
        <p:txBody>
          <a:bodyPr wrap="square" lIns="254" tIns="254" rIns="254" bIns="254" rtlCol="0" anchor="ctr">
            <a:normAutofit/>
          </a:bodyPr>
          <a:lstStyle/>
          <a:p>
            <a:pPr marL="0" indent="0">
              <a:buNone/>
            </a:pPr>
            <a:r>
              <a:rPr lang="en-US" sz="820" dirty="0">
                <a:solidFill>
                  <a:srgbClr val="303846"/>
                </a:solidFill>
              </a:rPr>
              <a:t>Cao &amp; Lei (2022)</a:t>
            </a:r>
            <a:endParaRPr lang="en-US" sz="820" dirty="0"/>
          </a:p>
        </p:txBody>
      </p:sp>
      <p:sp>
        <p:nvSpPr>
          <p:cNvPr id="97" name="Shape 95"/>
          <p:cNvSpPr/>
          <p:nvPr/>
        </p:nvSpPr>
        <p:spPr>
          <a:xfrm>
            <a:off x="8864194" y="4407408"/>
            <a:ext cx="2611526" cy="502920"/>
          </a:xfrm>
          <a:prstGeom prst="rect">
            <a:avLst/>
          </a:prstGeom>
          <a:solidFill>
            <a:srgbClr val="FFFFFF"/>
          </a:solidFill>
          <a:ln w="6350">
            <a:solidFill>
              <a:srgbClr val="CED4DA"/>
            </a:solidFill>
            <a:prstDash val="solid"/>
          </a:ln>
        </p:spPr>
      </p:sp>
      <p:sp>
        <p:nvSpPr>
          <p:cNvPr id="98" name="Text 96"/>
          <p:cNvSpPr/>
          <p:nvPr/>
        </p:nvSpPr>
        <p:spPr>
          <a:xfrm>
            <a:off x="8909914" y="4443984"/>
            <a:ext cx="2520086" cy="448056"/>
          </a:xfrm>
          <a:prstGeom prst="rect">
            <a:avLst/>
          </a:prstGeom>
          <a:noFill/>
          <a:ln/>
        </p:spPr>
        <p:txBody>
          <a:bodyPr wrap="square" lIns="254" tIns="254" rIns="254" bIns="254" rtlCol="0" anchor="ctr">
            <a:normAutofit/>
          </a:bodyPr>
          <a:lstStyle/>
          <a:p>
            <a:pPr marL="0" indent="0">
              <a:buNone/>
            </a:pPr>
            <a:r>
              <a:rPr lang="en-US" sz="820" dirty="0">
                <a:solidFill>
                  <a:srgbClr val="303846"/>
                </a:solidFill>
              </a:rPr>
              <a:t>DT-driven WMS picking path planning</a:t>
            </a:r>
            <a:endParaRPr lang="en-US" sz="820" dirty="0"/>
          </a:p>
        </p:txBody>
      </p:sp>
      <p:sp>
        <p:nvSpPr>
          <p:cNvPr id="99" name="Shape 97"/>
          <p:cNvSpPr/>
          <p:nvPr/>
        </p:nvSpPr>
        <p:spPr>
          <a:xfrm>
            <a:off x="6355080" y="4910328"/>
            <a:ext cx="614477" cy="502920"/>
          </a:xfrm>
          <a:prstGeom prst="rect">
            <a:avLst/>
          </a:prstGeom>
          <a:solidFill>
            <a:srgbClr val="F0F5F7"/>
          </a:solidFill>
          <a:ln w="6350">
            <a:solidFill>
              <a:srgbClr val="CED4DA"/>
            </a:solidFill>
            <a:prstDash val="solid"/>
          </a:ln>
        </p:spPr>
      </p:sp>
      <p:sp>
        <p:nvSpPr>
          <p:cNvPr id="100" name="Text 98"/>
          <p:cNvSpPr/>
          <p:nvPr/>
        </p:nvSpPr>
        <p:spPr>
          <a:xfrm>
            <a:off x="6400800" y="4946904"/>
            <a:ext cx="523037" cy="448056"/>
          </a:xfrm>
          <a:prstGeom prst="rect">
            <a:avLst/>
          </a:prstGeom>
          <a:noFill/>
          <a:ln/>
        </p:spPr>
        <p:txBody>
          <a:bodyPr wrap="square" lIns="254" tIns="254" rIns="254" bIns="254" rtlCol="0" anchor="ctr">
            <a:normAutofit/>
          </a:bodyPr>
          <a:lstStyle/>
          <a:p>
            <a:pPr marL="0" indent="0">
              <a:buNone/>
            </a:pPr>
            <a:r>
              <a:rPr lang="en-US" sz="820" dirty="0">
                <a:solidFill>
                  <a:srgbClr val="303846"/>
                </a:solidFill>
              </a:rPr>
              <a:t>S14</a:t>
            </a:r>
            <a:endParaRPr lang="en-US" sz="820" dirty="0"/>
          </a:p>
        </p:txBody>
      </p:sp>
      <p:sp>
        <p:nvSpPr>
          <p:cNvPr id="101" name="Shape 99"/>
          <p:cNvSpPr/>
          <p:nvPr/>
        </p:nvSpPr>
        <p:spPr>
          <a:xfrm>
            <a:off x="6969557" y="4910328"/>
            <a:ext cx="1894637" cy="502920"/>
          </a:xfrm>
          <a:prstGeom prst="rect">
            <a:avLst/>
          </a:prstGeom>
          <a:solidFill>
            <a:srgbClr val="F0F5F7"/>
          </a:solidFill>
          <a:ln w="6350">
            <a:solidFill>
              <a:srgbClr val="CED4DA"/>
            </a:solidFill>
            <a:prstDash val="solid"/>
          </a:ln>
        </p:spPr>
      </p:sp>
      <p:sp>
        <p:nvSpPr>
          <p:cNvPr id="102" name="Text 100"/>
          <p:cNvSpPr/>
          <p:nvPr/>
        </p:nvSpPr>
        <p:spPr>
          <a:xfrm>
            <a:off x="7015277" y="4946904"/>
            <a:ext cx="1803197" cy="448056"/>
          </a:xfrm>
          <a:prstGeom prst="rect">
            <a:avLst/>
          </a:prstGeom>
          <a:noFill/>
          <a:ln/>
        </p:spPr>
        <p:txBody>
          <a:bodyPr wrap="square" lIns="254" tIns="254" rIns="254" bIns="254" rtlCol="0" anchor="ctr">
            <a:normAutofit/>
          </a:bodyPr>
          <a:lstStyle/>
          <a:p>
            <a:pPr marL="0" indent="0">
              <a:buNone/>
            </a:pPr>
            <a:r>
              <a:rPr lang="en-US" sz="820" dirty="0">
                <a:solidFill>
                  <a:srgbClr val="303846"/>
                </a:solidFill>
              </a:rPr>
              <a:t>Hong et al. (2024)</a:t>
            </a:r>
            <a:endParaRPr lang="en-US" sz="820" dirty="0"/>
          </a:p>
        </p:txBody>
      </p:sp>
      <p:sp>
        <p:nvSpPr>
          <p:cNvPr id="103" name="Shape 101"/>
          <p:cNvSpPr/>
          <p:nvPr/>
        </p:nvSpPr>
        <p:spPr>
          <a:xfrm>
            <a:off x="8864194" y="4910328"/>
            <a:ext cx="2611526" cy="502920"/>
          </a:xfrm>
          <a:prstGeom prst="rect">
            <a:avLst/>
          </a:prstGeom>
          <a:solidFill>
            <a:srgbClr val="F0F5F7"/>
          </a:solidFill>
          <a:ln w="6350">
            <a:solidFill>
              <a:srgbClr val="CED4DA"/>
            </a:solidFill>
            <a:prstDash val="solid"/>
          </a:ln>
        </p:spPr>
      </p:sp>
      <p:sp>
        <p:nvSpPr>
          <p:cNvPr id="104" name="Text 102"/>
          <p:cNvSpPr/>
          <p:nvPr/>
        </p:nvSpPr>
        <p:spPr>
          <a:xfrm>
            <a:off x="8909914" y="4946904"/>
            <a:ext cx="2520086" cy="448056"/>
          </a:xfrm>
          <a:prstGeom prst="rect">
            <a:avLst/>
          </a:prstGeom>
          <a:noFill/>
          <a:ln/>
        </p:spPr>
        <p:txBody>
          <a:bodyPr wrap="square" lIns="254" tIns="254" rIns="254" bIns="254" rtlCol="0" anchor="ctr">
            <a:normAutofit/>
          </a:bodyPr>
          <a:lstStyle/>
          <a:p>
            <a:pPr marL="0" indent="0">
              <a:buNone/>
            </a:pPr>
            <a:r>
              <a:rPr lang="en-US" sz="820" dirty="0">
                <a:solidFill>
                  <a:srgbClr val="303846"/>
                </a:solidFill>
              </a:rPr>
              <a:t>Cross-enterprise synchronization</a:t>
            </a:r>
            <a:endParaRPr lang="en-US" sz="820" dirty="0"/>
          </a:p>
        </p:txBody>
      </p:sp>
      <p:sp>
        <p:nvSpPr>
          <p:cNvPr id="105" name="Shape 103"/>
          <p:cNvSpPr/>
          <p:nvPr/>
        </p:nvSpPr>
        <p:spPr>
          <a:xfrm>
            <a:off x="6355080" y="5413248"/>
            <a:ext cx="614477" cy="502920"/>
          </a:xfrm>
          <a:prstGeom prst="rect">
            <a:avLst/>
          </a:prstGeom>
          <a:solidFill>
            <a:srgbClr val="FFFFFF"/>
          </a:solidFill>
          <a:ln w="6350">
            <a:solidFill>
              <a:srgbClr val="CED4DA"/>
            </a:solidFill>
            <a:prstDash val="solid"/>
          </a:ln>
        </p:spPr>
      </p:sp>
      <p:sp>
        <p:nvSpPr>
          <p:cNvPr id="106" name="Text 104"/>
          <p:cNvSpPr/>
          <p:nvPr/>
        </p:nvSpPr>
        <p:spPr>
          <a:xfrm>
            <a:off x="6400800" y="5449824"/>
            <a:ext cx="523037" cy="448056"/>
          </a:xfrm>
          <a:prstGeom prst="rect">
            <a:avLst/>
          </a:prstGeom>
          <a:noFill/>
          <a:ln/>
        </p:spPr>
        <p:txBody>
          <a:bodyPr wrap="square" lIns="254" tIns="254" rIns="254" bIns="254" rtlCol="0" anchor="ctr">
            <a:normAutofit/>
          </a:bodyPr>
          <a:lstStyle/>
          <a:p>
            <a:pPr marL="0" indent="0">
              <a:buNone/>
            </a:pPr>
            <a:r>
              <a:rPr lang="en-US" sz="820" dirty="0">
                <a:solidFill>
                  <a:srgbClr val="303846"/>
                </a:solidFill>
              </a:rPr>
              <a:t>S15</a:t>
            </a:r>
            <a:endParaRPr lang="en-US" sz="820" dirty="0"/>
          </a:p>
        </p:txBody>
      </p:sp>
      <p:sp>
        <p:nvSpPr>
          <p:cNvPr id="107" name="Shape 105"/>
          <p:cNvSpPr/>
          <p:nvPr/>
        </p:nvSpPr>
        <p:spPr>
          <a:xfrm>
            <a:off x="6969557" y="5413248"/>
            <a:ext cx="1894637" cy="502920"/>
          </a:xfrm>
          <a:prstGeom prst="rect">
            <a:avLst/>
          </a:prstGeom>
          <a:solidFill>
            <a:srgbClr val="FFFFFF"/>
          </a:solidFill>
          <a:ln w="6350">
            <a:solidFill>
              <a:srgbClr val="CED4DA"/>
            </a:solidFill>
            <a:prstDash val="solid"/>
          </a:ln>
        </p:spPr>
      </p:sp>
      <p:sp>
        <p:nvSpPr>
          <p:cNvPr id="108" name="Text 106"/>
          <p:cNvSpPr/>
          <p:nvPr/>
        </p:nvSpPr>
        <p:spPr>
          <a:xfrm>
            <a:off x="7015277" y="5449824"/>
            <a:ext cx="1803197" cy="448056"/>
          </a:xfrm>
          <a:prstGeom prst="rect">
            <a:avLst/>
          </a:prstGeom>
          <a:noFill/>
          <a:ln/>
        </p:spPr>
        <p:txBody>
          <a:bodyPr wrap="square" lIns="254" tIns="254" rIns="254" bIns="254" rtlCol="0" anchor="ctr">
            <a:normAutofit/>
          </a:bodyPr>
          <a:lstStyle/>
          <a:p>
            <a:pPr marL="0" indent="0">
              <a:buNone/>
            </a:pPr>
            <a:r>
              <a:rPr lang="en-US" sz="820" dirty="0">
                <a:solidFill>
                  <a:srgbClr val="303846"/>
                </a:solidFill>
              </a:rPr>
              <a:t>Zhang et al. (2026)</a:t>
            </a:r>
            <a:endParaRPr lang="en-US" sz="820" dirty="0"/>
          </a:p>
        </p:txBody>
      </p:sp>
      <p:sp>
        <p:nvSpPr>
          <p:cNvPr id="109" name="Shape 107"/>
          <p:cNvSpPr/>
          <p:nvPr/>
        </p:nvSpPr>
        <p:spPr>
          <a:xfrm>
            <a:off x="8864194" y="5413248"/>
            <a:ext cx="2611526" cy="502920"/>
          </a:xfrm>
          <a:prstGeom prst="rect">
            <a:avLst/>
          </a:prstGeom>
          <a:solidFill>
            <a:srgbClr val="FFFFFF"/>
          </a:solidFill>
          <a:ln w="6350">
            <a:solidFill>
              <a:srgbClr val="CED4DA"/>
            </a:solidFill>
            <a:prstDash val="solid"/>
          </a:ln>
        </p:spPr>
      </p:sp>
      <p:sp>
        <p:nvSpPr>
          <p:cNvPr id="110" name="Text 108"/>
          <p:cNvSpPr/>
          <p:nvPr/>
        </p:nvSpPr>
        <p:spPr>
          <a:xfrm>
            <a:off x="8909914" y="5449824"/>
            <a:ext cx="2520086" cy="448056"/>
          </a:xfrm>
          <a:prstGeom prst="rect">
            <a:avLst/>
          </a:prstGeom>
          <a:noFill/>
          <a:ln/>
        </p:spPr>
        <p:txBody>
          <a:bodyPr wrap="square" lIns="254" tIns="254" rIns="254" bIns="254" rtlCol="0" anchor="ctr">
            <a:normAutofit/>
          </a:bodyPr>
          <a:lstStyle/>
          <a:p>
            <a:pPr marL="0" indent="0">
              <a:buNone/>
            </a:pPr>
            <a:r>
              <a:rPr lang="en-US" sz="820" dirty="0">
                <a:solidFill>
                  <a:srgbClr val="303846"/>
                </a:solidFill>
              </a:rPr>
              <a:t>Opti-state smart warehousing control</a:t>
            </a:r>
            <a:endParaRPr lang="en-US" sz="820" dirty="0"/>
          </a:p>
        </p:txBody>
      </p:sp>
      <p:sp>
        <p:nvSpPr>
          <p:cNvPr id="111" name="Text 109"/>
          <p:cNvSpPr/>
          <p:nvPr/>
        </p:nvSpPr>
        <p:spPr>
          <a:xfrm>
            <a:off x="502920" y="6281928"/>
            <a:ext cx="10789920" cy="164592"/>
          </a:xfrm>
          <a:prstGeom prst="rect">
            <a:avLst/>
          </a:prstGeom>
          <a:noFill/>
          <a:ln/>
        </p:spPr>
        <p:txBody>
          <a:bodyPr wrap="square" lIns="0" tIns="0" rIns="0" bIns="0" rtlCol="0" anchor="ctr"/>
          <a:lstStyle/>
          <a:p>
            <a:pPr marL="0" indent="0">
              <a:buNone/>
            </a:pPr>
            <a:r>
              <a:rPr lang="en-US" sz="760" i="1" dirty="0">
                <a:solidFill>
                  <a:srgbClr val="667085"/>
                </a:solidFill>
              </a:rPr>
              <a:t>Study labels used throughout the deck. Full references provided at the end.</a:t>
            </a:r>
            <a:endParaRPr lang="en-US" sz="76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7F9"/>
        </a:solidFill>
        <a:effectLst/>
      </p:bgPr>
    </p:bg>
    <p:spTree>
      <p:nvGrpSpPr>
        <p:cNvPr id="1" name=""/>
        <p:cNvGrpSpPr/>
        <p:nvPr/>
      </p:nvGrpSpPr>
      <p:grpSpPr>
        <a:xfrm>
          <a:off x="0" y="0"/>
          <a:ext cx="0" cy="0"/>
          <a:chOff x="0" y="0"/>
          <a:chExt cx="0" cy="0"/>
        </a:xfrm>
      </p:grpSpPr>
      <p:sp>
        <p:nvSpPr>
          <p:cNvPr id="2" name="Shape 0"/>
          <p:cNvSpPr/>
          <p:nvPr/>
        </p:nvSpPr>
        <p:spPr>
          <a:xfrm>
            <a:off x="347472" y="329184"/>
            <a:ext cx="73152" cy="438912"/>
          </a:xfrm>
          <a:prstGeom prst="rect">
            <a:avLst/>
          </a:prstGeom>
          <a:solidFill>
            <a:srgbClr val="2F6BD8"/>
          </a:solidFill>
          <a:ln w="12700">
            <a:solidFill>
              <a:srgbClr val="2F6BD8"/>
            </a:solidFill>
            <a:prstDash val="solid"/>
          </a:ln>
        </p:spPr>
      </p:sp>
      <p:sp>
        <p:nvSpPr>
          <p:cNvPr id="3" name="Text 1"/>
          <p:cNvSpPr/>
          <p:nvPr/>
        </p:nvSpPr>
        <p:spPr>
          <a:xfrm>
            <a:off x="512064" y="292608"/>
            <a:ext cx="10789920" cy="502920"/>
          </a:xfrm>
          <a:prstGeom prst="rect">
            <a:avLst/>
          </a:prstGeom>
          <a:noFill/>
          <a:ln/>
        </p:spPr>
        <p:txBody>
          <a:bodyPr wrap="square" lIns="0" tIns="0" rIns="0" bIns="0" rtlCol="0" anchor="ctr"/>
          <a:lstStyle/>
          <a:p>
            <a:pPr marL="0" indent="0">
              <a:buNone/>
            </a:pPr>
            <a:r>
              <a:rPr lang="en-US" sz="2700" b="1" dirty="0">
                <a:solidFill>
                  <a:srgbClr val="303846"/>
                </a:solidFill>
                <a:latin typeface="Aptos Display" pitchFamily="34" charset="0"/>
                <a:ea typeface="Aptos Display" pitchFamily="34" charset="-122"/>
                <a:cs typeface="Aptos Display" pitchFamily="34" charset="-120"/>
              </a:rPr>
              <a:t>Data Extraction</a:t>
            </a:r>
            <a:endParaRPr lang="en-US" sz="2700" dirty="0"/>
          </a:p>
        </p:txBody>
      </p:sp>
      <p:sp>
        <p:nvSpPr>
          <p:cNvPr id="4" name="Shape 2"/>
          <p:cNvSpPr/>
          <p:nvPr/>
        </p:nvSpPr>
        <p:spPr>
          <a:xfrm>
            <a:off x="0" y="6510528"/>
            <a:ext cx="12191695" cy="347472"/>
          </a:xfrm>
          <a:prstGeom prst="rect">
            <a:avLst/>
          </a:prstGeom>
          <a:solidFill>
            <a:srgbClr val="303846"/>
          </a:solidFill>
          <a:ln w="12700">
            <a:solidFill>
              <a:srgbClr val="303846"/>
            </a:solidFill>
            <a:prstDash val="solid"/>
          </a:ln>
        </p:spPr>
      </p:sp>
      <p:sp>
        <p:nvSpPr>
          <p:cNvPr id="5" name="Text 3"/>
          <p:cNvSpPr/>
          <p:nvPr/>
        </p:nvSpPr>
        <p:spPr>
          <a:xfrm>
            <a:off x="320040" y="6592824"/>
            <a:ext cx="6583680" cy="137160"/>
          </a:xfrm>
          <a:prstGeom prst="rect">
            <a:avLst/>
          </a:prstGeom>
          <a:noFill/>
          <a:ln/>
        </p:spPr>
        <p:txBody>
          <a:bodyPr wrap="square" lIns="0" tIns="0" rIns="0" bIns="0" rtlCol="0" anchor="ctr"/>
          <a:lstStyle/>
          <a:p>
            <a:pPr marL="0" indent="0">
              <a:buNone/>
            </a:pPr>
            <a:r>
              <a:rPr lang="en-US" sz="750" i="1" dirty="0">
                <a:solidFill>
                  <a:srgbClr val="F2F4F7"/>
                </a:solidFill>
              </a:rPr>
              <a:t>Digital Twin-Enabled Intralogistics — Systematic Review | SEN601</a:t>
            </a:r>
            <a:endParaRPr lang="en-US" sz="750" dirty="0"/>
          </a:p>
        </p:txBody>
      </p:sp>
      <p:sp>
        <p:nvSpPr>
          <p:cNvPr id="6" name="Text 4"/>
          <p:cNvSpPr/>
          <p:nvPr/>
        </p:nvSpPr>
        <p:spPr>
          <a:xfrm>
            <a:off x="10195560" y="6592824"/>
            <a:ext cx="1280160" cy="137160"/>
          </a:xfrm>
          <a:prstGeom prst="rect">
            <a:avLst/>
          </a:prstGeom>
          <a:noFill/>
          <a:ln/>
        </p:spPr>
        <p:txBody>
          <a:bodyPr wrap="square" lIns="0" tIns="0" rIns="0" bIns="0" rtlCol="0" anchor="ctr"/>
          <a:lstStyle/>
          <a:p>
            <a:pPr marL="0" indent="0" algn="r">
              <a:buNone/>
            </a:pPr>
            <a:r>
              <a:rPr lang="en-US" sz="750" dirty="0">
                <a:solidFill>
                  <a:srgbClr val="F2F4F7"/>
                </a:solidFill>
              </a:rPr>
              <a:t>Data Extraction</a:t>
            </a:r>
            <a:endParaRPr lang="en-US" sz="750" dirty="0"/>
          </a:p>
        </p:txBody>
      </p:sp>
      <p:sp>
        <p:nvSpPr>
          <p:cNvPr id="7" name="Text 5"/>
          <p:cNvSpPr/>
          <p:nvPr/>
        </p:nvSpPr>
        <p:spPr>
          <a:xfrm>
            <a:off x="11539728" y="6583680"/>
            <a:ext cx="329184" cy="146304"/>
          </a:xfrm>
          <a:prstGeom prst="rect">
            <a:avLst/>
          </a:prstGeom>
          <a:noFill/>
          <a:ln/>
        </p:spPr>
        <p:txBody>
          <a:bodyPr wrap="square" lIns="0" tIns="0" rIns="0" bIns="0" rtlCol="0" anchor="ctr"/>
          <a:lstStyle/>
          <a:p>
            <a:pPr marL="0" indent="0" algn="r">
              <a:buNone/>
            </a:pPr>
            <a:r>
              <a:rPr lang="en-US" sz="850" dirty="0">
                <a:solidFill>
                  <a:srgbClr val="F2F4F7"/>
                </a:solidFill>
              </a:rPr>
              <a:t>9</a:t>
            </a:r>
            <a:endParaRPr lang="en-US" sz="850" dirty="0"/>
          </a:p>
        </p:txBody>
      </p:sp>
      <p:sp>
        <p:nvSpPr>
          <p:cNvPr id="8" name="Text 6"/>
          <p:cNvSpPr/>
          <p:nvPr/>
        </p:nvSpPr>
        <p:spPr>
          <a:xfrm>
            <a:off x="640080" y="960120"/>
            <a:ext cx="10332720" cy="256032"/>
          </a:xfrm>
          <a:prstGeom prst="rect">
            <a:avLst/>
          </a:prstGeom>
          <a:noFill/>
          <a:ln/>
        </p:spPr>
        <p:txBody>
          <a:bodyPr wrap="square" lIns="0" tIns="0" rIns="0" bIns="0" rtlCol="0" anchor="ctr"/>
          <a:lstStyle/>
          <a:p>
            <a:pPr marL="0" indent="0">
              <a:buNone/>
            </a:pPr>
            <a:r>
              <a:rPr lang="en-US" sz="1350" dirty="0">
                <a:solidFill>
                  <a:srgbClr val="303846"/>
                </a:solidFill>
              </a:rPr>
              <a:t>A standardized extraction form was designed to support cross-study comparison.</a:t>
            </a:r>
            <a:endParaRPr lang="en-US" sz="1350" dirty="0"/>
          </a:p>
        </p:txBody>
      </p:sp>
      <p:sp>
        <p:nvSpPr>
          <p:cNvPr id="9" name="Shape 7"/>
          <p:cNvSpPr/>
          <p:nvPr/>
        </p:nvSpPr>
        <p:spPr>
          <a:xfrm>
            <a:off x="731520" y="1508760"/>
            <a:ext cx="5166360" cy="1051560"/>
          </a:xfrm>
          <a:prstGeom prst="roundRect">
            <a:avLst>
              <a:gd name="adj" fmla="val 3478"/>
            </a:avLst>
          </a:prstGeom>
          <a:solidFill>
            <a:srgbClr val="FFFFFF"/>
          </a:solidFill>
          <a:ln w="12700">
            <a:solidFill>
              <a:srgbClr val="E8ECF2"/>
            </a:solidFill>
            <a:prstDash val="solid"/>
          </a:ln>
        </p:spPr>
      </p:sp>
      <p:sp>
        <p:nvSpPr>
          <p:cNvPr id="10" name="Shape 8"/>
          <p:cNvSpPr/>
          <p:nvPr/>
        </p:nvSpPr>
        <p:spPr>
          <a:xfrm>
            <a:off x="731520" y="1508760"/>
            <a:ext cx="5166360" cy="274320"/>
          </a:xfrm>
          <a:prstGeom prst="rect">
            <a:avLst/>
          </a:prstGeom>
          <a:solidFill>
            <a:srgbClr val="3D4656"/>
          </a:solidFill>
          <a:ln w="12700">
            <a:solidFill>
              <a:srgbClr val="3D4656"/>
            </a:solidFill>
            <a:prstDash val="solid"/>
          </a:ln>
        </p:spPr>
      </p:sp>
      <p:sp>
        <p:nvSpPr>
          <p:cNvPr id="11" name="Text 9"/>
          <p:cNvSpPr/>
          <p:nvPr/>
        </p:nvSpPr>
        <p:spPr>
          <a:xfrm>
            <a:off x="731520" y="1527048"/>
            <a:ext cx="5166360" cy="274320"/>
          </a:xfrm>
          <a:prstGeom prst="rect">
            <a:avLst/>
          </a:prstGeom>
          <a:noFill/>
          <a:ln/>
        </p:spPr>
        <p:txBody>
          <a:bodyPr wrap="square" lIns="254" tIns="254" rIns="254" bIns="254" rtlCol="0" anchor="ctr"/>
          <a:lstStyle/>
          <a:p>
            <a:pPr marL="0" indent="0" algn="ctr">
              <a:buNone/>
            </a:pPr>
            <a:r>
              <a:rPr lang="en-US" sz="940" b="1" dirty="0">
                <a:solidFill>
                  <a:srgbClr val="FFFFFF"/>
                </a:solidFill>
              </a:rPr>
              <a:t>Category 1: Bibliographic Information</a:t>
            </a:r>
            <a:endParaRPr lang="en-US" sz="940" dirty="0"/>
          </a:p>
        </p:txBody>
      </p:sp>
      <p:sp>
        <p:nvSpPr>
          <p:cNvPr id="12" name="Text 10"/>
          <p:cNvSpPr/>
          <p:nvPr/>
        </p:nvSpPr>
        <p:spPr>
          <a:xfrm>
            <a:off x="896112" y="1901952"/>
            <a:ext cx="4754880" cy="502920"/>
          </a:xfrm>
          <a:prstGeom prst="rect">
            <a:avLst/>
          </a:prstGeom>
          <a:noFill/>
          <a:ln/>
        </p:spPr>
        <p:txBody>
          <a:bodyPr wrap="square" lIns="889" tIns="889" rIns="889" bIns="889" rtlCol="0" anchor="ctr">
            <a:normAutofit/>
          </a:bodyPr>
          <a:lstStyle/>
          <a:p>
            <a:pPr marL="0" indent="0">
              <a:buNone/>
            </a:pPr>
            <a:r>
              <a:rPr lang="en-US" sz="880" dirty="0">
                <a:solidFill>
                  <a:srgbClr val="303846"/>
                </a:solidFill>
              </a:rPr>
              <a:t>• Study ID (S1–S15)
• Authors and publication year
• Publication venue
• Primary domain</a:t>
            </a:r>
            <a:endParaRPr lang="en-US" sz="880" dirty="0"/>
          </a:p>
        </p:txBody>
      </p:sp>
      <p:sp>
        <p:nvSpPr>
          <p:cNvPr id="13" name="Shape 11"/>
          <p:cNvSpPr/>
          <p:nvPr/>
        </p:nvSpPr>
        <p:spPr>
          <a:xfrm>
            <a:off x="731520" y="2971800"/>
            <a:ext cx="5166360" cy="1051560"/>
          </a:xfrm>
          <a:prstGeom prst="roundRect">
            <a:avLst>
              <a:gd name="adj" fmla="val 3478"/>
            </a:avLst>
          </a:prstGeom>
          <a:solidFill>
            <a:srgbClr val="FFFFFF"/>
          </a:solidFill>
          <a:ln w="12700">
            <a:solidFill>
              <a:srgbClr val="E8ECF2"/>
            </a:solidFill>
            <a:prstDash val="solid"/>
          </a:ln>
        </p:spPr>
      </p:sp>
      <p:sp>
        <p:nvSpPr>
          <p:cNvPr id="14" name="Shape 12"/>
          <p:cNvSpPr/>
          <p:nvPr/>
        </p:nvSpPr>
        <p:spPr>
          <a:xfrm>
            <a:off x="731520" y="2971800"/>
            <a:ext cx="5166360" cy="274320"/>
          </a:xfrm>
          <a:prstGeom prst="rect">
            <a:avLst/>
          </a:prstGeom>
          <a:solidFill>
            <a:srgbClr val="3D4656"/>
          </a:solidFill>
          <a:ln w="12700">
            <a:solidFill>
              <a:srgbClr val="3D4656"/>
            </a:solidFill>
            <a:prstDash val="solid"/>
          </a:ln>
        </p:spPr>
      </p:sp>
      <p:sp>
        <p:nvSpPr>
          <p:cNvPr id="15" name="Text 13"/>
          <p:cNvSpPr/>
          <p:nvPr/>
        </p:nvSpPr>
        <p:spPr>
          <a:xfrm>
            <a:off x="731520" y="2990088"/>
            <a:ext cx="5166360" cy="274320"/>
          </a:xfrm>
          <a:prstGeom prst="rect">
            <a:avLst/>
          </a:prstGeom>
          <a:noFill/>
          <a:ln/>
        </p:spPr>
        <p:txBody>
          <a:bodyPr wrap="square" lIns="254" tIns="254" rIns="254" bIns="254" rtlCol="0" anchor="ctr"/>
          <a:lstStyle/>
          <a:p>
            <a:pPr marL="0" indent="0" algn="ctr">
              <a:buNone/>
            </a:pPr>
            <a:r>
              <a:rPr lang="en-US" sz="940" b="1" dirty="0">
                <a:solidFill>
                  <a:srgbClr val="FFFFFF"/>
                </a:solidFill>
              </a:rPr>
              <a:t>Category 2: Study Characteristics</a:t>
            </a:r>
            <a:endParaRPr lang="en-US" sz="940" dirty="0"/>
          </a:p>
        </p:txBody>
      </p:sp>
      <p:sp>
        <p:nvSpPr>
          <p:cNvPr id="16" name="Text 14"/>
          <p:cNvSpPr/>
          <p:nvPr/>
        </p:nvSpPr>
        <p:spPr>
          <a:xfrm>
            <a:off x="896112" y="3364992"/>
            <a:ext cx="4754880" cy="502920"/>
          </a:xfrm>
          <a:prstGeom prst="rect">
            <a:avLst/>
          </a:prstGeom>
          <a:noFill/>
          <a:ln/>
        </p:spPr>
        <p:txBody>
          <a:bodyPr wrap="square" lIns="889" tIns="889" rIns="889" bIns="889" rtlCol="0" anchor="ctr">
            <a:normAutofit/>
          </a:bodyPr>
          <a:lstStyle/>
          <a:p>
            <a:pPr marL="0" indent="0">
              <a:buNone/>
            </a:pPr>
            <a:r>
              <a:rPr lang="en-US" sz="880" dirty="0">
                <a:solidFill>
                  <a:srgbClr val="303846"/>
                </a:solidFill>
              </a:rPr>
              <a:t>• Evidence type
• Warehouse / intralogistics context
• System boundaries
• Maturity level</a:t>
            </a:r>
            <a:endParaRPr lang="en-US" sz="880" dirty="0"/>
          </a:p>
        </p:txBody>
      </p:sp>
      <p:sp>
        <p:nvSpPr>
          <p:cNvPr id="17" name="Shape 15"/>
          <p:cNvSpPr/>
          <p:nvPr/>
        </p:nvSpPr>
        <p:spPr>
          <a:xfrm>
            <a:off x="731520" y="4434840"/>
            <a:ext cx="5166360" cy="1051560"/>
          </a:xfrm>
          <a:prstGeom prst="roundRect">
            <a:avLst>
              <a:gd name="adj" fmla="val 3478"/>
            </a:avLst>
          </a:prstGeom>
          <a:solidFill>
            <a:srgbClr val="FFFFFF"/>
          </a:solidFill>
          <a:ln w="12700">
            <a:solidFill>
              <a:srgbClr val="E8ECF2"/>
            </a:solidFill>
            <a:prstDash val="solid"/>
          </a:ln>
        </p:spPr>
      </p:sp>
      <p:sp>
        <p:nvSpPr>
          <p:cNvPr id="18" name="Shape 16"/>
          <p:cNvSpPr/>
          <p:nvPr/>
        </p:nvSpPr>
        <p:spPr>
          <a:xfrm>
            <a:off x="731520" y="4434840"/>
            <a:ext cx="5166360" cy="274320"/>
          </a:xfrm>
          <a:prstGeom prst="rect">
            <a:avLst/>
          </a:prstGeom>
          <a:solidFill>
            <a:srgbClr val="3D4656"/>
          </a:solidFill>
          <a:ln w="12700">
            <a:solidFill>
              <a:srgbClr val="3D4656"/>
            </a:solidFill>
            <a:prstDash val="solid"/>
          </a:ln>
        </p:spPr>
      </p:sp>
      <p:sp>
        <p:nvSpPr>
          <p:cNvPr id="19" name="Text 17"/>
          <p:cNvSpPr/>
          <p:nvPr/>
        </p:nvSpPr>
        <p:spPr>
          <a:xfrm>
            <a:off x="731520" y="4453128"/>
            <a:ext cx="5166360" cy="274320"/>
          </a:xfrm>
          <a:prstGeom prst="rect">
            <a:avLst/>
          </a:prstGeom>
          <a:noFill/>
          <a:ln/>
        </p:spPr>
        <p:txBody>
          <a:bodyPr wrap="square" lIns="254" tIns="254" rIns="254" bIns="254" rtlCol="0" anchor="ctr"/>
          <a:lstStyle/>
          <a:p>
            <a:pPr marL="0" indent="0" algn="ctr">
              <a:buNone/>
            </a:pPr>
            <a:r>
              <a:rPr lang="en-US" sz="940" b="1" dirty="0">
                <a:solidFill>
                  <a:srgbClr val="FFFFFF"/>
                </a:solidFill>
              </a:rPr>
              <a:t>Category 3: DT Architecture</a:t>
            </a:r>
            <a:endParaRPr lang="en-US" sz="940" dirty="0"/>
          </a:p>
        </p:txBody>
      </p:sp>
      <p:sp>
        <p:nvSpPr>
          <p:cNvPr id="20" name="Text 18"/>
          <p:cNvSpPr/>
          <p:nvPr/>
        </p:nvSpPr>
        <p:spPr>
          <a:xfrm>
            <a:off x="896112" y="4828032"/>
            <a:ext cx="4754880" cy="502920"/>
          </a:xfrm>
          <a:prstGeom prst="rect">
            <a:avLst/>
          </a:prstGeom>
          <a:noFill/>
          <a:ln/>
        </p:spPr>
        <p:txBody>
          <a:bodyPr wrap="square" lIns="889" tIns="889" rIns="889" bIns="889" rtlCol="0" anchor="ctr">
            <a:normAutofit/>
          </a:bodyPr>
          <a:lstStyle/>
          <a:p>
            <a:pPr marL="0" indent="0">
              <a:buNone/>
            </a:pPr>
            <a:r>
              <a:rPr lang="en-US" sz="880" dirty="0">
                <a:solidFill>
                  <a:srgbClr val="303846"/>
                </a:solidFill>
              </a:rPr>
              <a:t>• Digital twin / shadow type
• Data connection and synchronization
• Simulation / CPS / AI components
• Integration with WMS/WCS/ERP if stated</a:t>
            </a:r>
            <a:endParaRPr lang="en-US" sz="880" dirty="0"/>
          </a:p>
        </p:txBody>
      </p:sp>
      <p:sp>
        <p:nvSpPr>
          <p:cNvPr id="21" name="Shape 19"/>
          <p:cNvSpPr/>
          <p:nvPr/>
        </p:nvSpPr>
        <p:spPr>
          <a:xfrm>
            <a:off x="6236208" y="1508760"/>
            <a:ext cx="5166360" cy="1051560"/>
          </a:xfrm>
          <a:prstGeom prst="roundRect">
            <a:avLst>
              <a:gd name="adj" fmla="val 3478"/>
            </a:avLst>
          </a:prstGeom>
          <a:solidFill>
            <a:srgbClr val="FFFFFF"/>
          </a:solidFill>
          <a:ln w="12700">
            <a:solidFill>
              <a:srgbClr val="E8ECF2"/>
            </a:solidFill>
            <a:prstDash val="solid"/>
          </a:ln>
        </p:spPr>
      </p:sp>
      <p:sp>
        <p:nvSpPr>
          <p:cNvPr id="22" name="Shape 20"/>
          <p:cNvSpPr/>
          <p:nvPr/>
        </p:nvSpPr>
        <p:spPr>
          <a:xfrm>
            <a:off x="6236208" y="1508760"/>
            <a:ext cx="5166360" cy="274320"/>
          </a:xfrm>
          <a:prstGeom prst="rect">
            <a:avLst/>
          </a:prstGeom>
          <a:solidFill>
            <a:srgbClr val="2F6BD8"/>
          </a:solidFill>
          <a:ln w="12700">
            <a:solidFill>
              <a:srgbClr val="2F6BD8"/>
            </a:solidFill>
            <a:prstDash val="solid"/>
          </a:ln>
        </p:spPr>
      </p:sp>
      <p:sp>
        <p:nvSpPr>
          <p:cNvPr id="23" name="Text 21"/>
          <p:cNvSpPr/>
          <p:nvPr/>
        </p:nvSpPr>
        <p:spPr>
          <a:xfrm>
            <a:off x="6236208" y="1527048"/>
            <a:ext cx="5166360" cy="274320"/>
          </a:xfrm>
          <a:prstGeom prst="rect">
            <a:avLst/>
          </a:prstGeom>
          <a:noFill/>
          <a:ln/>
        </p:spPr>
        <p:txBody>
          <a:bodyPr wrap="square" lIns="254" tIns="254" rIns="254" bIns="254" rtlCol="0" anchor="ctr"/>
          <a:lstStyle/>
          <a:p>
            <a:pPr marL="0" indent="0" algn="ctr">
              <a:buNone/>
            </a:pPr>
            <a:r>
              <a:rPr lang="en-US" sz="940" b="1" dirty="0">
                <a:solidFill>
                  <a:srgbClr val="FFFFFF"/>
                </a:solidFill>
              </a:rPr>
              <a:t>Category 4: Outcomes</a:t>
            </a:r>
            <a:endParaRPr lang="en-US" sz="940" dirty="0"/>
          </a:p>
        </p:txBody>
      </p:sp>
      <p:sp>
        <p:nvSpPr>
          <p:cNvPr id="24" name="Text 22"/>
          <p:cNvSpPr/>
          <p:nvPr/>
        </p:nvSpPr>
        <p:spPr>
          <a:xfrm>
            <a:off x="6400800" y="1901952"/>
            <a:ext cx="4754880" cy="502920"/>
          </a:xfrm>
          <a:prstGeom prst="rect">
            <a:avLst/>
          </a:prstGeom>
          <a:noFill/>
          <a:ln/>
        </p:spPr>
        <p:txBody>
          <a:bodyPr wrap="square" lIns="889" tIns="889" rIns="889" bIns="889" rtlCol="0" anchor="ctr">
            <a:normAutofit/>
          </a:bodyPr>
          <a:lstStyle/>
          <a:p>
            <a:pPr marL="0" indent="0">
              <a:buNone/>
            </a:pPr>
            <a:r>
              <a:rPr lang="en-US" sz="880" dirty="0">
                <a:solidFill>
                  <a:srgbClr val="303846"/>
                </a:solidFill>
              </a:rPr>
              <a:t>• Performance objective
• Evaluation method
• Reported improvement direction
• Operational relevance</a:t>
            </a:r>
            <a:endParaRPr lang="en-US" sz="880" dirty="0"/>
          </a:p>
        </p:txBody>
      </p:sp>
      <p:sp>
        <p:nvSpPr>
          <p:cNvPr id="25" name="Shape 23"/>
          <p:cNvSpPr/>
          <p:nvPr/>
        </p:nvSpPr>
        <p:spPr>
          <a:xfrm>
            <a:off x="6236208" y="2971800"/>
            <a:ext cx="5166360" cy="1051560"/>
          </a:xfrm>
          <a:prstGeom prst="roundRect">
            <a:avLst>
              <a:gd name="adj" fmla="val 3478"/>
            </a:avLst>
          </a:prstGeom>
          <a:solidFill>
            <a:srgbClr val="FFFFFF"/>
          </a:solidFill>
          <a:ln w="12700">
            <a:solidFill>
              <a:srgbClr val="E8ECF2"/>
            </a:solidFill>
            <a:prstDash val="solid"/>
          </a:ln>
        </p:spPr>
      </p:sp>
      <p:sp>
        <p:nvSpPr>
          <p:cNvPr id="26" name="Shape 24"/>
          <p:cNvSpPr/>
          <p:nvPr/>
        </p:nvSpPr>
        <p:spPr>
          <a:xfrm>
            <a:off x="6236208" y="2971800"/>
            <a:ext cx="5166360" cy="274320"/>
          </a:xfrm>
          <a:prstGeom prst="rect">
            <a:avLst/>
          </a:prstGeom>
          <a:solidFill>
            <a:srgbClr val="2F6BD8"/>
          </a:solidFill>
          <a:ln w="12700">
            <a:solidFill>
              <a:srgbClr val="2F6BD8"/>
            </a:solidFill>
            <a:prstDash val="solid"/>
          </a:ln>
        </p:spPr>
      </p:sp>
      <p:sp>
        <p:nvSpPr>
          <p:cNvPr id="27" name="Text 25"/>
          <p:cNvSpPr/>
          <p:nvPr/>
        </p:nvSpPr>
        <p:spPr>
          <a:xfrm>
            <a:off x="6236208" y="2990088"/>
            <a:ext cx="5166360" cy="274320"/>
          </a:xfrm>
          <a:prstGeom prst="rect">
            <a:avLst/>
          </a:prstGeom>
          <a:noFill/>
          <a:ln/>
        </p:spPr>
        <p:txBody>
          <a:bodyPr wrap="square" lIns="254" tIns="254" rIns="254" bIns="254" rtlCol="0" anchor="ctr"/>
          <a:lstStyle/>
          <a:p>
            <a:pPr marL="0" indent="0" algn="ctr">
              <a:buNone/>
            </a:pPr>
            <a:r>
              <a:rPr lang="en-US" sz="940" b="1" dirty="0">
                <a:solidFill>
                  <a:srgbClr val="FFFFFF"/>
                </a:solidFill>
              </a:rPr>
              <a:t>Category 5: Quality Indicators</a:t>
            </a:r>
            <a:endParaRPr lang="en-US" sz="940" dirty="0"/>
          </a:p>
        </p:txBody>
      </p:sp>
      <p:sp>
        <p:nvSpPr>
          <p:cNvPr id="28" name="Text 26"/>
          <p:cNvSpPr/>
          <p:nvPr/>
        </p:nvSpPr>
        <p:spPr>
          <a:xfrm>
            <a:off x="6400800" y="3364992"/>
            <a:ext cx="4754880" cy="502920"/>
          </a:xfrm>
          <a:prstGeom prst="rect">
            <a:avLst/>
          </a:prstGeom>
          <a:noFill/>
          <a:ln/>
        </p:spPr>
        <p:txBody>
          <a:bodyPr wrap="square" lIns="889" tIns="889" rIns="889" bIns="889" rtlCol="0" anchor="ctr">
            <a:normAutofit/>
          </a:bodyPr>
          <a:lstStyle/>
          <a:p>
            <a:pPr marL="0" indent="0">
              <a:buNone/>
            </a:pPr>
            <a:r>
              <a:rPr lang="en-US" sz="880" dirty="0">
                <a:solidFill>
                  <a:srgbClr val="303846"/>
                </a:solidFill>
              </a:rPr>
              <a:t>• Aim clarity
• Architecture description
• Data connection
• Evaluation and metrics
• Limitations reported</a:t>
            </a:r>
            <a:endParaRPr lang="en-US" sz="880" dirty="0"/>
          </a:p>
        </p:txBody>
      </p:sp>
      <p:sp>
        <p:nvSpPr>
          <p:cNvPr id="29" name="Shape 27"/>
          <p:cNvSpPr/>
          <p:nvPr/>
        </p:nvSpPr>
        <p:spPr>
          <a:xfrm>
            <a:off x="6236208" y="4434840"/>
            <a:ext cx="5166360" cy="1051560"/>
          </a:xfrm>
          <a:prstGeom prst="roundRect">
            <a:avLst>
              <a:gd name="adj" fmla="val 3478"/>
            </a:avLst>
          </a:prstGeom>
          <a:solidFill>
            <a:srgbClr val="FFF5E6"/>
          </a:solidFill>
          <a:ln w="12700">
            <a:solidFill>
              <a:srgbClr val="E8ECF2"/>
            </a:solidFill>
            <a:prstDash val="solid"/>
          </a:ln>
        </p:spPr>
      </p:sp>
      <p:sp>
        <p:nvSpPr>
          <p:cNvPr id="30" name="Shape 28"/>
          <p:cNvSpPr/>
          <p:nvPr/>
        </p:nvSpPr>
        <p:spPr>
          <a:xfrm>
            <a:off x="6236208" y="4434840"/>
            <a:ext cx="5166360" cy="274320"/>
          </a:xfrm>
          <a:prstGeom prst="rect">
            <a:avLst/>
          </a:prstGeom>
          <a:solidFill>
            <a:srgbClr val="F5B041"/>
          </a:solidFill>
          <a:ln w="12700">
            <a:solidFill>
              <a:srgbClr val="F5B041"/>
            </a:solidFill>
            <a:prstDash val="solid"/>
          </a:ln>
        </p:spPr>
      </p:sp>
      <p:sp>
        <p:nvSpPr>
          <p:cNvPr id="31" name="Text 29"/>
          <p:cNvSpPr/>
          <p:nvPr/>
        </p:nvSpPr>
        <p:spPr>
          <a:xfrm>
            <a:off x="6236208" y="4453128"/>
            <a:ext cx="5166360" cy="274320"/>
          </a:xfrm>
          <a:prstGeom prst="rect">
            <a:avLst/>
          </a:prstGeom>
          <a:noFill/>
          <a:ln/>
        </p:spPr>
        <p:txBody>
          <a:bodyPr wrap="square" lIns="254" tIns="254" rIns="254" bIns="254" rtlCol="0" anchor="ctr"/>
          <a:lstStyle/>
          <a:p>
            <a:pPr marL="0" indent="0" algn="ctr">
              <a:buNone/>
            </a:pPr>
            <a:r>
              <a:rPr lang="en-US" sz="940" b="1" dirty="0">
                <a:solidFill>
                  <a:srgbClr val="FFFFFF"/>
                </a:solidFill>
              </a:rPr>
              <a:t>Handling Missing Data</a:t>
            </a:r>
            <a:endParaRPr lang="en-US" sz="940" dirty="0"/>
          </a:p>
        </p:txBody>
      </p:sp>
      <p:sp>
        <p:nvSpPr>
          <p:cNvPr id="32" name="Text 30"/>
          <p:cNvSpPr/>
          <p:nvPr/>
        </p:nvSpPr>
        <p:spPr>
          <a:xfrm>
            <a:off x="6400800" y="4828032"/>
            <a:ext cx="4754880" cy="502920"/>
          </a:xfrm>
          <a:prstGeom prst="rect">
            <a:avLst/>
          </a:prstGeom>
          <a:noFill/>
          <a:ln/>
        </p:spPr>
        <p:txBody>
          <a:bodyPr wrap="square" lIns="889" tIns="889" rIns="889" bIns="889" rtlCol="0" anchor="ctr">
            <a:normAutofit/>
          </a:bodyPr>
          <a:lstStyle/>
          <a:p>
            <a:pPr marL="0" indent="0">
              <a:buNone/>
            </a:pPr>
            <a:r>
              <a:rPr lang="en-US" sz="880" dirty="0">
                <a:solidFill>
                  <a:srgbClr val="303846"/>
                </a:solidFill>
              </a:rPr>
              <a:t>• If inferable from context → recorded with note
• If absent → recorded as “not specified”
• No effect-size meta-analysis attempted</a:t>
            </a:r>
            <a:endParaRPr lang="en-US" sz="88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7F9"/>
        </a:solidFill>
        <a:effectLst/>
      </p:bgPr>
    </p:bg>
    <p:spTree>
      <p:nvGrpSpPr>
        <p:cNvPr id="1" name=""/>
        <p:cNvGrpSpPr/>
        <p:nvPr/>
      </p:nvGrpSpPr>
      <p:grpSpPr>
        <a:xfrm>
          <a:off x="0" y="0"/>
          <a:ext cx="0" cy="0"/>
          <a:chOff x="0" y="0"/>
          <a:chExt cx="0" cy="0"/>
        </a:xfrm>
      </p:grpSpPr>
      <p:sp>
        <p:nvSpPr>
          <p:cNvPr id="2" name="Shape 0"/>
          <p:cNvSpPr/>
          <p:nvPr/>
        </p:nvSpPr>
        <p:spPr>
          <a:xfrm>
            <a:off x="347472" y="329184"/>
            <a:ext cx="73152" cy="438912"/>
          </a:xfrm>
          <a:prstGeom prst="rect">
            <a:avLst/>
          </a:prstGeom>
          <a:solidFill>
            <a:srgbClr val="2F6BD8"/>
          </a:solidFill>
          <a:ln w="12700">
            <a:solidFill>
              <a:srgbClr val="2F6BD8"/>
            </a:solidFill>
            <a:prstDash val="solid"/>
          </a:ln>
        </p:spPr>
      </p:sp>
      <p:sp>
        <p:nvSpPr>
          <p:cNvPr id="3" name="Text 1"/>
          <p:cNvSpPr/>
          <p:nvPr/>
        </p:nvSpPr>
        <p:spPr>
          <a:xfrm>
            <a:off x="512064" y="292608"/>
            <a:ext cx="10789920" cy="502920"/>
          </a:xfrm>
          <a:prstGeom prst="rect">
            <a:avLst/>
          </a:prstGeom>
          <a:noFill/>
          <a:ln/>
        </p:spPr>
        <p:txBody>
          <a:bodyPr wrap="square" lIns="0" tIns="0" rIns="0" bIns="0" rtlCol="0" anchor="ctr"/>
          <a:lstStyle/>
          <a:p>
            <a:pPr marL="0" indent="0">
              <a:buNone/>
            </a:pPr>
            <a:r>
              <a:rPr lang="en-US" sz="2700" b="1" dirty="0">
                <a:solidFill>
                  <a:srgbClr val="303846"/>
                </a:solidFill>
                <a:latin typeface="Aptos Display" pitchFamily="34" charset="0"/>
                <a:ea typeface="Aptos Display" pitchFamily="34" charset="-122"/>
                <a:cs typeface="Aptos Display" pitchFamily="34" charset="-120"/>
              </a:rPr>
              <a:t>Quality / Evidence Strength Assessment</a:t>
            </a:r>
            <a:endParaRPr lang="en-US" sz="2700" dirty="0"/>
          </a:p>
        </p:txBody>
      </p:sp>
      <p:sp>
        <p:nvSpPr>
          <p:cNvPr id="4" name="Shape 2"/>
          <p:cNvSpPr/>
          <p:nvPr/>
        </p:nvSpPr>
        <p:spPr>
          <a:xfrm>
            <a:off x="0" y="6510528"/>
            <a:ext cx="12191695" cy="347472"/>
          </a:xfrm>
          <a:prstGeom prst="rect">
            <a:avLst/>
          </a:prstGeom>
          <a:solidFill>
            <a:srgbClr val="303846"/>
          </a:solidFill>
          <a:ln w="12700">
            <a:solidFill>
              <a:srgbClr val="303846"/>
            </a:solidFill>
            <a:prstDash val="solid"/>
          </a:ln>
        </p:spPr>
      </p:sp>
      <p:sp>
        <p:nvSpPr>
          <p:cNvPr id="5" name="Text 3"/>
          <p:cNvSpPr/>
          <p:nvPr/>
        </p:nvSpPr>
        <p:spPr>
          <a:xfrm>
            <a:off x="320040" y="6592824"/>
            <a:ext cx="6583680" cy="137160"/>
          </a:xfrm>
          <a:prstGeom prst="rect">
            <a:avLst/>
          </a:prstGeom>
          <a:noFill/>
          <a:ln/>
        </p:spPr>
        <p:txBody>
          <a:bodyPr wrap="square" lIns="0" tIns="0" rIns="0" bIns="0" rtlCol="0" anchor="ctr"/>
          <a:lstStyle/>
          <a:p>
            <a:pPr marL="0" indent="0">
              <a:buNone/>
            </a:pPr>
            <a:r>
              <a:rPr lang="en-US" sz="750" i="1" dirty="0">
                <a:solidFill>
                  <a:srgbClr val="F2F4F7"/>
                </a:solidFill>
              </a:rPr>
              <a:t>Digital Twin-Enabled Intralogistics — Systematic Review | SEN601</a:t>
            </a:r>
            <a:endParaRPr lang="en-US" sz="750" dirty="0"/>
          </a:p>
        </p:txBody>
      </p:sp>
      <p:sp>
        <p:nvSpPr>
          <p:cNvPr id="6" name="Text 4"/>
          <p:cNvSpPr/>
          <p:nvPr/>
        </p:nvSpPr>
        <p:spPr>
          <a:xfrm>
            <a:off x="10195560" y="6592824"/>
            <a:ext cx="1280160" cy="137160"/>
          </a:xfrm>
          <a:prstGeom prst="rect">
            <a:avLst/>
          </a:prstGeom>
          <a:noFill/>
          <a:ln/>
        </p:spPr>
        <p:txBody>
          <a:bodyPr wrap="square" lIns="0" tIns="0" rIns="0" bIns="0" rtlCol="0" anchor="ctr"/>
          <a:lstStyle/>
          <a:p>
            <a:pPr marL="0" indent="0" algn="r">
              <a:buNone/>
            </a:pPr>
            <a:r>
              <a:rPr lang="en-US" sz="750" dirty="0">
                <a:solidFill>
                  <a:srgbClr val="F2F4F7"/>
                </a:solidFill>
              </a:rPr>
              <a:t>Quality Assessment</a:t>
            </a:r>
            <a:endParaRPr lang="en-US" sz="750" dirty="0"/>
          </a:p>
        </p:txBody>
      </p:sp>
      <p:sp>
        <p:nvSpPr>
          <p:cNvPr id="7" name="Text 5"/>
          <p:cNvSpPr/>
          <p:nvPr/>
        </p:nvSpPr>
        <p:spPr>
          <a:xfrm>
            <a:off x="11539728" y="6583680"/>
            <a:ext cx="329184" cy="146304"/>
          </a:xfrm>
          <a:prstGeom prst="rect">
            <a:avLst/>
          </a:prstGeom>
          <a:noFill/>
          <a:ln/>
        </p:spPr>
        <p:txBody>
          <a:bodyPr wrap="square" lIns="0" tIns="0" rIns="0" bIns="0" rtlCol="0" anchor="ctr"/>
          <a:lstStyle/>
          <a:p>
            <a:pPr marL="0" indent="0" algn="r">
              <a:buNone/>
            </a:pPr>
            <a:r>
              <a:rPr lang="en-US" sz="850" dirty="0">
                <a:solidFill>
                  <a:srgbClr val="F2F4F7"/>
                </a:solidFill>
              </a:rPr>
              <a:t>10</a:t>
            </a:r>
            <a:endParaRPr lang="en-US" sz="850" dirty="0"/>
          </a:p>
        </p:txBody>
      </p:sp>
      <p:sp>
        <p:nvSpPr>
          <p:cNvPr id="8" name="Text 6"/>
          <p:cNvSpPr/>
          <p:nvPr/>
        </p:nvSpPr>
        <p:spPr>
          <a:xfrm>
            <a:off x="658368" y="960120"/>
            <a:ext cx="10698480" cy="256032"/>
          </a:xfrm>
          <a:prstGeom prst="rect">
            <a:avLst/>
          </a:prstGeom>
          <a:noFill/>
          <a:ln/>
        </p:spPr>
        <p:txBody>
          <a:bodyPr wrap="square" lIns="0" tIns="0" rIns="0" bIns="0" rtlCol="0" anchor="ctr"/>
          <a:lstStyle/>
          <a:p>
            <a:pPr marL="0" indent="0">
              <a:buNone/>
            </a:pPr>
            <a:r>
              <a:rPr lang="en-US" sz="1240" dirty="0">
                <a:solidFill>
                  <a:srgbClr val="303846"/>
                </a:solidFill>
              </a:rPr>
              <a:t>A 7-criterion assessment was applied to each included primary study. Scoring: 0 = not addressed, 1 = partial, 2 = clear; maximum = 14.</a:t>
            </a:r>
            <a:endParaRPr lang="en-US" sz="1240" dirty="0"/>
          </a:p>
        </p:txBody>
      </p:sp>
      <p:sp>
        <p:nvSpPr>
          <p:cNvPr id="9" name="Shape 7"/>
          <p:cNvSpPr/>
          <p:nvPr/>
        </p:nvSpPr>
        <p:spPr>
          <a:xfrm>
            <a:off x="685800" y="1508760"/>
            <a:ext cx="965606" cy="497205"/>
          </a:xfrm>
          <a:prstGeom prst="rect">
            <a:avLst/>
          </a:prstGeom>
          <a:solidFill>
            <a:srgbClr val="3D4656"/>
          </a:solidFill>
          <a:ln w="6350">
            <a:solidFill>
              <a:srgbClr val="CED4DA"/>
            </a:solidFill>
            <a:prstDash val="solid"/>
          </a:ln>
        </p:spPr>
      </p:sp>
      <p:sp>
        <p:nvSpPr>
          <p:cNvPr id="10" name="Text 8"/>
          <p:cNvSpPr/>
          <p:nvPr/>
        </p:nvSpPr>
        <p:spPr>
          <a:xfrm>
            <a:off x="731520" y="1545336"/>
            <a:ext cx="874166" cy="442341"/>
          </a:xfrm>
          <a:prstGeom prst="rect">
            <a:avLst/>
          </a:prstGeom>
          <a:noFill/>
          <a:ln/>
        </p:spPr>
        <p:txBody>
          <a:bodyPr wrap="square" lIns="254" tIns="254" rIns="254" bIns="254" rtlCol="0" anchor="ctr">
            <a:normAutofit/>
          </a:bodyPr>
          <a:lstStyle/>
          <a:p>
            <a:pPr marL="0" indent="0">
              <a:buNone/>
            </a:pPr>
            <a:r>
              <a:rPr lang="en-US" sz="960" b="1" dirty="0">
                <a:solidFill>
                  <a:srgbClr val="FFFFFF"/>
                </a:solidFill>
              </a:rPr>
              <a:t>Code</a:t>
            </a:r>
            <a:endParaRPr lang="en-US" sz="960" dirty="0"/>
          </a:p>
        </p:txBody>
      </p:sp>
      <p:sp>
        <p:nvSpPr>
          <p:cNvPr id="11" name="Shape 9"/>
          <p:cNvSpPr/>
          <p:nvPr/>
        </p:nvSpPr>
        <p:spPr>
          <a:xfrm>
            <a:off x="1651406" y="1508760"/>
            <a:ext cx="5069434" cy="497205"/>
          </a:xfrm>
          <a:prstGeom prst="rect">
            <a:avLst/>
          </a:prstGeom>
          <a:solidFill>
            <a:srgbClr val="3D4656"/>
          </a:solidFill>
          <a:ln w="6350">
            <a:solidFill>
              <a:srgbClr val="CED4DA"/>
            </a:solidFill>
            <a:prstDash val="solid"/>
          </a:ln>
        </p:spPr>
      </p:sp>
      <p:sp>
        <p:nvSpPr>
          <p:cNvPr id="12" name="Text 10"/>
          <p:cNvSpPr/>
          <p:nvPr/>
        </p:nvSpPr>
        <p:spPr>
          <a:xfrm>
            <a:off x="1697126" y="1545336"/>
            <a:ext cx="4977994" cy="442341"/>
          </a:xfrm>
          <a:prstGeom prst="rect">
            <a:avLst/>
          </a:prstGeom>
          <a:noFill/>
          <a:ln/>
        </p:spPr>
        <p:txBody>
          <a:bodyPr wrap="square" lIns="254" tIns="254" rIns="254" bIns="254" rtlCol="0" anchor="ctr">
            <a:normAutofit/>
          </a:bodyPr>
          <a:lstStyle/>
          <a:p>
            <a:pPr marL="0" indent="0">
              <a:buNone/>
            </a:pPr>
            <a:r>
              <a:rPr lang="en-US" sz="960" b="1" dirty="0">
                <a:solidFill>
                  <a:srgbClr val="FFFFFF"/>
                </a:solidFill>
              </a:rPr>
              <a:t>Quality Assessment Criterion</a:t>
            </a:r>
            <a:endParaRPr lang="en-US" sz="960" dirty="0"/>
          </a:p>
        </p:txBody>
      </p:sp>
      <p:sp>
        <p:nvSpPr>
          <p:cNvPr id="13" name="Shape 11"/>
          <p:cNvSpPr/>
          <p:nvPr/>
        </p:nvSpPr>
        <p:spPr>
          <a:xfrm>
            <a:off x="685800" y="2005965"/>
            <a:ext cx="965606" cy="497205"/>
          </a:xfrm>
          <a:prstGeom prst="rect">
            <a:avLst/>
          </a:prstGeom>
          <a:solidFill>
            <a:srgbClr val="F0F5F7"/>
          </a:solidFill>
          <a:ln w="6350">
            <a:solidFill>
              <a:srgbClr val="CED4DA"/>
            </a:solidFill>
            <a:prstDash val="solid"/>
          </a:ln>
        </p:spPr>
      </p:sp>
      <p:sp>
        <p:nvSpPr>
          <p:cNvPr id="14" name="Text 12"/>
          <p:cNvSpPr/>
          <p:nvPr/>
        </p:nvSpPr>
        <p:spPr>
          <a:xfrm>
            <a:off x="731520" y="2042541"/>
            <a:ext cx="874166" cy="442341"/>
          </a:xfrm>
          <a:prstGeom prst="rect">
            <a:avLst/>
          </a:prstGeom>
          <a:noFill/>
          <a:ln/>
        </p:spPr>
        <p:txBody>
          <a:bodyPr wrap="square" lIns="254" tIns="254" rIns="254" bIns="254" rtlCol="0" anchor="ctr">
            <a:normAutofit/>
          </a:bodyPr>
          <a:lstStyle/>
          <a:p>
            <a:pPr marL="0" indent="0">
              <a:buNone/>
            </a:pPr>
            <a:r>
              <a:rPr lang="en-US" sz="960" dirty="0">
                <a:solidFill>
                  <a:srgbClr val="303846"/>
                </a:solidFill>
              </a:rPr>
              <a:t>QA1</a:t>
            </a:r>
            <a:endParaRPr lang="en-US" sz="960" dirty="0"/>
          </a:p>
        </p:txBody>
      </p:sp>
      <p:sp>
        <p:nvSpPr>
          <p:cNvPr id="15" name="Shape 13"/>
          <p:cNvSpPr/>
          <p:nvPr/>
        </p:nvSpPr>
        <p:spPr>
          <a:xfrm>
            <a:off x="1651406" y="2005965"/>
            <a:ext cx="5069434" cy="497205"/>
          </a:xfrm>
          <a:prstGeom prst="rect">
            <a:avLst/>
          </a:prstGeom>
          <a:solidFill>
            <a:srgbClr val="F0F5F7"/>
          </a:solidFill>
          <a:ln w="6350">
            <a:solidFill>
              <a:srgbClr val="CED4DA"/>
            </a:solidFill>
            <a:prstDash val="solid"/>
          </a:ln>
        </p:spPr>
      </p:sp>
      <p:sp>
        <p:nvSpPr>
          <p:cNvPr id="16" name="Text 14"/>
          <p:cNvSpPr/>
          <p:nvPr/>
        </p:nvSpPr>
        <p:spPr>
          <a:xfrm>
            <a:off x="1697126" y="2042541"/>
            <a:ext cx="4977994" cy="442341"/>
          </a:xfrm>
          <a:prstGeom prst="rect">
            <a:avLst/>
          </a:prstGeom>
          <a:noFill/>
          <a:ln/>
        </p:spPr>
        <p:txBody>
          <a:bodyPr wrap="square" lIns="254" tIns="254" rIns="254" bIns="254" rtlCol="0" anchor="ctr">
            <a:normAutofit/>
          </a:bodyPr>
          <a:lstStyle/>
          <a:p>
            <a:pPr marL="0" indent="0">
              <a:buNone/>
            </a:pPr>
            <a:r>
              <a:rPr lang="en-US" sz="960" dirty="0">
                <a:solidFill>
                  <a:srgbClr val="303846"/>
                </a:solidFill>
              </a:rPr>
              <a:t>Are objectives / research questions clearly defined?</a:t>
            </a:r>
            <a:endParaRPr lang="en-US" sz="960" dirty="0"/>
          </a:p>
        </p:txBody>
      </p:sp>
      <p:sp>
        <p:nvSpPr>
          <p:cNvPr id="17" name="Shape 15"/>
          <p:cNvSpPr/>
          <p:nvPr/>
        </p:nvSpPr>
        <p:spPr>
          <a:xfrm>
            <a:off x="685800" y="2503170"/>
            <a:ext cx="965606" cy="497205"/>
          </a:xfrm>
          <a:prstGeom prst="rect">
            <a:avLst/>
          </a:prstGeom>
          <a:solidFill>
            <a:srgbClr val="FFFFFF"/>
          </a:solidFill>
          <a:ln w="6350">
            <a:solidFill>
              <a:srgbClr val="CED4DA"/>
            </a:solidFill>
            <a:prstDash val="solid"/>
          </a:ln>
        </p:spPr>
      </p:sp>
      <p:sp>
        <p:nvSpPr>
          <p:cNvPr id="18" name="Text 16"/>
          <p:cNvSpPr/>
          <p:nvPr/>
        </p:nvSpPr>
        <p:spPr>
          <a:xfrm>
            <a:off x="731520" y="2539746"/>
            <a:ext cx="874166" cy="442341"/>
          </a:xfrm>
          <a:prstGeom prst="rect">
            <a:avLst/>
          </a:prstGeom>
          <a:noFill/>
          <a:ln/>
        </p:spPr>
        <p:txBody>
          <a:bodyPr wrap="square" lIns="254" tIns="254" rIns="254" bIns="254" rtlCol="0" anchor="ctr">
            <a:normAutofit/>
          </a:bodyPr>
          <a:lstStyle/>
          <a:p>
            <a:pPr marL="0" indent="0">
              <a:buNone/>
            </a:pPr>
            <a:r>
              <a:rPr lang="en-US" sz="960" dirty="0">
                <a:solidFill>
                  <a:srgbClr val="303846"/>
                </a:solidFill>
              </a:rPr>
              <a:t>QA2</a:t>
            </a:r>
            <a:endParaRPr lang="en-US" sz="960" dirty="0"/>
          </a:p>
        </p:txBody>
      </p:sp>
      <p:sp>
        <p:nvSpPr>
          <p:cNvPr id="19" name="Shape 17"/>
          <p:cNvSpPr/>
          <p:nvPr/>
        </p:nvSpPr>
        <p:spPr>
          <a:xfrm>
            <a:off x="1651406" y="2503170"/>
            <a:ext cx="5069434" cy="497205"/>
          </a:xfrm>
          <a:prstGeom prst="rect">
            <a:avLst/>
          </a:prstGeom>
          <a:solidFill>
            <a:srgbClr val="FFFFFF"/>
          </a:solidFill>
          <a:ln w="6350">
            <a:solidFill>
              <a:srgbClr val="CED4DA"/>
            </a:solidFill>
            <a:prstDash val="solid"/>
          </a:ln>
        </p:spPr>
      </p:sp>
      <p:sp>
        <p:nvSpPr>
          <p:cNvPr id="20" name="Text 18"/>
          <p:cNvSpPr/>
          <p:nvPr/>
        </p:nvSpPr>
        <p:spPr>
          <a:xfrm>
            <a:off x="1697126" y="2539746"/>
            <a:ext cx="4977994" cy="442341"/>
          </a:xfrm>
          <a:prstGeom prst="rect">
            <a:avLst/>
          </a:prstGeom>
          <a:noFill/>
          <a:ln/>
        </p:spPr>
        <p:txBody>
          <a:bodyPr wrap="square" lIns="254" tIns="254" rIns="254" bIns="254" rtlCol="0" anchor="ctr">
            <a:normAutofit/>
          </a:bodyPr>
          <a:lstStyle/>
          <a:p>
            <a:pPr marL="0" indent="0">
              <a:buNone/>
            </a:pPr>
            <a:r>
              <a:rPr lang="en-US" sz="960" dirty="0">
                <a:solidFill>
                  <a:srgbClr val="303846"/>
                </a:solidFill>
              </a:rPr>
              <a:t>Is the digital twin scope clearly described?</a:t>
            </a:r>
            <a:endParaRPr lang="en-US" sz="960" dirty="0"/>
          </a:p>
        </p:txBody>
      </p:sp>
      <p:sp>
        <p:nvSpPr>
          <p:cNvPr id="21" name="Shape 19"/>
          <p:cNvSpPr/>
          <p:nvPr/>
        </p:nvSpPr>
        <p:spPr>
          <a:xfrm>
            <a:off x="685800" y="3000375"/>
            <a:ext cx="965606" cy="497205"/>
          </a:xfrm>
          <a:prstGeom prst="rect">
            <a:avLst/>
          </a:prstGeom>
          <a:solidFill>
            <a:srgbClr val="F0F5F7"/>
          </a:solidFill>
          <a:ln w="6350">
            <a:solidFill>
              <a:srgbClr val="CED4DA"/>
            </a:solidFill>
            <a:prstDash val="solid"/>
          </a:ln>
        </p:spPr>
      </p:sp>
      <p:sp>
        <p:nvSpPr>
          <p:cNvPr id="22" name="Text 20"/>
          <p:cNvSpPr/>
          <p:nvPr/>
        </p:nvSpPr>
        <p:spPr>
          <a:xfrm>
            <a:off x="731520" y="3036951"/>
            <a:ext cx="874166" cy="442341"/>
          </a:xfrm>
          <a:prstGeom prst="rect">
            <a:avLst/>
          </a:prstGeom>
          <a:noFill/>
          <a:ln/>
        </p:spPr>
        <p:txBody>
          <a:bodyPr wrap="square" lIns="254" tIns="254" rIns="254" bIns="254" rtlCol="0" anchor="ctr">
            <a:normAutofit/>
          </a:bodyPr>
          <a:lstStyle/>
          <a:p>
            <a:pPr marL="0" indent="0">
              <a:buNone/>
            </a:pPr>
            <a:r>
              <a:rPr lang="en-US" sz="960" dirty="0">
                <a:solidFill>
                  <a:srgbClr val="303846"/>
                </a:solidFill>
              </a:rPr>
              <a:t>QA3</a:t>
            </a:r>
            <a:endParaRPr lang="en-US" sz="960" dirty="0"/>
          </a:p>
        </p:txBody>
      </p:sp>
      <p:sp>
        <p:nvSpPr>
          <p:cNvPr id="23" name="Shape 21"/>
          <p:cNvSpPr/>
          <p:nvPr/>
        </p:nvSpPr>
        <p:spPr>
          <a:xfrm>
            <a:off x="1651406" y="3000375"/>
            <a:ext cx="5069434" cy="497205"/>
          </a:xfrm>
          <a:prstGeom prst="rect">
            <a:avLst/>
          </a:prstGeom>
          <a:solidFill>
            <a:srgbClr val="F0F5F7"/>
          </a:solidFill>
          <a:ln w="6350">
            <a:solidFill>
              <a:srgbClr val="CED4DA"/>
            </a:solidFill>
            <a:prstDash val="solid"/>
          </a:ln>
        </p:spPr>
      </p:sp>
      <p:sp>
        <p:nvSpPr>
          <p:cNvPr id="24" name="Text 22"/>
          <p:cNvSpPr/>
          <p:nvPr/>
        </p:nvSpPr>
        <p:spPr>
          <a:xfrm>
            <a:off x="1697126" y="3036951"/>
            <a:ext cx="4977994" cy="442341"/>
          </a:xfrm>
          <a:prstGeom prst="rect">
            <a:avLst/>
          </a:prstGeom>
          <a:noFill/>
          <a:ln/>
        </p:spPr>
        <p:txBody>
          <a:bodyPr wrap="square" lIns="254" tIns="254" rIns="254" bIns="254" rtlCol="0" anchor="ctr">
            <a:normAutofit/>
          </a:bodyPr>
          <a:lstStyle/>
          <a:p>
            <a:pPr marL="0" indent="0">
              <a:buNone/>
            </a:pPr>
            <a:r>
              <a:rPr lang="en-US" sz="960" dirty="0">
                <a:solidFill>
                  <a:srgbClr val="303846"/>
                </a:solidFill>
              </a:rPr>
              <a:t>Is the architecture or model described sufficiently?</a:t>
            </a:r>
            <a:endParaRPr lang="en-US" sz="960" dirty="0"/>
          </a:p>
        </p:txBody>
      </p:sp>
      <p:sp>
        <p:nvSpPr>
          <p:cNvPr id="25" name="Shape 23"/>
          <p:cNvSpPr/>
          <p:nvPr/>
        </p:nvSpPr>
        <p:spPr>
          <a:xfrm>
            <a:off x="685800" y="3497580"/>
            <a:ext cx="965606" cy="497205"/>
          </a:xfrm>
          <a:prstGeom prst="rect">
            <a:avLst/>
          </a:prstGeom>
          <a:solidFill>
            <a:srgbClr val="FFFFFF"/>
          </a:solidFill>
          <a:ln w="6350">
            <a:solidFill>
              <a:srgbClr val="CED4DA"/>
            </a:solidFill>
            <a:prstDash val="solid"/>
          </a:ln>
        </p:spPr>
      </p:sp>
      <p:sp>
        <p:nvSpPr>
          <p:cNvPr id="26" name="Text 24"/>
          <p:cNvSpPr/>
          <p:nvPr/>
        </p:nvSpPr>
        <p:spPr>
          <a:xfrm>
            <a:off x="731520" y="3534156"/>
            <a:ext cx="874166" cy="442341"/>
          </a:xfrm>
          <a:prstGeom prst="rect">
            <a:avLst/>
          </a:prstGeom>
          <a:noFill/>
          <a:ln/>
        </p:spPr>
        <p:txBody>
          <a:bodyPr wrap="square" lIns="254" tIns="254" rIns="254" bIns="254" rtlCol="0" anchor="ctr">
            <a:normAutofit/>
          </a:bodyPr>
          <a:lstStyle/>
          <a:p>
            <a:pPr marL="0" indent="0">
              <a:buNone/>
            </a:pPr>
            <a:r>
              <a:rPr lang="en-US" sz="960" dirty="0">
                <a:solidFill>
                  <a:srgbClr val="303846"/>
                </a:solidFill>
              </a:rPr>
              <a:t>QA4</a:t>
            </a:r>
            <a:endParaRPr lang="en-US" sz="960" dirty="0"/>
          </a:p>
        </p:txBody>
      </p:sp>
      <p:sp>
        <p:nvSpPr>
          <p:cNvPr id="27" name="Shape 25"/>
          <p:cNvSpPr/>
          <p:nvPr/>
        </p:nvSpPr>
        <p:spPr>
          <a:xfrm>
            <a:off x="1651406" y="3497580"/>
            <a:ext cx="5069434" cy="497205"/>
          </a:xfrm>
          <a:prstGeom prst="rect">
            <a:avLst/>
          </a:prstGeom>
          <a:solidFill>
            <a:srgbClr val="FFFFFF"/>
          </a:solidFill>
          <a:ln w="6350">
            <a:solidFill>
              <a:srgbClr val="CED4DA"/>
            </a:solidFill>
            <a:prstDash val="solid"/>
          </a:ln>
        </p:spPr>
      </p:sp>
      <p:sp>
        <p:nvSpPr>
          <p:cNvPr id="28" name="Text 26"/>
          <p:cNvSpPr/>
          <p:nvPr/>
        </p:nvSpPr>
        <p:spPr>
          <a:xfrm>
            <a:off x="1697126" y="3534156"/>
            <a:ext cx="4977994" cy="442341"/>
          </a:xfrm>
          <a:prstGeom prst="rect">
            <a:avLst/>
          </a:prstGeom>
          <a:noFill/>
          <a:ln/>
        </p:spPr>
        <p:txBody>
          <a:bodyPr wrap="square" lIns="254" tIns="254" rIns="254" bIns="254" rtlCol="0" anchor="ctr">
            <a:normAutofit/>
          </a:bodyPr>
          <a:lstStyle/>
          <a:p>
            <a:pPr marL="0" indent="0">
              <a:buNone/>
            </a:pPr>
            <a:r>
              <a:rPr lang="en-US" sz="960" dirty="0">
                <a:solidFill>
                  <a:srgbClr val="303846"/>
                </a:solidFill>
              </a:rPr>
              <a:t>Is data connection / synchronization addressed?</a:t>
            </a:r>
            <a:endParaRPr lang="en-US" sz="960" dirty="0"/>
          </a:p>
        </p:txBody>
      </p:sp>
      <p:sp>
        <p:nvSpPr>
          <p:cNvPr id="29" name="Shape 27"/>
          <p:cNvSpPr/>
          <p:nvPr/>
        </p:nvSpPr>
        <p:spPr>
          <a:xfrm>
            <a:off x="685800" y="3994785"/>
            <a:ext cx="965606" cy="497205"/>
          </a:xfrm>
          <a:prstGeom prst="rect">
            <a:avLst/>
          </a:prstGeom>
          <a:solidFill>
            <a:srgbClr val="F0F5F7"/>
          </a:solidFill>
          <a:ln w="6350">
            <a:solidFill>
              <a:srgbClr val="CED4DA"/>
            </a:solidFill>
            <a:prstDash val="solid"/>
          </a:ln>
        </p:spPr>
      </p:sp>
      <p:sp>
        <p:nvSpPr>
          <p:cNvPr id="30" name="Text 28"/>
          <p:cNvSpPr/>
          <p:nvPr/>
        </p:nvSpPr>
        <p:spPr>
          <a:xfrm>
            <a:off x="731520" y="4031361"/>
            <a:ext cx="874166" cy="442341"/>
          </a:xfrm>
          <a:prstGeom prst="rect">
            <a:avLst/>
          </a:prstGeom>
          <a:noFill/>
          <a:ln/>
        </p:spPr>
        <p:txBody>
          <a:bodyPr wrap="square" lIns="254" tIns="254" rIns="254" bIns="254" rtlCol="0" anchor="ctr">
            <a:normAutofit/>
          </a:bodyPr>
          <a:lstStyle/>
          <a:p>
            <a:pPr marL="0" indent="0">
              <a:buNone/>
            </a:pPr>
            <a:r>
              <a:rPr lang="en-US" sz="960" dirty="0">
                <a:solidFill>
                  <a:srgbClr val="303846"/>
                </a:solidFill>
              </a:rPr>
              <a:t>QA5</a:t>
            </a:r>
            <a:endParaRPr lang="en-US" sz="960" dirty="0"/>
          </a:p>
        </p:txBody>
      </p:sp>
      <p:sp>
        <p:nvSpPr>
          <p:cNvPr id="31" name="Shape 29"/>
          <p:cNvSpPr/>
          <p:nvPr/>
        </p:nvSpPr>
        <p:spPr>
          <a:xfrm>
            <a:off x="1651406" y="3994785"/>
            <a:ext cx="5069434" cy="497205"/>
          </a:xfrm>
          <a:prstGeom prst="rect">
            <a:avLst/>
          </a:prstGeom>
          <a:solidFill>
            <a:srgbClr val="F0F5F7"/>
          </a:solidFill>
          <a:ln w="6350">
            <a:solidFill>
              <a:srgbClr val="CED4DA"/>
            </a:solidFill>
            <a:prstDash val="solid"/>
          </a:ln>
        </p:spPr>
      </p:sp>
      <p:sp>
        <p:nvSpPr>
          <p:cNvPr id="32" name="Text 30"/>
          <p:cNvSpPr/>
          <p:nvPr/>
        </p:nvSpPr>
        <p:spPr>
          <a:xfrm>
            <a:off x="1697126" y="4031361"/>
            <a:ext cx="4977994" cy="442341"/>
          </a:xfrm>
          <a:prstGeom prst="rect">
            <a:avLst/>
          </a:prstGeom>
          <a:noFill/>
          <a:ln/>
        </p:spPr>
        <p:txBody>
          <a:bodyPr wrap="square" lIns="254" tIns="254" rIns="254" bIns="254" rtlCol="0" anchor="ctr">
            <a:normAutofit/>
          </a:bodyPr>
          <a:lstStyle/>
          <a:p>
            <a:pPr marL="0" indent="0">
              <a:buNone/>
            </a:pPr>
            <a:r>
              <a:rPr lang="en-US" sz="960" dirty="0">
                <a:solidFill>
                  <a:srgbClr val="303846"/>
                </a:solidFill>
              </a:rPr>
              <a:t>Is the evaluation technique clearly described?</a:t>
            </a:r>
            <a:endParaRPr lang="en-US" sz="960" dirty="0"/>
          </a:p>
        </p:txBody>
      </p:sp>
      <p:sp>
        <p:nvSpPr>
          <p:cNvPr id="33" name="Shape 31"/>
          <p:cNvSpPr/>
          <p:nvPr/>
        </p:nvSpPr>
        <p:spPr>
          <a:xfrm>
            <a:off x="685800" y="4491990"/>
            <a:ext cx="965606" cy="497205"/>
          </a:xfrm>
          <a:prstGeom prst="rect">
            <a:avLst/>
          </a:prstGeom>
          <a:solidFill>
            <a:srgbClr val="FFFFFF"/>
          </a:solidFill>
          <a:ln w="6350">
            <a:solidFill>
              <a:srgbClr val="CED4DA"/>
            </a:solidFill>
            <a:prstDash val="solid"/>
          </a:ln>
        </p:spPr>
      </p:sp>
      <p:sp>
        <p:nvSpPr>
          <p:cNvPr id="34" name="Text 32"/>
          <p:cNvSpPr/>
          <p:nvPr/>
        </p:nvSpPr>
        <p:spPr>
          <a:xfrm>
            <a:off x="731520" y="4528566"/>
            <a:ext cx="874166" cy="442341"/>
          </a:xfrm>
          <a:prstGeom prst="rect">
            <a:avLst/>
          </a:prstGeom>
          <a:noFill/>
          <a:ln/>
        </p:spPr>
        <p:txBody>
          <a:bodyPr wrap="square" lIns="254" tIns="254" rIns="254" bIns="254" rtlCol="0" anchor="ctr">
            <a:normAutofit/>
          </a:bodyPr>
          <a:lstStyle/>
          <a:p>
            <a:pPr marL="0" indent="0">
              <a:buNone/>
            </a:pPr>
            <a:r>
              <a:rPr lang="en-US" sz="960" dirty="0">
                <a:solidFill>
                  <a:srgbClr val="303846"/>
                </a:solidFill>
              </a:rPr>
              <a:t>QA6</a:t>
            </a:r>
            <a:endParaRPr lang="en-US" sz="960" dirty="0"/>
          </a:p>
        </p:txBody>
      </p:sp>
      <p:sp>
        <p:nvSpPr>
          <p:cNvPr id="35" name="Shape 33"/>
          <p:cNvSpPr/>
          <p:nvPr/>
        </p:nvSpPr>
        <p:spPr>
          <a:xfrm>
            <a:off x="1651406" y="4491990"/>
            <a:ext cx="5069434" cy="497205"/>
          </a:xfrm>
          <a:prstGeom prst="rect">
            <a:avLst/>
          </a:prstGeom>
          <a:solidFill>
            <a:srgbClr val="FFFFFF"/>
          </a:solidFill>
          <a:ln w="6350">
            <a:solidFill>
              <a:srgbClr val="CED4DA"/>
            </a:solidFill>
            <a:prstDash val="solid"/>
          </a:ln>
        </p:spPr>
      </p:sp>
      <p:sp>
        <p:nvSpPr>
          <p:cNvPr id="36" name="Text 34"/>
          <p:cNvSpPr/>
          <p:nvPr/>
        </p:nvSpPr>
        <p:spPr>
          <a:xfrm>
            <a:off x="1697126" y="4528566"/>
            <a:ext cx="4977994" cy="442341"/>
          </a:xfrm>
          <a:prstGeom prst="rect">
            <a:avLst/>
          </a:prstGeom>
          <a:noFill/>
          <a:ln/>
        </p:spPr>
        <p:txBody>
          <a:bodyPr wrap="square" lIns="254" tIns="254" rIns="254" bIns="254" rtlCol="0" anchor="ctr">
            <a:normAutofit/>
          </a:bodyPr>
          <a:lstStyle/>
          <a:p>
            <a:pPr marL="0" indent="0">
              <a:buNone/>
            </a:pPr>
            <a:r>
              <a:rPr lang="en-US" sz="960" dirty="0">
                <a:solidFill>
                  <a:srgbClr val="303846"/>
                </a:solidFill>
              </a:rPr>
              <a:t>Are performance metrics reported?</a:t>
            </a:r>
            <a:endParaRPr lang="en-US" sz="960" dirty="0"/>
          </a:p>
        </p:txBody>
      </p:sp>
      <p:sp>
        <p:nvSpPr>
          <p:cNvPr id="37" name="Shape 35"/>
          <p:cNvSpPr/>
          <p:nvPr/>
        </p:nvSpPr>
        <p:spPr>
          <a:xfrm>
            <a:off x="685800" y="4989195"/>
            <a:ext cx="965606" cy="497205"/>
          </a:xfrm>
          <a:prstGeom prst="rect">
            <a:avLst/>
          </a:prstGeom>
          <a:solidFill>
            <a:srgbClr val="F0F5F7"/>
          </a:solidFill>
          <a:ln w="6350">
            <a:solidFill>
              <a:srgbClr val="CED4DA"/>
            </a:solidFill>
            <a:prstDash val="solid"/>
          </a:ln>
        </p:spPr>
      </p:sp>
      <p:sp>
        <p:nvSpPr>
          <p:cNvPr id="38" name="Text 36"/>
          <p:cNvSpPr/>
          <p:nvPr/>
        </p:nvSpPr>
        <p:spPr>
          <a:xfrm>
            <a:off x="731520" y="5025771"/>
            <a:ext cx="874166" cy="442341"/>
          </a:xfrm>
          <a:prstGeom prst="rect">
            <a:avLst/>
          </a:prstGeom>
          <a:noFill/>
          <a:ln/>
        </p:spPr>
        <p:txBody>
          <a:bodyPr wrap="square" lIns="254" tIns="254" rIns="254" bIns="254" rtlCol="0" anchor="ctr">
            <a:normAutofit/>
          </a:bodyPr>
          <a:lstStyle/>
          <a:p>
            <a:pPr marL="0" indent="0">
              <a:buNone/>
            </a:pPr>
            <a:r>
              <a:rPr lang="en-US" sz="960" dirty="0">
                <a:solidFill>
                  <a:srgbClr val="303846"/>
                </a:solidFill>
              </a:rPr>
              <a:t>QA7</a:t>
            </a:r>
            <a:endParaRPr lang="en-US" sz="960" dirty="0"/>
          </a:p>
        </p:txBody>
      </p:sp>
      <p:sp>
        <p:nvSpPr>
          <p:cNvPr id="39" name="Shape 37"/>
          <p:cNvSpPr/>
          <p:nvPr/>
        </p:nvSpPr>
        <p:spPr>
          <a:xfrm>
            <a:off x="1651406" y="4989195"/>
            <a:ext cx="5069434" cy="497205"/>
          </a:xfrm>
          <a:prstGeom prst="rect">
            <a:avLst/>
          </a:prstGeom>
          <a:solidFill>
            <a:srgbClr val="F0F5F7"/>
          </a:solidFill>
          <a:ln w="6350">
            <a:solidFill>
              <a:srgbClr val="CED4DA"/>
            </a:solidFill>
            <a:prstDash val="solid"/>
          </a:ln>
        </p:spPr>
      </p:sp>
      <p:sp>
        <p:nvSpPr>
          <p:cNvPr id="40" name="Text 38"/>
          <p:cNvSpPr/>
          <p:nvPr/>
        </p:nvSpPr>
        <p:spPr>
          <a:xfrm>
            <a:off x="1697126" y="5025771"/>
            <a:ext cx="4977994" cy="442341"/>
          </a:xfrm>
          <a:prstGeom prst="rect">
            <a:avLst/>
          </a:prstGeom>
          <a:noFill/>
          <a:ln/>
        </p:spPr>
        <p:txBody>
          <a:bodyPr wrap="square" lIns="254" tIns="254" rIns="254" bIns="254" rtlCol="0" anchor="ctr">
            <a:normAutofit/>
          </a:bodyPr>
          <a:lstStyle/>
          <a:p>
            <a:pPr marL="0" indent="0">
              <a:buNone/>
            </a:pPr>
            <a:r>
              <a:rPr lang="en-US" sz="960" dirty="0">
                <a:solidFill>
                  <a:srgbClr val="303846"/>
                </a:solidFill>
              </a:rPr>
              <a:t>Are limitations / threats discussed?</a:t>
            </a:r>
            <a:endParaRPr lang="en-US" sz="960" dirty="0"/>
          </a:p>
        </p:txBody>
      </p:sp>
      <p:sp>
        <p:nvSpPr>
          <p:cNvPr id="41" name="Shape 39"/>
          <p:cNvSpPr/>
          <p:nvPr/>
        </p:nvSpPr>
        <p:spPr>
          <a:xfrm>
            <a:off x="7040880" y="1508760"/>
            <a:ext cx="4297680" cy="1024128"/>
          </a:xfrm>
          <a:prstGeom prst="roundRect">
            <a:avLst>
              <a:gd name="adj" fmla="val 3571"/>
            </a:avLst>
          </a:prstGeom>
          <a:solidFill>
            <a:srgbClr val="E7F4EC"/>
          </a:solidFill>
          <a:ln w="12700">
            <a:solidFill>
              <a:srgbClr val="A9D7B6"/>
            </a:solidFill>
            <a:prstDash val="solid"/>
          </a:ln>
        </p:spPr>
      </p:sp>
      <p:sp>
        <p:nvSpPr>
          <p:cNvPr id="42" name="Text 40"/>
          <p:cNvSpPr/>
          <p:nvPr/>
        </p:nvSpPr>
        <p:spPr>
          <a:xfrm>
            <a:off x="7269480" y="1719072"/>
            <a:ext cx="822960" cy="274320"/>
          </a:xfrm>
          <a:prstGeom prst="rect">
            <a:avLst/>
          </a:prstGeom>
          <a:noFill/>
          <a:ln/>
        </p:spPr>
        <p:txBody>
          <a:bodyPr wrap="square" lIns="0" tIns="0" rIns="0" bIns="0" rtlCol="0" anchor="ctr"/>
          <a:lstStyle/>
          <a:p>
            <a:pPr marL="0" indent="0">
              <a:buNone/>
            </a:pPr>
            <a:r>
              <a:rPr lang="en-US" sz="1700" b="1" dirty="0">
                <a:solidFill>
                  <a:srgbClr val="25A75A"/>
                </a:solidFill>
              </a:rPr>
              <a:t>11–14</a:t>
            </a:r>
            <a:endParaRPr lang="en-US" sz="1700" dirty="0"/>
          </a:p>
        </p:txBody>
      </p:sp>
      <p:sp>
        <p:nvSpPr>
          <p:cNvPr id="43" name="Text 41"/>
          <p:cNvSpPr/>
          <p:nvPr/>
        </p:nvSpPr>
        <p:spPr>
          <a:xfrm>
            <a:off x="8183880" y="1755648"/>
            <a:ext cx="2560320" cy="228600"/>
          </a:xfrm>
          <a:prstGeom prst="rect">
            <a:avLst/>
          </a:prstGeom>
          <a:noFill/>
          <a:ln/>
        </p:spPr>
        <p:txBody>
          <a:bodyPr wrap="square" lIns="0" tIns="0" rIns="0" bIns="0" rtlCol="0" anchor="ctr"/>
          <a:lstStyle/>
          <a:p>
            <a:pPr marL="0" indent="0">
              <a:buNone/>
            </a:pPr>
            <a:r>
              <a:rPr lang="en-US" sz="1230" dirty="0">
                <a:solidFill>
                  <a:srgbClr val="303846"/>
                </a:solidFill>
              </a:rPr>
              <a:t>Strong evidence description</a:t>
            </a:r>
            <a:endParaRPr lang="en-US" sz="1230" dirty="0"/>
          </a:p>
        </p:txBody>
      </p:sp>
      <p:sp>
        <p:nvSpPr>
          <p:cNvPr id="44" name="Shape 42"/>
          <p:cNvSpPr/>
          <p:nvPr/>
        </p:nvSpPr>
        <p:spPr>
          <a:xfrm>
            <a:off x="7040880" y="2743200"/>
            <a:ext cx="4297680" cy="1024128"/>
          </a:xfrm>
          <a:prstGeom prst="roundRect">
            <a:avLst>
              <a:gd name="adj" fmla="val 3571"/>
            </a:avLst>
          </a:prstGeom>
          <a:solidFill>
            <a:srgbClr val="FFF6DD"/>
          </a:solidFill>
          <a:ln w="12700">
            <a:solidFill>
              <a:srgbClr val="F5D289"/>
            </a:solidFill>
            <a:prstDash val="solid"/>
          </a:ln>
        </p:spPr>
      </p:sp>
      <p:sp>
        <p:nvSpPr>
          <p:cNvPr id="45" name="Text 43"/>
          <p:cNvSpPr/>
          <p:nvPr/>
        </p:nvSpPr>
        <p:spPr>
          <a:xfrm>
            <a:off x="7269480" y="2962656"/>
            <a:ext cx="822960" cy="274320"/>
          </a:xfrm>
          <a:prstGeom prst="rect">
            <a:avLst/>
          </a:prstGeom>
          <a:noFill/>
          <a:ln/>
        </p:spPr>
        <p:txBody>
          <a:bodyPr wrap="square" lIns="0" tIns="0" rIns="0" bIns="0" rtlCol="0" anchor="ctr"/>
          <a:lstStyle/>
          <a:p>
            <a:pPr marL="0" indent="0">
              <a:buNone/>
            </a:pPr>
            <a:r>
              <a:rPr lang="en-US" sz="1700" b="1" dirty="0">
                <a:solidFill>
                  <a:srgbClr val="A36A00"/>
                </a:solidFill>
              </a:rPr>
              <a:t>7–10</a:t>
            </a:r>
            <a:endParaRPr lang="en-US" sz="1700" dirty="0"/>
          </a:p>
        </p:txBody>
      </p:sp>
      <p:sp>
        <p:nvSpPr>
          <p:cNvPr id="46" name="Text 44"/>
          <p:cNvSpPr/>
          <p:nvPr/>
        </p:nvSpPr>
        <p:spPr>
          <a:xfrm>
            <a:off x="8183880" y="2999232"/>
            <a:ext cx="2651760" cy="228600"/>
          </a:xfrm>
          <a:prstGeom prst="rect">
            <a:avLst/>
          </a:prstGeom>
          <a:noFill/>
          <a:ln/>
        </p:spPr>
        <p:txBody>
          <a:bodyPr wrap="square" lIns="0" tIns="0" rIns="0" bIns="0" rtlCol="0" anchor="ctr"/>
          <a:lstStyle/>
          <a:p>
            <a:pPr marL="0" indent="0">
              <a:buNone/>
            </a:pPr>
            <a:r>
              <a:rPr lang="en-US" sz="1230" dirty="0">
                <a:solidFill>
                  <a:srgbClr val="303846"/>
                </a:solidFill>
              </a:rPr>
              <a:t>Moderate evidence description</a:t>
            </a:r>
            <a:endParaRPr lang="en-US" sz="1230" dirty="0"/>
          </a:p>
        </p:txBody>
      </p:sp>
      <p:sp>
        <p:nvSpPr>
          <p:cNvPr id="47" name="Shape 45"/>
          <p:cNvSpPr/>
          <p:nvPr/>
        </p:nvSpPr>
        <p:spPr>
          <a:xfrm>
            <a:off x="7040880" y="3977640"/>
            <a:ext cx="4297680" cy="1024128"/>
          </a:xfrm>
          <a:prstGeom prst="roundRect">
            <a:avLst>
              <a:gd name="adj" fmla="val 3571"/>
            </a:avLst>
          </a:prstGeom>
          <a:solidFill>
            <a:srgbClr val="FDECEC"/>
          </a:solidFill>
          <a:ln w="12700">
            <a:solidFill>
              <a:srgbClr val="E9B4B4"/>
            </a:solidFill>
            <a:prstDash val="solid"/>
          </a:ln>
        </p:spPr>
      </p:sp>
      <p:sp>
        <p:nvSpPr>
          <p:cNvPr id="48" name="Text 46"/>
          <p:cNvSpPr/>
          <p:nvPr/>
        </p:nvSpPr>
        <p:spPr>
          <a:xfrm>
            <a:off x="7269480" y="4197096"/>
            <a:ext cx="822960" cy="274320"/>
          </a:xfrm>
          <a:prstGeom prst="rect">
            <a:avLst/>
          </a:prstGeom>
          <a:noFill/>
          <a:ln/>
        </p:spPr>
        <p:txBody>
          <a:bodyPr wrap="square" lIns="0" tIns="0" rIns="0" bIns="0" rtlCol="0" anchor="ctr"/>
          <a:lstStyle/>
          <a:p>
            <a:pPr marL="0" indent="0">
              <a:buNone/>
            </a:pPr>
            <a:r>
              <a:rPr lang="en-US" sz="1700" b="1" dirty="0">
                <a:solidFill>
                  <a:srgbClr val="D64545"/>
                </a:solidFill>
              </a:rPr>
              <a:t>0–6</a:t>
            </a:r>
            <a:endParaRPr lang="en-US" sz="1700" dirty="0"/>
          </a:p>
        </p:txBody>
      </p:sp>
      <p:sp>
        <p:nvSpPr>
          <p:cNvPr id="49" name="Text 47"/>
          <p:cNvSpPr/>
          <p:nvPr/>
        </p:nvSpPr>
        <p:spPr>
          <a:xfrm>
            <a:off x="8183880" y="4233672"/>
            <a:ext cx="2651760" cy="228600"/>
          </a:xfrm>
          <a:prstGeom prst="rect">
            <a:avLst/>
          </a:prstGeom>
          <a:noFill/>
          <a:ln/>
        </p:spPr>
        <p:txBody>
          <a:bodyPr wrap="square" lIns="0" tIns="0" rIns="0" bIns="0" rtlCol="0" anchor="ctr"/>
          <a:lstStyle/>
          <a:p>
            <a:pPr marL="0" indent="0">
              <a:buNone/>
            </a:pPr>
            <a:r>
              <a:rPr lang="en-US" sz="1230" dirty="0">
                <a:solidFill>
                  <a:srgbClr val="303846"/>
                </a:solidFill>
              </a:rPr>
              <a:t>Weak / insufficient evidence</a:t>
            </a:r>
            <a:endParaRPr lang="en-US" sz="1230" dirty="0"/>
          </a:p>
        </p:txBody>
      </p:sp>
      <p:sp>
        <p:nvSpPr>
          <p:cNvPr id="50" name="Shape 48"/>
          <p:cNvSpPr/>
          <p:nvPr/>
        </p:nvSpPr>
        <p:spPr>
          <a:xfrm>
            <a:off x="7040880" y="5257800"/>
            <a:ext cx="4297680" cy="749808"/>
          </a:xfrm>
          <a:prstGeom prst="roundRect">
            <a:avLst>
              <a:gd name="adj" fmla="val 4878"/>
            </a:avLst>
          </a:prstGeom>
          <a:solidFill>
            <a:srgbClr val="FFFFFF"/>
          </a:solidFill>
          <a:ln w="12700">
            <a:solidFill>
              <a:srgbClr val="E8ECF2"/>
            </a:solidFill>
            <a:prstDash val="solid"/>
          </a:ln>
        </p:spPr>
      </p:sp>
      <p:sp>
        <p:nvSpPr>
          <p:cNvPr id="51" name="Text 49"/>
          <p:cNvSpPr/>
          <p:nvPr/>
        </p:nvSpPr>
        <p:spPr>
          <a:xfrm>
            <a:off x="7269480" y="5440680"/>
            <a:ext cx="3794760" cy="274320"/>
          </a:xfrm>
          <a:prstGeom prst="rect">
            <a:avLst/>
          </a:prstGeom>
          <a:noFill/>
          <a:ln/>
        </p:spPr>
        <p:txBody>
          <a:bodyPr wrap="square" lIns="0" tIns="0" rIns="0" bIns="0" rtlCol="0" anchor="ctr">
            <a:normAutofit/>
          </a:bodyPr>
          <a:lstStyle/>
          <a:p>
            <a:pPr marL="0" indent="0">
              <a:buNone/>
            </a:pPr>
            <a:r>
              <a:rPr lang="en-US" sz="1020" dirty="0">
                <a:solidFill>
                  <a:srgbClr val="303846"/>
                </a:solidFill>
              </a:rPr>
              <a:t>Preliminary outcome: no included study was excluded solely by quality score; scoring is suggestive due to abstract-level screening.</a:t>
            </a:r>
            <a:endParaRPr lang="en-US" sz="1020" dirty="0"/>
          </a:p>
        </p:txBody>
      </p:sp>
      <p:sp>
        <p:nvSpPr>
          <p:cNvPr id="52" name="Text 50"/>
          <p:cNvSpPr/>
          <p:nvPr/>
        </p:nvSpPr>
        <p:spPr>
          <a:xfrm>
            <a:off x="502920" y="6281928"/>
            <a:ext cx="10789920" cy="164592"/>
          </a:xfrm>
          <a:prstGeom prst="rect">
            <a:avLst/>
          </a:prstGeom>
          <a:noFill/>
          <a:ln/>
        </p:spPr>
        <p:txBody>
          <a:bodyPr wrap="square" lIns="0" tIns="0" rIns="0" bIns="0" rtlCol="0" anchor="ctr"/>
          <a:lstStyle/>
          <a:p>
            <a:pPr marL="0" indent="0">
              <a:buNone/>
            </a:pPr>
            <a:r>
              <a:rPr lang="en-US" sz="760" i="1" dirty="0">
                <a:solidFill>
                  <a:srgbClr val="667085"/>
                </a:solidFill>
              </a:rPr>
              <a:t>Quality criteria from Appendix B of the revised review paper.</a:t>
            </a:r>
            <a:endParaRPr lang="en-US" sz="76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7F9"/>
        </a:solidFill>
        <a:effectLst/>
      </p:bgPr>
    </p:bg>
    <p:spTree>
      <p:nvGrpSpPr>
        <p:cNvPr id="1" name=""/>
        <p:cNvGrpSpPr/>
        <p:nvPr/>
      </p:nvGrpSpPr>
      <p:grpSpPr>
        <a:xfrm>
          <a:off x="0" y="0"/>
          <a:ext cx="0" cy="0"/>
          <a:chOff x="0" y="0"/>
          <a:chExt cx="0" cy="0"/>
        </a:xfrm>
      </p:grpSpPr>
      <p:sp>
        <p:nvSpPr>
          <p:cNvPr id="2" name="Shape 0"/>
          <p:cNvSpPr/>
          <p:nvPr/>
        </p:nvSpPr>
        <p:spPr>
          <a:xfrm>
            <a:off x="347472" y="329184"/>
            <a:ext cx="73152" cy="438912"/>
          </a:xfrm>
          <a:prstGeom prst="rect">
            <a:avLst/>
          </a:prstGeom>
          <a:solidFill>
            <a:srgbClr val="2F6BD8"/>
          </a:solidFill>
          <a:ln w="12700">
            <a:solidFill>
              <a:srgbClr val="2F6BD8"/>
            </a:solidFill>
            <a:prstDash val="solid"/>
          </a:ln>
        </p:spPr>
      </p:sp>
      <p:sp>
        <p:nvSpPr>
          <p:cNvPr id="3" name="Text 1"/>
          <p:cNvSpPr/>
          <p:nvPr/>
        </p:nvSpPr>
        <p:spPr>
          <a:xfrm>
            <a:off x="512064" y="292608"/>
            <a:ext cx="10789920" cy="502920"/>
          </a:xfrm>
          <a:prstGeom prst="rect">
            <a:avLst/>
          </a:prstGeom>
          <a:noFill/>
          <a:ln/>
        </p:spPr>
        <p:txBody>
          <a:bodyPr wrap="square" lIns="0" tIns="0" rIns="0" bIns="0" rtlCol="0" anchor="ctr"/>
          <a:lstStyle/>
          <a:p>
            <a:pPr marL="0" indent="0">
              <a:buNone/>
            </a:pPr>
            <a:r>
              <a:rPr lang="en-US" sz="2700" b="1" dirty="0">
                <a:solidFill>
                  <a:srgbClr val="303846"/>
                </a:solidFill>
                <a:latin typeface="Aptos Display" pitchFamily="34" charset="0"/>
                <a:ea typeface="Aptos Display" pitchFamily="34" charset="-122"/>
                <a:cs typeface="Aptos Display" pitchFamily="34" charset="-120"/>
              </a:rPr>
              <a:t>Results — RQ1: Main Application Areas</a:t>
            </a:r>
            <a:endParaRPr lang="en-US" sz="2700" dirty="0"/>
          </a:p>
        </p:txBody>
      </p:sp>
      <p:sp>
        <p:nvSpPr>
          <p:cNvPr id="4" name="Shape 2"/>
          <p:cNvSpPr/>
          <p:nvPr/>
        </p:nvSpPr>
        <p:spPr>
          <a:xfrm>
            <a:off x="0" y="6510528"/>
            <a:ext cx="12191695" cy="347472"/>
          </a:xfrm>
          <a:prstGeom prst="rect">
            <a:avLst/>
          </a:prstGeom>
          <a:solidFill>
            <a:srgbClr val="303846"/>
          </a:solidFill>
          <a:ln w="12700">
            <a:solidFill>
              <a:srgbClr val="303846"/>
            </a:solidFill>
            <a:prstDash val="solid"/>
          </a:ln>
        </p:spPr>
      </p:sp>
      <p:sp>
        <p:nvSpPr>
          <p:cNvPr id="5" name="Text 3"/>
          <p:cNvSpPr/>
          <p:nvPr/>
        </p:nvSpPr>
        <p:spPr>
          <a:xfrm>
            <a:off x="320040" y="6592824"/>
            <a:ext cx="6583680" cy="137160"/>
          </a:xfrm>
          <a:prstGeom prst="rect">
            <a:avLst/>
          </a:prstGeom>
          <a:noFill/>
          <a:ln/>
        </p:spPr>
        <p:txBody>
          <a:bodyPr wrap="square" lIns="0" tIns="0" rIns="0" bIns="0" rtlCol="0" anchor="ctr"/>
          <a:lstStyle/>
          <a:p>
            <a:pPr marL="0" indent="0">
              <a:buNone/>
            </a:pPr>
            <a:r>
              <a:rPr lang="en-US" sz="750" i="1" dirty="0">
                <a:solidFill>
                  <a:srgbClr val="F2F4F7"/>
                </a:solidFill>
              </a:rPr>
              <a:t>Digital Twin-Enabled Intralogistics — Systematic Review | SEN601</a:t>
            </a:r>
            <a:endParaRPr lang="en-US" sz="750" dirty="0"/>
          </a:p>
        </p:txBody>
      </p:sp>
      <p:sp>
        <p:nvSpPr>
          <p:cNvPr id="6" name="Text 4"/>
          <p:cNvSpPr/>
          <p:nvPr/>
        </p:nvSpPr>
        <p:spPr>
          <a:xfrm>
            <a:off x="10195560" y="6592824"/>
            <a:ext cx="1280160" cy="137160"/>
          </a:xfrm>
          <a:prstGeom prst="rect">
            <a:avLst/>
          </a:prstGeom>
          <a:noFill/>
          <a:ln/>
        </p:spPr>
        <p:txBody>
          <a:bodyPr wrap="square" lIns="0" tIns="0" rIns="0" bIns="0" rtlCol="0" anchor="ctr"/>
          <a:lstStyle/>
          <a:p>
            <a:pPr marL="0" indent="0" algn="r">
              <a:buNone/>
            </a:pPr>
            <a:r>
              <a:rPr lang="en-US" sz="750" dirty="0">
                <a:solidFill>
                  <a:srgbClr val="F2F4F7"/>
                </a:solidFill>
              </a:rPr>
              <a:t>RQ1 Results</a:t>
            </a:r>
            <a:endParaRPr lang="en-US" sz="750" dirty="0"/>
          </a:p>
        </p:txBody>
      </p:sp>
      <p:sp>
        <p:nvSpPr>
          <p:cNvPr id="7" name="Text 5"/>
          <p:cNvSpPr/>
          <p:nvPr/>
        </p:nvSpPr>
        <p:spPr>
          <a:xfrm>
            <a:off x="11539728" y="6583680"/>
            <a:ext cx="329184" cy="146304"/>
          </a:xfrm>
          <a:prstGeom prst="rect">
            <a:avLst/>
          </a:prstGeom>
          <a:noFill/>
          <a:ln/>
        </p:spPr>
        <p:txBody>
          <a:bodyPr wrap="square" lIns="0" tIns="0" rIns="0" bIns="0" rtlCol="0" anchor="ctr"/>
          <a:lstStyle/>
          <a:p>
            <a:pPr marL="0" indent="0" algn="r">
              <a:buNone/>
            </a:pPr>
            <a:r>
              <a:rPr lang="en-US" sz="850" dirty="0">
                <a:solidFill>
                  <a:srgbClr val="F2F4F7"/>
                </a:solidFill>
              </a:rPr>
              <a:t>11</a:t>
            </a:r>
            <a:endParaRPr lang="en-US" sz="850" dirty="0"/>
          </a:p>
        </p:txBody>
      </p:sp>
      <p:sp>
        <p:nvSpPr>
          <p:cNvPr id="8" name="Shape 6"/>
          <p:cNvSpPr/>
          <p:nvPr/>
        </p:nvSpPr>
        <p:spPr>
          <a:xfrm>
            <a:off x="640080" y="1051560"/>
            <a:ext cx="2677363" cy="480060"/>
          </a:xfrm>
          <a:prstGeom prst="rect">
            <a:avLst/>
          </a:prstGeom>
          <a:solidFill>
            <a:srgbClr val="3D4656"/>
          </a:solidFill>
          <a:ln w="6350">
            <a:solidFill>
              <a:srgbClr val="CED4DA"/>
            </a:solidFill>
            <a:prstDash val="solid"/>
          </a:ln>
        </p:spPr>
      </p:sp>
      <p:sp>
        <p:nvSpPr>
          <p:cNvPr id="9" name="Text 7"/>
          <p:cNvSpPr/>
          <p:nvPr/>
        </p:nvSpPr>
        <p:spPr>
          <a:xfrm>
            <a:off x="685800" y="1088136"/>
            <a:ext cx="2585923" cy="425196"/>
          </a:xfrm>
          <a:prstGeom prst="rect">
            <a:avLst/>
          </a:prstGeom>
          <a:noFill/>
          <a:ln/>
        </p:spPr>
        <p:txBody>
          <a:bodyPr wrap="square" lIns="254" tIns="254" rIns="254" bIns="254" rtlCol="0" anchor="ctr">
            <a:normAutofit/>
          </a:bodyPr>
          <a:lstStyle/>
          <a:p>
            <a:pPr marL="0" indent="0">
              <a:buNone/>
            </a:pPr>
            <a:r>
              <a:rPr lang="en-US" sz="1020" b="1" dirty="0">
                <a:solidFill>
                  <a:srgbClr val="FFFFFF"/>
                </a:solidFill>
              </a:rPr>
              <a:t>Application Area</a:t>
            </a:r>
            <a:endParaRPr lang="en-US" sz="1020" dirty="0"/>
          </a:p>
        </p:txBody>
      </p:sp>
      <p:sp>
        <p:nvSpPr>
          <p:cNvPr id="10" name="Shape 8"/>
          <p:cNvSpPr/>
          <p:nvPr/>
        </p:nvSpPr>
        <p:spPr>
          <a:xfrm>
            <a:off x="3317443" y="1051560"/>
            <a:ext cx="557784" cy="480060"/>
          </a:xfrm>
          <a:prstGeom prst="rect">
            <a:avLst/>
          </a:prstGeom>
          <a:solidFill>
            <a:srgbClr val="3D4656"/>
          </a:solidFill>
          <a:ln w="6350">
            <a:solidFill>
              <a:srgbClr val="CED4DA"/>
            </a:solidFill>
            <a:prstDash val="solid"/>
          </a:ln>
        </p:spPr>
      </p:sp>
      <p:sp>
        <p:nvSpPr>
          <p:cNvPr id="11" name="Text 9"/>
          <p:cNvSpPr/>
          <p:nvPr/>
        </p:nvSpPr>
        <p:spPr>
          <a:xfrm>
            <a:off x="3363163" y="1088136"/>
            <a:ext cx="466344" cy="425196"/>
          </a:xfrm>
          <a:prstGeom prst="rect">
            <a:avLst/>
          </a:prstGeom>
          <a:noFill/>
          <a:ln/>
        </p:spPr>
        <p:txBody>
          <a:bodyPr wrap="square" lIns="254" tIns="254" rIns="254" bIns="254" rtlCol="0" anchor="ctr">
            <a:normAutofit/>
          </a:bodyPr>
          <a:lstStyle/>
          <a:p>
            <a:pPr marL="0" indent="0">
              <a:buNone/>
            </a:pPr>
            <a:r>
              <a:rPr lang="en-US" sz="1020" b="1" dirty="0">
                <a:solidFill>
                  <a:srgbClr val="FFFFFF"/>
                </a:solidFill>
              </a:rPr>
              <a:t>n</a:t>
            </a:r>
            <a:endParaRPr lang="en-US" sz="1020" dirty="0"/>
          </a:p>
        </p:txBody>
      </p:sp>
      <p:sp>
        <p:nvSpPr>
          <p:cNvPr id="12" name="Shape 10"/>
          <p:cNvSpPr/>
          <p:nvPr/>
        </p:nvSpPr>
        <p:spPr>
          <a:xfrm>
            <a:off x="3875227" y="1051560"/>
            <a:ext cx="2342693" cy="480060"/>
          </a:xfrm>
          <a:prstGeom prst="rect">
            <a:avLst/>
          </a:prstGeom>
          <a:solidFill>
            <a:srgbClr val="3D4656"/>
          </a:solidFill>
          <a:ln w="6350">
            <a:solidFill>
              <a:srgbClr val="CED4DA"/>
            </a:solidFill>
            <a:prstDash val="solid"/>
          </a:ln>
        </p:spPr>
      </p:sp>
      <p:sp>
        <p:nvSpPr>
          <p:cNvPr id="13" name="Text 11"/>
          <p:cNvSpPr/>
          <p:nvPr/>
        </p:nvSpPr>
        <p:spPr>
          <a:xfrm>
            <a:off x="3920947" y="1088136"/>
            <a:ext cx="2251253" cy="425196"/>
          </a:xfrm>
          <a:prstGeom prst="rect">
            <a:avLst/>
          </a:prstGeom>
          <a:noFill/>
          <a:ln/>
        </p:spPr>
        <p:txBody>
          <a:bodyPr wrap="square" lIns="254" tIns="254" rIns="254" bIns="254" rtlCol="0" anchor="ctr">
            <a:normAutofit/>
          </a:bodyPr>
          <a:lstStyle/>
          <a:p>
            <a:pPr marL="0" indent="0">
              <a:buNone/>
            </a:pPr>
            <a:r>
              <a:rPr lang="en-US" sz="1020" b="1" dirty="0">
                <a:solidFill>
                  <a:srgbClr val="FFFFFF"/>
                </a:solidFill>
              </a:rPr>
              <a:t>Representative studies</a:t>
            </a:r>
            <a:endParaRPr lang="en-US" sz="1020" dirty="0"/>
          </a:p>
        </p:txBody>
      </p:sp>
      <p:sp>
        <p:nvSpPr>
          <p:cNvPr id="14" name="Shape 12"/>
          <p:cNvSpPr/>
          <p:nvPr/>
        </p:nvSpPr>
        <p:spPr>
          <a:xfrm>
            <a:off x="640080" y="1531620"/>
            <a:ext cx="2677363" cy="480060"/>
          </a:xfrm>
          <a:prstGeom prst="rect">
            <a:avLst/>
          </a:prstGeom>
          <a:solidFill>
            <a:srgbClr val="F0F5F7"/>
          </a:solidFill>
          <a:ln w="6350">
            <a:solidFill>
              <a:srgbClr val="CED4DA"/>
            </a:solidFill>
            <a:prstDash val="solid"/>
          </a:ln>
        </p:spPr>
      </p:sp>
      <p:sp>
        <p:nvSpPr>
          <p:cNvPr id="15" name="Text 13"/>
          <p:cNvSpPr/>
          <p:nvPr/>
        </p:nvSpPr>
        <p:spPr>
          <a:xfrm>
            <a:off x="685800" y="1568196"/>
            <a:ext cx="2585923" cy="425196"/>
          </a:xfrm>
          <a:prstGeom prst="rect">
            <a:avLst/>
          </a:prstGeom>
          <a:noFill/>
          <a:ln/>
        </p:spPr>
        <p:txBody>
          <a:bodyPr wrap="square" lIns="254" tIns="254" rIns="254" bIns="254" rtlCol="0" anchor="ctr">
            <a:normAutofit/>
          </a:bodyPr>
          <a:lstStyle/>
          <a:p>
            <a:pPr marL="0" indent="0">
              <a:buNone/>
            </a:pPr>
            <a:r>
              <a:rPr lang="en-US" sz="1020" dirty="0">
                <a:solidFill>
                  <a:srgbClr val="303846"/>
                </a:solidFill>
              </a:rPr>
              <a:t>Order picking &amp; fulfillment</a:t>
            </a:r>
            <a:endParaRPr lang="en-US" sz="1020" dirty="0"/>
          </a:p>
        </p:txBody>
      </p:sp>
      <p:sp>
        <p:nvSpPr>
          <p:cNvPr id="16" name="Shape 14"/>
          <p:cNvSpPr/>
          <p:nvPr/>
        </p:nvSpPr>
        <p:spPr>
          <a:xfrm>
            <a:off x="3317443" y="1531620"/>
            <a:ext cx="557784" cy="480060"/>
          </a:xfrm>
          <a:prstGeom prst="rect">
            <a:avLst/>
          </a:prstGeom>
          <a:solidFill>
            <a:srgbClr val="F0F5F7"/>
          </a:solidFill>
          <a:ln w="6350">
            <a:solidFill>
              <a:srgbClr val="CED4DA"/>
            </a:solidFill>
            <a:prstDash val="solid"/>
          </a:ln>
        </p:spPr>
      </p:sp>
      <p:sp>
        <p:nvSpPr>
          <p:cNvPr id="17" name="Text 15"/>
          <p:cNvSpPr/>
          <p:nvPr/>
        </p:nvSpPr>
        <p:spPr>
          <a:xfrm>
            <a:off x="3363163" y="1568196"/>
            <a:ext cx="466344" cy="425196"/>
          </a:xfrm>
          <a:prstGeom prst="rect">
            <a:avLst/>
          </a:prstGeom>
          <a:noFill/>
          <a:ln/>
        </p:spPr>
        <p:txBody>
          <a:bodyPr wrap="square" lIns="254" tIns="254" rIns="254" bIns="254" rtlCol="0" anchor="ctr">
            <a:normAutofit/>
          </a:bodyPr>
          <a:lstStyle/>
          <a:p>
            <a:pPr marL="0" indent="0">
              <a:buNone/>
            </a:pPr>
            <a:r>
              <a:rPr lang="en-US" sz="1020" dirty="0">
                <a:solidFill>
                  <a:srgbClr val="303846"/>
                </a:solidFill>
              </a:rPr>
              <a:t>4</a:t>
            </a:r>
            <a:endParaRPr lang="en-US" sz="1020" dirty="0"/>
          </a:p>
        </p:txBody>
      </p:sp>
      <p:sp>
        <p:nvSpPr>
          <p:cNvPr id="18" name="Shape 16"/>
          <p:cNvSpPr/>
          <p:nvPr/>
        </p:nvSpPr>
        <p:spPr>
          <a:xfrm>
            <a:off x="3875227" y="1531620"/>
            <a:ext cx="2342693" cy="480060"/>
          </a:xfrm>
          <a:prstGeom prst="rect">
            <a:avLst/>
          </a:prstGeom>
          <a:solidFill>
            <a:srgbClr val="F0F5F7"/>
          </a:solidFill>
          <a:ln w="6350">
            <a:solidFill>
              <a:srgbClr val="CED4DA"/>
            </a:solidFill>
            <a:prstDash val="solid"/>
          </a:ln>
        </p:spPr>
      </p:sp>
      <p:sp>
        <p:nvSpPr>
          <p:cNvPr id="19" name="Text 17"/>
          <p:cNvSpPr/>
          <p:nvPr/>
        </p:nvSpPr>
        <p:spPr>
          <a:xfrm>
            <a:off x="3920947" y="1568196"/>
            <a:ext cx="2251253" cy="425196"/>
          </a:xfrm>
          <a:prstGeom prst="rect">
            <a:avLst/>
          </a:prstGeom>
          <a:noFill/>
          <a:ln/>
        </p:spPr>
        <p:txBody>
          <a:bodyPr wrap="square" lIns="254" tIns="254" rIns="254" bIns="254" rtlCol="0" anchor="ctr">
            <a:normAutofit/>
          </a:bodyPr>
          <a:lstStyle/>
          <a:p>
            <a:pPr marL="0" indent="0">
              <a:buNone/>
            </a:pPr>
            <a:r>
              <a:rPr lang="en-US" sz="1020" dirty="0">
                <a:solidFill>
                  <a:srgbClr val="303846"/>
                </a:solidFill>
              </a:rPr>
              <a:t>S1, S2, S3, S13</a:t>
            </a:r>
            <a:endParaRPr lang="en-US" sz="1020" dirty="0"/>
          </a:p>
        </p:txBody>
      </p:sp>
      <p:sp>
        <p:nvSpPr>
          <p:cNvPr id="20" name="Shape 18"/>
          <p:cNvSpPr/>
          <p:nvPr/>
        </p:nvSpPr>
        <p:spPr>
          <a:xfrm>
            <a:off x="640080" y="2011680"/>
            <a:ext cx="2677363" cy="480060"/>
          </a:xfrm>
          <a:prstGeom prst="rect">
            <a:avLst/>
          </a:prstGeom>
          <a:solidFill>
            <a:srgbClr val="FFFFFF"/>
          </a:solidFill>
          <a:ln w="6350">
            <a:solidFill>
              <a:srgbClr val="CED4DA"/>
            </a:solidFill>
            <a:prstDash val="solid"/>
          </a:ln>
        </p:spPr>
      </p:sp>
      <p:sp>
        <p:nvSpPr>
          <p:cNvPr id="21" name="Text 19"/>
          <p:cNvSpPr/>
          <p:nvPr/>
        </p:nvSpPr>
        <p:spPr>
          <a:xfrm>
            <a:off x="685800" y="2048256"/>
            <a:ext cx="2585923" cy="425196"/>
          </a:xfrm>
          <a:prstGeom prst="rect">
            <a:avLst/>
          </a:prstGeom>
          <a:noFill/>
          <a:ln/>
        </p:spPr>
        <p:txBody>
          <a:bodyPr wrap="square" lIns="254" tIns="254" rIns="254" bIns="254" rtlCol="0" anchor="ctr">
            <a:normAutofit/>
          </a:bodyPr>
          <a:lstStyle/>
          <a:p>
            <a:pPr marL="0" indent="0">
              <a:buNone/>
            </a:pPr>
            <a:r>
              <a:rPr lang="en-US" sz="1020" dirty="0">
                <a:solidFill>
                  <a:srgbClr val="303846"/>
                </a:solidFill>
              </a:rPr>
              <a:t>Production–logistics synchronization</a:t>
            </a:r>
            <a:endParaRPr lang="en-US" sz="1020" dirty="0"/>
          </a:p>
        </p:txBody>
      </p:sp>
      <p:sp>
        <p:nvSpPr>
          <p:cNvPr id="22" name="Shape 20"/>
          <p:cNvSpPr/>
          <p:nvPr/>
        </p:nvSpPr>
        <p:spPr>
          <a:xfrm>
            <a:off x="3317443" y="2011680"/>
            <a:ext cx="557784" cy="480060"/>
          </a:xfrm>
          <a:prstGeom prst="rect">
            <a:avLst/>
          </a:prstGeom>
          <a:solidFill>
            <a:srgbClr val="FFFFFF"/>
          </a:solidFill>
          <a:ln w="6350">
            <a:solidFill>
              <a:srgbClr val="CED4DA"/>
            </a:solidFill>
            <a:prstDash val="solid"/>
          </a:ln>
        </p:spPr>
      </p:sp>
      <p:sp>
        <p:nvSpPr>
          <p:cNvPr id="23" name="Text 21"/>
          <p:cNvSpPr/>
          <p:nvPr/>
        </p:nvSpPr>
        <p:spPr>
          <a:xfrm>
            <a:off x="3363163" y="2048256"/>
            <a:ext cx="466344" cy="425196"/>
          </a:xfrm>
          <a:prstGeom prst="rect">
            <a:avLst/>
          </a:prstGeom>
          <a:noFill/>
          <a:ln/>
        </p:spPr>
        <p:txBody>
          <a:bodyPr wrap="square" lIns="254" tIns="254" rIns="254" bIns="254" rtlCol="0" anchor="ctr">
            <a:normAutofit/>
          </a:bodyPr>
          <a:lstStyle/>
          <a:p>
            <a:pPr marL="0" indent="0">
              <a:buNone/>
            </a:pPr>
            <a:r>
              <a:rPr lang="en-US" sz="1020" dirty="0">
                <a:solidFill>
                  <a:srgbClr val="303846"/>
                </a:solidFill>
              </a:rPr>
              <a:t>4</a:t>
            </a:r>
            <a:endParaRPr lang="en-US" sz="1020" dirty="0"/>
          </a:p>
        </p:txBody>
      </p:sp>
      <p:sp>
        <p:nvSpPr>
          <p:cNvPr id="24" name="Shape 22"/>
          <p:cNvSpPr/>
          <p:nvPr/>
        </p:nvSpPr>
        <p:spPr>
          <a:xfrm>
            <a:off x="3875227" y="2011680"/>
            <a:ext cx="2342693" cy="480060"/>
          </a:xfrm>
          <a:prstGeom prst="rect">
            <a:avLst/>
          </a:prstGeom>
          <a:solidFill>
            <a:srgbClr val="FFFFFF"/>
          </a:solidFill>
          <a:ln w="6350">
            <a:solidFill>
              <a:srgbClr val="CED4DA"/>
            </a:solidFill>
            <a:prstDash val="solid"/>
          </a:ln>
        </p:spPr>
      </p:sp>
      <p:sp>
        <p:nvSpPr>
          <p:cNvPr id="25" name="Text 23"/>
          <p:cNvSpPr/>
          <p:nvPr/>
        </p:nvSpPr>
        <p:spPr>
          <a:xfrm>
            <a:off x="3920947" y="2048256"/>
            <a:ext cx="2251253" cy="425196"/>
          </a:xfrm>
          <a:prstGeom prst="rect">
            <a:avLst/>
          </a:prstGeom>
          <a:noFill/>
          <a:ln/>
        </p:spPr>
        <p:txBody>
          <a:bodyPr wrap="square" lIns="254" tIns="254" rIns="254" bIns="254" rtlCol="0" anchor="ctr">
            <a:normAutofit/>
          </a:bodyPr>
          <a:lstStyle/>
          <a:p>
            <a:pPr marL="0" indent="0">
              <a:buNone/>
            </a:pPr>
            <a:r>
              <a:rPr lang="en-US" sz="1020" dirty="0">
                <a:solidFill>
                  <a:srgbClr val="303846"/>
                </a:solidFill>
              </a:rPr>
              <a:t>S7, S8, S9, S14</a:t>
            </a:r>
            <a:endParaRPr lang="en-US" sz="1020" dirty="0"/>
          </a:p>
        </p:txBody>
      </p:sp>
      <p:sp>
        <p:nvSpPr>
          <p:cNvPr id="26" name="Shape 24"/>
          <p:cNvSpPr/>
          <p:nvPr/>
        </p:nvSpPr>
        <p:spPr>
          <a:xfrm>
            <a:off x="640080" y="2491740"/>
            <a:ext cx="2677363" cy="480060"/>
          </a:xfrm>
          <a:prstGeom prst="rect">
            <a:avLst/>
          </a:prstGeom>
          <a:solidFill>
            <a:srgbClr val="F0F5F7"/>
          </a:solidFill>
          <a:ln w="6350">
            <a:solidFill>
              <a:srgbClr val="CED4DA"/>
            </a:solidFill>
            <a:prstDash val="solid"/>
          </a:ln>
        </p:spPr>
      </p:sp>
      <p:sp>
        <p:nvSpPr>
          <p:cNvPr id="27" name="Text 25"/>
          <p:cNvSpPr/>
          <p:nvPr/>
        </p:nvSpPr>
        <p:spPr>
          <a:xfrm>
            <a:off x="685800" y="2528316"/>
            <a:ext cx="2585923" cy="425196"/>
          </a:xfrm>
          <a:prstGeom prst="rect">
            <a:avLst/>
          </a:prstGeom>
          <a:noFill/>
          <a:ln/>
        </p:spPr>
        <p:txBody>
          <a:bodyPr wrap="square" lIns="254" tIns="254" rIns="254" bIns="254" rtlCol="0" anchor="ctr">
            <a:normAutofit/>
          </a:bodyPr>
          <a:lstStyle/>
          <a:p>
            <a:pPr marL="0" indent="0">
              <a:buNone/>
            </a:pPr>
            <a:r>
              <a:rPr lang="en-US" sz="1020" dirty="0">
                <a:solidFill>
                  <a:srgbClr val="303846"/>
                </a:solidFill>
              </a:rPr>
              <a:t>Internal transport / material handling</a:t>
            </a:r>
            <a:endParaRPr lang="en-US" sz="1020" dirty="0"/>
          </a:p>
        </p:txBody>
      </p:sp>
      <p:sp>
        <p:nvSpPr>
          <p:cNvPr id="28" name="Shape 26"/>
          <p:cNvSpPr/>
          <p:nvPr/>
        </p:nvSpPr>
        <p:spPr>
          <a:xfrm>
            <a:off x="3317443" y="2491740"/>
            <a:ext cx="557784" cy="480060"/>
          </a:xfrm>
          <a:prstGeom prst="rect">
            <a:avLst/>
          </a:prstGeom>
          <a:solidFill>
            <a:srgbClr val="F0F5F7"/>
          </a:solidFill>
          <a:ln w="6350">
            <a:solidFill>
              <a:srgbClr val="CED4DA"/>
            </a:solidFill>
            <a:prstDash val="solid"/>
          </a:ln>
        </p:spPr>
      </p:sp>
      <p:sp>
        <p:nvSpPr>
          <p:cNvPr id="29" name="Text 27"/>
          <p:cNvSpPr/>
          <p:nvPr/>
        </p:nvSpPr>
        <p:spPr>
          <a:xfrm>
            <a:off x="3363163" y="2528316"/>
            <a:ext cx="466344" cy="425196"/>
          </a:xfrm>
          <a:prstGeom prst="rect">
            <a:avLst/>
          </a:prstGeom>
          <a:noFill/>
          <a:ln/>
        </p:spPr>
        <p:txBody>
          <a:bodyPr wrap="square" lIns="254" tIns="254" rIns="254" bIns="254" rtlCol="0" anchor="ctr">
            <a:normAutofit/>
          </a:bodyPr>
          <a:lstStyle/>
          <a:p>
            <a:pPr marL="0" indent="0">
              <a:buNone/>
            </a:pPr>
            <a:r>
              <a:rPr lang="en-US" sz="1020" dirty="0">
                <a:solidFill>
                  <a:srgbClr val="303846"/>
                </a:solidFill>
              </a:rPr>
              <a:t>3</a:t>
            </a:r>
            <a:endParaRPr lang="en-US" sz="1020" dirty="0"/>
          </a:p>
        </p:txBody>
      </p:sp>
      <p:sp>
        <p:nvSpPr>
          <p:cNvPr id="30" name="Shape 28"/>
          <p:cNvSpPr/>
          <p:nvPr/>
        </p:nvSpPr>
        <p:spPr>
          <a:xfrm>
            <a:off x="3875227" y="2491740"/>
            <a:ext cx="2342693" cy="480060"/>
          </a:xfrm>
          <a:prstGeom prst="rect">
            <a:avLst/>
          </a:prstGeom>
          <a:solidFill>
            <a:srgbClr val="F0F5F7"/>
          </a:solidFill>
          <a:ln w="6350">
            <a:solidFill>
              <a:srgbClr val="CED4DA"/>
            </a:solidFill>
            <a:prstDash val="solid"/>
          </a:ln>
        </p:spPr>
      </p:sp>
      <p:sp>
        <p:nvSpPr>
          <p:cNvPr id="31" name="Text 29"/>
          <p:cNvSpPr/>
          <p:nvPr/>
        </p:nvSpPr>
        <p:spPr>
          <a:xfrm>
            <a:off x="3920947" y="2528316"/>
            <a:ext cx="2251253" cy="425196"/>
          </a:xfrm>
          <a:prstGeom prst="rect">
            <a:avLst/>
          </a:prstGeom>
          <a:noFill/>
          <a:ln/>
        </p:spPr>
        <p:txBody>
          <a:bodyPr wrap="square" lIns="254" tIns="254" rIns="254" bIns="254" rtlCol="0" anchor="ctr">
            <a:normAutofit/>
          </a:bodyPr>
          <a:lstStyle/>
          <a:p>
            <a:pPr marL="0" indent="0">
              <a:buNone/>
            </a:pPr>
            <a:r>
              <a:rPr lang="en-US" sz="1020" dirty="0">
                <a:solidFill>
                  <a:srgbClr val="303846"/>
                </a:solidFill>
              </a:rPr>
              <a:t>S6, S11, S12</a:t>
            </a:r>
            <a:endParaRPr lang="en-US" sz="1020" dirty="0"/>
          </a:p>
        </p:txBody>
      </p:sp>
      <p:sp>
        <p:nvSpPr>
          <p:cNvPr id="32" name="Shape 30"/>
          <p:cNvSpPr/>
          <p:nvPr/>
        </p:nvSpPr>
        <p:spPr>
          <a:xfrm>
            <a:off x="640080" y="2971800"/>
            <a:ext cx="2677363" cy="480060"/>
          </a:xfrm>
          <a:prstGeom prst="rect">
            <a:avLst/>
          </a:prstGeom>
          <a:solidFill>
            <a:srgbClr val="FFFFFF"/>
          </a:solidFill>
          <a:ln w="6350">
            <a:solidFill>
              <a:srgbClr val="CED4DA"/>
            </a:solidFill>
            <a:prstDash val="solid"/>
          </a:ln>
        </p:spPr>
      </p:sp>
      <p:sp>
        <p:nvSpPr>
          <p:cNvPr id="33" name="Text 31"/>
          <p:cNvSpPr/>
          <p:nvPr/>
        </p:nvSpPr>
        <p:spPr>
          <a:xfrm>
            <a:off x="685800" y="3008376"/>
            <a:ext cx="2585923" cy="425196"/>
          </a:xfrm>
          <a:prstGeom prst="rect">
            <a:avLst/>
          </a:prstGeom>
          <a:noFill/>
          <a:ln/>
        </p:spPr>
        <p:txBody>
          <a:bodyPr wrap="square" lIns="254" tIns="254" rIns="254" bIns="254" rtlCol="0" anchor="ctr">
            <a:normAutofit/>
          </a:bodyPr>
          <a:lstStyle/>
          <a:p>
            <a:pPr marL="0" indent="0">
              <a:buNone/>
            </a:pPr>
            <a:r>
              <a:rPr lang="en-US" sz="1020" dirty="0">
                <a:solidFill>
                  <a:srgbClr val="303846"/>
                </a:solidFill>
              </a:rPr>
              <a:t>Smart warehouse control &amp; resilience</a:t>
            </a:r>
            <a:endParaRPr lang="en-US" sz="1020" dirty="0"/>
          </a:p>
        </p:txBody>
      </p:sp>
      <p:sp>
        <p:nvSpPr>
          <p:cNvPr id="34" name="Shape 32"/>
          <p:cNvSpPr/>
          <p:nvPr/>
        </p:nvSpPr>
        <p:spPr>
          <a:xfrm>
            <a:off x="3317443" y="2971800"/>
            <a:ext cx="557784" cy="480060"/>
          </a:xfrm>
          <a:prstGeom prst="rect">
            <a:avLst/>
          </a:prstGeom>
          <a:solidFill>
            <a:srgbClr val="FFFFFF"/>
          </a:solidFill>
          <a:ln w="6350">
            <a:solidFill>
              <a:srgbClr val="CED4DA"/>
            </a:solidFill>
            <a:prstDash val="solid"/>
          </a:ln>
        </p:spPr>
      </p:sp>
      <p:sp>
        <p:nvSpPr>
          <p:cNvPr id="35" name="Text 33"/>
          <p:cNvSpPr/>
          <p:nvPr/>
        </p:nvSpPr>
        <p:spPr>
          <a:xfrm>
            <a:off x="3363163" y="3008376"/>
            <a:ext cx="466344" cy="425196"/>
          </a:xfrm>
          <a:prstGeom prst="rect">
            <a:avLst/>
          </a:prstGeom>
          <a:noFill/>
          <a:ln/>
        </p:spPr>
        <p:txBody>
          <a:bodyPr wrap="square" lIns="254" tIns="254" rIns="254" bIns="254" rtlCol="0" anchor="ctr">
            <a:normAutofit/>
          </a:bodyPr>
          <a:lstStyle/>
          <a:p>
            <a:pPr marL="0" indent="0">
              <a:buNone/>
            </a:pPr>
            <a:r>
              <a:rPr lang="en-US" sz="1020" dirty="0">
                <a:solidFill>
                  <a:srgbClr val="303846"/>
                </a:solidFill>
              </a:rPr>
              <a:t>3</a:t>
            </a:r>
            <a:endParaRPr lang="en-US" sz="1020" dirty="0"/>
          </a:p>
        </p:txBody>
      </p:sp>
      <p:sp>
        <p:nvSpPr>
          <p:cNvPr id="36" name="Shape 34"/>
          <p:cNvSpPr/>
          <p:nvPr/>
        </p:nvSpPr>
        <p:spPr>
          <a:xfrm>
            <a:off x="3875227" y="2971800"/>
            <a:ext cx="2342693" cy="480060"/>
          </a:xfrm>
          <a:prstGeom prst="rect">
            <a:avLst/>
          </a:prstGeom>
          <a:solidFill>
            <a:srgbClr val="FFFFFF"/>
          </a:solidFill>
          <a:ln w="6350">
            <a:solidFill>
              <a:srgbClr val="CED4DA"/>
            </a:solidFill>
            <a:prstDash val="solid"/>
          </a:ln>
        </p:spPr>
      </p:sp>
      <p:sp>
        <p:nvSpPr>
          <p:cNvPr id="37" name="Text 35"/>
          <p:cNvSpPr/>
          <p:nvPr/>
        </p:nvSpPr>
        <p:spPr>
          <a:xfrm>
            <a:off x="3920947" y="3008376"/>
            <a:ext cx="2251253" cy="425196"/>
          </a:xfrm>
          <a:prstGeom prst="rect">
            <a:avLst/>
          </a:prstGeom>
          <a:noFill/>
          <a:ln/>
        </p:spPr>
        <p:txBody>
          <a:bodyPr wrap="square" lIns="254" tIns="254" rIns="254" bIns="254" rtlCol="0" anchor="ctr">
            <a:normAutofit/>
          </a:bodyPr>
          <a:lstStyle/>
          <a:p>
            <a:pPr marL="0" indent="0">
              <a:buNone/>
            </a:pPr>
            <a:r>
              <a:rPr lang="en-US" sz="1020" dirty="0">
                <a:solidFill>
                  <a:srgbClr val="303846"/>
                </a:solidFill>
              </a:rPr>
              <a:t>S5, S10, S15</a:t>
            </a:r>
            <a:endParaRPr lang="en-US" sz="1020" dirty="0"/>
          </a:p>
        </p:txBody>
      </p:sp>
      <p:sp>
        <p:nvSpPr>
          <p:cNvPr id="38" name="Shape 36"/>
          <p:cNvSpPr/>
          <p:nvPr/>
        </p:nvSpPr>
        <p:spPr>
          <a:xfrm>
            <a:off x="640080" y="3451860"/>
            <a:ext cx="2677363" cy="480060"/>
          </a:xfrm>
          <a:prstGeom prst="rect">
            <a:avLst/>
          </a:prstGeom>
          <a:solidFill>
            <a:srgbClr val="F0F5F7"/>
          </a:solidFill>
          <a:ln w="6350">
            <a:solidFill>
              <a:srgbClr val="CED4DA"/>
            </a:solidFill>
            <a:prstDash val="solid"/>
          </a:ln>
        </p:spPr>
      </p:sp>
      <p:sp>
        <p:nvSpPr>
          <p:cNvPr id="39" name="Text 37"/>
          <p:cNvSpPr/>
          <p:nvPr/>
        </p:nvSpPr>
        <p:spPr>
          <a:xfrm>
            <a:off x="685800" y="3488436"/>
            <a:ext cx="2585923" cy="425196"/>
          </a:xfrm>
          <a:prstGeom prst="rect">
            <a:avLst/>
          </a:prstGeom>
          <a:noFill/>
          <a:ln/>
        </p:spPr>
        <p:txBody>
          <a:bodyPr wrap="square" lIns="254" tIns="254" rIns="254" bIns="254" rtlCol="0" anchor="ctr">
            <a:normAutofit/>
          </a:bodyPr>
          <a:lstStyle/>
          <a:p>
            <a:pPr marL="0" indent="0">
              <a:buNone/>
            </a:pPr>
            <a:r>
              <a:rPr lang="en-US" sz="1020" dirty="0">
                <a:solidFill>
                  <a:srgbClr val="303846"/>
                </a:solidFill>
              </a:rPr>
              <a:t>AGV/AMR dispatching &amp; automated transport</a:t>
            </a:r>
            <a:endParaRPr lang="en-US" sz="1020" dirty="0"/>
          </a:p>
        </p:txBody>
      </p:sp>
      <p:sp>
        <p:nvSpPr>
          <p:cNvPr id="40" name="Shape 38"/>
          <p:cNvSpPr/>
          <p:nvPr/>
        </p:nvSpPr>
        <p:spPr>
          <a:xfrm>
            <a:off x="3317443" y="3451860"/>
            <a:ext cx="557784" cy="480060"/>
          </a:xfrm>
          <a:prstGeom prst="rect">
            <a:avLst/>
          </a:prstGeom>
          <a:solidFill>
            <a:srgbClr val="F0F5F7"/>
          </a:solidFill>
          <a:ln w="6350">
            <a:solidFill>
              <a:srgbClr val="CED4DA"/>
            </a:solidFill>
            <a:prstDash val="solid"/>
          </a:ln>
        </p:spPr>
      </p:sp>
      <p:sp>
        <p:nvSpPr>
          <p:cNvPr id="41" name="Text 39"/>
          <p:cNvSpPr/>
          <p:nvPr/>
        </p:nvSpPr>
        <p:spPr>
          <a:xfrm>
            <a:off x="3363163" y="3488436"/>
            <a:ext cx="466344" cy="425196"/>
          </a:xfrm>
          <a:prstGeom prst="rect">
            <a:avLst/>
          </a:prstGeom>
          <a:noFill/>
          <a:ln/>
        </p:spPr>
        <p:txBody>
          <a:bodyPr wrap="square" lIns="254" tIns="254" rIns="254" bIns="254" rtlCol="0" anchor="ctr">
            <a:normAutofit/>
          </a:bodyPr>
          <a:lstStyle/>
          <a:p>
            <a:pPr marL="0" indent="0">
              <a:buNone/>
            </a:pPr>
            <a:r>
              <a:rPr lang="en-US" sz="1020" dirty="0">
                <a:solidFill>
                  <a:srgbClr val="303846"/>
                </a:solidFill>
              </a:rPr>
              <a:t>2</a:t>
            </a:r>
            <a:endParaRPr lang="en-US" sz="1020" dirty="0"/>
          </a:p>
        </p:txBody>
      </p:sp>
      <p:sp>
        <p:nvSpPr>
          <p:cNvPr id="42" name="Shape 40"/>
          <p:cNvSpPr/>
          <p:nvPr/>
        </p:nvSpPr>
        <p:spPr>
          <a:xfrm>
            <a:off x="3875227" y="3451860"/>
            <a:ext cx="2342693" cy="480060"/>
          </a:xfrm>
          <a:prstGeom prst="rect">
            <a:avLst/>
          </a:prstGeom>
          <a:solidFill>
            <a:srgbClr val="F0F5F7"/>
          </a:solidFill>
          <a:ln w="6350">
            <a:solidFill>
              <a:srgbClr val="CED4DA"/>
            </a:solidFill>
            <a:prstDash val="solid"/>
          </a:ln>
        </p:spPr>
      </p:sp>
      <p:sp>
        <p:nvSpPr>
          <p:cNvPr id="43" name="Text 41"/>
          <p:cNvSpPr/>
          <p:nvPr/>
        </p:nvSpPr>
        <p:spPr>
          <a:xfrm>
            <a:off x="3920947" y="3488436"/>
            <a:ext cx="2251253" cy="425196"/>
          </a:xfrm>
          <a:prstGeom prst="rect">
            <a:avLst/>
          </a:prstGeom>
          <a:noFill/>
          <a:ln/>
        </p:spPr>
        <p:txBody>
          <a:bodyPr wrap="square" lIns="254" tIns="254" rIns="254" bIns="254" rtlCol="0" anchor="ctr">
            <a:normAutofit/>
          </a:bodyPr>
          <a:lstStyle/>
          <a:p>
            <a:pPr marL="0" indent="0">
              <a:buNone/>
            </a:pPr>
            <a:r>
              <a:rPr lang="en-US" sz="1020" dirty="0">
                <a:solidFill>
                  <a:srgbClr val="303846"/>
                </a:solidFill>
              </a:rPr>
              <a:t>S4, S5</a:t>
            </a:r>
            <a:endParaRPr lang="en-US" sz="1020" dirty="0"/>
          </a:p>
        </p:txBody>
      </p:sp>
      <p:sp>
        <p:nvSpPr>
          <p:cNvPr id="44" name="Shape 42"/>
          <p:cNvSpPr/>
          <p:nvPr/>
        </p:nvSpPr>
        <p:spPr>
          <a:xfrm>
            <a:off x="6537960" y="1051560"/>
            <a:ext cx="4800600" cy="2880360"/>
          </a:xfrm>
          <a:prstGeom prst="roundRect">
            <a:avLst>
              <a:gd name="adj" fmla="val 1270"/>
            </a:avLst>
          </a:prstGeom>
          <a:solidFill>
            <a:srgbClr val="FFFFFF"/>
          </a:solidFill>
          <a:ln w="12700">
            <a:solidFill>
              <a:srgbClr val="E8ECF2"/>
            </a:solidFill>
            <a:prstDash val="solid"/>
          </a:ln>
        </p:spPr>
      </p:sp>
      <p:sp>
        <p:nvSpPr>
          <p:cNvPr id="45" name="Text 43"/>
          <p:cNvSpPr/>
          <p:nvPr/>
        </p:nvSpPr>
        <p:spPr>
          <a:xfrm>
            <a:off x="6812280" y="1554480"/>
            <a:ext cx="1874520" cy="201168"/>
          </a:xfrm>
          <a:prstGeom prst="rect">
            <a:avLst/>
          </a:prstGeom>
          <a:noFill/>
          <a:ln/>
        </p:spPr>
        <p:txBody>
          <a:bodyPr wrap="square" lIns="0" tIns="0" rIns="0" bIns="0" rtlCol="0" anchor="ctr"/>
          <a:lstStyle/>
          <a:p>
            <a:pPr marL="0" indent="0" algn="r">
              <a:buNone/>
            </a:pPr>
            <a:r>
              <a:rPr lang="en-US" sz="1050" dirty="0">
                <a:solidFill>
                  <a:srgbClr val="303846"/>
                </a:solidFill>
              </a:rPr>
              <a:t>Order picking</a:t>
            </a:r>
            <a:endParaRPr lang="en-US" sz="1050" dirty="0"/>
          </a:p>
        </p:txBody>
      </p:sp>
      <p:sp>
        <p:nvSpPr>
          <p:cNvPr id="46" name="Shape 44"/>
          <p:cNvSpPr/>
          <p:nvPr/>
        </p:nvSpPr>
        <p:spPr>
          <a:xfrm>
            <a:off x="8823960" y="1581912"/>
            <a:ext cx="1783080" cy="146304"/>
          </a:xfrm>
          <a:prstGeom prst="rect">
            <a:avLst/>
          </a:prstGeom>
          <a:solidFill>
            <a:srgbClr val="E5E7EB"/>
          </a:solidFill>
          <a:ln w="12700">
            <a:solidFill>
              <a:srgbClr val="E5E7EB"/>
            </a:solidFill>
            <a:prstDash val="solid"/>
          </a:ln>
        </p:spPr>
      </p:sp>
      <p:sp>
        <p:nvSpPr>
          <p:cNvPr id="47" name="Shape 45"/>
          <p:cNvSpPr/>
          <p:nvPr/>
        </p:nvSpPr>
        <p:spPr>
          <a:xfrm>
            <a:off x="8823960" y="1581912"/>
            <a:ext cx="1783080" cy="146304"/>
          </a:xfrm>
          <a:prstGeom prst="rect">
            <a:avLst/>
          </a:prstGeom>
          <a:solidFill>
            <a:srgbClr val="2F6BD8"/>
          </a:solidFill>
          <a:ln w="12700">
            <a:solidFill>
              <a:srgbClr val="2F6BD8"/>
            </a:solidFill>
            <a:prstDash val="solid"/>
          </a:ln>
        </p:spPr>
      </p:sp>
      <p:sp>
        <p:nvSpPr>
          <p:cNvPr id="48" name="Text 46"/>
          <p:cNvSpPr/>
          <p:nvPr/>
        </p:nvSpPr>
        <p:spPr>
          <a:xfrm>
            <a:off x="10652760" y="1545336"/>
            <a:ext cx="320040" cy="201168"/>
          </a:xfrm>
          <a:prstGeom prst="rect">
            <a:avLst/>
          </a:prstGeom>
          <a:noFill/>
          <a:ln/>
        </p:spPr>
        <p:txBody>
          <a:bodyPr wrap="square" lIns="0" tIns="0" rIns="0" bIns="0" rtlCol="0" anchor="ctr"/>
          <a:lstStyle/>
          <a:p>
            <a:pPr marL="0" indent="0">
              <a:buNone/>
            </a:pPr>
            <a:r>
              <a:rPr lang="en-US" sz="1000" dirty="0">
                <a:solidFill>
                  <a:srgbClr val="303846"/>
                </a:solidFill>
              </a:rPr>
              <a:t>4</a:t>
            </a:r>
            <a:endParaRPr lang="en-US" sz="1000" dirty="0"/>
          </a:p>
        </p:txBody>
      </p:sp>
      <p:sp>
        <p:nvSpPr>
          <p:cNvPr id="49" name="Text 47"/>
          <p:cNvSpPr/>
          <p:nvPr/>
        </p:nvSpPr>
        <p:spPr>
          <a:xfrm>
            <a:off x="6812280" y="1984248"/>
            <a:ext cx="1874520" cy="201168"/>
          </a:xfrm>
          <a:prstGeom prst="rect">
            <a:avLst/>
          </a:prstGeom>
          <a:noFill/>
          <a:ln/>
        </p:spPr>
        <p:txBody>
          <a:bodyPr wrap="square" lIns="0" tIns="0" rIns="0" bIns="0" rtlCol="0" anchor="ctr"/>
          <a:lstStyle/>
          <a:p>
            <a:pPr marL="0" indent="0" algn="r">
              <a:buNone/>
            </a:pPr>
            <a:r>
              <a:rPr lang="en-US" sz="1050" dirty="0">
                <a:solidFill>
                  <a:srgbClr val="303846"/>
                </a:solidFill>
              </a:rPr>
              <a:t>Prod-logistics sync.</a:t>
            </a:r>
            <a:endParaRPr lang="en-US" sz="1050" dirty="0"/>
          </a:p>
        </p:txBody>
      </p:sp>
      <p:sp>
        <p:nvSpPr>
          <p:cNvPr id="50" name="Shape 48"/>
          <p:cNvSpPr/>
          <p:nvPr/>
        </p:nvSpPr>
        <p:spPr>
          <a:xfrm>
            <a:off x="8823960" y="2011680"/>
            <a:ext cx="1783080" cy="146304"/>
          </a:xfrm>
          <a:prstGeom prst="rect">
            <a:avLst/>
          </a:prstGeom>
          <a:solidFill>
            <a:srgbClr val="E5E7EB"/>
          </a:solidFill>
          <a:ln w="12700">
            <a:solidFill>
              <a:srgbClr val="E5E7EB"/>
            </a:solidFill>
            <a:prstDash val="solid"/>
          </a:ln>
        </p:spPr>
      </p:sp>
      <p:sp>
        <p:nvSpPr>
          <p:cNvPr id="51" name="Shape 49"/>
          <p:cNvSpPr/>
          <p:nvPr/>
        </p:nvSpPr>
        <p:spPr>
          <a:xfrm>
            <a:off x="8823960" y="2011680"/>
            <a:ext cx="1783080" cy="146304"/>
          </a:xfrm>
          <a:prstGeom prst="rect">
            <a:avLst/>
          </a:prstGeom>
          <a:solidFill>
            <a:srgbClr val="2F6BD8"/>
          </a:solidFill>
          <a:ln w="12700">
            <a:solidFill>
              <a:srgbClr val="2F6BD8"/>
            </a:solidFill>
            <a:prstDash val="solid"/>
          </a:ln>
        </p:spPr>
      </p:sp>
      <p:sp>
        <p:nvSpPr>
          <p:cNvPr id="52" name="Text 50"/>
          <p:cNvSpPr/>
          <p:nvPr/>
        </p:nvSpPr>
        <p:spPr>
          <a:xfrm>
            <a:off x="10652760" y="1975104"/>
            <a:ext cx="320040" cy="201168"/>
          </a:xfrm>
          <a:prstGeom prst="rect">
            <a:avLst/>
          </a:prstGeom>
          <a:noFill/>
          <a:ln/>
        </p:spPr>
        <p:txBody>
          <a:bodyPr wrap="square" lIns="0" tIns="0" rIns="0" bIns="0" rtlCol="0" anchor="ctr"/>
          <a:lstStyle/>
          <a:p>
            <a:pPr marL="0" indent="0">
              <a:buNone/>
            </a:pPr>
            <a:r>
              <a:rPr lang="en-US" sz="1000" dirty="0">
                <a:solidFill>
                  <a:srgbClr val="303846"/>
                </a:solidFill>
              </a:rPr>
              <a:t>4</a:t>
            </a:r>
            <a:endParaRPr lang="en-US" sz="1000" dirty="0"/>
          </a:p>
        </p:txBody>
      </p:sp>
      <p:sp>
        <p:nvSpPr>
          <p:cNvPr id="53" name="Text 51"/>
          <p:cNvSpPr/>
          <p:nvPr/>
        </p:nvSpPr>
        <p:spPr>
          <a:xfrm>
            <a:off x="6812280" y="2414016"/>
            <a:ext cx="1874520" cy="201168"/>
          </a:xfrm>
          <a:prstGeom prst="rect">
            <a:avLst/>
          </a:prstGeom>
          <a:noFill/>
          <a:ln/>
        </p:spPr>
        <p:txBody>
          <a:bodyPr wrap="square" lIns="0" tIns="0" rIns="0" bIns="0" rtlCol="0" anchor="ctr"/>
          <a:lstStyle/>
          <a:p>
            <a:pPr marL="0" indent="0" algn="r">
              <a:buNone/>
            </a:pPr>
            <a:r>
              <a:rPr lang="en-US" sz="1050" dirty="0">
                <a:solidFill>
                  <a:srgbClr val="303846"/>
                </a:solidFill>
              </a:rPr>
              <a:t>Transport/material</a:t>
            </a:r>
            <a:endParaRPr lang="en-US" sz="1050" dirty="0"/>
          </a:p>
        </p:txBody>
      </p:sp>
      <p:sp>
        <p:nvSpPr>
          <p:cNvPr id="54" name="Shape 52"/>
          <p:cNvSpPr/>
          <p:nvPr/>
        </p:nvSpPr>
        <p:spPr>
          <a:xfrm>
            <a:off x="8823960" y="2441448"/>
            <a:ext cx="1783080" cy="146304"/>
          </a:xfrm>
          <a:prstGeom prst="rect">
            <a:avLst/>
          </a:prstGeom>
          <a:solidFill>
            <a:srgbClr val="E5E7EB"/>
          </a:solidFill>
          <a:ln w="12700">
            <a:solidFill>
              <a:srgbClr val="E5E7EB"/>
            </a:solidFill>
            <a:prstDash val="solid"/>
          </a:ln>
        </p:spPr>
      </p:sp>
      <p:sp>
        <p:nvSpPr>
          <p:cNvPr id="55" name="Shape 53"/>
          <p:cNvSpPr/>
          <p:nvPr/>
        </p:nvSpPr>
        <p:spPr>
          <a:xfrm>
            <a:off x="8823960" y="2441448"/>
            <a:ext cx="1337310" cy="146304"/>
          </a:xfrm>
          <a:prstGeom prst="rect">
            <a:avLst/>
          </a:prstGeom>
          <a:solidFill>
            <a:srgbClr val="2F6BD8"/>
          </a:solidFill>
          <a:ln w="12700">
            <a:solidFill>
              <a:srgbClr val="2F6BD8"/>
            </a:solidFill>
            <a:prstDash val="solid"/>
          </a:ln>
        </p:spPr>
      </p:sp>
      <p:sp>
        <p:nvSpPr>
          <p:cNvPr id="56" name="Text 54"/>
          <p:cNvSpPr/>
          <p:nvPr/>
        </p:nvSpPr>
        <p:spPr>
          <a:xfrm>
            <a:off x="10206990" y="2404872"/>
            <a:ext cx="320040" cy="201168"/>
          </a:xfrm>
          <a:prstGeom prst="rect">
            <a:avLst/>
          </a:prstGeom>
          <a:noFill/>
          <a:ln/>
        </p:spPr>
        <p:txBody>
          <a:bodyPr wrap="square" lIns="0" tIns="0" rIns="0" bIns="0" rtlCol="0" anchor="ctr"/>
          <a:lstStyle/>
          <a:p>
            <a:pPr marL="0" indent="0">
              <a:buNone/>
            </a:pPr>
            <a:r>
              <a:rPr lang="en-US" sz="1000" dirty="0">
                <a:solidFill>
                  <a:srgbClr val="303846"/>
                </a:solidFill>
              </a:rPr>
              <a:t>3</a:t>
            </a:r>
            <a:endParaRPr lang="en-US" sz="1000" dirty="0"/>
          </a:p>
        </p:txBody>
      </p:sp>
      <p:sp>
        <p:nvSpPr>
          <p:cNvPr id="57" name="Text 55"/>
          <p:cNvSpPr/>
          <p:nvPr/>
        </p:nvSpPr>
        <p:spPr>
          <a:xfrm>
            <a:off x="6812280" y="2843784"/>
            <a:ext cx="1874520" cy="201168"/>
          </a:xfrm>
          <a:prstGeom prst="rect">
            <a:avLst/>
          </a:prstGeom>
          <a:noFill/>
          <a:ln/>
        </p:spPr>
        <p:txBody>
          <a:bodyPr wrap="square" lIns="0" tIns="0" rIns="0" bIns="0" rtlCol="0" anchor="ctr"/>
          <a:lstStyle/>
          <a:p>
            <a:pPr marL="0" indent="0" algn="r">
              <a:buNone/>
            </a:pPr>
            <a:r>
              <a:rPr lang="en-US" sz="1050" dirty="0">
                <a:solidFill>
                  <a:srgbClr val="303846"/>
                </a:solidFill>
              </a:rPr>
              <a:t>Smart control</a:t>
            </a:r>
            <a:endParaRPr lang="en-US" sz="1050" dirty="0"/>
          </a:p>
        </p:txBody>
      </p:sp>
      <p:sp>
        <p:nvSpPr>
          <p:cNvPr id="58" name="Shape 56"/>
          <p:cNvSpPr/>
          <p:nvPr/>
        </p:nvSpPr>
        <p:spPr>
          <a:xfrm>
            <a:off x="8823960" y="2871216"/>
            <a:ext cx="1783080" cy="146304"/>
          </a:xfrm>
          <a:prstGeom prst="rect">
            <a:avLst/>
          </a:prstGeom>
          <a:solidFill>
            <a:srgbClr val="E5E7EB"/>
          </a:solidFill>
          <a:ln w="12700">
            <a:solidFill>
              <a:srgbClr val="E5E7EB"/>
            </a:solidFill>
            <a:prstDash val="solid"/>
          </a:ln>
        </p:spPr>
      </p:sp>
      <p:sp>
        <p:nvSpPr>
          <p:cNvPr id="59" name="Shape 57"/>
          <p:cNvSpPr/>
          <p:nvPr/>
        </p:nvSpPr>
        <p:spPr>
          <a:xfrm>
            <a:off x="8823960" y="2871216"/>
            <a:ext cx="1337310" cy="146304"/>
          </a:xfrm>
          <a:prstGeom prst="rect">
            <a:avLst/>
          </a:prstGeom>
          <a:solidFill>
            <a:srgbClr val="2F6BD8"/>
          </a:solidFill>
          <a:ln w="12700">
            <a:solidFill>
              <a:srgbClr val="2F6BD8"/>
            </a:solidFill>
            <a:prstDash val="solid"/>
          </a:ln>
        </p:spPr>
      </p:sp>
      <p:sp>
        <p:nvSpPr>
          <p:cNvPr id="60" name="Text 58"/>
          <p:cNvSpPr/>
          <p:nvPr/>
        </p:nvSpPr>
        <p:spPr>
          <a:xfrm>
            <a:off x="10206990" y="2834640"/>
            <a:ext cx="320040" cy="201168"/>
          </a:xfrm>
          <a:prstGeom prst="rect">
            <a:avLst/>
          </a:prstGeom>
          <a:noFill/>
          <a:ln/>
        </p:spPr>
        <p:txBody>
          <a:bodyPr wrap="square" lIns="0" tIns="0" rIns="0" bIns="0" rtlCol="0" anchor="ctr"/>
          <a:lstStyle/>
          <a:p>
            <a:pPr marL="0" indent="0">
              <a:buNone/>
            </a:pPr>
            <a:r>
              <a:rPr lang="en-US" sz="1000" dirty="0">
                <a:solidFill>
                  <a:srgbClr val="303846"/>
                </a:solidFill>
              </a:rPr>
              <a:t>3</a:t>
            </a:r>
            <a:endParaRPr lang="en-US" sz="1000" dirty="0"/>
          </a:p>
        </p:txBody>
      </p:sp>
      <p:sp>
        <p:nvSpPr>
          <p:cNvPr id="61" name="Text 59"/>
          <p:cNvSpPr/>
          <p:nvPr/>
        </p:nvSpPr>
        <p:spPr>
          <a:xfrm>
            <a:off x="6812280" y="3273552"/>
            <a:ext cx="1874520" cy="201168"/>
          </a:xfrm>
          <a:prstGeom prst="rect">
            <a:avLst/>
          </a:prstGeom>
          <a:noFill/>
          <a:ln/>
        </p:spPr>
        <p:txBody>
          <a:bodyPr wrap="square" lIns="0" tIns="0" rIns="0" bIns="0" rtlCol="0" anchor="ctr"/>
          <a:lstStyle/>
          <a:p>
            <a:pPr marL="0" indent="0" algn="r">
              <a:buNone/>
            </a:pPr>
            <a:r>
              <a:rPr lang="en-US" sz="1050" dirty="0">
                <a:solidFill>
                  <a:srgbClr val="303846"/>
                </a:solidFill>
              </a:rPr>
              <a:t>AGV/AMR</a:t>
            </a:r>
            <a:endParaRPr lang="en-US" sz="1050" dirty="0"/>
          </a:p>
        </p:txBody>
      </p:sp>
      <p:sp>
        <p:nvSpPr>
          <p:cNvPr id="62" name="Shape 60"/>
          <p:cNvSpPr/>
          <p:nvPr/>
        </p:nvSpPr>
        <p:spPr>
          <a:xfrm>
            <a:off x="8823960" y="3300984"/>
            <a:ext cx="1783080" cy="146304"/>
          </a:xfrm>
          <a:prstGeom prst="rect">
            <a:avLst/>
          </a:prstGeom>
          <a:solidFill>
            <a:srgbClr val="E5E7EB"/>
          </a:solidFill>
          <a:ln w="12700">
            <a:solidFill>
              <a:srgbClr val="E5E7EB"/>
            </a:solidFill>
            <a:prstDash val="solid"/>
          </a:ln>
        </p:spPr>
      </p:sp>
      <p:sp>
        <p:nvSpPr>
          <p:cNvPr id="63" name="Shape 61"/>
          <p:cNvSpPr/>
          <p:nvPr/>
        </p:nvSpPr>
        <p:spPr>
          <a:xfrm>
            <a:off x="8823960" y="3300984"/>
            <a:ext cx="891540" cy="146304"/>
          </a:xfrm>
          <a:prstGeom prst="rect">
            <a:avLst/>
          </a:prstGeom>
          <a:solidFill>
            <a:srgbClr val="2F6BD8"/>
          </a:solidFill>
          <a:ln w="12700">
            <a:solidFill>
              <a:srgbClr val="2F6BD8"/>
            </a:solidFill>
            <a:prstDash val="solid"/>
          </a:ln>
        </p:spPr>
      </p:sp>
      <p:sp>
        <p:nvSpPr>
          <p:cNvPr id="64" name="Text 62"/>
          <p:cNvSpPr/>
          <p:nvPr/>
        </p:nvSpPr>
        <p:spPr>
          <a:xfrm>
            <a:off x="9761220" y="3264408"/>
            <a:ext cx="320040" cy="201168"/>
          </a:xfrm>
          <a:prstGeom prst="rect">
            <a:avLst/>
          </a:prstGeom>
          <a:noFill/>
          <a:ln/>
        </p:spPr>
        <p:txBody>
          <a:bodyPr wrap="square" lIns="0" tIns="0" rIns="0" bIns="0" rtlCol="0" anchor="ctr"/>
          <a:lstStyle/>
          <a:p>
            <a:pPr marL="0" indent="0">
              <a:buNone/>
            </a:pPr>
            <a:r>
              <a:rPr lang="en-US" sz="1000" dirty="0">
                <a:solidFill>
                  <a:srgbClr val="303846"/>
                </a:solidFill>
              </a:rPr>
              <a:t>2</a:t>
            </a:r>
            <a:endParaRPr lang="en-US" sz="1000" dirty="0"/>
          </a:p>
        </p:txBody>
      </p:sp>
      <p:sp>
        <p:nvSpPr>
          <p:cNvPr id="65" name="Shape 63"/>
          <p:cNvSpPr/>
          <p:nvPr/>
        </p:nvSpPr>
        <p:spPr>
          <a:xfrm>
            <a:off x="640080" y="4343400"/>
            <a:ext cx="10698480" cy="1143000"/>
          </a:xfrm>
          <a:prstGeom prst="roundRect">
            <a:avLst>
              <a:gd name="adj" fmla="val 3200"/>
            </a:avLst>
          </a:prstGeom>
          <a:solidFill>
            <a:srgbClr val="FFFFFF"/>
          </a:solidFill>
          <a:ln w="12700">
            <a:solidFill>
              <a:srgbClr val="E8ECF2"/>
            </a:solidFill>
            <a:prstDash val="solid"/>
          </a:ln>
        </p:spPr>
      </p:sp>
      <p:sp>
        <p:nvSpPr>
          <p:cNvPr id="66" name="Text 64"/>
          <p:cNvSpPr/>
          <p:nvPr/>
        </p:nvSpPr>
        <p:spPr>
          <a:xfrm>
            <a:off x="868680" y="4553712"/>
            <a:ext cx="1417320" cy="228600"/>
          </a:xfrm>
          <a:prstGeom prst="rect">
            <a:avLst/>
          </a:prstGeom>
          <a:noFill/>
          <a:ln/>
        </p:spPr>
        <p:txBody>
          <a:bodyPr wrap="square" lIns="0" tIns="0" rIns="0" bIns="0" rtlCol="0" anchor="ctr"/>
          <a:lstStyle/>
          <a:p>
            <a:pPr marL="0" indent="0">
              <a:buNone/>
            </a:pPr>
            <a:r>
              <a:rPr lang="en-US" sz="1400" b="1" dirty="0">
                <a:solidFill>
                  <a:srgbClr val="2F6BD8"/>
                </a:solidFill>
              </a:rPr>
              <a:t>Key Finding</a:t>
            </a:r>
            <a:endParaRPr lang="en-US" sz="1400" dirty="0"/>
          </a:p>
        </p:txBody>
      </p:sp>
      <p:sp>
        <p:nvSpPr>
          <p:cNvPr id="67" name="Text 65"/>
          <p:cNvSpPr/>
          <p:nvPr/>
        </p:nvSpPr>
        <p:spPr>
          <a:xfrm>
            <a:off x="2331720" y="4553712"/>
            <a:ext cx="8412480" cy="502920"/>
          </a:xfrm>
          <a:prstGeom prst="rect">
            <a:avLst/>
          </a:prstGeom>
          <a:noFill/>
          <a:ln/>
        </p:spPr>
        <p:txBody>
          <a:bodyPr wrap="square" lIns="0" tIns="0" rIns="0" bIns="0" rtlCol="0" anchor="ctr">
            <a:normAutofit/>
          </a:bodyPr>
          <a:lstStyle/>
          <a:p>
            <a:pPr marL="0" indent="0">
              <a:buNone/>
            </a:pPr>
            <a:r>
              <a:rPr lang="en-US" sz="1230" dirty="0">
                <a:solidFill>
                  <a:srgbClr val="303846"/>
                </a:solidFill>
              </a:rPr>
              <a:t>The field is concentrated around operational decision points: picking, routing, transport, resource allocation, and synchronization. Digital twins are used mainly to compare scenarios, optimize control rules, and support adaptive planning.</a:t>
            </a:r>
            <a:endParaRPr lang="en-US" sz="1230" dirty="0"/>
          </a:p>
        </p:txBody>
      </p:sp>
      <p:sp>
        <p:nvSpPr>
          <p:cNvPr id="68" name="Text 66"/>
          <p:cNvSpPr/>
          <p:nvPr/>
        </p:nvSpPr>
        <p:spPr>
          <a:xfrm>
            <a:off x="502920" y="6281928"/>
            <a:ext cx="10789920" cy="164592"/>
          </a:xfrm>
          <a:prstGeom prst="rect">
            <a:avLst/>
          </a:prstGeom>
          <a:noFill/>
          <a:ln/>
        </p:spPr>
        <p:txBody>
          <a:bodyPr wrap="square" lIns="0" tIns="0" rIns="0" bIns="0" rtlCol="0" anchor="ctr"/>
          <a:lstStyle/>
          <a:p>
            <a:pPr marL="0" indent="0">
              <a:buNone/>
            </a:pPr>
            <a:r>
              <a:rPr lang="en-US" sz="760" i="1" dirty="0">
                <a:solidFill>
                  <a:srgbClr val="667085"/>
                </a:solidFill>
              </a:rPr>
              <a:t>Representative studies: Kawczynski et al. (2023), Legato &amp; Mazza (2026), Guerrazzi et al. (2024), Zhang et al. (2024), Zhao et al. (2022), Hong et al. (2024).</a:t>
            </a:r>
            <a:endParaRPr lang="en-US" sz="76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6F7F9"/>
        </a:solidFill>
        <a:effectLst/>
      </p:bgPr>
    </p:bg>
    <p:spTree>
      <p:nvGrpSpPr>
        <p:cNvPr id="1" name=""/>
        <p:cNvGrpSpPr/>
        <p:nvPr/>
      </p:nvGrpSpPr>
      <p:grpSpPr>
        <a:xfrm>
          <a:off x="0" y="0"/>
          <a:ext cx="0" cy="0"/>
          <a:chOff x="0" y="0"/>
          <a:chExt cx="0" cy="0"/>
        </a:xfrm>
      </p:grpSpPr>
      <p:sp>
        <p:nvSpPr>
          <p:cNvPr id="2" name="Shape 0"/>
          <p:cNvSpPr/>
          <p:nvPr/>
        </p:nvSpPr>
        <p:spPr>
          <a:xfrm>
            <a:off x="347472" y="329184"/>
            <a:ext cx="73152" cy="438912"/>
          </a:xfrm>
          <a:prstGeom prst="rect">
            <a:avLst/>
          </a:prstGeom>
          <a:solidFill>
            <a:srgbClr val="2F6BD8"/>
          </a:solidFill>
          <a:ln w="12700">
            <a:solidFill>
              <a:srgbClr val="2F6BD8"/>
            </a:solidFill>
            <a:prstDash val="solid"/>
          </a:ln>
        </p:spPr>
      </p:sp>
      <p:sp>
        <p:nvSpPr>
          <p:cNvPr id="3" name="Text 1"/>
          <p:cNvSpPr/>
          <p:nvPr/>
        </p:nvSpPr>
        <p:spPr>
          <a:xfrm>
            <a:off x="512064" y="292608"/>
            <a:ext cx="10789920" cy="502920"/>
          </a:xfrm>
          <a:prstGeom prst="rect">
            <a:avLst/>
          </a:prstGeom>
          <a:noFill/>
          <a:ln/>
        </p:spPr>
        <p:txBody>
          <a:bodyPr wrap="square" lIns="0" tIns="0" rIns="0" bIns="0" rtlCol="0" anchor="ctr"/>
          <a:lstStyle/>
          <a:p>
            <a:pPr marL="0" indent="0">
              <a:buNone/>
            </a:pPr>
            <a:r>
              <a:rPr lang="en-US" sz="2700" b="1" dirty="0">
                <a:solidFill>
                  <a:srgbClr val="303846"/>
                </a:solidFill>
                <a:latin typeface="Aptos Display" pitchFamily="34" charset="0"/>
                <a:ea typeface="Aptos Display" pitchFamily="34" charset="-122"/>
                <a:cs typeface="Aptos Display" pitchFamily="34" charset="-120"/>
              </a:rPr>
              <a:t>Results — RQ2: Enabling Technologies</a:t>
            </a:r>
            <a:endParaRPr lang="en-US" sz="2700" dirty="0"/>
          </a:p>
        </p:txBody>
      </p:sp>
      <p:sp>
        <p:nvSpPr>
          <p:cNvPr id="4" name="Shape 2"/>
          <p:cNvSpPr/>
          <p:nvPr/>
        </p:nvSpPr>
        <p:spPr>
          <a:xfrm>
            <a:off x="0" y="6510528"/>
            <a:ext cx="12191695" cy="347472"/>
          </a:xfrm>
          <a:prstGeom prst="rect">
            <a:avLst/>
          </a:prstGeom>
          <a:solidFill>
            <a:srgbClr val="303846"/>
          </a:solidFill>
          <a:ln w="12700">
            <a:solidFill>
              <a:srgbClr val="303846"/>
            </a:solidFill>
            <a:prstDash val="solid"/>
          </a:ln>
        </p:spPr>
      </p:sp>
      <p:sp>
        <p:nvSpPr>
          <p:cNvPr id="5" name="Text 3"/>
          <p:cNvSpPr/>
          <p:nvPr/>
        </p:nvSpPr>
        <p:spPr>
          <a:xfrm>
            <a:off x="320040" y="6592824"/>
            <a:ext cx="6583680" cy="137160"/>
          </a:xfrm>
          <a:prstGeom prst="rect">
            <a:avLst/>
          </a:prstGeom>
          <a:noFill/>
          <a:ln/>
        </p:spPr>
        <p:txBody>
          <a:bodyPr wrap="square" lIns="0" tIns="0" rIns="0" bIns="0" rtlCol="0" anchor="ctr"/>
          <a:lstStyle/>
          <a:p>
            <a:pPr marL="0" indent="0">
              <a:buNone/>
            </a:pPr>
            <a:r>
              <a:rPr lang="en-US" sz="750" i="1" dirty="0">
                <a:solidFill>
                  <a:srgbClr val="F2F4F7"/>
                </a:solidFill>
              </a:rPr>
              <a:t>Digital Twin-Enabled Intralogistics — Systematic Review | SEN601</a:t>
            </a:r>
            <a:endParaRPr lang="en-US" sz="750" dirty="0"/>
          </a:p>
        </p:txBody>
      </p:sp>
      <p:sp>
        <p:nvSpPr>
          <p:cNvPr id="6" name="Text 4"/>
          <p:cNvSpPr/>
          <p:nvPr/>
        </p:nvSpPr>
        <p:spPr>
          <a:xfrm>
            <a:off x="10195560" y="6592824"/>
            <a:ext cx="1280160" cy="137160"/>
          </a:xfrm>
          <a:prstGeom prst="rect">
            <a:avLst/>
          </a:prstGeom>
          <a:noFill/>
          <a:ln/>
        </p:spPr>
        <p:txBody>
          <a:bodyPr wrap="square" lIns="0" tIns="0" rIns="0" bIns="0" rtlCol="0" anchor="ctr"/>
          <a:lstStyle/>
          <a:p>
            <a:pPr marL="0" indent="0" algn="r">
              <a:buNone/>
            </a:pPr>
            <a:r>
              <a:rPr lang="en-US" sz="750" dirty="0">
                <a:solidFill>
                  <a:srgbClr val="F2F4F7"/>
                </a:solidFill>
              </a:rPr>
              <a:t>RQ2 Results</a:t>
            </a:r>
            <a:endParaRPr lang="en-US" sz="750" dirty="0"/>
          </a:p>
        </p:txBody>
      </p:sp>
      <p:sp>
        <p:nvSpPr>
          <p:cNvPr id="7" name="Text 5"/>
          <p:cNvSpPr/>
          <p:nvPr/>
        </p:nvSpPr>
        <p:spPr>
          <a:xfrm>
            <a:off x="11539728" y="6583680"/>
            <a:ext cx="329184" cy="146304"/>
          </a:xfrm>
          <a:prstGeom prst="rect">
            <a:avLst/>
          </a:prstGeom>
          <a:noFill/>
          <a:ln/>
        </p:spPr>
        <p:txBody>
          <a:bodyPr wrap="square" lIns="0" tIns="0" rIns="0" bIns="0" rtlCol="0" anchor="ctr"/>
          <a:lstStyle/>
          <a:p>
            <a:pPr marL="0" indent="0" algn="r">
              <a:buNone/>
            </a:pPr>
            <a:r>
              <a:rPr lang="en-US" sz="850" dirty="0">
                <a:solidFill>
                  <a:srgbClr val="F2F4F7"/>
                </a:solidFill>
              </a:rPr>
              <a:t>12</a:t>
            </a:r>
            <a:endParaRPr lang="en-US" sz="850" dirty="0"/>
          </a:p>
        </p:txBody>
      </p:sp>
      <p:sp>
        <p:nvSpPr>
          <p:cNvPr id="8" name="Shape 6"/>
          <p:cNvSpPr/>
          <p:nvPr/>
        </p:nvSpPr>
        <p:spPr>
          <a:xfrm>
            <a:off x="731520" y="1005840"/>
            <a:ext cx="2286000" cy="914400"/>
          </a:xfrm>
          <a:prstGeom prst="roundRect">
            <a:avLst>
              <a:gd name="adj" fmla="val 4000"/>
            </a:avLst>
          </a:prstGeom>
          <a:solidFill>
            <a:srgbClr val="273C75"/>
          </a:solidFill>
          <a:ln w="12700">
            <a:solidFill>
              <a:srgbClr val="273C75"/>
            </a:solidFill>
            <a:prstDash val="solid"/>
          </a:ln>
        </p:spPr>
      </p:sp>
      <p:sp>
        <p:nvSpPr>
          <p:cNvPr id="9" name="Text 7"/>
          <p:cNvSpPr/>
          <p:nvPr/>
        </p:nvSpPr>
        <p:spPr>
          <a:xfrm>
            <a:off x="731520" y="1225296"/>
            <a:ext cx="2286000" cy="402336"/>
          </a:xfrm>
          <a:prstGeom prst="rect">
            <a:avLst/>
          </a:prstGeom>
          <a:noFill/>
          <a:ln/>
        </p:spPr>
        <p:txBody>
          <a:bodyPr wrap="square" lIns="0" tIns="0" rIns="0" bIns="0" rtlCol="0" anchor="ctr"/>
          <a:lstStyle/>
          <a:p>
            <a:pPr marL="0" indent="0" algn="ctr">
              <a:buNone/>
            </a:pPr>
            <a:r>
              <a:rPr lang="en-US" sz="3000" b="1" dirty="0">
                <a:solidFill>
                  <a:srgbClr val="FFFFFF"/>
                </a:solidFill>
              </a:rPr>
              <a:t>7+</a:t>
            </a:r>
            <a:endParaRPr lang="en-US" sz="3000" dirty="0"/>
          </a:p>
        </p:txBody>
      </p:sp>
      <p:sp>
        <p:nvSpPr>
          <p:cNvPr id="10" name="Text 8"/>
          <p:cNvSpPr/>
          <p:nvPr/>
        </p:nvSpPr>
        <p:spPr>
          <a:xfrm>
            <a:off x="841248" y="1719072"/>
            <a:ext cx="2066544" cy="228600"/>
          </a:xfrm>
          <a:prstGeom prst="rect">
            <a:avLst/>
          </a:prstGeom>
          <a:noFill/>
          <a:ln/>
        </p:spPr>
        <p:txBody>
          <a:bodyPr wrap="square" lIns="0" tIns="0" rIns="0" bIns="0" rtlCol="0" anchor="ctr">
            <a:normAutofit/>
          </a:bodyPr>
          <a:lstStyle/>
          <a:p>
            <a:pPr marL="0" indent="0" algn="ctr">
              <a:buNone/>
            </a:pPr>
            <a:r>
              <a:rPr lang="en-US" sz="1050" dirty="0">
                <a:solidFill>
                  <a:srgbClr val="FFFFFF"/>
                </a:solidFill>
              </a:rPr>
              <a:t>Simulation / DES base</a:t>
            </a:r>
            <a:endParaRPr lang="en-US" sz="1050" dirty="0"/>
          </a:p>
        </p:txBody>
      </p:sp>
      <p:sp>
        <p:nvSpPr>
          <p:cNvPr id="11" name="Text 9"/>
          <p:cNvSpPr/>
          <p:nvPr/>
        </p:nvSpPr>
        <p:spPr>
          <a:xfrm>
            <a:off x="841248" y="1938528"/>
            <a:ext cx="2066544" cy="182880"/>
          </a:xfrm>
          <a:prstGeom prst="rect">
            <a:avLst/>
          </a:prstGeom>
          <a:noFill/>
          <a:ln/>
        </p:spPr>
        <p:txBody>
          <a:bodyPr wrap="square" lIns="0" tIns="0" rIns="0" bIns="0" rtlCol="0" anchor="ctr">
            <a:normAutofit/>
          </a:bodyPr>
          <a:lstStyle/>
          <a:p>
            <a:pPr marL="0" indent="0" algn="ctr">
              <a:buNone/>
            </a:pPr>
            <a:r>
              <a:rPr lang="en-US" sz="850" i="1" dirty="0">
                <a:solidFill>
                  <a:srgbClr val="F2F4F7"/>
                </a:solidFill>
              </a:rPr>
              <a:t>dominant foundation</a:t>
            </a:r>
            <a:endParaRPr lang="en-US" sz="850" dirty="0"/>
          </a:p>
        </p:txBody>
      </p:sp>
      <p:sp>
        <p:nvSpPr>
          <p:cNvPr id="12" name="Shape 10"/>
          <p:cNvSpPr/>
          <p:nvPr/>
        </p:nvSpPr>
        <p:spPr>
          <a:xfrm>
            <a:off x="3246120" y="1005840"/>
            <a:ext cx="2286000" cy="914400"/>
          </a:xfrm>
          <a:prstGeom prst="roundRect">
            <a:avLst>
              <a:gd name="adj" fmla="val 4000"/>
            </a:avLst>
          </a:prstGeom>
          <a:solidFill>
            <a:srgbClr val="2F6BD8"/>
          </a:solidFill>
          <a:ln w="12700">
            <a:solidFill>
              <a:srgbClr val="2F6BD8"/>
            </a:solidFill>
            <a:prstDash val="solid"/>
          </a:ln>
        </p:spPr>
      </p:sp>
      <p:sp>
        <p:nvSpPr>
          <p:cNvPr id="13" name="Text 11"/>
          <p:cNvSpPr/>
          <p:nvPr/>
        </p:nvSpPr>
        <p:spPr>
          <a:xfrm>
            <a:off x="3246120" y="1225296"/>
            <a:ext cx="2286000" cy="402336"/>
          </a:xfrm>
          <a:prstGeom prst="rect">
            <a:avLst/>
          </a:prstGeom>
          <a:noFill/>
          <a:ln/>
        </p:spPr>
        <p:txBody>
          <a:bodyPr wrap="square" lIns="0" tIns="0" rIns="0" bIns="0" rtlCol="0" anchor="ctr"/>
          <a:lstStyle/>
          <a:p>
            <a:pPr marL="0" indent="0" algn="ctr">
              <a:buNone/>
            </a:pPr>
            <a:r>
              <a:rPr lang="en-US" sz="3000" b="1" dirty="0">
                <a:solidFill>
                  <a:srgbClr val="FFFFFF"/>
                </a:solidFill>
              </a:rPr>
              <a:t>6</a:t>
            </a:r>
            <a:endParaRPr lang="en-US" sz="3000" dirty="0"/>
          </a:p>
        </p:txBody>
      </p:sp>
      <p:sp>
        <p:nvSpPr>
          <p:cNvPr id="14" name="Text 12"/>
          <p:cNvSpPr/>
          <p:nvPr/>
        </p:nvSpPr>
        <p:spPr>
          <a:xfrm>
            <a:off x="3355848" y="1719072"/>
            <a:ext cx="2066544" cy="228600"/>
          </a:xfrm>
          <a:prstGeom prst="rect">
            <a:avLst/>
          </a:prstGeom>
          <a:noFill/>
          <a:ln/>
        </p:spPr>
        <p:txBody>
          <a:bodyPr wrap="square" lIns="0" tIns="0" rIns="0" bIns="0" rtlCol="0" anchor="ctr">
            <a:normAutofit/>
          </a:bodyPr>
          <a:lstStyle/>
          <a:p>
            <a:pPr marL="0" indent="0" algn="ctr">
              <a:buNone/>
            </a:pPr>
            <a:r>
              <a:rPr lang="en-US" sz="1050" dirty="0">
                <a:solidFill>
                  <a:srgbClr val="FFFFFF"/>
                </a:solidFill>
              </a:rPr>
              <a:t>IoT / RFID / PLC data</a:t>
            </a:r>
            <a:endParaRPr lang="en-US" sz="1050" dirty="0"/>
          </a:p>
        </p:txBody>
      </p:sp>
      <p:sp>
        <p:nvSpPr>
          <p:cNvPr id="15" name="Text 13"/>
          <p:cNvSpPr/>
          <p:nvPr/>
        </p:nvSpPr>
        <p:spPr>
          <a:xfrm>
            <a:off x="3355848" y="1938528"/>
            <a:ext cx="2066544" cy="182880"/>
          </a:xfrm>
          <a:prstGeom prst="rect">
            <a:avLst/>
          </a:prstGeom>
          <a:noFill/>
          <a:ln/>
        </p:spPr>
        <p:txBody>
          <a:bodyPr wrap="square" lIns="0" tIns="0" rIns="0" bIns="0" rtlCol="0" anchor="ctr">
            <a:normAutofit/>
          </a:bodyPr>
          <a:lstStyle/>
          <a:p>
            <a:pPr marL="0" indent="0" algn="ctr">
              <a:buNone/>
            </a:pPr>
            <a:r>
              <a:rPr lang="en-US" sz="850" i="1" dirty="0">
                <a:solidFill>
                  <a:srgbClr val="F2F4F7"/>
                </a:solidFill>
              </a:rPr>
              <a:t>physical connection</a:t>
            </a:r>
            <a:endParaRPr lang="en-US" sz="850" dirty="0"/>
          </a:p>
        </p:txBody>
      </p:sp>
      <p:sp>
        <p:nvSpPr>
          <p:cNvPr id="16" name="Shape 14"/>
          <p:cNvSpPr/>
          <p:nvPr/>
        </p:nvSpPr>
        <p:spPr>
          <a:xfrm>
            <a:off x="5760720" y="1005840"/>
            <a:ext cx="2286000" cy="914400"/>
          </a:xfrm>
          <a:prstGeom prst="roundRect">
            <a:avLst>
              <a:gd name="adj" fmla="val 4000"/>
            </a:avLst>
          </a:prstGeom>
          <a:solidFill>
            <a:srgbClr val="177E89"/>
          </a:solidFill>
          <a:ln w="12700">
            <a:solidFill>
              <a:srgbClr val="177E89"/>
            </a:solidFill>
            <a:prstDash val="solid"/>
          </a:ln>
        </p:spPr>
      </p:sp>
      <p:sp>
        <p:nvSpPr>
          <p:cNvPr id="17" name="Text 15"/>
          <p:cNvSpPr/>
          <p:nvPr/>
        </p:nvSpPr>
        <p:spPr>
          <a:xfrm>
            <a:off x="5760720" y="1225296"/>
            <a:ext cx="2286000" cy="402336"/>
          </a:xfrm>
          <a:prstGeom prst="rect">
            <a:avLst/>
          </a:prstGeom>
          <a:noFill/>
          <a:ln/>
        </p:spPr>
        <p:txBody>
          <a:bodyPr wrap="square" lIns="0" tIns="0" rIns="0" bIns="0" rtlCol="0" anchor="ctr"/>
          <a:lstStyle/>
          <a:p>
            <a:pPr marL="0" indent="0" algn="ctr">
              <a:buNone/>
            </a:pPr>
            <a:r>
              <a:rPr lang="en-US" sz="3000" b="1" dirty="0">
                <a:solidFill>
                  <a:srgbClr val="FFFFFF"/>
                </a:solidFill>
              </a:rPr>
              <a:t>4</a:t>
            </a:r>
            <a:endParaRPr lang="en-US" sz="3000" dirty="0"/>
          </a:p>
        </p:txBody>
      </p:sp>
      <p:sp>
        <p:nvSpPr>
          <p:cNvPr id="18" name="Text 16"/>
          <p:cNvSpPr/>
          <p:nvPr/>
        </p:nvSpPr>
        <p:spPr>
          <a:xfrm>
            <a:off x="5870448" y="1719072"/>
            <a:ext cx="2066544" cy="228600"/>
          </a:xfrm>
          <a:prstGeom prst="rect">
            <a:avLst/>
          </a:prstGeom>
          <a:noFill/>
          <a:ln/>
        </p:spPr>
        <p:txBody>
          <a:bodyPr wrap="square" lIns="0" tIns="0" rIns="0" bIns="0" rtlCol="0" anchor="ctr">
            <a:normAutofit/>
          </a:bodyPr>
          <a:lstStyle/>
          <a:p>
            <a:pPr marL="0" indent="0" algn="ctr">
              <a:buNone/>
            </a:pPr>
            <a:r>
              <a:rPr lang="en-US" sz="1050" dirty="0">
                <a:solidFill>
                  <a:srgbClr val="FFFFFF"/>
                </a:solidFill>
              </a:rPr>
              <a:t>AI / optimization methods</a:t>
            </a:r>
            <a:endParaRPr lang="en-US" sz="1050" dirty="0"/>
          </a:p>
        </p:txBody>
      </p:sp>
      <p:sp>
        <p:nvSpPr>
          <p:cNvPr id="19" name="Text 17"/>
          <p:cNvSpPr/>
          <p:nvPr/>
        </p:nvSpPr>
        <p:spPr>
          <a:xfrm>
            <a:off x="5870448" y="1938528"/>
            <a:ext cx="2066544" cy="182880"/>
          </a:xfrm>
          <a:prstGeom prst="rect">
            <a:avLst/>
          </a:prstGeom>
          <a:noFill/>
          <a:ln/>
        </p:spPr>
        <p:txBody>
          <a:bodyPr wrap="square" lIns="0" tIns="0" rIns="0" bIns="0" rtlCol="0" anchor="ctr">
            <a:normAutofit/>
          </a:bodyPr>
          <a:lstStyle/>
          <a:p>
            <a:pPr marL="0" indent="0" algn="ctr">
              <a:buNone/>
            </a:pPr>
            <a:r>
              <a:rPr lang="en-US" sz="850" i="1" dirty="0">
                <a:solidFill>
                  <a:srgbClr val="F2F4F7"/>
                </a:solidFill>
              </a:rPr>
              <a:t>prescriptive control</a:t>
            </a:r>
            <a:endParaRPr lang="en-US" sz="850" dirty="0"/>
          </a:p>
        </p:txBody>
      </p:sp>
      <p:sp>
        <p:nvSpPr>
          <p:cNvPr id="20" name="Shape 18"/>
          <p:cNvSpPr/>
          <p:nvPr/>
        </p:nvSpPr>
        <p:spPr>
          <a:xfrm>
            <a:off x="8275320" y="1005840"/>
            <a:ext cx="2286000" cy="914400"/>
          </a:xfrm>
          <a:prstGeom prst="roundRect">
            <a:avLst>
              <a:gd name="adj" fmla="val 4000"/>
            </a:avLst>
          </a:prstGeom>
          <a:solidFill>
            <a:srgbClr val="25A75A"/>
          </a:solidFill>
          <a:ln w="12700">
            <a:solidFill>
              <a:srgbClr val="25A75A"/>
            </a:solidFill>
            <a:prstDash val="solid"/>
          </a:ln>
        </p:spPr>
      </p:sp>
      <p:sp>
        <p:nvSpPr>
          <p:cNvPr id="21" name="Text 19"/>
          <p:cNvSpPr/>
          <p:nvPr/>
        </p:nvSpPr>
        <p:spPr>
          <a:xfrm>
            <a:off x="8275320" y="1225296"/>
            <a:ext cx="2286000" cy="402336"/>
          </a:xfrm>
          <a:prstGeom prst="rect">
            <a:avLst/>
          </a:prstGeom>
          <a:noFill/>
          <a:ln/>
        </p:spPr>
        <p:txBody>
          <a:bodyPr wrap="square" lIns="0" tIns="0" rIns="0" bIns="0" rtlCol="0" anchor="ctr"/>
          <a:lstStyle/>
          <a:p>
            <a:pPr marL="0" indent="0" algn="ctr">
              <a:buNone/>
            </a:pPr>
            <a:r>
              <a:rPr lang="en-US" sz="3000" b="1" dirty="0">
                <a:solidFill>
                  <a:srgbClr val="FFFFFF"/>
                </a:solidFill>
              </a:rPr>
              <a:t>3</a:t>
            </a:r>
            <a:endParaRPr lang="en-US" sz="3000" dirty="0"/>
          </a:p>
        </p:txBody>
      </p:sp>
      <p:sp>
        <p:nvSpPr>
          <p:cNvPr id="22" name="Text 20"/>
          <p:cNvSpPr/>
          <p:nvPr/>
        </p:nvSpPr>
        <p:spPr>
          <a:xfrm>
            <a:off x="8385048" y="1719072"/>
            <a:ext cx="2066544" cy="228600"/>
          </a:xfrm>
          <a:prstGeom prst="rect">
            <a:avLst/>
          </a:prstGeom>
          <a:noFill/>
          <a:ln/>
        </p:spPr>
        <p:txBody>
          <a:bodyPr wrap="square" lIns="0" tIns="0" rIns="0" bIns="0" rtlCol="0" anchor="ctr">
            <a:normAutofit/>
          </a:bodyPr>
          <a:lstStyle/>
          <a:p>
            <a:pPr marL="0" indent="0" algn="ctr">
              <a:buNone/>
            </a:pPr>
            <a:r>
              <a:rPr lang="en-US" sz="1050" dirty="0">
                <a:solidFill>
                  <a:srgbClr val="FFFFFF"/>
                </a:solidFill>
              </a:rPr>
              <a:t>WMS / WCS linkage</a:t>
            </a:r>
            <a:endParaRPr lang="en-US" sz="1050" dirty="0"/>
          </a:p>
        </p:txBody>
      </p:sp>
      <p:sp>
        <p:nvSpPr>
          <p:cNvPr id="23" name="Text 21"/>
          <p:cNvSpPr/>
          <p:nvPr/>
        </p:nvSpPr>
        <p:spPr>
          <a:xfrm>
            <a:off x="8385048" y="1938528"/>
            <a:ext cx="2066544" cy="182880"/>
          </a:xfrm>
          <a:prstGeom prst="rect">
            <a:avLst/>
          </a:prstGeom>
          <a:noFill/>
          <a:ln/>
        </p:spPr>
        <p:txBody>
          <a:bodyPr wrap="square" lIns="0" tIns="0" rIns="0" bIns="0" rtlCol="0" anchor="ctr">
            <a:normAutofit/>
          </a:bodyPr>
          <a:lstStyle/>
          <a:p>
            <a:pPr marL="0" indent="0" algn="ctr">
              <a:buNone/>
            </a:pPr>
            <a:r>
              <a:rPr lang="en-US" sz="850" i="1" dirty="0">
                <a:solidFill>
                  <a:srgbClr val="F2F4F7"/>
                </a:solidFill>
              </a:rPr>
              <a:t>integration layer</a:t>
            </a:r>
            <a:endParaRPr lang="en-US" sz="850" dirty="0"/>
          </a:p>
        </p:txBody>
      </p:sp>
      <p:sp>
        <p:nvSpPr>
          <p:cNvPr id="24" name="Shape 22"/>
          <p:cNvSpPr/>
          <p:nvPr/>
        </p:nvSpPr>
        <p:spPr>
          <a:xfrm>
            <a:off x="731520" y="2423160"/>
            <a:ext cx="2793492" cy="594360"/>
          </a:xfrm>
          <a:prstGeom prst="rect">
            <a:avLst/>
          </a:prstGeom>
          <a:solidFill>
            <a:srgbClr val="3D4656"/>
          </a:solidFill>
          <a:ln w="6350">
            <a:solidFill>
              <a:srgbClr val="CED4DA"/>
            </a:solidFill>
            <a:prstDash val="solid"/>
          </a:ln>
        </p:spPr>
      </p:sp>
      <p:sp>
        <p:nvSpPr>
          <p:cNvPr id="25" name="Text 23"/>
          <p:cNvSpPr/>
          <p:nvPr/>
        </p:nvSpPr>
        <p:spPr>
          <a:xfrm>
            <a:off x="777240" y="2459736"/>
            <a:ext cx="2702052" cy="539496"/>
          </a:xfrm>
          <a:prstGeom prst="rect">
            <a:avLst/>
          </a:prstGeom>
          <a:noFill/>
          <a:ln/>
        </p:spPr>
        <p:txBody>
          <a:bodyPr wrap="square" lIns="254" tIns="254" rIns="254" bIns="254" rtlCol="0" anchor="ctr">
            <a:normAutofit/>
          </a:bodyPr>
          <a:lstStyle/>
          <a:p>
            <a:pPr marL="0" indent="0">
              <a:buNone/>
            </a:pPr>
            <a:r>
              <a:rPr lang="en-US" sz="930" b="1" dirty="0">
                <a:solidFill>
                  <a:srgbClr val="FFFFFF"/>
                </a:solidFill>
              </a:rPr>
              <a:t>Technology Group</a:t>
            </a:r>
            <a:endParaRPr lang="en-US" sz="930" dirty="0"/>
          </a:p>
        </p:txBody>
      </p:sp>
      <p:sp>
        <p:nvSpPr>
          <p:cNvPr id="26" name="Shape 24"/>
          <p:cNvSpPr/>
          <p:nvPr/>
        </p:nvSpPr>
        <p:spPr>
          <a:xfrm>
            <a:off x="3525012" y="2423160"/>
            <a:ext cx="2686050" cy="594360"/>
          </a:xfrm>
          <a:prstGeom prst="rect">
            <a:avLst/>
          </a:prstGeom>
          <a:solidFill>
            <a:srgbClr val="3D4656"/>
          </a:solidFill>
          <a:ln w="6350">
            <a:solidFill>
              <a:srgbClr val="CED4DA"/>
            </a:solidFill>
            <a:prstDash val="solid"/>
          </a:ln>
        </p:spPr>
      </p:sp>
      <p:sp>
        <p:nvSpPr>
          <p:cNvPr id="27" name="Text 25"/>
          <p:cNvSpPr/>
          <p:nvPr/>
        </p:nvSpPr>
        <p:spPr>
          <a:xfrm>
            <a:off x="3570732" y="2459736"/>
            <a:ext cx="2594610" cy="539496"/>
          </a:xfrm>
          <a:prstGeom prst="rect">
            <a:avLst/>
          </a:prstGeom>
          <a:noFill/>
          <a:ln/>
        </p:spPr>
        <p:txBody>
          <a:bodyPr wrap="square" lIns="254" tIns="254" rIns="254" bIns="254" rtlCol="0" anchor="ctr">
            <a:normAutofit/>
          </a:bodyPr>
          <a:lstStyle/>
          <a:p>
            <a:pPr marL="0" indent="0">
              <a:buNone/>
            </a:pPr>
            <a:r>
              <a:rPr lang="en-US" sz="930" b="1" dirty="0">
                <a:solidFill>
                  <a:srgbClr val="FFFFFF"/>
                </a:solidFill>
              </a:rPr>
              <a:t>Representative Studies</a:t>
            </a:r>
            <a:endParaRPr lang="en-US" sz="930" dirty="0"/>
          </a:p>
        </p:txBody>
      </p:sp>
      <p:sp>
        <p:nvSpPr>
          <p:cNvPr id="28" name="Shape 26"/>
          <p:cNvSpPr/>
          <p:nvPr/>
        </p:nvSpPr>
        <p:spPr>
          <a:xfrm>
            <a:off x="6211062" y="2423160"/>
            <a:ext cx="5264658" cy="594360"/>
          </a:xfrm>
          <a:prstGeom prst="rect">
            <a:avLst/>
          </a:prstGeom>
          <a:solidFill>
            <a:srgbClr val="3D4656"/>
          </a:solidFill>
          <a:ln w="6350">
            <a:solidFill>
              <a:srgbClr val="CED4DA"/>
            </a:solidFill>
            <a:prstDash val="solid"/>
          </a:ln>
        </p:spPr>
      </p:sp>
      <p:sp>
        <p:nvSpPr>
          <p:cNvPr id="29" name="Text 27"/>
          <p:cNvSpPr/>
          <p:nvPr/>
        </p:nvSpPr>
        <p:spPr>
          <a:xfrm>
            <a:off x="6256782" y="2459736"/>
            <a:ext cx="5173218" cy="539496"/>
          </a:xfrm>
          <a:prstGeom prst="rect">
            <a:avLst/>
          </a:prstGeom>
          <a:noFill/>
          <a:ln/>
        </p:spPr>
        <p:txBody>
          <a:bodyPr wrap="square" lIns="254" tIns="254" rIns="254" bIns="254" rtlCol="0" anchor="ctr">
            <a:normAutofit/>
          </a:bodyPr>
          <a:lstStyle/>
          <a:p>
            <a:pPr marL="0" indent="0">
              <a:buNone/>
            </a:pPr>
            <a:r>
              <a:rPr lang="en-US" sz="930" b="1" dirty="0">
                <a:solidFill>
                  <a:srgbClr val="FFFFFF"/>
                </a:solidFill>
              </a:rPr>
              <a:t>Interpretation</a:t>
            </a:r>
            <a:endParaRPr lang="en-US" sz="930" dirty="0"/>
          </a:p>
        </p:txBody>
      </p:sp>
      <p:sp>
        <p:nvSpPr>
          <p:cNvPr id="30" name="Shape 28"/>
          <p:cNvSpPr/>
          <p:nvPr/>
        </p:nvSpPr>
        <p:spPr>
          <a:xfrm>
            <a:off x="731520" y="3017520"/>
            <a:ext cx="2793492" cy="594360"/>
          </a:xfrm>
          <a:prstGeom prst="rect">
            <a:avLst/>
          </a:prstGeom>
          <a:solidFill>
            <a:srgbClr val="F0F5F7"/>
          </a:solidFill>
          <a:ln w="6350">
            <a:solidFill>
              <a:srgbClr val="CED4DA"/>
            </a:solidFill>
            <a:prstDash val="solid"/>
          </a:ln>
        </p:spPr>
      </p:sp>
      <p:sp>
        <p:nvSpPr>
          <p:cNvPr id="31" name="Text 29"/>
          <p:cNvSpPr/>
          <p:nvPr/>
        </p:nvSpPr>
        <p:spPr>
          <a:xfrm>
            <a:off x="777240" y="3054096"/>
            <a:ext cx="2702052" cy="539496"/>
          </a:xfrm>
          <a:prstGeom prst="rect">
            <a:avLst/>
          </a:prstGeom>
          <a:noFill/>
          <a:ln/>
        </p:spPr>
        <p:txBody>
          <a:bodyPr wrap="square" lIns="254" tIns="254" rIns="254" bIns="254" rtlCol="0" anchor="ctr">
            <a:normAutofit/>
          </a:bodyPr>
          <a:lstStyle/>
          <a:p>
            <a:pPr marL="0" indent="0">
              <a:buNone/>
            </a:pPr>
            <a:r>
              <a:rPr lang="en-US" sz="930" dirty="0">
                <a:solidFill>
                  <a:srgbClr val="303846"/>
                </a:solidFill>
              </a:rPr>
              <a:t>Discrete-event / 3D simulation</a:t>
            </a:r>
            <a:endParaRPr lang="en-US" sz="930" dirty="0"/>
          </a:p>
        </p:txBody>
      </p:sp>
      <p:sp>
        <p:nvSpPr>
          <p:cNvPr id="32" name="Shape 30"/>
          <p:cNvSpPr/>
          <p:nvPr/>
        </p:nvSpPr>
        <p:spPr>
          <a:xfrm>
            <a:off x="3525012" y="3017520"/>
            <a:ext cx="2686050" cy="594360"/>
          </a:xfrm>
          <a:prstGeom prst="rect">
            <a:avLst/>
          </a:prstGeom>
          <a:solidFill>
            <a:srgbClr val="F0F5F7"/>
          </a:solidFill>
          <a:ln w="6350">
            <a:solidFill>
              <a:srgbClr val="CED4DA"/>
            </a:solidFill>
            <a:prstDash val="solid"/>
          </a:ln>
        </p:spPr>
      </p:sp>
      <p:sp>
        <p:nvSpPr>
          <p:cNvPr id="33" name="Text 31"/>
          <p:cNvSpPr/>
          <p:nvPr/>
        </p:nvSpPr>
        <p:spPr>
          <a:xfrm>
            <a:off x="3570732" y="3054096"/>
            <a:ext cx="2594610" cy="539496"/>
          </a:xfrm>
          <a:prstGeom prst="rect">
            <a:avLst/>
          </a:prstGeom>
          <a:noFill/>
          <a:ln/>
        </p:spPr>
        <p:txBody>
          <a:bodyPr wrap="square" lIns="254" tIns="254" rIns="254" bIns="254" rtlCol="0" anchor="ctr">
            <a:normAutofit/>
          </a:bodyPr>
          <a:lstStyle/>
          <a:p>
            <a:pPr marL="0" indent="0">
              <a:buNone/>
            </a:pPr>
            <a:r>
              <a:rPr lang="en-US" sz="930" dirty="0">
                <a:solidFill>
                  <a:srgbClr val="303846"/>
                </a:solidFill>
              </a:rPr>
              <a:t>S1, S2, S3, S5, S10</a:t>
            </a:r>
            <a:endParaRPr lang="en-US" sz="930" dirty="0"/>
          </a:p>
        </p:txBody>
      </p:sp>
      <p:sp>
        <p:nvSpPr>
          <p:cNvPr id="34" name="Shape 32"/>
          <p:cNvSpPr/>
          <p:nvPr/>
        </p:nvSpPr>
        <p:spPr>
          <a:xfrm>
            <a:off x="6211062" y="3017520"/>
            <a:ext cx="5264658" cy="594360"/>
          </a:xfrm>
          <a:prstGeom prst="rect">
            <a:avLst/>
          </a:prstGeom>
          <a:solidFill>
            <a:srgbClr val="F0F5F7"/>
          </a:solidFill>
          <a:ln w="6350">
            <a:solidFill>
              <a:srgbClr val="CED4DA"/>
            </a:solidFill>
            <a:prstDash val="solid"/>
          </a:ln>
        </p:spPr>
      </p:sp>
      <p:sp>
        <p:nvSpPr>
          <p:cNvPr id="35" name="Text 33"/>
          <p:cNvSpPr/>
          <p:nvPr/>
        </p:nvSpPr>
        <p:spPr>
          <a:xfrm>
            <a:off x="6256782" y="3054096"/>
            <a:ext cx="5173218" cy="539496"/>
          </a:xfrm>
          <a:prstGeom prst="rect">
            <a:avLst/>
          </a:prstGeom>
          <a:noFill/>
          <a:ln/>
        </p:spPr>
        <p:txBody>
          <a:bodyPr wrap="square" lIns="254" tIns="254" rIns="254" bIns="254" rtlCol="0" anchor="ctr">
            <a:normAutofit/>
          </a:bodyPr>
          <a:lstStyle/>
          <a:p>
            <a:pPr marL="0" indent="0">
              <a:buNone/>
            </a:pPr>
            <a:r>
              <a:rPr lang="en-US" sz="930" dirty="0">
                <a:solidFill>
                  <a:srgbClr val="303846"/>
                </a:solidFill>
              </a:rPr>
              <a:t>Core mechanism for scenario comparison and operational experimentation</a:t>
            </a:r>
            <a:endParaRPr lang="en-US" sz="930" dirty="0"/>
          </a:p>
        </p:txBody>
      </p:sp>
      <p:sp>
        <p:nvSpPr>
          <p:cNvPr id="36" name="Shape 34"/>
          <p:cNvSpPr/>
          <p:nvPr/>
        </p:nvSpPr>
        <p:spPr>
          <a:xfrm>
            <a:off x="731520" y="3611880"/>
            <a:ext cx="2793492" cy="594360"/>
          </a:xfrm>
          <a:prstGeom prst="rect">
            <a:avLst/>
          </a:prstGeom>
          <a:solidFill>
            <a:srgbClr val="FFFFFF"/>
          </a:solidFill>
          <a:ln w="6350">
            <a:solidFill>
              <a:srgbClr val="CED4DA"/>
            </a:solidFill>
            <a:prstDash val="solid"/>
          </a:ln>
        </p:spPr>
      </p:sp>
      <p:sp>
        <p:nvSpPr>
          <p:cNvPr id="37" name="Text 35"/>
          <p:cNvSpPr/>
          <p:nvPr/>
        </p:nvSpPr>
        <p:spPr>
          <a:xfrm>
            <a:off x="777240" y="3648456"/>
            <a:ext cx="2702052" cy="539496"/>
          </a:xfrm>
          <a:prstGeom prst="rect">
            <a:avLst/>
          </a:prstGeom>
          <a:noFill/>
          <a:ln/>
        </p:spPr>
        <p:txBody>
          <a:bodyPr wrap="square" lIns="254" tIns="254" rIns="254" bIns="254" rtlCol="0" anchor="ctr">
            <a:normAutofit/>
          </a:bodyPr>
          <a:lstStyle/>
          <a:p>
            <a:pPr marL="0" indent="0">
              <a:buNone/>
            </a:pPr>
            <a:r>
              <a:rPr lang="en-US" sz="930" dirty="0">
                <a:solidFill>
                  <a:srgbClr val="303846"/>
                </a:solidFill>
              </a:rPr>
              <a:t>IoT, RFID, PLC, sensors</a:t>
            </a:r>
            <a:endParaRPr lang="en-US" sz="930" dirty="0"/>
          </a:p>
        </p:txBody>
      </p:sp>
      <p:sp>
        <p:nvSpPr>
          <p:cNvPr id="38" name="Shape 36"/>
          <p:cNvSpPr/>
          <p:nvPr/>
        </p:nvSpPr>
        <p:spPr>
          <a:xfrm>
            <a:off x="3525012" y="3611880"/>
            <a:ext cx="2686050" cy="594360"/>
          </a:xfrm>
          <a:prstGeom prst="rect">
            <a:avLst/>
          </a:prstGeom>
          <a:solidFill>
            <a:srgbClr val="FFFFFF"/>
          </a:solidFill>
          <a:ln w="6350">
            <a:solidFill>
              <a:srgbClr val="CED4DA"/>
            </a:solidFill>
            <a:prstDash val="solid"/>
          </a:ln>
        </p:spPr>
      </p:sp>
      <p:sp>
        <p:nvSpPr>
          <p:cNvPr id="39" name="Text 37"/>
          <p:cNvSpPr/>
          <p:nvPr/>
        </p:nvSpPr>
        <p:spPr>
          <a:xfrm>
            <a:off x="3570732" y="3648456"/>
            <a:ext cx="2594610" cy="539496"/>
          </a:xfrm>
          <a:prstGeom prst="rect">
            <a:avLst/>
          </a:prstGeom>
          <a:noFill/>
          <a:ln/>
        </p:spPr>
        <p:txBody>
          <a:bodyPr wrap="square" lIns="254" tIns="254" rIns="254" bIns="254" rtlCol="0" anchor="ctr">
            <a:normAutofit/>
          </a:bodyPr>
          <a:lstStyle/>
          <a:p>
            <a:pPr marL="0" indent="0">
              <a:buNone/>
            </a:pPr>
            <a:r>
              <a:rPr lang="en-US" sz="930" dirty="0">
                <a:solidFill>
                  <a:srgbClr val="303846"/>
                </a:solidFill>
              </a:rPr>
              <a:t>S6, S8, S11, S12, S15</a:t>
            </a:r>
            <a:endParaRPr lang="en-US" sz="930" dirty="0"/>
          </a:p>
        </p:txBody>
      </p:sp>
      <p:sp>
        <p:nvSpPr>
          <p:cNvPr id="40" name="Shape 38"/>
          <p:cNvSpPr/>
          <p:nvPr/>
        </p:nvSpPr>
        <p:spPr>
          <a:xfrm>
            <a:off x="6211062" y="3611880"/>
            <a:ext cx="5264658" cy="594360"/>
          </a:xfrm>
          <a:prstGeom prst="rect">
            <a:avLst/>
          </a:prstGeom>
          <a:solidFill>
            <a:srgbClr val="FFFFFF"/>
          </a:solidFill>
          <a:ln w="6350">
            <a:solidFill>
              <a:srgbClr val="CED4DA"/>
            </a:solidFill>
            <a:prstDash val="solid"/>
          </a:ln>
        </p:spPr>
      </p:sp>
      <p:sp>
        <p:nvSpPr>
          <p:cNvPr id="41" name="Text 39"/>
          <p:cNvSpPr/>
          <p:nvPr/>
        </p:nvSpPr>
        <p:spPr>
          <a:xfrm>
            <a:off x="6256782" y="3648456"/>
            <a:ext cx="5173218" cy="539496"/>
          </a:xfrm>
          <a:prstGeom prst="rect">
            <a:avLst/>
          </a:prstGeom>
          <a:noFill/>
          <a:ln/>
        </p:spPr>
        <p:txBody>
          <a:bodyPr wrap="square" lIns="254" tIns="254" rIns="254" bIns="254" rtlCol="0" anchor="ctr">
            <a:normAutofit/>
          </a:bodyPr>
          <a:lstStyle/>
          <a:p>
            <a:pPr marL="0" indent="0">
              <a:buNone/>
            </a:pPr>
            <a:r>
              <a:rPr lang="en-US" sz="930" dirty="0">
                <a:solidFill>
                  <a:srgbClr val="303846"/>
                </a:solidFill>
              </a:rPr>
              <a:t>Turns static models into synchronized digital shadows / twins</a:t>
            </a:r>
            <a:endParaRPr lang="en-US" sz="930" dirty="0"/>
          </a:p>
        </p:txBody>
      </p:sp>
      <p:sp>
        <p:nvSpPr>
          <p:cNvPr id="42" name="Shape 40"/>
          <p:cNvSpPr/>
          <p:nvPr/>
        </p:nvSpPr>
        <p:spPr>
          <a:xfrm>
            <a:off x="731520" y="4206240"/>
            <a:ext cx="2793492" cy="594360"/>
          </a:xfrm>
          <a:prstGeom prst="rect">
            <a:avLst/>
          </a:prstGeom>
          <a:solidFill>
            <a:srgbClr val="F0F5F7"/>
          </a:solidFill>
          <a:ln w="6350">
            <a:solidFill>
              <a:srgbClr val="CED4DA"/>
            </a:solidFill>
            <a:prstDash val="solid"/>
          </a:ln>
        </p:spPr>
      </p:sp>
      <p:sp>
        <p:nvSpPr>
          <p:cNvPr id="43" name="Text 41"/>
          <p:cNvSpPr/>
          <p:nvPr/>
        </p:nvSpPr>
        <p:spPr>
          <a:xfrm>
            <a:off x="777240" y="4242816"/>
            <a:ext cx="2702052" cy="539496"/>
          </a:xfrm>
          <a:prstGeom prst="rect">
            <a:avLst/>
          </a:prstGeom>
          <a:noFill/>
          <a:ln/>
        </p:spPr>
        <p:txBody>
          <a:bodyPr wrap="square" lIns="254" tIns="254" rIns="254" bIns="254" rtlCol="0" anchor="ctr">
            <a:normAutofit/>
          </a:bodyPr>
          <a:lstStyle/>
          <a:p>
            <a:pPr marL="0" indent="0">
              <a:buNone/>
            </a:pPr>
            <a:r>
              <a:rPr lang="en-US" sz="930" dirty="0">
                <a:solidFill>
                  <a:srgbClr val="303846"/>
                </a:solidFill>
              </a:rPr>
              <a:t>Deep learning, DRL, GA, knowledge graphs</a:t>
            </a:r>
            <a:endParaRPr lang="en-US" sz="930" dirty="0"/>
          </a:p>
        </p:txBody>
      </p:sp>
      <p:sp>
        <p:nvSpPr>
          <p:cNvPr id="44" name="Shape 42"/>
          <p:cNvSpPr/>
          <p:nvPr/>
        </p:nvSpPr>
        <p:spPr>
          <a:xfrm>
            <a:off x="3525012" y="4206240"/>
            <a:ext cx="2686050" cy="594360"/>
          </a:xfrm>
          <a:prstGeom prst="rect">
            <a:avLst/>
          </a:prstGeom>
          <a:solidFill>
            <a:srgbClr val="F0F5F7"/>
          </a:solidFill>
          <a:ln w="6350">
            <a:solidFill>
              <a:srgbClr val="CED4DA"/>
            </a:solidFill>
            <a:prstDash val="solid"/>
          </a:ln>
        </p:spPr>
      </p:sp>
      <p:sp>
        <p:nvSpPr>
          <p:cNvPr id="45" name="Text 43"/>
          <p:cNvSpPr/>
          <p:nvPr/>
        </p:nvSpPr>
        <p:spPr>
          <a:xfrm>
            <a:off x="3570732" y="4242816"/>
            <a:ext cx="2594610" cy="539496"/>
          </a:xfrm>
          <a:prstGeom prst="rect">
            <a:avLst/>
          </a:prstGeom>
          <a:noFill/>
          <a:ln/>
        </p:spPr>
        <p:txBody>
          <a:bodyPr wrap="square" lIns="254" tIns="254" rIns="254" bIns="254" rtlCol="0" anchor="ctr">
            <a:normAutofit/>
          </a:bodyPr>
          <a:lstStyle/>
          <a:p>
            <a:pPr marL="0" indent="0">
              <a:buNone/>
            </a:pPr>
            <a:r>
              <a:rPr lang="en-US" sz="930" dirty="0">
                <a:solidFill>
                  <a:srgbClr val="303846"/>
                </a:solidFill>
              </a:rPr>
              <a:t>S4, S8, S15</a:t>
            </a:r>
            <a:endParaRPr lang="en-US" sz="930" dirty="0"/>
          </a:p>
        </p:txBody>
      </p:sp>
      <p:sp>
        <p:nvSpPr>
          <p:cNvPr id="46" name="Shape 44"/>
          <p:cNvSpPr/>
          <p:nvPr/>
        </p:nvSpPr>
        <p:spPr>
          <a:xfrm>
            <a:off x="6211062" y="4206240"/>
            <a:ext cx="5264658" cy="594360"/>
          </a:xfrm>
          <a:prstGeom prst="rect">
            <a:avLst/>
          </a:prstGeom>
          <a:solidFill>
            <a:srgbClr val="F0F5F7"/>
          </a:solidFill>
          <a:ln w="6350">
            <a:solidFill>
              <a:srgbClr val="CED4DA"/>
            </a:solidFill>
            <a:prstDash val="solid"/>
          </a:ln>
        </p:spPr>
      </p:sp>
      <p:sp>
        <p:nvSpPr>
          <p:cNvPr id="47" name="Text 45"/>
          <p:cNvSpPr/>
          <p:nvPr/>
        </p:nvSpPr>
        <p:spPr>
          <a:xfrm>
            <a:off x="6256782" y="4242816"/>
            <a:ext cx="5173218" cy="539496"/>
          </a:xfrm>
          <a:prstGeom prst="rect">
            <a:avLst/>
          </a:prstGeom>
          <a:noFill/>
          <a:ln/>
        </p:spPr>
        <p:txBody>
          <a:bodyPr wrap="square" lIns="254" tIns="254" rIns="254" bIns="254" rtlCol="0" anchor="ctr">
            <a:normAutofit/>
          </a:bodyPr>
          <a:lstStyle/>
          <a:p>
            <a:pPr marL="0" indent="0">
              <a:buNone/>
            </a:pPr>
            <a:r>
              <a:rPr lang="en-US" sz="930" dirty="0">
                <a:solidFill>
                  <a:srgbClr val="303846"/>
                </a:solidFill>
              </a:rPr>
              <a:t>Moves DTs from descriptive monitoring toward adaptive optimization</a:t>
            </a:r>
            <a:endParaRPr lang="en-US" sz="930" dirty="0"/>
          </a:p>
        </p:txBody>
      </p:sp>
      <p:sp>
        <p:nvSpPr>
          <p:cNvPr id="48" name="Shape 46"/>
          <p:cNvSpPr/>
          <p:nvPr/>
        </p:nvSpPr>
        <p:spPr>
          <a:xfrm>
            <a:off x="731520" y="4800600"/>
            <a:ext cx="2793492" cy="594360"/>
          </a:xfrm>
          <a:prstGeom prst="rect">
            <a:avLst/>
          </a:prstGeom>
          <a:solidFill>
            <a:srgbClr val="FFFFFF"/>
          </a:solidFill>
          <a:ln w="6350">
            <a:solidFill>
              <a:srgbClr val="CED4DA"/>
            </a:solidFill>
            <a:prstDash val="solid"/>
          </a:ln>
        </p:spPr>
      </p:sp>
      <p:sp>
        <p:nvSpPr>
          <p:cNvPr id="49" name="Text 47"/>
          <p:cNvSpPr/>
          <p:nvPr/>
        </p:nvSpPr>
        <p:spPr>
          <a:xfrm>
            <a:off x="777240" y="4837176"/>
            <a:ext cx="2702052" cy="539496"/>
          </a:xfrm>
          <a:prstGeom prst="rect">
            <a:avLst/>
          </a:prstGeom>
          <a:noFill/>
          <a:ln/>
        </p:spPr>
        <p:txBody>
          <a:bodyPr wrap="square" lIns="254" tIns="254" rIns="254" bIns="254" rtlCol="0" anchor="ctr">
            <a:normAutofit/>
          </a:bodyPr>
          <a:lstStyle/>
          <a:p>
            <a:pPr marL="0" indent="0">
              <a:buNone/>
            </a:pPr>
            <a:r>
              <a:rPr lang="en-US" sz="930" dirty="0">
                <a:solidFill>
                  <a:srgbClr val="303846"/>
                </a:solidFill>
              </a:rPr>
              <a:t>WMS/WCS/ERP-related structures</a:t>
            </a:r>
            <a:endParaRPr lang="en-US" sz="930" dirty="0"/>
          </a:p>
        </p:txBody>
      </p:sp>
      <p:sp>
        <p:nvSpPr>
          <p:cNvPr id="50" name="Shape 48"/>
          <p:cNvSpPr/>
          <p:nvPr/>
        </p:nvSpPr>
        <p:spPr>
          <a:xfrm>
            <a:off x="3525012" y="4800600"/>
            <a:ext cx="2686050" cy="594360"/>
          </a:xfrm>
          <a:prstGeom prst="rect">
            <a:avLst/>
          </a:prstGeom>
          <a:solidFill>
            <a:srgbClr val="FFFFFF"/>
          </a:solidFill>
          <a:ln w="6350">
            <a:solidFill>
              <a:srgbClr val="CED4DA"/>
            </a:solidFill>
            <a:prstDash val="solid"/>
          </a:ln>
        </p:spPr>
      </p:sp>
      <p:sp>
        <p:nvSpPr>
          <p:cNvPr id="51" name="Text 49"/>
          <p:cNvSpPr/>
          <p:nvPr/>
        </p:nvSpPr>
        <p:spPr>
          <a:xfrm>
            <a:off x="3570732" y="4837176"/>
            <a:ext cx="2594610" cy="539496"/>
          </a:xfrm>
          <a:prstGeom prst="rect">
            <a:avLst/>
          </a:prstGeom>
          <a:noFill/>
          <a:ln/>
        </p:spPr>
        <p:txBody>
          <a:bodyPr wrap="square" lIns="254" tIns="254" rIns="254" bIns="254" rtlCol="0" anchor="ctr">
            <a:normAutofit/>
          </a:bodyPr>
          <a:lstStyle/>
          <a:p>
            <a:pPr marL="0" indent="0">
              <a:buNone/>
            </a:pPr>
            <a:r>
              <a:rPr lang="en-US" sz="930" dirty="0">
                <a:solidFill>
                  <a:srgbClr val="303846"/>
                </a:solidFill>
              </a:rPr>
              <a:t>S10, S13, S15</a:t>
            </a:r>
            <a:endParaRPr lang="en-US" sz="930" dirty="0"/>
          </a:p>
        </p:txBody>
      </p:sp>
      <p:sp>
        <p:nvSpPr>
          <p:cNvPr id="52" name="Shape 50"/>
          <p:cNvSpPr/>
          <p:nvPr/>
        </p:nvSpPr>
        <p:spPr>
          <a:xfrm>
            <a:off x="6211062" y="4800600"/>
            <a:ext cx="5264658" cy="594360"/>
          </a:xfrm>
          <a:prstGeom prst="rect">
            <a:avLst/>
          </a:prstGeom>
          <a:solidFill>
            <a:srgbClr val="FFFFFF"/>
          </a:solidFill>
          <a:ln w="6350">
            <a:solidFill>
              <a:srgbClr val="CED4DA"/>
            </a:solidFill>
            <a:prstDash val="solid"/>
          </a:ln>
        </p:spPr>
      </p:sp>
      <p:sp>
        <p:nvSpPr>
          <p:cNvPr id="53" name="Text 51"/>
          <p:cNvSpPr/>
          <p:nvPr/>
        </p:nvSpPr>
        <p:spPr>
          <a:xfrm>
            <a:off x="6256782" y="4837176"/>
            <a:ext cx="5173218" cy="539496"/>
          </a:xfrm>
          <a:prstGeom prst="rect">
            <a:avLst/>
          </a:prstGeom>
          <a:noFill/>
          <a:ln/>
        </p:spPr>
        <p:txBody>
          <a:bodyPr wrap="square" lIns="254" tIns="254" rIns="254" bIns="254" rtlCol="0" anchor="ctr">
            <a:normAutofit/>
          </a:bodyPr>
          <a:lstStyle/>
          <a:p>
            <a:pPr marL="0" indent="0">
              <a:buNone/>
            </a:pPr>
            <a:r>
              <a:rPr lang="en-US" sz="930" dirty="0">
                <a:solidFill>
                  <a:srgbClr val="303846"/>
                </a:solidFill>
              </a:rPr>
              <a:t>Important but often partially specified in current studies</a:t>
            </a:r>
            <a:endParaRPr lang="en-US" sz="930" dirty="0"/>
          </a:p>
        </p:txBody>
      </p:sp>
      <p:sp>
        <p:nvSpPr>
          <p:cNvPr id="54" name="Text 52"/>
          <p:cNvSpPr/>
          <p:nvPr/>
        </p:nvSpPr>
        <p:spPr>
          <a:xfrm>
            <a:off x="502920" y="6281928"/>
            <a:ext cx="10789920" cy="164592"/>
          </a:xfrm>
          <a:prstGeom prst="rect">
            <a:avLst/>
          </a:prstGeom>
          <a:noFill/>
          <a:ln/>
        </p:spPr>
        <p:txBody>
          <a:bodyPr wrap="square" lIns="0" tIns="0" rIns="0" bIns="0" rtlCol="0" anchor="ctr"/>
          <a:lstStyle/>
          <a:p>
            <a:pPr marL="0" indent="0">
              <a:buNone/>
            </a:pPr>
            <a:r>
              <a:rPr lang="en-US" sz="760" i="1" dirty="0">
                <a:solidFill>
                  <a:srgbClr val="667085"/>
                </a:solidFill>
              </a:rPr>
              <a:t>Technology synthesis from S1–S15; review context from Ferrari et al. (2025), Elbouzidi et al. (2023), Aretoulaki et al. (2024).</a:t>
            </a:r>
            <a:endParaRPr lang="en-US" sz="76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6F7F9"/>
        </a:solidFill>
        <a:effectLst/>
      </p:bgPr>
    </p:bg>
    <p:spTree>
      <p:nvGrpSpPr>
        <p:cNvPr id="1" name=""/>
        <p:cNvGrpSpPr/>
        <p:nvPr/>
      </p:nvGrpSpPr>
      <p:grpSpPr>
        <a:xfrm>
          <a:off x="0" y="0"/>
          <a:ext cx="0" cy="0"/>
          <a:chOff x="0" y="0"/>
          <a:chExt cx="0" cy="0"/>
        </a:xfrm>
      </p:grpSpPr>
      <p:sp>
        <p:nvSpPr>
          <p:cNvPr id="2" name="Shape 0"/>
          <p:cNvSpPr/>
          <p:nvPr/>
        </p:nvSpPr>
        <p:spPr>
          <a:xfrm>
            <a:off x="347472" y="329184"/>
            <a:ext cx="73152" cy="438912"/>
          </a:xfrm>
          <a:prstGeom prst="rect">
            <a:avLst/>
          </a:prstGeom>
          <a:solidFill>
            <a:srgbClr val="2F6BD8"/>
          </a:solidFill>
          <a:ln w="12700">
            <a:solidFill>
              <a:srgbClr val="2F6BD8"/>
            </a:solidFill>
            <a:prstDash val="solid"/>
          </a:ln>
        </p:spPr>
      </p:sp>
      <p:sp>
        <p:nvSpPr>
          <p:cNvPr id="3" name="Text 1"/>
          <p:cNvSpPr/>
          <p:nvPr/>
        </p:nvSpPr>
        <p:spPr>
          <a:xfrm>
            <a:off x="512064" y="292608"/>
            <a:ext cx="10789920" cy="502920"/>
          </a:xfrm>
          <a:prstGeom prst="rect">
            <a:avLst/>
          </a:prstGeom>
          <a:noFill/>
          <a:ln/>
        </p:spPr>
        <p:txBody>
          <a:bodyPr wrap="square" lIns="0" tIns="0" rIns="0" bIns="0" rtlCol="0" anchor="ctr"/>
          <a:lstStyle/>
          <a:p>
            <a:pPr marL="0" indent="0">
              <a:buNone/>
            </a:pPr>
            <a:r>
              <a:rPr lang="en-US" sz="2700" b="1" dirty="0">
                <a:solidFill>
                  <a:srgbClr val="303846"/>
                </a:solidFill>
                <a:latin typeface="Aptos Display" pitchFamily="34" charset="0"/>
                <a:ea typeface="Aptos Display" pitchFamily="34" charset="-122"/>
                <a:cs typeface="Aptos Display" pitchFamily="34" charset="-120"/>
              </a:rPr>
              <a:t>Results — RQ3: Performance Objectives</a:t>
            </a:r>
            <a:endParaRPr lang="en-US" sz="2700" dirty="0"/>
          </a:p>
        </p:txBody>
      </p:sp>
      <p:sp>
        <p:nvSpPr>
          <p:cNvPr id="4" name="Shape 2"/>
          <p:cNvSpPr/>
          <p:nvPr/>
        </p:nvSpPr>
        <p:spPr>
          <a:xfrm>
            <a:off x="0" y="6510528"/>
            <a:ext cx="12191695" cy="347472"/>
          </a:xfrm>
          <a:prstGeom prst="rect">
            <a:avLst/>
          </a:prstGeom>
          <a:solidFill>
            <a:srgbClr val="303846"/>
          </a:solidFill>
          <a:ln w="12700">
            <a:solidFill>
              <a:srgbClr val="303846"/>
            </a:solidFill>
            <a:prstDash val="solid"/>
          </a:ln>
        </p:spPr>
      </p:sp>
      <p:sp>
        <p:nvSpPr>
          <p:cNvPr id="5" name="Text 3"/>
          <p:cNvSpPr/>
          <p:nvPr/>
        </p:nvSpPr>
        <p:spPr>
          <a:xfrm>
            <a:off x="320040" y="6592824"/>
            <a:ext cx="6583680" cy="137160"/>
          </a:xfrm>
          <a:prstGeom prst="rect">
            <a:avLst/>
          </a:prstGeom>
          <a:noFill/>
          <a:ln/>
        </p:spPr>
        <p:txBody>
          <a:bodyPr wrap="square" lIns="0" tIns="0" rIns="0" bIns="0" rtlCol="0" anchor="ctr"/>
          <a:lstStyle/>
          <a:p>
            <a:pPr marL="0" indent="0">
              <a:buNone/>
            </a:pPr>
            <a:r>
              <a:rPr lang="en-US" sz="750" i="1" dirty="0">
                <a:solidFill>
                  <a:srgbClr val="F2F4F7"/>
                </a:solidFill>
              </a:rPr>
              <a:t>Digital Twin-Enabled Intralogistics — Systematic Review | SEN601</a:t>
            </a:r>
            <a:endParaRPr lang="en-US" sz="750" dirty="0"/>
          </a:p>
        </p:txBody>
      </p:sp>
      <p:sp>
        <p:nvSpPr>
          <p:cNvPr id="6" name="Text 4"/>
          <p:cNvSpPr/>
          <p:nvPr/>
        </p:nvSpPr>
        <p:spPr>
          <a:xfrm>
            <a:off x="10195560" y="6592824"/>
            <a:ext cx="1280160" cy="137160"/>
          </a:xfrm>
          <a:prstGeom prst="rect">
            <a:avLst/>
          </a:prstGeom>
          <a:noFill/>
          <a:ln/>
        </p:spPr>
        <p:txBody>
          <a:bodyPr wrap="square" lIns="0" tIns="0" rIns="0" bIns="0" rtlCol="0" anchor="ctr"/>
          <a:lstStyle/>
          <a:p>
            <a:pPr marL="0" indent="0" algn="r">
              <a:buNone/>
            </a:pPr>
            <a:r>
              <a:rPr lang="en-US" sz="750" dirty="0">
                <a:solidFill>
                  <a:srgbClr val="F2F4F7"/>
                </a:solidFill>
              </a:rPr>
              <a:t>RQ3 Results</a:t>
            </a:r>
            <a:endParaRPr lang="en-US" sz="750" dirty="0"/>
          </a:p>
        </p:txBody>
      </p:sp>
      <p:sp>
        <p:nvSpPr>
          <p:cNvPr id="7" name="Text 5"/>
          <p:cNvSpPr/>
          <p:nvPr/>
        </p:nvSpPr>
        <p:spPr>
          <a:xfrm>
            <a:off x="11539728" y="6583680"/>
            <a:ext cx="329184" cy="146304"/>
          </a:xfrm>
          <a:prstGeom prst="rect">
            <a:avLst/>
          </a:prstGeom>
          <a:noFill/>
          <a:ln/>
        </p:spPr>
        <p:txBody>
          <a:bodyPr wrap="square" lIns="0" tIns="0" rIns="0" bIns="0" rtlCol="0" anchor="ctr"/>
          <a:lstStyle/>
          <a:p>
            <a:pPr marL="0" indent="0" algn="r">
              <a:buNone/>
            </a:pPr>
            <a:r>
              <a:rPr lang="en-US" sz="850" dirty="0">
                <a:solidFill>
                  <a:srgbClr val="F2F4F7"/>
                </a:solidFill>
              </a:rPr>
              <a:t>13</a:t>
            </a:r>
            <a:endParaRPr lang="en-US" sz="850" dirty="0"/>
          </a:p>
        </p:txBody>
      </p:sp>
      <p:sp>
        <p:nvSpPr>
          <p:cNvPr id="8" name="Shape 6"/>
          <p:cNvSpPr/>
          <p:nvPr/>
        </p:nvSpPr>
        <p:spPr>
          <a:xfrm>
            <a:off x="685800" y="1051560"/>
            <a:ext cx="2925623" cy="655320"/>
          </a:xfrm>
          <a:prstGeom prst="rect">
            <a:avLst/>
          </a:prstGeom>
          <a:solidFill>
            <a:srgbClr val="3D4656"/>
          </a:solidFill>
          <a:ln w="6350">
            <a:solidFill>
              <a:srgbClr val="CED4DA"/>
            </a:solidFill>
            <a:prstDash val="solid"/>
          </a:ln>
        </p:spPr>
      </p:sp>
      <p:sp>
        <p:nvSpPr>
          <p:cNvPr id="9" name="Text 7"/>
          <p:cNvSpPr/>
          <p:nvPr/>
        </p:nvSpPr>
        <p:spPr>
          <a:xfrm>
            <a:off x="731520" y="1088136"/>
            <a:ext cx="2834183" cy="600456"/>
          </a:xfrm>
          <a:prstGeom prst="rect">
            <a:avLst/>
          </a:prstGeom>
          <a:noFill/>
          <a:ln/>
        </p:spPr>
        <p:txBody>
          <a:bodyPr wrap="square" lIns="254" tIns="254" rIns="254" bIns="254" rtlCol="0" anchor="ctr">
            <a:normAutofit/>
          </a:bodyPr>
          <a:lstStyle/>
          <a:p>
            <a:pPr marL="0" indent="0">
              <a:buNone/>
            </a:pPr>
            <a:r>
              <a:rPr lang="en-US" sz="1020" b="1" dirty="0">
                <a:solidFill>
                  <a:srgbClr val="FFFFFF"/>
                </a:solidFill>
              </a:rPr>
              <a:t>Objective</a:t>
            </a:r>
            <a:endParaRPr lang="en-US" sz="1020" dirty="0"/>
          </a:p>
        </p:txBody>
      </p:sp>
      <p:sp>
        <p:nvSpPr>
          <p:cNvPr id="10" name="Shape 8"/>
          <p:cNvSpPr/>
          <p:nvPr/>
        </p:nvSpPr>
        <p:spPr>
          <a:xfrm>
            <a:off x="3611423" y="1051560"/>
            <a:ext cx="2167128" cy="655320"/>
          </a:xfrm>
          <a:prstGeom prst="rect">
            <a:avLst/>
          </a:prstGeom>
          <a:solidFill>
            <a:srgbClr val="3D4656"/>
          </a:solidFill>
          <a:ln w="6350">
            <a:solidFill>
              <a:srgbClr val="CED4DA"/>
            </a:solidFill>
            <a:prstDash val="solid"/>
          </a:ln>
        </p:spPr>
      </p:sp>
      <p:sp>
        <p:nvSpPr>
          <p:cNvPr id="11" name="Text 9"/>
          <p:cNvSpPr/>
          <p:nvPr/>
        </p:nvSpPr>
        <p:spPr>
          <a:xfrm>
            <a:off x="3657143" y="1088136"/>
            <a:ext cx="2075688" cy="600456"/>
          </a:xfrm>
          <a:prstGeom prst="rect">
            <a:avLst/>
          </a:prstGeom>
          <a:noFill/>
          <a:ln/>
        </p:spPr>
        <p:txBody>
          <a:bodyPr wrap="square" lIns="254" tIns="254" rIns="254" bIns="254" rtlCol="0" anchor="ctr">
            <a:normAutofit/>
          </a:bodyPr>
          <a:lstStyle/>
          <a:p>
            <a:pPr marL="0" indent="0">
              <a:buNone/>
            </a:pPr>
            <a:r>
              <a:rPr lang="en-US" sz="1020" b="1" dirty="0">
                <a:solidFill>
                  <a:srgbClr val="FFFFFF"/>
                </a:solidFill>
              </a:rPr>
              <a:t>Studies</a:t>
            </a:r>
            <a:endParaRPr lang="en-US" sz="1020" dirty="0"/>
          </a:p>
        </p:txBody>
      </p:sp>
      <p:sp>
        <p:nvSpPr>
          <p:cNvPr id="12" name="Shape 10"/>
          <p:cNvSpPr/>
          <p:nvPr/>
        </p:nvSpPr>
        <p:spPr>
          <a:xfrm>
            <a:off x="5778551" y="1051560"/>
            <a:ext cx="5742889" cy="655320"/>
          </a:xfrm>
          <a:prstGeom prst="rect">
            <a:avLst/>
          </a:prstGeom>
          <a:solidFill>
            <a:srgbClr val="3D4656"/>
          </a:solidFill>
          <a:ln w="6350">
            <a:solidFill>
              <a:srgbClr val="CED4DA"/>
            </a:solidFill>
            <a:prstDash val="solid"/>
          </a:ln>
        </p:spPr>
      </p:sp>
      <p:sp>
        <p:nvSpPr>
          <p:cNvPr id="13" name="Text 11"/>
          <p:cNvSpPr/>
          <p:nvPr/>
        </p:nvSpPr>
        <p:spPr>
          <a:xfrm>
            <a:off x="5824271" y="1088136"/>
            <a:ext cx="5651449" cy="600456"/>
          </a:xfrm>
          <a:prstGeom prst="rect">
            <a:avLst/>
          </a:prstGeom>
          <a:noFill/>
          <a:ln/>
        </p:spPr>
        <p:txBody>
          <a:bodyPr wrap="square" lIns="254" tIns="254" rIns="254" bIns="254" rtlCol="0" anchor="ctr">
            <a:normAutofit/>
          </a:bodyPr>
          <a:lstStyle/>
          <a:p>
            <a:pPr marL="0" indent="0">
              <a:buNone/>
            </a:pPr>
            <a:r>
              <a:rPr lang="en-US" sz="1020" b="1" dirty="0">
                <a:solidFill>
                  <a:srgbClr val="FFFFFF"/>
                </a:solidFill>
              </a:rPr>
              <a:t>Operational meaning</a:t>
            </a:r>
            <a:endParaRPr lang="en-US" sz="1020" dirty="0"/>
          </a:p>
        </p:txBody>
      </p:sp>
      <p:sp>
        <p:nvSpPr>
          <p:cNvPr id="14" name="Shape 12"/>
          <p:cNvSpPr/>
          <p:nvPr/>
        </p:nvSpPr>
        <p:spPr>
          <a:xfrm>
            <a:off x="685800" y="1706880"/>
            <a:ext cx="2925623" cy="655320"/>
          </a:xfrm>
          <a:prstGeom prst="rect">
            <a:avLst/>
          </a:prstGeom>
          <a:solidFill>
            <a:srgbClr val="F0F5F7"/>
          </a:solidFill>
          <a:ln w="6350">
            <a:solidFill>
              <a:srgbClr val="CED4DA"/>
            </a:solidFill>
            <a:prstDash val="solid"/>
          </a:ln>
        </p:spPr>
      </p:sp>
      <p:sp>
        <p:nvSpPr>
          <p:cNvPr id="15" name="Text 13"/>
          <p:cNvSpPr/>
          <p:nvPr/>
        </p:nvSpPr>
        <p:spPr>
          <a:xfrm>
            <a:off x="731520" y="1743456"/>
            <a:ext cx="2834183" cy="600456"/>
          </a:xfrm>
          <a:prstGeom prst="rect">
            <a:avLst/>
          </a:prstGeom>
          <a:noFill/>
          <a:ln/>
        </p:spPr>
        <p:txBody>
          <a:bodyPr wrap="square" lIns="254" tIns="254" rIns="254" bIns="254" rtlCol="0" anchor="ctr">
            <a:normAutofit/>
          </a:bodyPr>
          <a:lstStyle/>
          <a:p>
            <a:pPr marL="0" indent="0">
              <a:buNone/>
            </a:pPr>
            <a:r>
              <a:rPr lang="en-US" sz="1020" dirty="0">
                <a:solidFill>
                  <a:srgbClr val="303846"/>
                </a:solidFill>
              </a:rPr>
              <a:t>Picking efficiency</a:t>
            </a:r>
            <a:endParaRPr lang="en-US" sz="1020" dirty="0"/>
          </a:p>
        </p:txBody>
      </p:sp>
      <p:sp>
        <p:nvSpPr>
          <p:cNvPr id="16" name="Shape 14"/>
          <p:cNvSpPr/>
          <p:nvPr/>
        </p:nvSpPr>
        <p:spPr>
          <a:xfrm>
            <a:off x="3611423" y="1706880"/>
            <a:ext cx="2167128" cy="655320"/>
          </a:xfrm>
          <a:prstGeom prst="rect">
            <a:avLst/>
          </a:prstGeom>
          <a:solidFill>
            <a:srgbClr val="F0F5F7"/>
          </a:solidFill>
          <a:ln w="6350">
            <a:solidFill>
              <a:srgbClr val="CED4DA"/>
            </a:solidFill>
            <a:prstDash val="solid"/>
          </a:ln>
        </p:spPr>
      </p:sp>
      <p:sp>
        <p:nvSpPr>
          <p:cNvPr id="17" name="Text 15"/>
          <p:cNvSpPr/>
          <p:nvPr/>
        </p:nvSpPr>
        <p:spPr>
          <a:xfrm>
            <a:off x="3657143" y="1743456"/>
            <a:ext cx="2075688" cy="600456"/>
          </a:xfrm>
          <a:prstGeom prst="rect">
            <a:avLst/>
          </a:prstGeom>
          <a:noFill/>
          <a:ln/>
        </p:spPr>
        <p:txBody>
          <a:bodyPr wrap="square" lIns="254" tIns="254" rIns="254" bIns="254" rtlCol="0" anchor="ctr">
            <a:normAutofit/>
          </a:bodyPr>
          <a:lstStyle/>
          <a:p>
            <a:pPr marL="0" indent="0">
              <a:buNone/>
            </a:pPr>
            <a:r>
              <a:rPr lang="en-US" sz="1020" dirty="0">
                <a:solidFill>
                  <a:srgbClr val="303846"/>
                </a:solidFill>
              </a:rPr>
              <a:t>S1, S2, S3, S13</a:t>
            </a:r>
            <a:endParaRPr lang="en-US" sz="1020" dirty="0"/>
          </a:p>
        </p:txBody>
      </p:sp>
      <p:sp>
        <p:nvSpPr>
          <p:cNvPr id="18" name="Shape 16"/>
          <p:cNvSpPr/>
          <p:nvPr/>
        </p:nvSpPr>
        <p:spPr>
          <a:xfrm>
            <a:off x="5778551" y="1706880"/>
            <a:ext cx="5742889" cy="655320"/>
          </a:xfrm>
          <a:prstGeom prst="rect">
            <a:avLst/>
          </a:prstGeom>
          <a:solidFill>
            <a:srgbClr val="F0F5F7"/>
          </a:solidFill>
          <a:ln w="6350">
            <a:solidFill>
              <a:srgbClr val="CED4DA"/>
            </a:solidFill>
            <a:prstDash val="solid"/>
          </a:ln>
        </p:spPr>
      </p:sp>
      <p:sp>
        <p:nvSpPr>
          <p:cNvPr id="19" name="Text 17"/>
          <p:cNvSpPr/>
          <p:nvPr/>
        </p:nvSpPr>
        <p:spPr>
          <a:xfrm>
            <a:off x="5824271" y="1743456"/>
            <a:ext cx="5651449" cy="600456"/>
          </a:xfrm>
          <a:prstGeom prst="rect">
            <a:avLst/>
          </a:prstGeom>
          <a:noFill/>
          <a:ln/>
        </p:spPr>
        <p:txBody>
          <a:bodyPr wrap="square" lIns="254" tIns="254" rIns="254" bIns="254" rtlCol="0" anchor="ctr">
            <a:normAutofit/>
          </a:bodyPr>
          <a:lstStyle/>
          <a:p>
            <a:pPr marL="0" indent="0">
              <a:buNone/>
            </a:pPr>
            <a:r>
              <a:rPr lang="en-US" sz="1020" dirty="0">
                <a:solidFill>
                  <a:srgbClr val="303846"/>
                </a:solidFill>
              </a:rPr>
              <a:t>Picking time, path length, fulfillment flow, outbound loading balance</a:t>
            </a:r>
            <a:endParaRPr lang="en-US" sz="1020" dirty="0"/>
          </a:p>
        </p:txBody>
      </p:sp>
      <p:sp>
        <p:nvSpPr>
          <p:cNvPr id="20" name="Shape 18"/>
          <p:cNvSpPr/>
          <p:nvPr/>
        </p:nvSpPr>
        <p:spPr>
          <a:xfrm>
            <a:off x="685800" y="2362200"/>
            <a:ext cx="2925623" cy="655320"/>
          </a:xfrm>
          <a:prstGeom prst="rect">
            <a:avLst/>
          </a:prstGeom>
          <a:solidFill>
            <a:srgbClr val="FFFFFF"/>
          </a:solidFill>
          <a:ln w="6350">
            <a:solidFill>
              <a:srgbClr val="CED4DA"/>
            </a:solidFill>
            <a:prstDash val="solid"/>
          </a:ln>
        </p:spPr>
      </p:sp>
      <p:sp>
        <p:nvSpPr>
          <p:cNvPr id="21" name="Text 19"/>
          <p:cNvSpPr/>
          <p:nvPr/>
        </p:nvSpPr>
        <p:spPr>
          <a:xfrm>
            <a:off x="731520" y="2398776"/>
            <a:ext cx="2834183" cy="600456"/>
          </a:xfrm>
          <a:prstGeom prst="rect">
            <a:avLst/>
          </a:prstGeom>
          <a:noFill/>
          <a:ln/>
        </p:spPr>
        <p:txBody>
          <a:bodyPr wrap="square" lIns="254" tIns="254" rIns="254" bIns="254" rtlCol="0" anchor="ctr">
            <a:normAutofit/>
          </a:bodyPr>
          <a:lstStyle/>
          <a:p>
            <a:pPr marL="0" indent="0">
              <a:buNone/>
            </a:pPr>
            <a:r>
              <a:rPr lang="en-US" sz="1020" dirty="0">
                <a:solidFill>
                  <a:srgbClr val="303846"/>
                </a:solidFill>
              </a:rPr>
              <a:t>Travel / transport reduction</a:t>
            </a:r>
            <a:endParaRPr lang="en-US" sz="1020" dirty="0"/>
          </a:p>
        </p:txBody>
      </p:sp>
      <p:sp>
        <p:nvSpPr>
          <p:cNvPr id="22" name="Shape 20"/>
          <p:cNvSpPr/>
          <p:nvPr/>
        </p:nvSpPr>
        <p:spPr>
          <a:xfrm>
            <a:off x="3611423" y="2362200"/>
            <a:ext cx="2167128" cy="655320"/>
          </a:xfrm>
          <a:prstGeom prst="rect">
            <a:avLst/>
          </a:prstGeom>
          <a:solidFill>
            <a:srgbClr val="FFFFFF"/>
          </a:solidFill>
          <a:ln w="6350">
            <a:solidFill>
              <a:srgbClr val="CED4DA"/>
            </a:solidFill>
            <a:prstDash val="solid"/>
          </a:ln>
        </p:spPr>
      </p:sp>
      <p:sp>
        <p:nvSpPr>
          <p:cNvPr id="23" name="Text 21"/>
          <p:cNvSpPr/>
          <p:nvPr/>
        </p:nvSpPr>
        <p:spPr>
          <a:xfrm>
            <a:off x="3657143" y="2398776"/>
            <a:ext cx="2075688" cy="600456"/>
          </a:xfrm>
          <a:prstGeom prst="rect">
            <a:avLst/>
          </a:prstGeom>
          <a:noFill/>
          <a:ln/>
        </p:spPr>
        <p:txBody>
          <a:bodyPr wrap="square" lIns="254" tIns="254" rIns="254" bIns="254" rtlCol="0" anchor="ctr">
            <a:normAutofit/>
          </a:bodyPr>
          <a:lstStyle/>
          <a:p>
            <a:pPr marL="0" indent="0">
              <a:buNone/>
            </a:pPr>
            <a:r>
              <a:rPr lang="en-US" sz="1020" dirty="0">
                <a:solidFill>
                  <a:srgbClr val="303846"/>
                </a:solidFill>
              </a:rPr>
              <a:t>S4, S5, S6</a:t>
            </a:r>
            <a:endParaRPr lang="en-US" sz="1020" dirty="0"/>
          </a:p>
        </p:txBody>
      </p:sp>
      <p:sp>
        <p:nvSpPr>
          <p:cNvPr id="24" name="Shape 22"/>
          <p:cNvSpPr/>
          <p:nvPr/>
        </p:nvSpPr>
        <p:spPr>
          <a:xfrm>
            <a:off x="5778551" y="2362200"/>
            <a:ext cx="5742889" cy="655320"/>
          </a:xfrm>
          <a:prstGeom prst="rect">
            <a:avLst/>
          </a:prstGeom>
          <a:solidFill>
            <a:srgbClr val="FFFFFF"/>
          </a:solidFill>
          <a:ln w="6350">
            <a:solidFill>
              <a:srgbClr val="CED4DA"/>
            </a:solidFill>
            <a:prstDash val="solid"/>
          </a:ln>
        </p:spPr>
      </p:sp>
      <p:sp>
        <p:nvSpPr>
          <p:cNvPr id="25" name="Text 23"/>
          <p:cNvSpPr/>
          <p:nvPr/>
        </p:nvSpPr>
        <p:spPr>
          <a:xfrm>
            <a:off x="5824271" y="2398776"/>
            <a:ext cx="5651449" cy="600456"/>
          </a:xfrm>
          <a:prstGeom prst="rect">
            <a:avLst/>
          </a:prstGeom>
          <a:noFill/>
          <a:ln/>
        </p:spPr>
        <p:txBody>
          <a:bodyPr wrap="square" lIns="254" tIns="254" rIns="254" bIns="254" rtlCol="0" anchor="ctr">
            <a:normAutofit/>
          </a:bodyPr>
          <a:lstStyle/>
          <a:p>
            <a:pPr marL="0" indent="0">
              <a:buNone/>
            </a:pPr>
            <a:r>
              <a:rPr lang="en-US" sz="1020" dirty="0">
                <a:solidFill>
                  <a:srgbClr val="303846"/>
                </a:solidFill>
              </a:rPr>
              <a:t>Routing, dispatching, storage distribution, congestion</a:t>
            </a:r>
            <a:endParaRPr lang="en-US" sz="1020" dirty="0"/>
          </a:p>
        </p:txBody>
      </p:sp>
      <p:sp>
        <p:nvSpPr>
          <p:cNvPr id="26" name="Shape 24"/>
          <p:cNvSpPr/>
          <p:nvPr/>
        </p:nvSpPr>
        <p:spPr>
          <a:xfrm>
            <a:off x="685800" y="3017520"/>
            <a:ext cx="2925623" cy="655320"/>
          </a:xfrm>
          <a:prstGeom prst="rect">
            <a:avLst/>
          </a:prstGeom>
          <a:solidFill>
            <a:srgbClr val="F0F5F7"/>
          </a:solidFill>
          <a:ln w="6350">
            <a:solidFill>
              <a:srgbClr val="CED4DA"/>
            </a:solidFill>
            <a:prstDash val="solid"/>
          </a:ln>
        </p:spPr>
      </p:sp>
      <p:sp>
        <p:nvSpPr>
          <p:cNvPr id="27" name="Text 25"/>
          <p:cNvSpPr/>
          <p:nvPr/>
        </p:nvSpPr>
        <p:spPr>
          <a:xfrm>
            <a:off x="731520" y="3054096"/>
            <a:ext cx="2834183" cy="600456"/>
          </a:xfrm>
          <a:prstGeom prst="rect">
            <a:avLst/>
          </a:prstGeom>
          <a:noFill/>
          <a:ln/>
        </p:spPr>
        <p:txBody>
          <a:bodyPr wrap="square" lIns="254" tIns="254" rIns="254" bIns="254" rtlCol="0" anchor="ctr">
            <a:normAutofit/>
          </a:bodyPr>
          <a:lstStyle/>
          <a:p>
            <a:pPr marL="0" indent="0">
              <a:buNone/>
            </a:pPr>
            <a:r>
              <a:rPr lang="en-US" sz="1020" dirty="0">
                <a:solidFill>
                  <a:srgbClr val="303846"/>
                </a:solidFill>
              </a:rPr>
              <a:t>Resource utilization</a:t>
            </a:r>
            <a:endParaRPr lang="en-US" sz="1020" dirty="0"/>
          </a:p>
        </p:txBody>
      </p:sp>
      <p:sp>
        <p:nvSpPr>
          <p:cNvPr id="28" name="Shape 26"/>
          <p:cNvSpPr/>
          <p:nvPr/>
        </p:nvSpPr>
        <p:spPr>
          <a:xfrm>
            <a:off x="3611423" y="3017520"/>
            <a:ext cx="2167128" cy="655320"/>
          </a:xfrm>
          <a:prstGeom prst="rect">
            <a:avLst/>
          </a:prstGeom>
          <a:solidFill>
            <a:srgbClr val="F0F5F7"/>
          </a:solidFill>
          <a:ln w="6350">
            <a:solidFill>
              <a:srgbClr val="CED4DA"/>
            </a:solidFill>
            <a:prstDash val="solid"/>
          </a:ln>
        </p:spPr>
      </p:sp>
      <p:sp>
        <p:nvSpPr>
          <p:cNvPr id="29" name="Text 27"/>
          <p:cNvSpPr/>
          <p:nvPr/>
        </p:nvSpPr>
        <p:spPr>
          <a:xfrm>
            <a:off x="3657143" y="3054096"/>
            <a:ext cx="2075688" cy="600456"/>
          </a:xfrm>
          <a:prstGeom prst="rect">
            <a:avLst/>
          </a:prstGeom>
          <a:noFill/>
          <a:ln/>
        </p:spPr>
        <p:txBody>
          <a:bodyPr wrap="square" lIns="254" tIns="254" rIns="254" bIns="254" rtlCol="0" anchor="ctr">
            <a:normAutofit/>
          </a:bodyPr>
          <a:lstStyle/>
          <a:p>
            <a:pPr marL="0" indent="0">
              <a:buNone/>
            </a:pPr>
            <a:r>
              <a:rPr lang="en-US" sz="1020" dirty="0">
                <a:solidFill>
                  <a:srgbClr val="303846"/>
                </a:solidFill>
              </a:rPr>
              <a:t>S5, S8, S15</a:t>
            </a:r>
            <a:endParaRPr lang="en-US" sz="1020" dirty="0"/>
          </a:p>
        </p:txBody>
      </p:sp>
      <p:sp>
        <p:nvSpPr>
          <p:cNvPr id="30" name="Shape 28"/>
          <p:cNvSpPr/>
          <p:nvPr/>
        </p:nvSpPr>
        <p:spPr>
          <a:xfrm>
            <a:off x="5778551" y="3017520"/>
            <a:ext cx="5742889" cy="655320"/>
          </a:xfrm>
          <a:prstGeom prst="rect">
            <a:avLst/>
          </a:prstGeom>
          <a:solidFill>
            <a:srgbClr val="F0F5F7"/>
          </a:solidFill>
          <a:ln w="6350">
            <a:solidFill>
              <a:srgbClr val="CED4DA"/>
            </a:solidFill>
            <a:prstDash val="solid"/>
          </a:ln>
        </p:spPr>
      </p:sp>
      <p:sp>
        <p:nvSpPr>
          <p:cNvPr id="31" name="Text 29"/>
          <p:cNvSpPr/>
          <p:nvPr/>
        </p:nvSpPr>
        <p:spPr>
          <a:xfrm>
            <a:off x="5824271" y="3054096"/>
            <a:ext cx="5651449" cy="600456"/>
          </a:xfrm>
          <a:prstGeom prst="rect">
            <a:avLst/>
          </a:prstGeom>
          <a:noFill/>
          <a:ln/>
        </p:spPr>
        <p:txBody>
          <a:bodyPr wrap="square" lIns="254" tIns="254" rIns="254" bIns="254" rtlCol="0" anchor="ctr">
            <a:normAutofit/>
          </a:bodyPr>
          <a:lstStyle/>
          <a:p>
            <a:pPr marL="0" indent="0">
              <a:buNone/>
            </a:pPr>
            <a:r>
              <a:rPr lang="en-US" sz="1020" dirty="0">
                <a:solidFill>
                  <a:srgbClr val="303846"/>
                </a:solidFill>
              </a:rPr>
              <a:t>AGV capacity, logistics resource allocation, smart warehouse state control</a:t>
            </a:r>
            <a:endParaRPr lang="en-US" sz="1020" dirty="0"/>
          </a:p>
        </p:txBody>
      </p:sp>
      <p:sp>
        <p:nvSpPr>
          <p:cNvPr id="32" name="Shape 30"/>
          <p:cNvSpPr/>
          <p:nvPr/>
        </p:nvSpPr>
        <p:spPr>
          <a:xfrm>
            <a:off x="685800" y="3672840"/>
            <a:ext cx="2925623" cy="655320"/>
          </a:xfrm>
          <a:prstGeom prst="rect">
            <a:avLst/>
          </a:prstGeom>
          <a:solidFill>
            <a:srgbClr val="FFFFFF"/>
          </a:solidFill>
          <a:ln w="6350">
            <a:solidFill>
              <a:srgbClr val="CED4DA"/>
            </a:solidFill>
            <a:prstDash val="solid"/>
          </a:ln>
        </p:spPr>
      </p:sp>
      <p:sp>
        <p:nvSpPr>
          <p:cNvPr id="33" name="Text 31"/>
          <p:cNvSpPr/>
          <p:nvPr/>
        </p:nvSpPr>
        <p:spPr>
          <a:xfrm>
            <a:off x="731520" y="3709416"/>
            <a:ext cx="2834183" cy="600456"/>
          </a:xfrm>
          <a:prstGeom prst="rect">
            <a:avLst/>
          </a:prstGeom>
          <a:noFill/>
          <a:ln/>
        </p:spPr>
        <p:txBody>
          <a:bodyPr wrap="square" lIns="254" tIns="254" rIns="254" bIns="254" rtlCol="0" anchor="ctr">
            <a:normAutofit/>
          </a:bodyPr>
          <a:lstStyle/>
          <a:p>
            <a:pPr marL="0" indent="0">
              <a:buNone/>
            </a:pPr>
            <a:r>
              <a:rPr lang="en-US" sz="1020" dirty="0">
                <a:solidFill>
                  <a:srgbClr val="303846"/>
                </a:solidFill>
              </a:rPr>
              <a:t>Cost &amp; energy</a:t>
            </a:r>
            <a:endParaRPr lang="en-US" sz="1020" dirty="0"/>
          </a:p>
        </p:txBody>
      </p:sp>
      <p:sp>
        <p:nvSpPr>
          <p:cNvPr id="34" name="Shape 32"/>
          <p:cNvSpPr/>
          <p:nvPr/>
        </p:nvSpPr>
        <p:spPr>
          <a:xfrm>
            <a:off x="3611423" y="3672840"/>
            <a:ext cx="2167128" cy="655320"/>
          </a:xfrm>
          <a:prstGeom prst="rect">
            <a:avLst/>
          </a:prstGeom>
          <a:solidFill>
            <a:srgbClr val="FFFFFF"/>
          </a:solidFill>
          <a:ln w="6350">
            <a:solidFill>
              <a:srgbClr val="CED4DA"/>
            </a:solidFill>
            <a:prstDash val="solid"/>
          </a:ln>
        </p:spPr>
      </p:sp>
      <p:sp>
        <p:nvSpPr>
          <p:cNvPr id="35" name="Text 33"/>
          <p:cNvSpPr/>
          <p:nvPr/>
        </p:nvSpPr>
        <p:spPr>
          <a:xfrm>
            <a:off x="3657143" y="3709416"/>
            <a:ext cx="2075688" cy="600456"/>
          </a:xfrm>
          <a:prstGeom prst="rect">
            <a:avLst/>
          </a:prstGeom>
          <a:noFill/>
          <a:ln/>
        </p:spPr>
        <p:txBody>
          <a:bodyPr wrap="square" lIns="254" tIns="254" rIns="254" bIns="254" rtlCol="0" anchor="ctr">
            <a:normAutofit/>
          </a:bodyPr>
          <a:lstStyle/>
          <a:p>
            <a:pPr marL="0" indent="0">
              <a:buNone/>
            </a:pPr>
            <a:r>
              <a:rPr lang="en-US" sz="1020" dirty="0">
                <a:solidFill>
                  <a:srgbClr val="303846"/>
                </a:solidFill>
              </a:rPr>
              <a:t>S4, S6, S15</a:t>
            </a:r>
            <a:endParaRPr lang="en-US" sz="1020" dirty="0"/>
          </a:p>
        </p:txBody>
      </p:sp>
      <p:sp>
        <p:nvSpPr>
          <p:cNvPr id="36" name="Shape 34"/>
          <p:cNvSpPr/>
          <p:nvPr/>
        </p:nvSpPr>
        <p:spPr>
          <a:xfrm>
            <a:off x="5778551" y="3672840"/>
            <a:ext cx="5742889" cy="655320"/>
          </a:xfrm>
          <a:prstGeom prst="rect">
            <a:avLst/>
          </a:prstGeom>
          <a:solidFill>
            <a:srgbClr val="FFFFFF"/>
          </a:solidFill>
          <a:ln w="6350">
            <a:solidFill>
              <a:srgbClr val="CED4DA"/>
            </a:solidFill>
            <a:prstDash val="solid"/>
          </a:ln>
        </p:spPr>
      </p:sp>
      <p:sp>
        <p:nvSpPr>
          <p:cNvPr id="37" name="Text 35"/>
          <p:cNvSpPr/>
          <p:nvPr/>
        </p:nvSpPr>
        <p:spPr>
          <a:xfrm>
            <a:off x="5824271" y="3709416"/>
            <a:ext cx="5651449" cy="600456"/>
          </a:xfrm>
          <a:prstGeom prst="rect">
            <a:avLst/>
          </a:prstGeom>
          <a:noFill/>
          <a:ln/>
        </p:spPr>
        <p:txBody>
          <a:bodyPr wrap="square" lIns="254" tIns="254" rIns="254" bIns="254" rtlCol="0" anchor="ctr">
            <a:normAutofit/>
          </a:bodyPr>
          <a:lstStyle/>
          <a:p>
            <a:pPr marL="0" indent="0">
              <a:buNone/>
            </a:pPr>
            <a:r>
              <a:rPr lang="en-US" sz="1020" dirty="0">
                <a:solidFill>
                  <a:srgbClr val="303846"/>
                </a:solidFill>
              </a:rPr>
              <a:t>Reduced movement, optimized schedules, improved state response</a:t>
            </a:r>
            <a:endParaRPr lang="en-US" sz="1020" dirty="0"/>
          </a:p>
        </p:txBody>
      </p:sp>
      <p:sp>
        <p:nvSpPr>
          <p:cNvPr id="38" name="Shape 36"/>
          <p:cNvSpPr/>
          <p:nvPr/>
        </p:nvSpPr>
        <p:spPr>
          <a:xfrm>
            <a:off x="685800" y="4328160"/>
            <a:ext cx="2925623" cy="655320"/>
          </a:xfrm>
          <a:prstGeom prst="rect">
            <a:avLst/>
          </a:prstGeom>
          <a:solidFill>
            <a:srgbClr val="F0F5F7"/>
          </a:solidFill>
          <a:ln w="6350">
            <a:solidFill>
              <a:srgbClr val="CED4DA"/>
            </a:solidFill>
            <a:prstDash val="solid"/>
          </a:ln>
        </p:spPr>
      </p:sp>
      <p:sp>
        <p:nvSpPr>
          <p:cNvPr id="39" name="Text 37"/>
          <p:cNvSpPr/>
          <p:nvPr/>
        </p:nvSpPr>
        <p:spPr>
          <a:xfrm>
            <a:off x="731520" y="4364736"/>
            <a:ext cx="2834183" cy="600456"/>
          </a:xfrm>
          <a:prstGeom prst="rect">
            <a:avLst/>
          </a:prstGeom>
          <a:noFill/>
          <a:ln/>
        </p:spPr>
        <p:txBody>
          <a:bodyPr wrap="square" lIns="254" tIns="254" rIns="254" bIns="254" rtlCol="0" anchor="ctr">
            <a:normAutofit/>
          </a:bodyPr>
          <a:lstStyle/>
          <a:p>
            <a:pPr marL="0" indent="0">
              <a:buNone/>
            </a:pPr>
            <a:r>
              <a:rPr lang="en-US" sz="1020" dirty="0">
                <a:solidFill>
                  <a:srgbClr val="303846"/>
                </a:solidFill>
              </a:rPr>
              <a:t>Resilience / disturbance response</a:t>
            </a:r>
            <a:endParaRPr lang="en-US" sz="1020" dirty="0"/>
          </a:p>
        </p:txBody>
      </p:sp>
      <p:sp>
        <p:nvSpPr>
          <p:cNvPr id="40" name="Shape 38"/>
          <p:cNvSpPr/>
          <p:nvPr/>
        </p:nvSpPr>
        <p:spPr>
          <a:xfrm>
            <a:off x="3611423" y="4328160"/>
            <a:ext cx="2167128" cy="655320"/>
          </a:xfrm>
          <a:prstGeom prst="rect">
            <a:avLst/>
          </a:prstGeom>
          <a:solidFill>
            <a:srgbClr val="F0F5F7"/>
          </a:solidFill>
          <a:ln w="6350">
            <a:solidFill>
              <a:srgbClr val="CED4DA"/>
            </a:solidFill>
            <a:prstDash val="solid"/>
          </a:ln>
        </p:spPr>
      </p:sp>
      <p:sp>
        <p:nvSpPr>
          <p:cNvPr id="41" name="Text 39"/>
          <p:cNvSpPr/>
          <p:nvPr/>
        </p:nvSpPr>
        <p:spPr>
          <a:xfrm>
            <a:off x="3657143" y="4364736"/>
            <a:ext cx="2075688" cy="600456"/>
          </a:xfrm>
          <a:prstGeom prst="rect">
            <a:avLst/>
          </a:prstGeom>
          <a:noFill/>
          <a:ln/>
        </p:spPr>
        <p:txBody>
          <a:bodyPr wrap="square" lIns="254" tIns="254" rIns="254" bIns="254" rtlCol="0" anchor="ctr">
            <a:normAutofit/>
          </a:bodyPr>
          <a:lstStyle/>
          <a:p>
            <a:pPr marL="0" indent="0">
              <a:buNone/>
            </a:pPr>
            <a:r>
              <a:rPr lang="en-US" sz="1020" dirty="0">
                <a:solidFill>
                  <a:srgbClr val="303846"/>
                </a:solidFill>
              </a:rPr>
              <a:t>S7, S14, S15</a:t>
            </a:r>
            <a:endParaRPr lang="en-US" sz="1020" dirty="0"/>
          </a:p>
        </p:txBody>
      </p:sp>
      <p:sp>
        <p:nvSpPr>
          <p:cNvPr id="42" name="Shape 40"/>
          <p:cNvSpPr/>
          <p:nvPr/>
        </p:nvSpPr>
        <p:spPr>
          <a:xfrm>
            <a:off x="5778551" y="4328160"/>
            <a:ext cx="5742889" cy="655320"/>
          </a:xfrm>
          <a:prstGeom prst="rect">
            <a:avLst/>
          </a:prstGeom>
          <a:solidFill>
            <a:srgbClr val="F0F5F7"/>
          </a:solidFill>
          <a:ln w="6350">
            <a:solidFill>
              <a:srgbClr val="CED4DA"/>
            </a:solidFill>
            <a:prstDash val="solid"/>
          </a:ln>
        </p:spPr>
      </p:sp>
      <p:sp>
        <p:nvSpPr>
          <p:cNvPr id="43" name="Text 41"/>
          <p:cNvSpPr/>
          <p:nvPr/>
        </p:nvSpPr>
        <p:spPr>
          <a:xfrm>
            <a:off x="5824271" y="4364736"/>
            <a:ext cx="5651449" cy="600456"/>
          </a:xfrm>
          <a:prstGeom prst="rect">
            <a:avLst/>
          </a:prstGeom>
          <a:noFill/>
          <a:ln/>
        </p:spPr>
        <p:txBody>
          <a:bodyPr wrap="square" lIns="254" tIns="254" rIns="254" bIns="254" rtlCol="0" anchor="ctr">
            <a:normAutofit/>
          </a:bodyPr>
          <a:lstStyle/>
          <a:p>
            <a:pPr marL="0" indent="0">
              <a:buNone/>
            </a:pPr>
            <a:r>
              <a:rPr lang="en-US" sz="1020" dirty="0">
                <a:solidFill>
                  <a:srgbClr val="303846"/>
                </a:solidFill>
              </a:rPr>
              <a:t>Production-logistics synchronization under dynamic interference</a:t>
            </a:r>
            <a:endParaRPr lang="en-US" sz="1020" dirty="0"/>
          </a:p>
        </p:txBody>
      </p:sp>
      <p:sp>
        <p:nvSpPr>
          <p:cNvPr id="44" name="Shape 42"/>
          <p:cNvSpPr/>
          <p:nvPr/>
        </p:nvSpPr>
        <p:spPr>
          <a:xfrm>
            <a:off x="685800" y="5349240"/>
            <a:ext cx="10835640" cy="704088"/>
          </a:xfrm>
          <a:prstGeom prst="roundRect">
            <a:avLst>
              <a:gd name="adj" fmla="val 5195"/>
            </a:avLst>
          </a:prstGeom>
          <a:solidFill>
            <a:srgbClr val="EDF5FF"/>
          </a:solidFill>
          <a:ln w="12700">
            <a:solidFill>
              <a:srgbClr val="E8ECF2"/>
            </a:solidFill>
            <a:prstDash val="solid"/>
          </a:ln>
        </p:spPr>
      </p:sp>
      <p:sp>
        <p:nvSpPr>
          <p:cNvPr id="45" name="Text 43"/>
          <p:cNvSpPr/>
          <p:nvPr/>
        </p:nvSpPr>
        <p:spPr>
          <a:xfrm>
            <a:off x="868680" y="5522976"/>
            <a:ext cx="1188720" cy="201168"/>
          </a:xfrm>
          <a:prstGeom prst="rect">
            <a:avLst/>
          </a:prstGeom>
          <a:noFill/>
          <a:ln/>
        </p:spPr>
        <p:txBody>
          <a:bodyPr wrap="square" lIns="0" tIns="0" rIns="0" bIns="0" rtlCol="0" anchor="ctr"/>
          <a:lstStyle/>
          <a:p>
            <a:pPr marL="0" indent="0">
              <a:buNone/>
            </a:pPr>
            <a:r>
              <a:rPr lang="en-US" sz="1250" b="1" dirty="0">
                <a:solidFill>
                  <a:srgbClr val="2F6BD8"/>
                </a:solidFill>
              </a:rPr>
              <a:t>Interpretation:</a:t>
            </a:r>
            <a:endParaRPr lang="en-US" sz="1250" dirty="0"/>
          </a:p>
        </p:txBody>
      </p:sp>
      <p:sp>
        <p:nvSpPr>
          <p:cNvPr id="46" name="Text 44"/>
          <p:cNvSpPr/>
          <p:nvPr/>
        </p:nvSpPr>
        <p:spPr>
          <a:xfrm>
            <a:off x="2057400" y="5522976"/>
            <a:ext cx="8915400" cy="201168"/>
          </a:xfrm>
          <a:prstGeom prst="rect">
            <a:avLst/>
          </a:prstGeom>
          <a:noFill/>
          <a:ln/>
        </p:spPr>
        <p:txBody>
          <a:bodyPr wrap="square" lIns="0" tIns="0" rIns="0" bIns="0" rtlCol="0" anchor="ctr">
            <a:normAutofit/>
          </a:bodyPr>
          <a:lstStyle/>
          <a:p>
            <a:pPr marL="0" indent="0">
              <a:buNone/>
            </a:pPr>
            <a:r>
              <a:rPr lang="en-US" sz="1130" dirty="0">
                <a:solidFill>
                  <a:srgbClr val="303846"/>
                </a:solidFill>
              </a:rPr>
              <a:t>Most DTs are evaluated by operational KPIs rather than strategic business metrics; sustainability, human workload, cybersecurity, and lifecycle cost are still underrepresented.</a:t>
            </a:r>
            <a:endParaRPr lang="en-US" sz="113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6F7F9"/>
        </a:solidFill>
        <a:effectLst/>
      </p:bgPr>
    </p:bg>
    <p:spTree>
      <p:nvGrpSpPr>
        <p:cNvPr id="1" name=""/>
        <p:cNvGrpSpPr/>
        <p:nvPr/>
      </p:nvGrpSpPr>
      <p:grpSpPr>
        <a:xfrm>
          <a:off x="0" y="0"/>
          <a:ext cx="0" cy="0"/>
          <a:chOff x="0" y="0"/>
          <a:chExt cx="0" cy="0"/>
        </a:xfrm>
      </p:grpSpPr>
      <p:sp>
        <p:nvSpPr>
          <p:cNvPr id="2" name="Shape 0"/>
          <p:cNvSpPr/>
          <p:nvPr/>
        </p:nvSpPr>
        <p:spPr>
          <a:xfrm>
            <a:off x="347472" y="329184"/>
            <a:ext cx="73152" cy="438912"/>
          </a:xfrm>
          <a:prstGeom prst="rect">
            <a:avLst/>
          </a:prstGeom>
          <a:solidFill>
            <a:srgbClr val="2F6BD8"/>
          </a:solidFill>
          <a:ln w="12700">
            <a:solidFill>
              <a:srgbClr val="2F6BD8"/>
            </a:solidFill>
            <a:prstDash val="solid"/>
          </a:ln>
        </p:spPr>
      </p:sp>
      <p:sp>
        <p:nvSpPr>
          <p:cNvPr id="3" name="Text 1"/>
          <p:cNvSpPr/>
          <p:nvPr/>
        </p:nvSpPr>
        <p:spPr>
          <a:xfrm>
            <a:off x="512064" y="292608"/>
            <a:ext cx="10789920" cy="502920"/>
          </a:xfrm>
          <a:prstGeom prst="rect">
            <a:avLst/>
          </a:prstGeom>
          <a:noFill/>
          <a:ln/>
        </p:spPr>
        <p:txBody>
          <a:bodyPr wrap="square" lIns="0" tIns="0" rIns="0" bIns="0" rtlCol="0" anchor="ctr"/>
          <a:lstStyle/>
          <a:p>
            <a:pPr marL="0" indent="0">
              <a:buNone/>
            </a:pPr>
            <a:r>
              <a:rPr lang="en-US" sz="2700" b="1" dirty="0">
                <a:solidFill>
                  <a:srgbClr val="303846"/>
                </a:solidFill>
                <a:latin typeface="Aptos Display" pitchFamily="34" charset="0"/>
                <a:ea typeface="Aptos Display" pitchFamily="34" charset="-122"/>
                <a:cs typeface="Aptos Display" pitchFamily="34" charset="-120"/>
              </a:rPr>
              <a:t>Results — RQ4: Research Maturity</a:t>
            </a:r>
            <a:endParaRPr lang="en-US" sz="2700" dirty="0"/>
          </a:p>
        </p:txBody>
      </p:sp>
      <p:sp>
        <p:nvSpPr>
          <p:cNvPr id="4" name="Shape 2"/>
          <p:cNvSpPr/>
          <p:nvPr/>
        </p:nvSpPr>
        <p:spPr>
          <a:xfrm>
            <a:off x="0" y="6510528"/>
            <a:ext cx="12191695" cy="347472"/>
          </a:xfrm>
          <a:prstGeom prst="rect">
            <a:avLst/>
          </a:prstGeom>
          <a:solidFill>
            <a:srgbClr val="303846"/>
          </a:solidFill>
          <a:ln w="12700">
            <a:solidFill>
              <a:srgbClr val="303846"/>
            </a:solidFill>
            <a:prstDash val="solid"/>
          </a:ln>
        </p:spPr>
      </p:sp>
      <p:sp>
        <p:nvSpPr>
          <p:cNvPr id="5" name="Text 3"/>
          <p:cNvSpPr/>
          <p:nvPr/>
        </p:nvSpPr>
        <p:spPr>
          <a:xfrm>
            <a:off x="320040" y="6592824"/>
            <a:ext cx="6583680" cy="137160"/>
          </a:xfrm>
          <a:prstGeom prst="rect">
            <a:avLst/>
          </a:prstGeom>
          <a:noFill/>
          <a:ln/>
        </p:spPr>
        <p:txBody>
          <a:bodyPr wrap="square" lIns="0" tIns="0" rIns="0" bIns="0" rtlCol="0" anchor="ctr"/>
          <a:lstStyle/>
          <a:p>
            <a:pPr marL="0" indent="0">
              <a:buNone/>
            </a:pPr>
            <a:r>
              <a:rPr lang="en-US" sz="750" i="1" dirty="0">
                <a:solidFill>
                  <a:srgbClr val="F2F4F7"/>
                </a:solidFill>
              </a:rPr>
              <a:t>Digital Twin-Enabled Intralogistics — Systematic Review | SEN601</a:t>
            </a:r>
            <a:endParaRPr lang="en-US" sz="750" dirty="0"/>
          </a:p>
        </p:txBody>
      </p:sp>
      <p:sp>
        <p:nvSpPr>
          <p:cNvPr id="6" name="Text 4"/>
          <p:cNvSpPr/>
          <p:nvPr/>
        </p:nvSpPr>
        <p:spPr>
          <a:xfrm>
            <a:off x="10195560" y="6592824"/>
            <a:ext cx="1280160" cy="137160"/>
          </a:xfrm>
          <a:prstGeom prst="rect">
            <a:avLst/>
          </a:prstGeom>
          <a:noFill/>
          <a:ln/>
        </p:spPr>
        <p:txBody>
          <a:bodyPr wrap="square" lIns="0" tIns="0" rIns="0" bIns="0" rtlCol="0" anchor="ctr"/>
          <a:lstStyle/>
          <a:p>
            <a:pPr marL="0" indent="0" algn="r">
              <a:buNone/>
            </a:pPr>
            <a:r>
              <a:rPr lang="en-US" sz="750" dirty="0">
                <a:solidFill>
                  <a:srgbClr val="F2F4F7"/>
                </a:solidFill>
              </a:rPr>
              <a:t>RQ4 Results</a:t>
            </a:r>
            <a:endParaRPr lang="en-US" sz="750" dirty="0"/>
          </a:p>
        </p:txBody>
      </p:sp>
      <p:sp>
        <p:nvSpPr>
          <p:cNvPr id="7" name="Text 5"/>
          <p:cNvSpPr/>
          <p:nvPr/>
        </p:nvSpPr>
        <p:spPr>
          <a:xfrm>
            <a:off x="11539728" y="6583680"/>
            <a:ext cx="329184" cy="146304"/>
          </a:xfrm>
          <a:prstGeom prst="rect">
            <a:avLst/>
          </a:prstGeom>
          <a:noFill/>
          <a:ln/>
        </p:spPr>
        <p:txBody>
          <a:bodyPr wrap="square" lIns="0" tIns="0" rIns="0" bIns="0" rtlCol="0" anchor="ctr"/>
          <a:lstStyle/>
          <a:p>
            <a:pPr marL="0" indent="0" algn="r">
              <a:buNone/>
            </a:pPr>
            <a:r>
              <a:rPr lang="en-US" sz="850" dirty="0">
                <a:solidFill>
                  <a:srgbClr val="F2F4F7"/>
                </a:solidFill>
              </a:rPr>
              <a:t>14</a:t>
            </a:r>
            <a:endParaRPr lang="en-US" sz="850" dirty="0"/>
          </a:p>
        </p:txBody>
      </p:sp>
      <p:sp>
        <p:nvSpPr>
          <p:cNvPr id="8" name="Shape 6"/>
          <p:cNvSpPr/>
          <p:nvPr/>
        </p:nvSpPr>
        <p:spPr>
          <a:xfrm>
            <a:off x="731520" y="960120"/>
            <a:ext cx="2286000" cy="960120"/>
          </a:xfrm>
          <a:prstGeom prst="roundRect">
            <a:avLst>
              <a:gd name="adj" fmla="val 3810"/>
            </a:avLst>
          </a:prstGeom>
          <a:solidFill>
            <a:srgbClr val="25A75A"/>
          </a:solidFill>
          <a:ln w="12700">
            <a:solidFill>
              <a:srgbClr val="25A75A"/>
            </a:solidFill>
            <a:prstDash val="solid"/>
          </a:ln>
        </p:spPr>
      </p:sp>
      <p:sp>
        <p:nvSpPr>
          <p:cNvPr id="9" name="Text 7"/>
          <p:cNvSpPr/>
          <p:nvPr/>
        </p:nvSpPr>
        <p:spPr>
          <a:xfrm>
            <a:off x="731520" y="1179576"/>
            <a:ext cx="2286000" cy="402336"/>
          </a:xfrm>
          <a:prstGeom prst="rect">
            <a:avLst/>
          </a:prstGeom>
          <a:noFill/>
          <a:ln/>
        </p:spPr>
        <p:txBody>
          <a:bodyPr wrap="square" lIns="0" tIns="0" rIns="0" bIns="0" rtlCol="0" anchor="ctr"/>
          <a:lstStyle/>
          <a:p>
            <a:pPr marL="0" indent="0" algn="ctr">
              <a:buNone/>
            </a:pPr>
            <a:r>
              <a:rPr lang="en-US" sz="3000" b="1" dirty="0">
                <a:solidFill>
                  <a:srgbClr val="FFFFFF"/>
                </a:solidFill>
              </a:rPr>
              <a:t>5</a:t>
            </a:r>
            <a:endParaRPr lang="en-US" sz="3000" dirty="0"/>
          </a:p>
        </p:txBody>
      </p:sp>
      <p:sp>
        <p:nvSpPr>
          <p:cNvPr id="10" name="Text 8"/>
          <p:cNvSpPr/>
          <p:nvPr/>
        </p:nvSpPr>
        <p:spPr>
          <a:xfrm>
            <a:off x="841248" y="1673352"/>
            <a:ext cx="2066544" cy="228600"/>
          </a:xfrm>
          <a:prstGeom prst="rect">
            <a:avLst/>
          </a:prstGeom>
          <a:noFill/>
          <a:ln/>
        </p:spPr>
        <p:txBody>
          <a:bodyPr wrap="square" lIns="0" tIns="0" rIns="0" bIns="0" rtlCol="0" anchor="ctr">
            <a:normAutofit/>
          </a:bodyPr>
          <a:lstStyle/>
          <a:p>
            <a:pPr marL="0" indent="0" algn="ctr">
              <a:buNone/>
            </a:pPr>
            <a:r>
              <a:rPr lang="en-US" sz="1050" dirty="0">
                <a:solidFill>
                  <a:srgbClr val="FFFFFF"/>
                </a:solidFill>
              </a:rPr>
              <a:t>Case / industrial studies</a:t>
            </a:r>
            <a:endParaRPr lang="en-US" sz="1050" dirty="0"/>
          </a:p>
        </p:txBody>
      </p:sp>
      <p:sp>
        <p:nvSpPr>
          <p:cNvPr id="11" name="Text 9"/>
          <p:cNvSpPr/>
          <p:nvPr/>
        </p:nvSpPr>
        <p:spPr>
          <a:xfrm>
            <a:off x="841248" y="1892808"/>
            <a:ext cx="2066544" cy="182880"/>
          </a:xfrm>
          <a:prstGeom prst="rect">
            <a:avLst/>
          </a:prstGeom>
          <a:noFill/>
          <a:ln/>
        </p:spPr>
        <p:txBody>
          <a:bodyPr wrap="square" lIns="0" tIns="0" rIns="0" bIns="0" rtlCol="0" anchor="ctr">
            <a:normAutofit/>
          </a:bodyPr>
          <a:lstStyle/>
          <a:p>
            <a:pPr marL="0" indent="0" algn="ctr">
              <a:buNone/>
            </a:pPr>
            <a:r>
              <a:rPr lang="en-US" sz="850" i="1" dirty="0">
                <a:solidFill>
                  <a:srgbClr val="F2F4F7"/>
                </a:solidFill>
              </a:rPr>
              <a:t>stronger operational relevance</a:t>
            </a:r>
            <a:endParaRPr lang="en-US" sz="850" dirty="0"/>
          </a:p>
        </p:txBody>
      </p:sp>
      <p:sp>
        <p:nvSpPr>
          <p:cNvPr id="12" name="Shape 10"/>
          <p:cNvSpPr/>
          <p:nvPr/>
        </p:nvSpPr>
        <p:spPr>
          <a:xfrm>
            <a:off x="3246120" y="960120"/>
            <a:ext cx="2286000" cy="960120"/>
          </a:xfrm>
          <a:prstGeom prst="roundRect">
            <a:avLst>
              <a:gd name="adj" fmla="val 3810"/>
            </a:avLst>
          </a:prstGeom>
          <a:solidFill>
            <a:srgbClr val="2F6BD8"/>
          </a:solidFill>
          <a:ln w="12700">
            <a:solidFill>
              <a:srgbClr val="2F6BD8"/>
            </a:solidFill>
            <a:prstDash val="solid"/>
          </a:ln>
        </p:spPr>
      </p:sp>
      <p:sp>
        <p:nvSpPr>
          <p:cNvPr id="13" name="Text 11"/>
          <p:cNvSpPr/>
          <p:nvPr/>
        </p:nvSpPr>
        <p:spPr>
          <a:xfrm>
            <a:off x="3246120" y="1179576"/>
            <a:ext cx="2286000" cy="402336"/>
          </a:xfrm>
          <a:prstGeom prst="rect">
            <a:avLst/>
          </a:prstGeom>
          <a:noFill/>
          <a:ln/>
        </p:spPr>
        <p:txBody>
          <a:bodyPr wrap="square" lIns="0" tIns="0" rIns="0" bIns="0" rtlCol="0" anchor="ctr"/>
          <a:lstStyle/>
          <a:p>
            <a:pPr marL="0" indent="0" algn="ctr">
              <a:buNone/>
            </a:pPr>
            <a:r>
              <a:rPr lang="en-US" sz="3000" b="1" dirty="0">
                <a:solidFill>
                  <a:srgbClr val="FFFFFF"/>
                </a:solidFill>
              </a:rPr>
              <a:t>4</a:t>
            </a:r>
            <a:endParaRPr lang="en-US" sz="3000" dirty="0"/>
          </a:p>
        </p:txBody>
      </p:sp>
      <p:sp>
        <p:nvSpPr>
          <p:cNvPr id="14" name="Text 12"/>
          <p:cNvSpPr/>
          <p:nvPr/>
        </p:nvSpPr>
        <p:spPr>
          <a:xfrm>
            <a:off x="3355848" y="1673352"/>
            <a:ext cx="2066544" cy="228600"/>
          </a:xfrm>
          <a:prstGeom prst="rect">
            <a:avLst/>
          </a:prstGeom>
          <a:noFill/>
          <a:ln/>
        </p:spPr>
        <p:txBody>
          <a:bodyPr wrap="square" lIns="0" tIns="0" rIns="0" bIns="0" rtlCol="0" anchor="ctr">
            <a:normAutofit/>
          </a:bodyPr>
          <a:lstStyle/>
          <a:p>
            <a:pPr marL="0" indent="0" algn="ctr">
              <a:buNone/>
            </a:pPr>
            <a:r>
              <a:rPr lang="en-US" sz="1050" dirty="0">
                <a:solidFill>
                  <a:srgbClr val="FFFFFF"/>
                </a:solidFill>
              </a:rPr>
              <a:t>Simulation / optimization</a:t>
            </a:r>
            <a:endParaRPr lang="en-US" sz="1050" dirty="0"/>
          </a:p>
        </p:txBody>
      </p:sp>
      <p:sp>
        <p:nvSpPr>
          <p:cNvPr id="15" name="Text 13"/>
          <p:cNvSpPr/>
          <p:nvPr/>
        </p:nvSpPr>
        <p:spPr>
          <a:xfrm>
            <a:off x="3355848" y="1892808"/>
            <a:ext cx="2066544" cy="182880"/>
          </a:xfrm>
          <a:prstGeom prst="rect">
            <a:avLst/>
          </a:prstGeom>
          <a:noFill/>
          <a:ln/>
        </p:spPr>
        <p:txBody>
          <a:bodyPr wrap="square" lIns="0" tIns="0" rIns="0" bIns="0" rtlCol="0" anchor="ctr">
            <a:normAutofit/>
          </a:bodyPr>
          <a:lstStyle/>
          <a:p>
            <a:pPr marL="0" indent="0" algn="ctr">
              <a:buNone/>
            </a:pPr>
            <a:r>
              <a:rPr lang="en-US" sz="850" i="1" dirty="0">
                <a:solidFill>
                  <a:srgbClr val="F2F4F7"/>
                </a:solidFill>
              </a:rPr>
              <a:t>dominant evidence mode</a:t>
            </a:r>
            <a:endParaRPr lang="en-US" sz="850" dirty="0"/>
          </a:p>
        </p:txBody>
      </p:sp>
      <p:sp>
        <p:nvSpPr>
          <p:cNvPr id="16" name="Shape 14"/>
          <p:cNvSpPr/>
          <p:nvPr/>
        </p:nvSpPr>
        <p:spPr>
          <a:xfrm>
            <a:off x="5760720" y="960120"/>
            <a:ext cx="2286000" cy="960120"/>
          </a:xfrm>
          <a:prstGeom prst="roundRect">
            <a:avLst>
              <a:gd name="adj" fmla="val 3810"/>
            </a:avLst>
          </a:prstGeom>
          <a:solidFill>
            <a:srgbClr val="177E89"/>
          </a:solidFill>
          <a:ln w="12700">
            <a:solidFill>
              <a:srgbClr val="177E89"/>
            </a:solidFill>
            <a:prstDash val="solid"/>
          </a:ln>
        </p:spPr>
      </p:sp>
      <p:sp>
        <p:nvSpPr>
          <p:cNvPr id="17" name="Text 15"/>
          <p:cNvSpPr/>
          <p:nvPr/>
        </p:nvSpPr>
        <p:spPr>
          <a:xfrm>
            <a:off x="5760720" y="1179576"/>
            <a:ext cx="2286000" cy="402336"/>
          </a:xfrm>
          <a:prstGeom prst="rect">
            <a:avLst/>
          </a:prstGeom>
          <a:noFill/>
          <a:ln/>
        </p:spPr>
        <p:txBody>
          <a:bodyPr wrap="square" lIns="0" tIns="0" rIns="0" bIns="0" rtlCol="0" anchor="ctr"/>
          <a:lstStyle/>
          <a:p>
            <a:pPr marL="0" indent="0" algn="ctr">
              <a:buNone/>
            </a:pPr>
            <a:r>
              <a:rPr lang="en-US" sz="3000" b="1" dirty="0">
                <a:solidFill>
                  <a:srgbClr val="FFFFFF"/>
                </a:solidFill>
              </a:rPr>
              <a:t>4</a:t>
            </a:r>
            <a:endParaRPr lang="en-US" sz="3000" dirty="0"/>
          </a:p>
        </p:txBody>
      </p:sp>
      <p:sp>
        <p:nvSpPr>
          <p:cNvPr id="18" name="Text 16"/>
          <p:cNvSpPr/>
          <p:nvPr/>
        </p:nvSpPr>
        <p:spPr>
          <a:xfrm>
            <a:off x="5870448" y="1673352"/>
            <a:ext cx="2066544" cy="228600"/>
          </a:xfrm>
          <a:prstGeom prst="rect">
            <a:avLst/>
          </a:prstGeom>
          <a:noFill/>
          <a:ln/>
        </p:spPr>
        <p:txBody>
          <a:bodyPr wrap="square" lIns="0" tIns="0" rIns="0" bIns="0" rtlCol="0" anchor="ctr">
            <a:normAutofit/>
          </a:bodyPr>
          <a:lstStyle/>
          <a:p>
            <a:pPr marL="0" indent="0" algn="ctr">
              <a:buNone/>
            </a:pPr>
            <a:r>
              <a:rPr lang="en-US" sz="1050" dirty="0">
                <a:solidFill>
                  <a:srgbClr val="FFFFFF"/>
                </a:solidFill>
              </a:rPr>
              <a:t>Prototype / lab studies</a:t>
            </a:r>
            <a:endParaRPr lang="en-US" sz="1050" dirty="0"/>
          </a:p>
        </p:txBody>
      </p:sp>
      <p:sp>
        <p:nvSpPr>
          <p:cNvPr id="19" name="Text 17"/>
          <p:cNvSpPr/>
          <p:nvPr/>
        </p:nvSpPr>
        <p:spPr>
          <a:xfrm>
            <a:off x="5870448" y="1892808"/>
            <a:ext cx="2066544" cy="182880"/>
          </a:xfrm>
          <a:prstGeom prst="rect">
            <a:avLst/>
          </a:prstGeom>
          <a:noFill/>
          <a:ln/>
        </p:spPr>
        <p:txBody>
          <a:bodyPr wrap="square" lIns="0" tIns="0" rIns="0" bIns="0" rtlCol="0" anchor="ctr">
            <a:normAutofit/>
          </a:bodyPr>
          <a:lstStyle/>
          <a:p>
            <a:pPr marL="0" indent="0" algn="ctr">
              <a:buNone/>
            </a:pPr>
            <a:r>
              <a:rPr lang="en-US" sz="850" i="1" dirty="0">
                <a:solidFill>
                  <a:srgbClr val="F2F4F7"/>
                </a:solidFill>
              </a:rPr>
              <a:t>technical feasibility</a:t>
            </a:r>
            <a:endParaRPr lang="en-US" sz="850" dirty="0"/>
          </a:p>
        </p:txBody>
      </p:sp>
      <p:sp>
        <p:nvSpPr>
          <p:cNvPr id="20" name="Shape 18"/>
          <p:cNvSpPr/>
          <p:nvPr/>
        </p:nvSpPr>
        <p:spPr>
          <a:xfrm>
            <a:off x="8275320" y="960120"/>
            <a:ext cx="2286000" cy="960120"/>
          </a:xfrm>
          <a:prstGeom prst="roundRect">
            <a:avLst>
              <a:gd name="adj" fmla="val 3810"/>
            </a:avLst>
          </a:prstGeom>
          <a:solidFill>
            <a:srgbClr val="E8733A"/>
          </a:solidFill>
          <a:ln w="12700">
            <a:solidFill>
              <a:srgbClr val="E8733A"/>
            </a:solidFill>
            <a:prstDash val="solid"/>
          </a:ln>
        </p:spPr>
      </p:sp>
      <p:sp>
        <p:nvSpPr>
          <p:cNvPr id="21" name="Text 19"/>
          <p:cNvSpPr/>
          <p:nvPr/>
        </p:nvSpPr>
        <p:spPr>
          <a:xfrm>
            <a:off x="8275320" y="1179576"/>
            <a:ext cx="2286000" cy="402336"/>
          </a:xfrm>
          <a:prstGeom prst="rect">
            <a:avLst/>
          </a:prstGeom>
          <a:noFill/>
          <a:ln/>
        </p:spPr>
        <p:txBody>
          <a:bodyPr wrap="square" lIns="0" tIns="0" rIns="0" bIns="0" rtlCol="0" anchor="ctr"/>
          <a:lstStyle/>
          <a:p>
            <a:pPr marL="0" indent="0" algn="ctr">
              <a:buNone/>
            </a:pPr>
            <a:r>
              <a:rPr lang="en-US" sz="3000" b="1" dirty="0">
                <a:solidFill>
                  <a:srgbClr val="FFFFFF"/>
                </a:solidFill>
              </a:rPr>
              <a:t>2</a:t>
            </a:r>
            <a:endParaRPr lang="en-US" sz="3000" dirty="0"/>
          </a:p>
        </p:txBody>
      </p:sp>
      <p:sp>
        <p:nvSpPr>
          <p:cNvPr id="22" name="Text 20"/>
          <p:cNvSpPr/>
          <p:nvPr/>
        </p:nvSpPr>
        <p:spPr>
          <a:xfrm>
            <a:off x="8385048" y="1673352"/>
            <a:ext cx="2066544" cy="228600"/>
          </a:xfrm>
          <a:prstGeom prst="rect">
            <a:avLst/>
          </a:prstGeom>
          <a:noFill/>
          <a:ln/>
        </p:spPr>
        <p:txBody>
          <a:bodyPr wrap="square" lIns="0" tIns="0" rIns="0" bIns="0" rtlCol="0" anchor="ctr">
            <a:normAutofit/>
          </a:bodyPr>
          <a:lstStyle/>
          <a:p>
            <a:pPr marL="0" indent="0" algn="ctr">
              <a:buNone/>
            </a:pPr>
            <a:r>
              <a:rPr lang="en-US" sz="1050" dirty="0">
                <a:solidFill>
                  <a:srgbClr val="FFFFFF"/>
                </a:solidFill>
              </a:rPr>
              <a:t>Conceptual / roadmap</a:t>
            </a:r>
            <a:endParaRPr lang="en-US" sz="1050" dirty="0"/>
          </a:p>
        </p:txBody>
      </p:sp>
      <p:sp>
        <p:nvSpPr>
          <p:cNvPr id="23" name="Text 21"/>
          <p:cNvSpPr/>
          <p:nvPr/>
        </p:nvSpPr>
        <p:spPr>
          <a:xfrm>
            <a:off x="8385048" y="1892808"/>
            <a:ext cx="2066544" cy="182880"/>
          </a:xfrm>
          <a:prstGeom prst="rect">
            <a:avLst/>
          </a:prstGeom>
          <a:noFill/>
          <a:ln/>
        </p:spPr>
        <p:txBody>
          <a:bodyPr wrap="square" lIns="0" tIns="0" rIns="0" bIns="0" rtlCol="0" anchor="ctr">
            <a:normAutofit/>
          </a:bodyPr>
          <a:lstStyle/>
          <a:p>
            <a:pPr marL="0" indent="0" algn="ctr">
              <a:buNone/>
            </a:pPr>
            <a:r>
              <a:rPr lang="en-US" sz="850" i="1" dirty="0">
                <a:solidFill>
                  <a:srgbClr val="F2F4F7"/>
                </a:solidFill>
              </a:rPr>
              <a:t>early maturity</a:t>
            </a:r>
            <a:endParaRPr lang="en-US" sz="850" dirty="0"/>
          </a:p>
        </p:txBody>
      </p:sp>
      <p:sp>
        <p:nvSpPr>
          <p:cNvPr id="24" name="Shape 22"/>
          <p:cNvSpPr/>
          <p:nvPr/>
        </p:nvSpPr>
        <p:spPr>
          <a:xfrm>
            <a:off x="731520" y="2423160"/>
            <a:ext cx="10744200" cy="1920240"/>
          </a:xfrm>
          <a:prstGeom prst="roundRect">
            <a:avLst>
              <a:gd name="adj" fmla="val 1905"/>
            </a:avLst>
          </a:prstGeom>
          <a:solidFill>
            <a:srgbClr val="FFFFFF"/>
          </a:solidFill>
          <a:ln w="12700">
            <a:solidFill>
              <a:srgbClr val="E8ECF2"/>
            </a:solidFill>
            <a:prstDash val="solid"/>
          </a:ln>
        </p:spPr>
      </p:sp>
      <p:sp>
        <p:nvSpPr>
          <p:cNvPr id="25" name="Text 23"/>
          <p:cNvSpPr/>
          <p:nvPr/>
        </p:nvSpPr>
        <p:spPr>
          <a:xfrm>
            <a:off x="960120" y="2651760"/>
            <a:ext cx="2743200" cy="256032"/>
          </a:xfrm>
          <a:prstGeom prst="rect">
            <a:avLst/>
          </a:prstGeom>
          <a:noFill/>
          <a:ln/>
        </p:spPr>
        <p:txBody>
          <a:bodyPr wrap="square" lIns="0" tIns="0" rIns="0" bIns="0" rtlCol="0" anchor="ctr"/>
          <a:lstStyle/>
          <a:p>
            <a:pPr marL="0" indent="0">
              <a:buNone/>
            </a:pPr>
            <a:r>
              <a:rPr lang="en-US" sz="1700" b="1" dirty="0">
                <a:solidFill>
                  <a:srgbClr val="303846"/>
                </a:solidFill>
              </a:rPr>
              <a:t>Maturity Interpretation</a:t>
            </a:r>
            <a:endParaRPr lang="en-US" sz="1700" dirty="0"/>
          </a:p>
        </p:txBody>
      </p:sp>
      <p:sp>
        <p:nvSpPr>
          <p:cNvPr id="26" name="Text 24"/>
          <p:cNvSpPr/>
          <p:nvPr/>
        </p:nvSpPr>
        <p:spPr>
          <a:xfrm>
            <a:off x="960120" y="3063240"/>
            <a:ext cx="9921240" cy="822960"/>
          </a:xfrm>
          <a:prstGeom prst="rect">
            <a:avLst/>
          </a:prstGeom>
          <a:noFill/>
          <a:ln/>
        </p:spPr>
        <p:txBody>
          <a:bodyPr wrap="square" lIns="889" tIns="889" rIns="889" bIns="889" rtlCol="0" anchor="ctr">
            <a:normAutofit/>
          </a:bodyPr>
          <a:lstStyle/>
          <a:p>
            <a:pPr marL="0" indent="0">
              <a:buNone/>
            </a:pPr>
            <a:r>
              <a:rPr lang="en-US" sz="1250" dirty="0">
                <a:solidFill>
                  <a:srgbClr val="303846"/>
                </a:solidFill>
              </a:rPr>
              <a:t>• The majority of studies remain simulation-, prototype-, or pilot-oriented.
• Only a minority demonstrate continuous bidirectional closed-loop industrial control.
• Recent papers move toward AI-enhanced and adaptive control, but V&amp;V, safety assurance, and interoperability are often weakly specified.</a:t>
            </a:r>
            <a:endParaRPr lang="en-US" sz="1250" dirty="0"/>
          </a:p>
        </p:txBody>
      </p:sp>
      <p:sp>
        <p:nvSpPr>
          <p:cNvPr id="27" name="Shape 25"/>
          <p:cNvSpPr/>
          <p:nvPr/>
        </p:nvSpPr>
        <p:spPr>
          <a:xfrm>
            <a:off x="731520" y="4709160"/>
            <a:ext cx="10744200" cy="868680"/>
          </a:xfrm>
          <a:prstGeom prst="roundRect">
            <a:avLst>
              <a:gd name="adj" fmla="val 4211"/>
            </a:avLst>
          </a:prstGeom>
          <a:solidFill>
            <a:srgbClr val="FFF7E8"/>
          </a:solidFill>
          <a:ln w="12700">
            <a:solidFill>
              <a:srgbClr val="F0CE8E"/>
            </a:solidFill>
            <a:prstDash val="solid"/>
          </a:ln>
        </p:spPr>
      </p:sp>
      <p:sp>
        <p:nvSpPr>
          <p:cNvPr id="28" name="Text 26"/>
          <p:cNvSpPr/>
          <p:nvPr/>
        </p:nvSpPr>
        <p:spPr>
          <a:xfrm>
            <a:off x="960120" y="4983480"/>
            <a:ext cx="914400" cy="219456"/>
          </a:xfrm>
          <a:prstGeom prst="rect">
            <a:avLst/>
          </a:prstGeom>
          <a:noFill/>
          <a:ln/>
        </p:spPr>
        <p:txBody>
          <a:bodyPr wrap="square" lIns="0" tIns="0" rIns="0" bIns="0" rtlCol="0" anchor="ctr"/>
          <a:lstStyle/>
          <a:p>
            <a:pPr marL="0" indent="0">
              <a:buNone/>
            </a:pPr>
            <a:r>
              <a:rPr lang="en-US" sz="1300" b="1" dirty="0">
                <a:solidFill>
                  <a:srgbClr val="E8733A"/>
                </a:solidFill>
              </a:rPr>
              <a:t>Takeaway:</a:t>
            </a:r>
            <a:endParaRPr lang="en-US" sz="1300" dirty="0"/>
          </a:p>
        </p:txBody>
      </p:sp>
      <p:sp>
        <p:nvSpPr>
          <p:cNvPr id="29" name="Text 27"/>
          <p:cNvSpPr/>
          <p:nvPr/>
        </p:nvSpPr>
        <p:spPr>
          <a:xfrm>
            <a:off x="1828800" y="4983480"/>
            <a:ext cx="8915400" cy="219456"/>
          </a:xfrm>
          <a:prstGeom prst="rect">
            <a:avLst/>
          </a:prstGeom>
          <a:noFill/>
          <a:ln/>
        </p:spPr>
        <p:txBody>
          <a:bodyPr wrap="square" lIns="0" tIns="0" rIns="0" bIns="0" rtlCol="0" anchor="ctr">
            <a:normAutofit/>
          </a:bodyPr>
          <a:lstStyle/>
          <a:p>
            <a:pPr marL="0" indent="0">
              <a:buNone/>
            </a:pPr>
            <a:r>
              <a:rPr lang="en-US" sz="1180" dirty="0">
                <a:solidFill>
                  <a:srgbClr val="303846"/>
                </a:solidFill>
              </a:rPr>
              <a:t>The literature is moving from simulation-based decision support toward real-time, adaptive, and prescriptive warehouse digital twins — but industrial maturity is still limited.</a:t>
            </a:r>
            <a:endParaRPr lang="en-US" sz="118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6F7F9"/>
        </a:solidFill>
        <a:effectLst/>
      </p:bgPr>
    </p:bg>
    <p:spTree>
      <p:nvGrpSpPr>
        <p:cNvPr id="1" name=""/>
        <p:cNvGrpSpPr/>
        <p:nvPr/>
      </p:nvGrpSpPr>
      <p:grpSpPr>
        <a:xfrm>
          <a:off x="0" y="0"/>
          <a:ext cx="0" cy="0"/>
          <a:chOff x="0" y="0"/>
          <a:chExt cx="0" cy="0"/>
        </a:xfrm>
      </p:grpSpPr>
      <p:sp>
        <p:nvSpPr>
          <p:cNvPr id="2" name="Shape 0"/>
          <p:cNvSpPr/>
          <p:nvPr/>
        </p:nvSpPr>
        <p:spPr>
          <a:xfrm>
            <a:off x="347472" y="329184"/>
            <a:ext cx="73152" cy="438912"/>
          </a:xfrm>
          <a:prstGeom prst="rect">
            <a:avLst/>
          </a:prstGeom>
          <a:solidFill>
            <a:srgbClr val="2F6BD8"/>
          </a:solidFill>
          <a:ln w="12700">
            <a:solidFill>
              <a:srgbClr val="2F6BD8"/>
            </a:solidFill>
            <a:prstDash val="solid"/>
          </a:ln>
        </p:spPr>
      </p:sp>
      <p:sp>
        <p:nvSpPr>
          <p:cNvPr id="3" name="Text 1"/>
          <p:cNvSpPr/>
          <p:nvPr/>
        </p:nvSpPr>
        <p:spPr>
          <a:xfrm>
            <a:off x="512064" y="292608"/>
            <a:ext cx="10789920" cy="502920"/>
          </a:xfrm>
          <a:prstGeom prst="rect">
            <a:avLst/>
          </a:prstGeom>
          <a:noFill/>
          <a:ln/>
        </p:spPr>
        <p:txBody>
          <a:bodyPr wrap="square" lIns="0" tIns="0" rIns="0" bIns="0" rtlCol="0" anchor="ctr"/>
          <a:lstStyle/>
          <a:p>
            <a:pPr marL="0" indent="0">
              <a:buNone/>
            </a:pPr>
            <a:r>
              <a:rPr lang="en-US" sz="2700" b="1" dirty="0">
                <a:solidFill>
                  <a:srgbClr val="303846"/>
                </a:solidFill>
                <a:latin typeface="Aptos Display" pitchFamily="34" charset="0"/>
                <a:ea typeface="Aptos Display" pitchFamily="34" charset="-122"/>
                <a:cs typeface="Aptos Display" pitchFamily="34" charset="-120"/>
              </a:rPr>
              <a:t>Results — Key Findings per Application Cluster</a:t>
            </a:r>
            <a:endParaRPr lang="en-US" sz="2700" dirty="0"/>
          </a:p>
        </p:txBody>
      </p:sp>
      <p:sp>
        <p:nvSpPr>
          <p:cNvPr id="4" name="Shape 2"/>
          <p:cNvSpPr/>
          <p:nvPr/>
        </p:nvSpPr>
        <p:spPr>
          <a:xfrm>
            <a:off x="0" y="6510528"/>
            <a:ext cx="12191695" cy="347472"/>
          </a:xfrm>
          <a:prstGeom prst="rect">
            <a:avLst/>
          </a:prstGeom>
          <a:solidFill>
            <a:srgbClr val="303846"/>
          </a:solidFill>
          <a:ln w="12700">
            <a:solidFill>
              <a:srgbClr val="303846"/>
            </a:solidFill>
            <a:prstDash val="solid"/>
          </a:ln>
        </p:spPr>
      </p:sp>
      <p:sp>
        <p:nvSpPr>
          <p:cNvPr id="5" name="Text 3"/>
          <p:cNvSpPr/>
          <p:nvPr/>
        </p:nvSpPr>
        <p:spPr>
          <a:xfrm>
            <a:off x="320040" y="6592824"/>
            <a:ext cx="6583680" cy="137160"/>
          </a:xfrm>
          <a:prstGeom prst="rect">
            <a:avLst/>
          </a:prstGeom>
          <a:noFill/>
          <a:ln/>
        </p:spPr>
        <p:txBody>
          <a:bodyPr wrap="square" lIns="0" tIns="0" rIns="0" bIns="0" rtlCol="0" anchor="ctr"/>
          <a:lstStyle/>
          <a:p>
            <a:pPr marL="0" indent="0">
              <a:buNone/>
            </a:pPr>
            <a:r>
              <a:rPr lang="en-US" sz="750" i="1" dirty="0">
                <a:solidFill>
                  <a:srgbClr val="F2F4F7"/>
                </a:solidFill>
              </a:rPr>
              <a:t>Digital Twin-Enabled Intralogistics — Systematic Review | SEN601</a:t>
            </a:r>
            <a:endParaRPr lang="en-US" sz="750" dirty="0"/>
          </a:p>
        </p:txBody>
      </p:sp>
      <p:sp>
        <p:nvSpPr>
          <p:cNvPr id="6" name="Text 4"/>
          <p:cNvSpPr/>
          <p:nvPr/>
        </p:nvSpPr>
        <p:spPr>
          <a:xfrm>
            <a:off x="10195560" y="6592824"/>
            <a:ext cx="1280160" cy="137160"/>
          </a:xfrm>
          <a:prstGeom prst="rect">
            <a:avLst/>
          </a:prstGeom>
          <a:noFill/>
          <a:ln/>
        </p:spPr>
        <p:txBody>
          <a:bodyPr wrap="square" lIns="0" tIns="0" rIns="0" bIns="0" rtlCol="0" anchor="ctr"/>
          <a:lstStyle/>
          <a:p>
            <a:pPr marL="0" indent="0" algn="r">
              <a:buNone/>
            </a:pPr>
            <a:r>
              <a:rPr lang="en-US" sz="750" dirty="0">
                <a:solidFill>
                  <a:srgbClr val="F2F4F7"/>
                </a:solidFill>
              </a:rPr>
              <a:t>RQ1–RQ4 Findings</a:t>
            </a:r>
            <a:endParaRPr lang="en-US" sz="750" dirty="0"/>
          </a:p>
        </p:txBody>
      </p:sp>
      <p:sp>
        <p:nvSpPr>
          <p:cNvPr id="7" name="Text 5"/>
          <p:cNvSpPr/>
          <p:nvPr/>
        </p:nvSpPr>
        <p:spPr>
          <a:xfrm>
            <a:off x="11539728" y="6583680"/>
            <a:ext cx="329184" cy="146304"/>
          </a:xfrm>
          <a:prstGeom prst="rect">
            <a:avLst/>
          </a:prstGeom>
          <a:noFill/>
          <a:ln/>
        </p:spPr>
        <p:txBody>
          <a:bodyPr wrap="square" lIns="0" tIns="0" rIns="0" bIns="0" rtlCol="0" anchor="ctr"/>
          <a:lstStyle/>
          <a:p>
            <a:pPr marL="0" indent="0" algn="r">
              <a:buNone/>
            </a:pPr>
            <a:r>
              <a:rPr lang="en-US" sz="850" dirty="0">
                <a:solidFill>
                  <a:srgbClr val="F2F4F7"/>
                </a:solidFill>
              </a:rPr>
              <a:t>15</a:t>
            </a:r>
            <a:endParaRPr lang="en-US" sz="850" dirty="0"/>
          </a:p>
        </p:txBody>
      </p:sp>
      <p:sp>
        <p:nvSpPr>
          <p:cNvPr id="8" name="Shape 6"/>
          <p:cNvSpPr/>
          <p:nvPr/>
        </p:nvSpPr>
        <p:spPr>
          <a:xfrm>
            <a:off x="685800" y="1143000"/>
            <a:ext cx="5166360" cy="1828800"/>
          </a:xfrm>
          <a:prstGeom prst="roundRect">
            <a:avLst>
              <a:gd name="adj" fmla="val 2000"/>
            </a:avLst>
          </a:prstGeom>
          <a:solidFill>
            <a:srgbClr val="FFFFFF"/>
          </a:solidFill>
          <a:ln w="12700">
            <a:solidFill>
              <a:srgbClr val="E8ECF2"/>
            </a:solidFill>
            <a:prstDash val="solid"/>
          </a:ln>
        </p:spPr>
      </p:sp>
      <p:sp>
        <p:nvSpPr>
          <p:cNvPr id="9" name="Shape 7"/>
          <p:cNvSpPr/>
          <p:nvPr/>
        </p:nvSpPr>
        <p:spPr>
          <a:xfrm>
            <a:off x="685800" y="1143000"/>
            <a:ext cx="5166360" cy="347472"/>
          </a:xfrm>
          <a:prstGeom prst="rect">
            <a:avLst/>
          </a:prstGeom>
          <a:solidFill>
            <a:srgbClr val="273C75"/>
          </a:solidFill>
          <a:ln w="12700">
            <a:solidFill>
              <a:srgbClr val="273C75"/>
            </a:solidFill>
            <a:prstDash val="solid"/>
          </a:ln>
        </p:spPr>
      </p:sp>
      <p:sp>
        <p:nvSpPr>
          <p:cNvPr id="10" name="Text 8"/>
          <p:cNvSpPr/>
          <p:nvPr/>
        </p:nvSpPr>
        <p:spPr>
          <a:xfrm>
            <a:off x="685800" y="1161288"/>
            <a:ext cx="5166360" cy="347472"/>
          </a:xfrm>
          <a:prstGeom prst="rect">
            <a:avLst/>
          </a:prstGeom>
          <a:noFill/>
          <a:ln/>
        </p:spPr>
        <p:txBody>
          <a:bodyPr wrap="square" lIns="254" tIns="254" rIns="254" bIns="254" rtlCol="0" anchor="ctr"/>
          <a:lstStyle/>
          <a:p>
            <a:pPr marL="0" indent="0" algn="ctr">
              <a:buNone/>
            </a:pPr>
            <a:r>
              <a:rPr lang="en-US" sz="930" b="1" dirty="0">
                <a:solidFill>
                  <a:srgbClr val="FFFFFF"/>
                </a:solidFill>
              </a:rPr>
              <a:t>Order Picking / Fulfillment (S1, S2, S3, S13)</a:t>
            </a:r>
            <a:endParaRPr lang="en-US" sz="930" dirty="0"/>
          </a:p>
        </p:txBody>
      </p:sp>
      <p:sp>
        <p:nvSpPr>
          <p:cNvPr id="11" name="Text 9"/>
          <p:cNvSpPr/>
          <p:nvPr/>
        </p:nvSpPr>
        <p:spPr>
          <a:xfrm>
            <a:off x="886968" y="1737360"/>
            <a:ext cx="4617720" cy="822960"/>
          </a:xfrm>
          <a:prstGeom prst="rect">
            <a:avLst/>
          </a:prstGeom>
          <a:noFill/>
          <a:ln/>
        </p:spPr>
        <p:txBody>
          <a:bodyPr wrap="square" lIns="889" tIns="889" rIns="889" bIns="889" rtlCol="0" anchor="ctr">
            <a:normAutofit/>
          </a:bodyPr>
          <a:lstStyle/>
          <a:p>
            <a:pPr marL="0" indent="0">
              <a:buNone/>
            </a:pPr>
            <a:r>
              <a:rPr lang="en-US" sz="1020" dirty="0">
                <a:solidFill>
                  <a:srgbClr val="303846"/>
                </a:solidFill>
              </a:rPr>
              <a:t>• DTs support scenario testing, picking-path planning, rule comparison, and balancing picking with outbound loading.
• Kawczynski et al.; Legato &amp; Mazza; Guerrazzi et al.; Cao &amp; Lei</a:t>
            </a:r>
            <a:endParaRPr lang="en-US" sz="1020" dirty="0"/>
          </a:p>
        </p:txBody>
      </p:sp>
      <p:sp>
        <p:nvSpPr>
          <p:cNvPr id="12" name="Shape 10"/>
          <p:cNvSpPr/>
          <p:nvPr/>
        </p:nvSpPr>
        <p:spPr>
          <a:xfrm>
            <a:off x="6263640" y="1143000"/>
            <a:ext cx="5166360" cy="1828800"/>
          </a:xfrm>
          <a:prstGeom prst="roundRect">
            <a:avLst>
              <a:gd name="adj" fmla="val 2000"/>
            </a:avLst>
          </a:prstGeom>
          <a:solidFill>
            <a:srgbClr val="FFFFFF"/>
          </a:solidFill>
          <a:ln w="12700">
            <a:solidFill>
              <a:srgbClr val="E8ECF2"/>
            </a:solidFill>
            <a:prstDash val="solid"/>
          </a:ln>
        </p:spPr>
      </p:sp>
      <p:sp>
        <p:nvSpPr>
          <p:cNvPr id="13" name="Shape 11"/>
          <p:cNvSpPr/>
          <p:nvPr/>
        </p:nvSpPr>
        <p:spPr>
          <a:xfrm>
            <a:off x="6263640" y="1143000"/>
            <a:ext cx="5166360" cy="347472"/>
          </a:xfrm>
          <a:prstGeom prst="rect">
            <a:avLst/>
          </a:prstGeom>
          <a:solidFill>
            <a:srgbClr val="2F6BD8"/>
          </a:solidFill>
          <a:ln w="12700">
            <a:solidFill>
              <a:srgbClr val="2F6BD8"/>
            </a:solidFill>
            <a:prstDash val="solid"/>
          </a:ln>
        </p:spPr>
      </p:sp>
      <p:sp>
        <p:nvSpPr>
          <p:cNvPr id="14" name="Text 12"/>
          <p:cNvSpPr/>
          <p:nvPr/>
        </p:nvSpPr>
        <p:spPr>
          <a:xfrm>
            <a:off x="6263640" y="1161288"/>
            <a:ext cx="5166360" cy="347472"/>
          </a:xfrm>
          <a:prstGeom prst="rect">
            <a:avLst/>
          </a:prstGeom>
          <a:noFill/>
          <a:ln/>
        </p:spPr>
        <p:txBody>
          <a:bodyPr wrap="square" lIns="254" tIns="254" rIns="254" bIns="254" rtlCol="0" anchor="ctr"/>
          <a:lstStyle/>
          <a:p>
            <a:pPr marL="0" indent="0" algn="ctr">
              <a:buNone/>
            </a:pPr>
            <a:r>
              <a:rPr lang="en-US" sz="930" b="1" dirty="0">
                <a:solidFill>
                  <a:srgbClr val="FFFFFF"/>
                </a:solidFill>
              </a:rPr>
              <a:t>Transport / AGV / Material Handling (S4, S5, S6, S11, S12)</a:t>
            </a:r>
            <a:endParaRPr lang="en-US" sz="930" dirty="0"/>
          </a:p>
        </p:txBody>
      </p:sp>
      <p:sp>
        <p:nvSpPr>
          <p:cNvPr id="15" name="Text 13"/>
          <p:cNvSpPr/>
          <p:nvPr/>
        </p:nvSpPr>
        <p:spPr>
          <a:xfrm>
            <a:off x="6464808" y="1737360"/>
            <a:ext cx="4617720" cy="822960"/>
          </a:xfrm>
          <a:prstGeom prst="rect">
            <a:avLst/>
          </a:prstGeom>
          <a:noFill/>
          <a:ln/>
        </p:spPr>
        <p:txBody>
          <a:bodyPr wrap="square" lIns="889" tIns="889" rIns="889" bIns="889" rtlCol="0" anchor="ctr">
            <a:normAutofit/>
          </a:bodyPr>
          <a:lstStyle/>
          <a:p>
            <a:pPr marL="0" indent="0">
              <a:buNone/>
            </a:pPr>
            <a:r>
              <a:rPr lang="en-US" sz="1020" dirty="0">
                <a:solidFill>
                  <a:srgbClr val="303846"/>
                </a:solidFill>
              </a:rPr>
              <a:t>• DTs combine routing, sensors, PLC/OPC UA, capacity planning, and lab validation for logistics control.
• Zhang et al.; Yao et al.; Felix-Cigalat &amp; Domingo; Vachalek et al.; Rigo et al.</a:t>
            </a:r>
            <a:endParaRPr lang="en-US" sz="1020" dirty="0"/>
          </a:p>
        </p:txBody>
      </p:sp>
      <p:sp>
        <p:nvSpPr>
          <p:cNvPr id="16" name="Shape 14"/>
          <p:cNvSpPr/>
          <p:nvPr/>
        </p:nvSpPr>
        <p:spPr>
          <a:xfrm>
            <a:off x="685800" y="3703320"/>
            <a:ext cx="5166360" cy="1828800"/>
          </a:xfrm>
          <a:prstGeom prst="roundRect">
            <a:avLst>
              <a:gd name="adj" fmla="val 2000"/>
            </a:avLst>
          </a:prstGeom>
          <a:solidFill>
            <a:srgbClr val="FFFFFF"/>
          </a:solidFill>
          <a:ln w="12700">
            <a:solidFill>
              <a:srgbClr val="E8ECF2"/>
            </a:solidFill>
            <a:prstDash val="solid"/>
          </a:ln>
        </p:spPr>
      </p:sp>
      <p:sp>
        <p:nvSpPr>
          <p:cNvPr id="17" name="Shape 15"/>
          <p:cNvSpPr/>
          <p:nvPr/>
        </p:nvSpPr>
        <p:spPr>
          <a:xfrm>
            <a:off x="685800" y="3703320"/>
            <a:ext cx="5166360" cy="347472"/>
          </a:xfrm>
          <a:prstGeom prst="rect">
            <a:avLst/>
          </a:prstGeom>
          <a:solidFill>
            <a:srgbClr val="177E89"/>
          </a:solidFill>
          <a:ln w="12700">
            <a:solidFill>
              <a:srgbClr val="177E89"/>
            </a:solidFill>
            <a:prstDash val="solid"/>
          </a:ln>
        </p:spPr>
      </p:sp>
      <p:sp>
        <p:nvSpPr>
          <p:cNvPr id="18" name="Text 16"/>
          <p:cNvSpPr/>
          <p:nvPr/>
        </p:nvSpPr>
        <p:spPr>
          <a:xfrm>
            <a:off x="685800" y="3721608"/>
            <a:ext cx="5166360" cy="347472"/>
          </a:xfrm>
          <a:prstGeom prst="rect">
            <a:avLst/>
          </a:prstGeom>
          <a:noFill/>
          <a:ln/>
        </p:spPr>
        <p:txBody>
          <a:bodyPr wrap="square" lIns="254" tIns="254" rIns="254" bIns="254" rtlCol="0" anchor="ctr"/>
          <a:lstStyle/>
          <a:p>
            <a:pPr marL="0" indent="0" algn="ctr">
              <a:buNone/>
            </a:pPr>
            <a:r>
              <a:rPr lang="en-US" sz="930" b="1" dirty="0">
                <a:solidFill>
                  <a:srgbClr val="FFFFFF"/>
                </a:solidFill>
              </a:rPr>
              <a:t>Production–Logistics Synchronization (S7, S8, S9, S14)</a:t>
            </a:r>
            <a:endParaRPr lang="en-US" sz="930" dirty="0"/>
          </a:p>
        </p:txBody>
      </p:sp>
      <p:sp>
        <p:nvSpPr>
          <p:cNvPr id="19" name="Text 17"/>
          <p:cNvSpPr/>
          <p:nvPr/>
        </p:nvSpPr>
        <p:spPr>
          <a:xfrm>
            <a:off x="886968" y="4297680"/>
            <a:ext cx="4617720" cy="822960"/>
          </a:xfrm>
          <a:prstGeom prst="rect">
            <a:avLst/>
          </a:prstGeom>
          <a:noFill/>
          <a:ln/>
        </p:spPr>
        <p:txBody>
          <a:bodyPr wrap="square" lIns="889" tIns="889" rIns="889" bIns="889" rtlCol="0" anchor="ctr">
            <a:normAutofit/>
          </a:bodyPr>
          <a:lstStyle/>
          <a:p>
            <a:pPr marL="0" indent="0">
              <a:buNone/>
            </a:pPr>
            <a:r>
              <a:rPr lang="en-US" sz="1020" dirty="0">
                <a:solidFill>
                  <a:srgbClr val="303846"/>
                </a:solidFill>
              </a:rPr>
              <a:t>• DTs coordinate resources across production, intralogistics, and delivery under disturbances.
• Liu et al.; Zhao et al.; Li et al.; Hong et al.</a:t>
            </a:r>
            <a:endParaRPr lang="en-US" sz="1020" dirty="0"/>
          </a:p>
        </p:txBody>
      </p:sp>
      <p:sp>
        <p:nvSpPr>
          <p:cNvPr id="20" name="Shape 18"/>
          <p:cNvSpPr/>
          <p:nvPr/>
        </p:nvSpPr>
        <p:spPr>
          <a:xfrm>
            <a:off x="6263640" y="3703320"/>
            <a:ext cx="5166360" cy="1828800"/>
          </a:xfrm>
          <a:prstGeom prst="roundRect">
            <a:avLst>
              <a:gd name="adj" fmla="val 2000"/>
            </a:avLst>
          </a:prstGeom>
          <a:solidFill>
            <a:srgbClr val="FFFFFF"/>
          </a:solidFill>
          <a:ln w="12700">
            <a:solidFill>
              <a:srgbClr val="E8ECF2"/>
            </a:solidFill>
            <a:prstDash val="solid"/>
          </a:ln>
        </p:spPr>
      </p:sp>
      <p:sp>
        <p:nvSpPr>
          <p:cNvPr id="21" name="Shape 19"/>
          <p:cNvSpPr/>
          <p:nvPr/>
        </p:nvSpPr>
        <p:spPr>
          <a:xfrm>
            <a:off x="6263640" y="3703320"/>
            <a:ext cx="5166360" cy="347472"/>
          </a:xfrm>
          <a:prstGeom prst="rect">
            <a:avLst/>
          </a:prstGeom>
          <a:solidFill>
            <a:srgbClr val="E8733A"/>
          </a:solidFill>
          <a:ln w="12700">
            <a:solidFill>
              <a:srgbClr val="E8733A"/>
            </a:solidFill>
            <a:prstDash val="solid"/>
          </a:ln>
        </p:spPr>
      </p:sp>
      <p:sp>
        <p:nvSpPr>
          <p:cNvPr id="22" name="Text 20"/>
          <p:cNvSpPr/>
          <p:nvPr/>
        </p:nvSpPr>
        <p:spPr>
          <a:xfrm>
            <a:off x="6263640" y="3721608"/>
            <a:ext cx="5166360" cy="347472"/>
          </a:xfrm>
          <a:prstGeom prst="rect">
            <a:avLst/>
          </a:prstGeom>
          <a:noFill/>
          <a:ln/>
        </p:spPr>
        <p:txBody>
          <a:bodyPr wrap="square" lIns="254" tIns="254" rIns="254" bIns="254" rtlCol="0" anchor="ctr"/>
          <a:lstStyle/>
          <a:p>
            <a:pPr marL="0" indent="0" algn="ctr">
              <a:buNone/>
            </a:pPr>
            <a:r>
              <a:rPr lang="en-US" sz="930" b="1" dirty="0">
                <a:solidFill>
                  <a:srgbClr val="FFFFFF"/>
                </a:solidFill>
              </a:rPr>
              <a:t>Smart Warehouse State Control (S10, S15)</a:t>
            </a:r>
            <a:endParaRPr lang="en-US" sz="930" dirty="0"/>
          </a:p>
        </p:txBody>
      </p:sp>
      <p:sp>
        <p:nvSpPr>
          <p:cNvPr id="23" name="Text 21"/>
          <p:cNvSpPr/>
          <p:nvPr/>
        </p:nvSpPr>
        <p:spPr>
          <a:xfrm>
            <a:off x="6464808" y="4297680"/>
            <a:ext cx="4617720" cy="822960"/>
          </a:xfrm>
          <a:prstGeom prst="rect">
            <a:avLst/>
          </a:prstGeom>
          <a:noFill/>
          <a:ln/>
        </p:spPr>
        <p:txBody>
          <a:bodyPr wrap="square" lIns="889" tIns="889" rIns="889" bIns="889" rtlCol="0" anchor="ctr">
            <a:normAutofit/>
          </a:bodyPr>
          <a:lstStyle/>
          <a:p>
            <a:pPr marL="0" indent="0">
              <a:buNone/>
            </a:pPr>
            <a:r>
              <a:rPr lang="en-US" sz="1020" dirty="0">
                <a:solidFill>
                  <a:srgbClr val="303846"/>
                </a:solidFill>
              </a:rPr>
              <a:t>• Research advances toward adaptive opti-state control, synchronized operating environments, and resilience-oriented control.
• Ferrari et al.; Zhang et al.</a:t>
            </a:r>
            <a:endParaRPr lang="en-US" sz="102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6F7F9"/>
        </a:solidFill>
        <a:effectLst/>
      </p:bgPr>
    </p:bg>
    <p:spTree>
      <p:nvGrpSpPr>
        <p:cNvPr id="1" name=""/>
        <p:cNvGrpSpPr/>
        <p:nvPr/>
      </p:nvGrpSpPr>
      <p:grpSpPr>
        <a:xfrm>
          <a:off x="0" y="0"/>
          <a:ext cx="0" cy="0"/>
          <a:chOff x="0" y="0"/>
          <a:chExt cx="0" cy="0"/>
        </a:xfrm>
      </p:grpSpPr>
      <p:sp>
        <p:nvSpPr>
          <p:cNvPr id="2" name="Shape 0"/>
          <p:cNvSpPr/>
          <p:nvPr/>
        </p:nvSpPr>
        <p:spPr>
          <a:xfrm>
            <a:off x="347472" y="329184"/>
            <a:ext cx="73152" cy="438912"/>
          </a:xfrm>
          <a:prstGeom prst="rect">
            <a:avLst/>
          </a:prstGeom>
          <a:solidFill>
            <a:srgbClr val="2F6BD8"/>
          </a:solidFill>
          <a:ln w="12700">
            <a:solidFill>
              <a:srgbClr val="2F6BD8"/>
            </a:solidFill>
            <a:prstDash val="solid"/>
          </a:ln>
        </p:spPr>
      </p:sp>
      <p:sp>
        <p:nvSpPr>
          <p:cNvPr id="3" name="Text 1"/>
          <p:cNvSpPr/>
          <p:nvPr/>
        </p:nvSpPr>
        <p:spPr>
          <a:xfrm>
            <a:off x="512064" y="292608"/>
            <a:ext cx="10789920" cy="502920"/>
          </a:xfrm>
          <a:prstGeom prst="rect">
            <a:avLst/>
          </a:prstGeom>
          <a:noFill/>
          <a:ln/>
        </p:spPr>
        <p:txBody>
          <a:bodyPr wrap="square" lIns="0" tIns="0" rIns="0" bIns="0" rtlCol="0" anchor="ctr"/>
          <a:lstStyle/>
          <a:p>
            <a:pPr marL="0" indent="0">
              <a:buNone/>
            </a:pPr>
            <a:r>
              <a:rPr lang="en-US" sz="2700" b="1" dirty="0">
                <a:solidFill>
                  <a:srgbClr val="303846"/>
                </a:solidFill>
                <a:latin typeface="Aptos Display" pitchFamily="34" charset="0"/>
                <a:ea typeface="Aptos Display" pitchFamily="34" charset="-122"/>
                <a:cs typeface="Aptos Display" pitchFamily="34" charset="-120"/>
              </a:rPr>
              <a:t>Discussion — Key Findings &amp; Interpretation</a:t>
            </a:r>
            <a:endParaRPr lang="en-US" sz="2700" dirty="0"/>
          </a:p>
        </p:txBody>
      </p:sp>
      <p:sp>
        <p:nvSpPr>
          <p:cNvPr id="4" name="Shape 2"/>
          <p:cNvSpPr/>
          <p:nvPr/>
        </p:nvSpPr>
        <p:spPr>
          <a:xfrm>
            <a:off x="0" y="6510528"/>
            <a:ext cx="12191695" cy="347472"/>
          </a:xfrm>
          <a:prstGeom prst="rect">
            <a:avLst/>
          </a:prstGeom>
          <a:solidFill>
            <a:srgbClr val="303846"/>
          </a:solidFill>
          <a:ln w="12700">
            <a:solidFill>
              <a:srgbClr val="303846"/>
            </a:solidFill>
            <a:prstDash val="solid"/>
          </a:ln>
        </p:spPr>
      </p:sp>
      <p:sp>
        <p:nvSpPr>
          <p:cNvPr id="5" name="Text 3"/>
          <p:cNvSpPr/>
          <p:nvPr/>
        </p:nvSpPr>
        <p:spPr>
          <a:xfrm>
            <a:off x="320040" y="6592824"/>
            <a:ext cx="6583680" cy="137160"/>
          </a:xfrm>
          <a:prstGeom prst="rect">
            <a:avLst/>
          </a:prstGeom>
          <a:noFill/>
          <a:ln/>
        </p:spPr>
        <p:txBody>
          <a:bodyPr wrap="square" lIns="0" tIns="0" rIns="0" bIns="0" rtlCol="0" anchor="ctr"/>
          <a:lstStyle/>
          <a:p>
            <a:pPr marL="0" indent="0">
              <a:buNone/>
            </a:pPr>
            <a:r>
              <a:rPr lang="en-US" sz="750" i="1" dirty="0">
                <a:solidFill>
                  <a:srgbClr val="F2F4F7"/>
                </a:solidFill>
              </a:rPr>
              <a:t>Digital Twin-Enabled Intralogistics — Systematic Review | SEN601</a:t>
            </a:r>
            <a:endParaRPr lang="en-US" sz="750" dirty="0"/>
          </a:p>
        </p:txBody>
      </p:sp>
      <p:sp>
        <p:nvSpPr>
          <p:cNvPr id="6" name="Text 4"/>
          <p:cNvSpPr/>
          <p:nvPr/>
        </p:nvSpPr>
        <p:spPr>
          <a:xfrm>
            <a:off x="10195560" y="6592824"/>
            <a:ext cx="1280160" cy="137160"/>
          </a:xfrm>
          <a:prstGeom prst="rect">
            <a:avLst/>
          </a:prstGeom>
          <a:noFill/>
          <a:ln/>
        </p:spPr>
        <p:txBody>
          <a:bodyPr wrap="square" lIns="0" tIns="0" rIns="0" bIns="0" rtlCol="0" anchor="ctr"/>
          <a:lstStyle/>
          <a:p>
            <a:pPr marL="0" indent="0" algn="r">
              <a:buNone/>
            </a:pPr>
            <a:r>
              <a:rPr lang="en-US" sz="750" dirty="0">
                <a:solidFill>
                  <a:srgbClr val="F2F4F7"/>
                </a:solidFill>
              </a:rPr>
              <a:t>Discussion</a:t>
            </a:r>
            <a:endParaRPr lang="en-US" sz="750" dirty="0"/>
          </a:p>
        </p:txBody>
      </p:sp>
      <p:sp>
        <p:nvSpPr>
          <p:cNvPr id="7" name="Text 5"/>
          <p:cNvSpPr/>
          <p:nvPr/>
        </p:nvSpPr>
        <p:spPr>
          <a:xfrm>
            <a:off x="11539728" y="6583680"/>
            <a:ext cx="329184" cy="146304"/>
          </a:xfrm>
          <a:prstGeom prst="rect">
            <a:avLst/>
          </a:prstGeom>
          <a:noFill/>
          <a:ln/>
        </p:spPr>
        <p:txBody>
          <a:bodyPr wrap="square" lIns="0" tIns="0" rIns="0" bIns="0" rtlCol="0" anchor="ctr"/>
          <a:lstStyle/>
          <a:p>
            <a:pPr marL="0" indent="0" algn="r">
              <a:buNone/>
            </a:pPr>
            <a:r>
              <a:rPr lang="en-US" sz="850" dirty="0">
                <a:solidFill>
                  <a:srgbClr val="F2F4F7"/>
                </a:solidFill>
              </a:rPr>
              <a:t>16</a:t>
            </a:r>
            <a:endParaRPr lang="en-US" sz="850" dirty="0"/>
          </a:p>
        </p:txBody>
      </p:sp>
      <p:sp>
        <p:nvSpPr>
          <p:cNvPr id="8" name="Shape 6"/>
          <p:cNvSpPr/>
          <p:nvPr/>
        </p:nvSpPr>
        <p:spPr>
          <a:xfrm>
            <a:off x="685800" y="1005840"/>
            <a:ext cx="5166360" cy="1298448"/>
          </a:xfrm>
          <a:prstGeom prst="roundRect">
            <a:avLst>
              <a:gd name="adj" fmla="val 2817"/>
            </a:avLst>
          </a:prstGeom>
          <a:solidFill>
            <a:srgbClr val="FFFFFF"/>
          </a:solidFill>
          <a:ln w="12700">
            <a:solidFill>
              <a:srgbClr val="E8ECF2"/>
            </a:solidFill>
            <a:prstDash val="solid"/>
          </a:ln>
        </p:spPr>
      </p:sp>
      <p:sp>
        <p:nvSpPr>
          <p:cNvPr id="9" name="Shape 7"/>
          <p:cNvSpPr/>
          <p:nvPr/>
        </p:nvSpPr>
        <p:spPr>
          <a:xfrm>
            <a:off x="685800" y="1005840"/>
            <a:ext cx="566928" cy="1298448"/>
          </a:xfrm>
          <a:prstGeom prst="rect">
            <a:avLst/>
          </a:prstGeom>
          <a:solidFill>
            <a:srgbClr val="303846"/>
          </a:solidFill>
          <a:ln w="12700">
            <a:solidFill>
              <a:srgbClr val="303846"/>
            </a:solidFill>
            <a:prstDash val="solid"/>
          </a:ln>
        </p:spPr>
      </p:sp>
      <p:sp>
        <p:nvSpPr>
          <p:cNvPr id="10" name="Text 8"/>
          <p:cNvSpPr/>
          <p:nvPr/>
        </p:nvSpPr>
        <p:spPr>
          <a:xfrm>
            <a:off x="731520" y="1170432"/>
            <a:ext cx="457200" cy="274320"/>
          </a:xfrm>
          <a:prstGeom prst="rect">
            <a:avLst/>
          </a:prstGeom>
          <a:noFill/>
          <a:ln/>
        </p:spPr>
        <p:txBody>
          <a:bodyPr wrap="square" lIns="0" tIns="0" rIns="0" bIns="0" rtlCol="0" anchor="ctr"/>
          <a:lstStyle/>
          <a:p>
            <a:pPr marL="0" indent="0" algn="ctr">
              <a:buNone/>
            </a:pPr>
            <a:r>
              <a:rPr lang="en-US" sz="1400" b="1" dirty="0">
                <a:solidFill>
                  <a:srgbClr val="FFFFFF"/>
                </a:solidFill>
              </a:rPr>
              <a:t>01</a:t>
            </a:r>
            <a:endParaRPr lang="en-US" sz="1400" dirty="0"/>
          </a:p>
        </p:txBody>
      </p:sp>
      <p:sp>
        <p:nvSpPr>
          <p:cNvPr id="11" name="Text 9"/>
          <p:cNvSpPr/>
          <p:nvPr/>
        </p:nvSpPr>
        <p:spPr>
          <a:xfrm>
            <a:off x="1399032" y="1170432"/>
            <a:ext cx="4251960" cy="256032"/>
          </a:xfrm>
          <a:prstGeom prst="rect">
            <a:avLst/>
          </a:prstGeom>
          <a:noFill/>
          <a:ln/>
        </p:spPr>
        <p:txBody>
          <a:bodyPr wrap="square" lIns="0" tIns="0" rIns="0" bIns="0" rtlCol="0" anchor="ctr">
            <a:normAutofit/>
          </a:bodyPr>
          <a:lstStyle/>
          <a:p>
            <a:pPr marL="0" indent="0">
              <a:buNone/>
            </a:pPr>
            <a:r>
              <a:rPr lang="en-US" sz="1350" b="1" dirty="0">
                <a:solidFill>
                  <a:srgbClr val="303846"/>
                </a:solidFill>
              </a:rPr>
              <a:t>DTs are mostly decision-support artifacts</a:t>
            </a:r>
            <a:endParaRPr lang="en-US" sz="1350" dirty="0"/>
          </a:p>
        </p:txBody>
      </p:sp>
      <p:sp>
        <p:nvSpPr>
          <p:cNvPr id="12" name="Text 10"/>
          <p:cNvSpPr/>
          <p:nvPr/>
        </p:nvSpPr>
        <p:spPr>
          <a:xfrm>
            <a:off x="1399032" y="1536192"/>
            <a:ext cx="4160520" cy="475488"/>
          </a:xfrm>
          <a:prstGeom prst="rect">
            <a:avLst/>
          </a:prstGeom>
          <a:noFill/>
          <a:ln/>
        </p:spPr>
        <p:txBody>
          <a:bodyPr wrap="square" lIns="254" tIns="254" rIns="254" bIns="254" rtlCol="0" anchor="ctr">
            <a:normAutofit/>
          </a:bodyPr>
          <a:lstStyle/>
          <a:p>
            <a:pPr marL="0" indent="0">
              <a:buNone/>
            </a:pPr>
            <a:r>
              <a:rPr lang="en-US" sz="1070" dirty="0">
                <a:solidFill>
                  <a:srgbClr val="303846"/>
                </a:solidFill>
              </a:rPr>
              <a:t>The dominant role is comparing scenarios and improving operational choices rather than full autonomous control.</a:t>
            </a:r>
            <a:endParaRPr lang="en-US" sz="1070" dirty="0"/>
          </a:p>
        </p:txBody>
      </p:sp>
      <p:sp>
        <p:nvSpPr>
          <p:cNvPr id="13" name="Shape 11"/>
          <p:cNvSpPr/>
          <p:nvPr/>
        </p:nvSpPr>
        <p:spPr>
          <a:xfrm>
            <a:off x="6263640" y="1005840"/>
            <a:ext cx="5166360" cy="1298448"/>
          </a:xfrm>
          <a:prstGeom prst="roundRect">
            <a:avLst>
              <a:gd name="adj" fmla="val 2817"/>
            </a:avLst>
          </a:prstGeom>
          <a:solidFill>
            <a:srgbClr val="FFFFFF"/>
          </a:solidFill>
          <a:ln w="12700">
            <a:solidFill>
              <a:srgbClr val="E8ECF2"/>
            </a:solidFill>
            <a:prstDash val="solid"/>
          </a:ln>
        </p:spPr>
      </p:sp>
      <p:sp>
        <p:nvSpPr>
          <p:cNvPr id="14" name="Shape 12"/>
          <p:cNvSpPr/>
          <p:nvPr/>
        </p:nvSpPr>
        <p:spPr>
          <a:xfrm>
            <a:off x="6263640" y="1005840"/>
            <a:ext cx="566928" cy="1298448"/>
          </a:xfrm>
          <a:prstGeom prst="rect">
            <a:avLst/>
          </a:prstGeom>
          <a:solidFill>
            <a:srgbClr val="2F6BD8"/>
          </a:solidFill>
          <a:ln w="12700">
            <a:solidFill>
              <a:srgbClr val="2F6BD8"/>
            </a:solidFill>
            <a:prstDash val="solid"/>
          </a:ln>
        </p:spPr>
      </p:sp>
      <p:sp>
        <p:nvSpPr>
          <p:cNvPr id="15" name="Text 13"/>
          <p:cNvSpPr/>
          <p:nvPr/>
        </p:nvSpPr>
        <p:spPr>
          <a:xfrm>
            <a:off x="6309360" y="1170432"/>
            <a:ext cx="457200" cy="274320"/>
          </a:xfrm>
          <a:prstGeom prst="rect">
            <a:avLst/>
          </a:prstGeom>
          <a:noFill/>
          <a:ln/>
        </p:spPr>
        <p:txBody>
          <a:bodyPr wrap="square" lIns="0" tIns="0" rIns="0" bIns="0" rtlCol="0" anchor="ctr"/>
          <a:lstStyle/>
          <a:p>
            <a:pPr marL="0" indent="0" algn="ctr">
              <a:buNone/>
            </a:pPr>
            <a:r>
              <a:rPr lang="en-US" sz="1400" b="1" dirty="0">
                <a:solidFill>
                  <a:srgbClr val="FFFFFF"/>
                </a:solidFill>
              </a:rPr>
              <a:t>02</a:t>
            </a:r>
            <a:endParaRPr lang="en-US" sz="1400" dirty="0"/>
          </a:p>
        </p:txBody>
      </p:sp>
      <p:sp>
        <p:nvSpPr>
          <p:cNvPr id="16" name="Text 14"/>
          <p:cNvSpPr/>
          <p:nvPr/>
        </p:nvSpPr>
        <p:spPr>
          <a:xfrm>
            <a:off x="6976872" y="1170432"/>
            <a:ext cx="4251960" cy="256032"/>
          </a:xfrm>
          <a:prstGeom prst="rect">
            <a:avLst/>
          </a:prstGeom>
          <a:noFill/>
          <a:ln/>
        </p:spPr>
        <p:txBody>
          <a:bodyPr wrap="square" lIns="0" tIns="0" rIns="0" bIns="0" rtlCol="0" anchor="ctr">
            <a:normAutofit/>
          </a:bodyPr>
          <a:lstStyle/>
          <a:p>
            <a:pPr marL="0" indent="0">
              <a:buNone/>
            </a:pPr>
            <a:r>
              <a:rPr lang="en-US" sz="1350" b="1" dirty="0">
                <a:solidFill>
                  <a:srgbClr val="2F6BD8"/>
                </a:solidFill>
              </a:rPr>
              <a:t>Simulation remains the methodological core</a:t>
            </a:r>
            <a:endParaRPr lang="en-US" sz="1350" dirty="0"/>
          </a:p>
        </p:txBody>
      </p:sp>
      <p:sp>
        <p:nvSpPr>
          <p:cNvPr id="17" name="Text 15"/>
          <p:cNvSpPr/>
          <p:nvPr/>
        </p:nvSpPr>
        <p:spPr>
          <a:xfrm>
            <a:off x="6976872" y="1536192"/>
            <a:ext cx="4160520" cy="475488"/>
          </a:xfrm>
          <a:prstGeom prst="rect">
            <a:avLst/>
          </a:prstGeom>
          <a:noFill/>
          <a:ln/>
        </p:spPr>
        <p:txBody>
          <a:bodyPr wrap="square" lIns="254" tIns="254" rIns="254" bIns="254" rtlCol="0" anchor="ctr">
            <a:normAutofit/>
          </a:bodyPr>
          <a:lstStyle/>
          <a:p>
            <a:pPr marL="0" indent="0">
              <a:buNone/>
            </a:pPr>
            <a:r>
              <a:rPr lang="en-US" sz="1070" dirty="0">
                <a:solidFill>
                  <a:srgbClr val="303846"/>
                </a:solidFill>
              </a:rPr>
              <a:t>DES, 3D simulation, and digital shadows are the strongest foundation for warehouse DT development.</a:t>
            </a:r>
            <a:endParaRPr lang="en-US" sz="1070" dirty="0"/>
          </a:p>
        </p:txBody>
      </p:sp>
      <p:sp>
        <p:nvSpPr>
          <p:cNvPr id="18" name="Shape 16"/>
          <p:cNvSpPr/>
          <p:nvPr/>
        </p:nvSpPr>
        <p:spPr>
          <a:xfrm>
            <a:off x="685800" y="2670048"/>
            <a:ext cx="5166360" cy="1298448"/>
          </a:xfrm>
          <a:prstGeom prst="roundRect">
            <a:avLst>
              <a:gd name="adj" fmla="val 2817"/>
            </a:avLst>
          </a:prstGeom>
          <a:solidFill>
            <a:srgbClr val="FFFFFF"/>
          </a:solidFill>
          <a:ln w="12700">
            <a:solidFill>
              <a:srgbClr val="E8ECF2"/>
            </a:solidFill>
            <a:prstDash val="solid"/>
          </a:ln>
        </p:spPr>
      </p:sp>
      <p:sp>
        <p:nvSpPr>
          <p:cNvPr id="19" name="Shape 17"/>
          <p:cNvSpPr/>
          <p:nvPr/>
        </p:nvSpPr>
        <p:spPr>
          <a:xfrm>
            <a:off x="685800" y="2670048"/>
            <a:ext cx="566928" cy="1298448"/>
          </a:xfrm>
          <a:prstGeom prst="rect">
            <a:avLst/>
          </a:prstGeom>
          <a:solidFill>
            <a:srgbClr val="177E89"/>
          </a:solidFill>
          <a:ln w="12700">
            <a:solidFill>
              <a:srgbClr val="177E89"/>
            </a:solidFill>
            <a:prstDash val="solid"/>
          </a:ln>
        </p:spPr>
      </p:sp>
      <p:sp>
        <p:nvSpPr>
          <p:cNvPr id="20" name="Text 18"/>
          <p:cNvSpPr/>
          <p:nvPr/>
        </p:nvSpPr>
        <p:spPr>
          <a:xfrm>
            <a:off x="731520" y="2834640"/>
            <a:ext cx="457200" cy="274320"/>
          </a:xfrm>
          <a:prstGeom prst="rect">
            <a:avLst/>
          </a:prstGeom>
          <a:noFill/>
          <a:ln/>
        </p:spPr>
        <p:txBody>
          <a:bodyPr wrap="square" lIns="0" tIns="0" rIns="0" bIns="0" rtlCol="0" anchor="ctr"/>
          <a:lstStyle/>
          <a:p>
            <a:pPr marL="0" indent="0" algn="ctr">
              <a:buNone/>
            </a:pPr>
            <a:r>
              <a:rPr lang="en-US" sz="1400" b="1" dirty="0">
                <a:solidFill>
                  <a:srgbClr val="FFFFFF"/>
                </a:solidFill>
              </a:rPr>
              <a:t>03</a:t>
            </a:r>
            <a:endParaRPr lang="en-US" sz="1400" dirty="0"/>
          </a:p>
        </p:txBody>
      </p:sp>
      <p:sp>
        <p:nvSpPr>
          <p:cNvPr id="21" name="Text 19"/>
          <p:cNvSpPr/>
          <p:nvPr/>
        </p:nvSpPr>
        <p:spPr>
          <a:xfrm>
            <a:off x="1399032" y="2834640"/>
            <a:ext cx="4251960" cy="256032"/>
          </a:xfrm>
          <a:prstGeom prst="rect">
            <a:avLst/>
          </a:prstGeom>
          <a:noFill/>
          <a:ln/>
        </p:spPr>
        <p:txBody>
          <a:bodyPr wrap="square" lIns="0" tIns="0" rIns="0" bIns="0" rtlCol="0" anchor="ctr">
            <a:normAutofit/>
          </a:bodyPr>
          <a:lstStyle/>
          <a:p>
            <a:pPr marL="0" indent="0">
              <a:buNone/>
            </a:pPr>
            <a:r>
              <a:rPr lang="en-US" sz="1350" b="1" dirty="0">
                <a:solidFill>
                  <a:srgbClr val="177E89"/>
                </a:solidFill>
              </a:rPr>
              <a:t>AI-enhanced control is emerging</a:t>
            </a:r>
            <a:endParaRPr lang="en-US" sz="1350" dirty="0"/>
          </a:p>
        </p:txBody>
      </p:sp>
      <p:sp>
        <p:nvSpPr>
          <p:cNvPr id="22" name="Text 20"/>
          <p:cNvSpPr/>
          <p:nvPr/>
        </p:nvSpPr>
        <p:spPr>
          <a:xfrm>
            <a:off x="1399032" y="3200400"/>
            <a:ext cx="4160520" cy="475488"/>
          </a:xfrm>
          <a:prstGeom prst="rect">
            <a:avLst/>
          </a:prstGeom>
          <a:noFill/>
          <a:ln/>
        </p:spPr>
        <p:txBody>
          <a:bodyPr wrap="square" lIns="254" tIns="254" rIns="254" bIns="254" rtlCol="0" anchor="ctr">
            <a:normAutofit/>
          </a:bodyPr>
          <a:lstStyle/>
          <a:p>
            <a:pPr marL="0" indent="0">
              <a:buNone/>
            </a:pPr>
            <a:r>
              <a:rPr lang="en-US" sz="1070" dirty="0">
                <a:solidFill>
                  <a:srgbClr val="303846"/>
                </a:solidFill>
              </a:rPr>
              <a:t>DRL, genetic algorithms, and knowledge graphs indicate a shift toward adaptive and prescriptive DTs.</a:t>
            </a:r>
            <a:endParaRPr lang="en-US" sz="1070" dirty="0"/>
          </a:p>
        </p:txBody>
      </p:sp>
      <p:sp>
        <p:nvSpPr>
          <p:cNvPr id="23" name="Shape 21"/>
          <p:cNvSpPr/>
          <p:nvPr/>
        </p:nvSpPr>
        <p:spPr>
          <a:xfrm>
            <a:off x="6263640" y="2670048"/>
            <a:ext cx="5166360" cy="1298448"/>
          </a:xfrm>
          <a:prstGeom prst="roundRect">
            <a:avLst>
              <a:gd name="adj" fmla="val 2817"/>
            </a:avLst>
          </a:prstGeom>
          <a:solidFill>
            <a:srgbClr val="FFFFFF"/>
          </a:solidFill>
          <a:ln w="12700">
            <a:solidFill>
              <a:srgbClr val="E8ECF2"/>
            </a:solidFill>
            <a:prstDash val="solid"/>
          </a:ln>
        </p:spPr>
      </p:sp>
      <p:sp>
        <p:nvSpPr>
          <p:cNvPr id="24" name="Shape 22"/>
          <p:cNvSpPr/>
          <p:nvPr/>
        </p:nvSpPr>
        <p:spPr>
          <a:xfrm>
            <a:off x="6263640" y="2670048"/>
            <a:ext cx="566928" cy="1298448"/>
          </a:xfrm>
          <a:prstGeom prst="rect">
            <a:avLst/>
          </a:prstGeom>
          <a:solidFill>
            <a:srgbClr val="25A75A"/>
          </a:solidFill>
          <a:ln w="12700">
            <a:solidFill>
              <a:srgbClr val="25A75A"/>
            </a:solidFill>
            <a:prstDash val="solid"/>
          </a:ln>
        </p:spPr>
      </p:sp>
      <p:sp>
        <p:nvSpPr>
          <p:cNvPr id="25" name="Text 23"/>
          <p:cNvSpPr/>
          <p:nvPr/>
        </p:nvSpPr>
        <p:spPr>
          <a:xfrm>
            <a:off x="6309360" y="2834640"/>
            <a:ext cx="457200" cy="274320"/>
          </a:xfrm>
          <a:prstGeom prst="rect">
            <a:avLst/>
          </a:prstGeom>
          <a:noFill/>
          <a:ln/>
        </p:spPr>
        <p:txBody>
          <a:bodyPr wrap="square" lIns="0" tIns="0" rIns="0" bIns="0" rtlCol="0" anchor="ctr"/>
          <a:lstStyle/>
          <a:p>
            <a:pPr marL="0" indent="0" algn="ctr">
              <a:buNone/>
            </a:pPr>
            <a:r>
              <a:rPr lang="en-US" sz="1400" b="1" dirty="0">
                <a:solidFill>
                  <a:srgbClr val="FFFFFF"/>
                </a:solidFill>
              </a:rPr>
              <a:t>04</a:t>
            </a:r>
            <a:endParaRPr lang="en-US" sz="1400" dirty="0"/>
          </a:p>
        </p:txBody>
      </p:sp>
      <p:sp>
        <p:nvSpPr>
          <p:cNvPr id="26" name="Text 24"/>
          <p:cNvSpPr/>
          <p:nvPr/>
        </p:nvSpPr>
        <p:spPr>
          <a:xfrm>
            <a:off x="6976872" y="2834640"/>
            <a:ext cx="4251960" cy="256032"/>
          </a:xfrm>
          <a:prstGeom prst="rect">
            <a:avLst/>
          </a:prstGeom>
          <a:noFill/>
          <a:ln/>
        </p:spPr>
        <p:txBody>
          <a:bodyPr wrap="square" lIns="0" tIns="0" rIns="0" bIns="0" rtlCol="0" anchor="ctr">
            <a:normAutofit/>
          </a:bodyPr>
          <a:lstStyle/>
          <a:p>
            <a:pPr marL="0" indent="0">
              <a:buNone/>
            </a:pPr>
            <a:r>
              <a:rPr lang="en-US" sz="1350" b="1" dirty="0">
                <a:solidFill>
                  <a:srgbClr val="25A75A"/>
                </a:solidFill>
              </a:rPr>
              <a:t>Systems engineering is underdeveloped</a:t>
            </a:r>
            <a:endParaRPr lang="en-US" sz="1350" dirty="0"/>
          </a:p>
        </p:txBody>
      </p:sp>
      <p:sp>
        <p:nvSpPr>
          <p:cNvPr id="27" name="Text 25"/>
          <p:cNvSpPr/>
          <p:nvPr/>
        </p:nvSpPr>
        <p:spPr>
          <a:xfrm>
            <a:off x="6976872" y="3200400"/>
            <a:ext cx="4160520" cy="475488"/>
          </a:xfrm>
          <a:prstGeom prst="rect">
            <a:avLst/>
          </a:prstGeom>
          <a:noFill/>
          <a:ln/>
        </p:spPr>
        <p:txBody>
          <a:bodyPr wrap="square" lIns="254" tIns="254" rIns="254" bIns="254" rtlCol="0" anchor="ctr">
            <a:normAutofit/>
          </a:bodyPr>
          <a:lstStyle/>
          <a:p>
            <a:pPr marL="0" indent="0">
              <a:buNone/>
            </a:pPr>
            <a:r>
              <a:rPr lang="en-US" sz="1070" dirty="0">
                <a:solidFill>
                  <a:srgbClr val="303846"/>
                </a:solidFill>
              </a:rPr>
              <a:t>Boundaries, stakeholders, interfaces, V&amp;V, lifecycle use, and governance are often weakly explicit.</a:t>
            </a:r>
            <a:endParaRPr lang="en-US" sz="1070" dirty="0"/>
          </a:p>
        </p:txBody>
      </p:sp>
      <p:sp>
        <p:nvSpPr>
          <p:cNvPr id="28" name="Shape 26"/>
          <p:cNvSpPr/>
          <p:nvPr/>
        </p:nvSpPr>
        <p:spPr>
          <a:xfrm>
            <a:off x="685800" y="4334256"/>
            <a:ext cx="5166360" cy="1298448"/>
          </a:xfrm>
          <a:prstGeom prst="roundRect">
            <a:avLst>
              <a:gd name="adj" fmla="val 2817"/>
            </a:avLst>
          </a:prstGeom>
          <a:solidFill>
            <a:srgbClr val="FFFFFF"/>
          </a:solidFill>
          <a:ln w="12700">
            <a:solidFill>
              <a:srgbClr val="E8ECF2"/>
            </a:solidFill>
            <a:prstDash val="solid"/>
          </a:ln>
        </p:spPr>
      </p:sp>
      <p:sp>
        <p:nvSpPr>
          <p:cNvPr id="29" name="Shape 27"/>
          <p:cNvSpPr/>
          <p:nvPr/>
        </p:nvSpPr>
        <p:spPr>
          <a:xfrm>
            <a:off x="685800" y="4334256"/>
            <a:ext cx="566928" cy="1298448"/>
          </a:xfrm>
          <a:prstGeom prst="rect">
            <a:avLst/>
          </a:prstGeom>
          <a:solidFill>
            <a:srgbClr val="7B4BB2"/>
          </a:solidFill>
          <a:ln w="12700">
            <a:solidFill>
              <a:srgbClr val="7B4BB2"/>
            </a:solidFill>
            <a:prstDash val="solid"/>
          </a:ln>
        </p:spPr>
      </p:sp>
      <p:sp>
        <p:nvSpPr>
          <p:cNvPr id="30" name="Text 28"/>
          <p:cNvSpPr/>
          <p:nvPr/>
        </p:nvSpPr>
        <p:spPr>
          <a:xfrm>
            <a:off x="731520" y="4498848"/>
            <a:ext cx="457200" cy="274320"/>
          </a:xfrm>
          <a:prstGeom prst="rect">
            <a:avLst/>
          </a:prstGeom>
          <a:noFill/>
          <a:ln/>
        </p:spPr>
        <p:txBody>
          <a:bodyPr wrap="square" lIns="0" tIns="0" rIns="0" bIns="0" rtlCol="0" anchor="ctr"/>
          <a:lstStyle/>
          <a:p>
            <a:pPr marL="0" indent="0" algn="ctr">
              <a:buNone/>
            </a:pPr>
            <a:r>
              <a:rPr lang="en-US" sz="1400" b="1" dirty="0">
                <a:solidFill>
                  <a:srgbClr val="FFFFFF"/>
                </a:solidFill>
              </a:rPr>
              <a:t>05</a:t>
            </a:r>
            <a:endParaRPr lang="en-US" sz="1400" dirty="0"/>
          </a:p>
        </p:txBody>
      </p:sp>
      <p:sp>
        <p:nvSpPr>
          <p:cNvPr id="31" name="Text 29"/>
          <p:cNvSpPr/>
          <p:nvPr/>
        </p:nvSpPr>
        <p:spPr>
          <a:xfrm>
            <a:off x="1399032" y="4498848"/>
            <a:ext cx="4251960" cy="256032"/>
          </a:xfrm>
          <a:prstGeom prst="rect">
            <a:avLst/>
          </a:prstGeom>
          <a:noFill/>
          <a:ln/>
        </p:spPr>
        <p:txBody>
          <a:bodyPr wrap="square" lIns="0" tIns="0" rIns="0" bIns="0" rtlCol="0" anchor="ctr">
            <a:normAutofit/>
          </a:bodyPr>
          <a:lstStyle/>
          <a:p>
            <a:pPr marL="0" indent="0">
              <a:buNone/>
            </a:pPr>
            <a:r>
              <a:rPr lang="en-US" sz="1350" b="1" dirty="0">
                <a:solidFill>
                  <a:srgbClr val="7B4BB2"/>
                </a:solidFill>
              </a:rPr>
              <a:t>Human-in-the-loop is a major gap</a:t>
            </a:r>
            <a:endParaRPr lang="en-US" sz="1350" dirty="0"/>
          </a:p>
        </p:txBody>
      </p:sp>
      <p:sp>
        <p:nvSpPr>
          <p:cNvPr id="32" name="Text 30"/>
          <p:cNvSpPr/>
          <p:nvPr/>
        </p:nvSpPr>
        <p:spPr>
          <a:xfrm>
            <a:off x="1399032" y="4864608"/>
            <a:ext cx="4160520" cy="475488"/>
          </a:xfrm>
          <a:prstGeom prst="rect">
            <a:avLst/>
          </a:prstGeom>
          <a:noFill/>
          <a:ln/>
        </p:spPr>
        <p:txBody>
          <a:bodyPr wrap="square" lIns="254" tIns="254" rIns="254" bIns="254" rtlCol="0" anchor="ctr">
            <a:normAutofit/>
          </a:bodyPr>
          <a:lstStyle/>
          <a:p>
            <a:pPr marL="0" indent="0">
              <a:buNone/>
            </a:pPr>
            <a:r>
              <a:rPr lang="en-US" sz="1070" dirty="0">
                <a:solidFill>
                  <a:srgbClr val="303846"/>
                </a:solidFill>
              </a:rPr>
              <a:t>Operators, planners, supervisors, and managers are rarely central in technical DT evaluation.</a:t>
            </a:r>
            <a:endParaRPr lang="en-US" sz="1070" dirty="0"/>
          </a:p>
        </p:txBody>
      </p:sp>
      <p:sp>
        <p:nvSpPr>
          <p:cNvPr id="33" name="Shape 31"/>
          <p:cNvSpPr/>
          <p:nvPr/>
        </p:nvSpPr>
        <p:spPr>
          <a:xfrm>
            <a:off x="6263640" y="4334256"/>
            <a:ext cx="5166360" cy="1298448"/>
          </a:xfrm>
          <a:prstGeom prst="roundRect">
            <a:avLst>
              <a:gd name="adj" fmla="val 2817"/>
            </a:avLst>
          </a:prstGeom>
          <a:solidFill>
            <a:srgbClr val="FFFFFF"/>
          </a:solidFill>
          <a:ln w="12700">
            <a:solidFill>
              <a:srgbClr val="E8ECF2"/>
            </a:solidFill>
            <a:prstDash val="solid"/>
          </a:ln>
        </p:spPr>
      </p:sp>
      <p:sp>
        <p:nvSpPr>
          <p:cNvPr id="34" name="Shape 32"/>
          <p:cNvSpPr/>
          <p:nvPr/>
        </p:nvSpPr>
        <p:spPr>
          <a:xfrm>
            <a:off x="6263640" y="4334256"/>
            <a:ext cx="566928" cy="1298448"/>
          </a:xfrm>
          <a:prstGeom prst="rect">
            <a:avLst/>
          </a:prstGeom>
          <a:solidFill>
            <a:srgbClr val="E8733A"/>
          </a:solidFill>
          <a:ln w="12700">
            <a:solidFill>
              <a:srgbClr val="E8733A"/>
            </a:solidFill>
            <a:prstDash val="solid"/>
          </a:ln>
        </p:spPr>
      </p:sp>
      <p:sp>
        <p:nvSpPr>
          <p:cNvPr id="35" name="Text 33"/>
          <p:cNvSpPr/>
          <p:nvPr/>
        </p:nvSpPr>
        <p:spPr>
          <a:xfrm>
            <a:off x="6309360" y="4498848"/>
            <a:ext cx="457200" cy="274320"/>
          </a:xfrm>
          <a:prstGeom prst="rect">
            <a:avLst/>
          </a:prstGeom>
          <a:noFill/>
          <a:ln/>
        </p:spPr>
        <p:txBody>
          <a:bodyPr wrap="square" lIns="0" tIns="0" rIns="0" bIns="0" rtlCol="0" anchor="ctr"/>
          <a:lstStyle/>
          <a:p>
            <a:pPr marL="0" indent="0" algn="ctr">
              <a:buNone/>
            </a:pPr>
            <a:r>
              <a:rPr lang="en-US" sz="1400" b="1" dirty="0">
                <a:solidFill>
                  <a:srgbClr val="FFFFFF"/>
                </a:solidFill>
              </a:rPr>
              <a:t>06</a:t>
            </a:r>
            <a:endParaRPr lang="en-US" sz="1400" dirty="0"/>
          </a:p>
        </p:txBody>
      </p:sp>
      <p:sp>
        <p:nvSpPr>
          <p:cNvPr id="36" name="Text 34"/>
          <p:cNvSpPr/>
          <p:nvPr/>
        </p:nvSpPr>
        <p:spPr>
          <a:xfrm>
            <a:off x="6976872" y="4498848"/>
            <a:ext cx="4251960" cy="256032"/>
          </a:xfrm>
          <a:prstGeom prst="rect">
            <a:avLst/>
          </a:prstGeom>
          <a:noFill/>
          <a:ln/>
        </p:spPr>
        <p:txBody>
          <a:bodyPr wrap="square" lIns="0" tIns="0" rIns="0" bIns="0" rtlCol="0" anchor="ctr">
            <a:normAutofit/>
          </a:bodyPr>
          <a:lstStyle/>
          <a:p>
            <a:pPr marL="0" indent="0">
              <a:buNone/>
            </a:pPr>
            <a:r>
              <a:rPr lang="en-US" sz="1350" b="1" dirty="0">
                <a:solidFill>
                  <a:srgbClr val="E8733A"/>
                </a:solidFill>
              </a:rPr>
              <a:t>Industrial deployment is still limited</a:t>
            </a:r>
            <a:endParaRPr lang="en-US" sz="1350" dirty="0"/>
          </a:p>
        </p:txBody>
      </p:sp>
      <p:sp>
        <p:nvSpPr>
          <p:cNvPr id="37" name="Text 35"/>
          <p:cNvSpPr/>
          <p:nvPr/>
        </p:nvSpPr>
        <p:spPr>
          <a:xfrm>
            <a:off x="6976872" y="4864608"/>
            <a:ext cx="4160520" cy="475488"/>
          </a:xfrm>
          <a:prstGeom prst="rect">
            <a:avLst/>
          </a:prstGeom>
          <a:noFill/>
          <a:ln/>
        </p:spPr>
        <p:txBody>
          <a:bodyPr wrap="square" lIns="254" tIns="254" rIns="254" bIns="254" rtlCol="0" anchor="ctr">
            <a:normAutofit/>
          </a:bodyPr>
          <a:lstStyle/>
          <a:p>
            <a:pPr marL="0" indent="0">
              <a:buNone/>
            </a:pPr>
            <a:r>
              <a:rPr lang="en-US" sz="1070" dirty="0">
                <a:solidFill>
                  <a:srgbClr val="303846"/>
                </a:solidFill>
              </a:rPr>
              <a:t>Few studies show robust, long-term, real-time closed-loop integration with WMS/WCS/ERP and physical control systems.</a:t>
            </a:r>
            <a:endParaRPr lang="en-US" sz="107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6F7F9"/>
        </a:solidFill>
        <a:effectLst/>
      </p:bgPr>
    </p:bg>
    <p:spTree>
      <p:nvGrpSpPr>
        <p:cNvPr id="1" name=""/>
        <p:cNvGrpSpPr/>
        <p:nvPr/>
      </p:nvGrpSpPr>
      <p:grpSpPr>
        <a:xfrm>
          <a:off x="0" y="0"/>
          <a:ext cx="0" cy="0"/>
          <a:chOff x="0" y="0"/>
          <a:chExt cx="0" cy="0"/>
        </a:xfrm>
      </p:grpSpPr>
      <p:sp>
        <p:nvSpPr>
          <p:cNvPr id="2" name="Shape 0"/>
          <p:cNvSpPr/>
          <p:nvPr/>
        </p:nvSpPr>
        <p:spPr>
          <a:xfrm>
            <a:off x="347472" y="329184"/>
            <a:ext cx="73152" cy="438912"/>
          </a:xfrm>
          <a:prstGeom prst="rect">
            <a:avLst/>
          </a:prstGeom>
          <a:solidFill>
            <a:srgbClr val="2F6BD8"/>
          </a:solidFill>
          <a:ln w="12700">
            <a:solidFill>
              <a:srgbClr val="2F6BD8"/>
            </a:solidFill>
            <a:prstDash val="solid"/>
          </a:ln>
        </p:spPr>
      </p:sp>
      <p:sp>
        <p:nvSpPr>
          <p:cNvPr id="3" name="Text 1"/>
          <p:cNvSpPr/>
          <p:nvPr/>
        </p:nvSpPr>
        <p:spPr>
          <a:xfrm>
            <a:off x="512064" y="292608"/>
            <a:ext cx="10789920" cy="502920"/>
          </a:xfrm>
          <a:prstGeom prst="rect">
            <a:avLst/>
          </a:prstGeom>
          <a:noFill/>
          <a:ln/>
        </p:spPr>
        <p:txBody>
          <a:bodyPr wrap="square" lIns="0" tIns="0" rIns="0" bIns="0" rtlCol="0" anchor="ctr"/>
          <a:lstStyle/>
          <a:p>
            <a:pPr marL="0" indent="0">
              <a:buNone/>
            </a:pPr>
            <a:r>
              <a:rPr lang="en-US" sz="2700" b="1" dirty="0">
                <a:solidFill>
                  <a:srgbClr val="303846"/>
                </a:solidFill>
                <a:latin typeface="Aptos Display" pitchFamily="34" charset="0"/>
                <a:ea typeface="Aptos Display" pitchFamily="34" charset="-122"/>
                <a:cs typeface="Aptos Display" pitchFamily="34" charset="-120"/>
              </a:rPr>
              <a:t>Proposed Systems Engineering-Oriented DT Framework</a:t>
            </a:r>
            <a:endParaRPr lang="en-US" sz="2700" dirty="0"/>
          </a:p>
        </p:txBody>
      </p:sp>
      <p:sp>
        <p:nvSpPr>
          <p:cNvPr id="4" name="Shape 2"/>
          <p:cNvSpPr/>
          <p:nvPr/>
        </p:nvSpPr>
        <p:spPr>
          <a:xfrm>
            <a:off x="0" y="6510528"/>
            <a:ext cx="12191695" cy="347472"/>
          </a:xfrm>
          <a:prstGeom prst="rect">
            <a:avLst/>
          </a:prstGeom>
          <a:solidFill>
            <a:srgbClr val="303846"/>
          </a:solidFill>
          <a:ln w="12700">
            <a:solidFill>
              <a:srgbClr val="303846"/>
            </a:solidFill>
            <a:prstDash val="solid"/>
          </a:ln>
        </p:spPr>
      </p:sp>
      <p:sp>
        <p:nvSpPr>
          <p:cNvPr id="5" name="Text 3"/>
          <p:cNvSpPr/>
          <p:nvPr/>
        </p:nvSpPr>
        <p:spPr>
          <a:xfrm>
            <a:off x="320040" y="6592824"/>
            <a:ext cx="6583680" cy="137160"/>
          </a:xfrm>
          <a:prstGeom prst="rect">
            <a:avLst/>
          </a:prstGeom>
          <a:noFill/>
          <a:ln/>
        </p:spPr>
        <p:txBody>
          <a:bodyPr wrap="square" lIns="0" tIns="0" rIns="0" bIns="0" rtlCol="0" anchor="ctr"/>
          <a:lstStyle/>
          <a:p>
            <a:pPr marL="0" indent="0">
              <a:buNone/>
            </a:pPr>
            <a:r>
              <a:rPr lang="en-US" sz="750" i="1" dirty="0">
                <a:solidFill>
                  <a:srgbClr val="F2F4F7"/>
                </a:solidFill>
              </a:rPr>
              <a:t>Digital Twin-Enabled Intralogistics — Systematic Review | SEN601</a:t>
            </a:r>
            <a:endParaRPr lang="en-US" sz="750" dirty="0"/>
          </a:p>
        </p:txBody>
      </p:sp>
      <p:sp>
        <p:nvSpPr>
          <p:cNvPr id="6" name="Text 4"/>
          <p:cNvSpPr/>
          <p:nvPr/>
        </p:nvSpPr>
        <p:spPr>
          <a:xfrm>
            <a:off x="10195560" y="6592824"/>
            <a:ext cx="1280160" cy="137160"/>
          </a:xfrm>
          <a:prstGeom prst="rect">
            <a:avLst/>
          </a:prstGeom>
          <a:noFill/>
          <a:ln/>
        </p:spPr>
        <p:txBody>
          <a:bodyPr wrap="square" lIns="0" tIns="0" rIns="0" bIns="0" rtlCol="0" anchor="ctr"/>
          <a:lstStyle/>
          <a:p>
            <a:pPr marL="0" indent="0" algn="r">
              <a:buNone/>
            </a:pPr>
            <a:r>
              <a:rPr lang="en-US" sz="750" dirty="0">
                <a:solidFill>
                  <a:srgbClr val="F2F4F7"/>
                </a:solidFill>
              </a:rPr>
              <a:t>Framework</a:t>
            </a:r>
            <a:endParaRPr lang="en-US" sz="750" dirty="0"/>
          </a:p>
        </p:txBody>
      </p:sp>
      <p:sp>
        <p:nvSpPr>
          <p:cNvPr id="7" name="Text 5"/>
          <p:cNvSpPr/>
          <p:nvPr/>
        </p:nvSpPr>
        <p:spPr>
          <a:xfrm>
            <a:off x="11539728" y="6583680"/>
            <a:ext cx="329184" cy="146304"/>
          </a:xfrm>
          <a:prstGeom prst="rect">
            <a:avLst/>
          </a:prstGeom>
          <a:noFill/>
          <a:ln/>
        </p:spPr>
        <p:txBody>
          <a:bodyPr wrap="square" lIns="0" tIns="0" rIns="0" bIns="0" rtlCol="0" anchor="ctr"/>
          <a:lstStyle/>
          <a:p>
            <a:pPr marL="0" indent="0" algn="r">
              <a:buNone/>
            </a:pPr>
            <a:r>
              <a:rPr lang="en-US" sz="850" dirty="0">
                <a:solidFill>
                  <a:srgbClr val="F2F4F7"/>
                </a:solidFill>
              </a:rPr>
              <a:t>17</a:t>
            </a:r>
            <a:endParaRPr lang="en-US" sz="850" dirty="0"/>
          </a:p>
        </p:txBody>
      </p:sp>
      <p:sp>
        <p:nvSpPr>
          <p:cNvPr id="8" name="Shape 6"/>
          <p:cNvSpPr/>
          <p:nvPr/>
        </p:nvSpPr>
        <p:spPr>
          <a:xfrm>
            <a:off x="914400" y="960120"/>
            <a:ext cx="10332720" cy="530352"/>
          </a:xfrm>
          <a:prstGeom prst="roundRect">
            <a:avLst>
              <a:gd name="adj" fmla="val 6897"/>
            </a:avLst>
          </a:prstGeom>
          <a:solidFill>
            <a:srgbClr val="FFFFFF"/>
          </a:solidFill>
          <a:ln w="12700">
            <a:solidFill>
              <a:srgbClr val="E8ECF2"/>
            </a:solidFill>
            <a:prstDash val="solid"/>
          </a:ln>
        </p:spPr>
      </p:sp>
      <p:sp>
        <p:nvSpPr>
          <p:cNvPr id="9" name="Shape 7"/>
          <p:cNvSpPr/>
          <p:nvPr/>
        </p:nvSpPr>
        <p:spPr>
          <a:xfrm>
            <a:off x="914400" y="960120"/>
            <a:ext cx="2148840" cy="530352"/>
          </a:xfrm>
          <a:prstGeom prst="rect">
            <a:avLst/>
          </a:prstGeom>
          <a:solidFill>
            <a:srgbClr val="303846"/>
          </a:solidFill>
          <a:ln w="12700">
            <a:solidFill>
              <a:srgbClr val="303846"/>
            </a:solidFill>
            <a:prstDash val="solid"/>
          </a:ln>
        </p:spPr>
      </p:sp>
      <p:sp>
        <p:nvSpPr>
          <p:cNvPr id="10" name="Text 8"/>
          <p:cNvSpPr/>
          <p:nvPr/>
        </p:nvSpPr>
        <p:spPr>
          <a:xfrm>
            <a:off x="987552" y="1106424"/>
            <a:ext cx="1993392" cy="164592"/>
          </a:xfrm>
          <a:prstGeom prst="rect">
            <a:avLst/>
          </a:prstGeom>
          <a:noFill/>
          <a:ln/>
        </p:spPr>
        <p:txBody>
          <a:bodyPr wrap="square" lIns="0" tIns="0" rIns="0" bIns="0" rtlCol="0" anchor="ctr"/>
          <a:lstStyle/>
          <a:p>
            <a:pPr marL="0" indent="0" algn="ctr">
              <a:buNone/>
            </a:pPr>
            <a:r>
              <a:rPr lang="en-US" sz="1150" b="1" dirty="0">
                <a:solidFill>
                  <a:srgbClr val="FFFFFF"/>
                </a:solidFill>
              </a:rPr>
              <a:t>Physical layer</a:t>
            </a:r>
            <a:endParaRPr lang="en-US" sz="1150" dirty="0"/>
          </a:p>
        </p:txBody>
      </p:sp>
      <p:sp>
        <p:nvSpPr>
          <p:cNvPr id="11" name="Text 9"/>
          <p:cNvSpPr/>
          <p:nvPr/>
        </p:nvSpPr>
        <p:spPr>
          <a:xfrm>
            <a:off x="3246120" y="1106424"/>
            <a:ext cx="7498080" cy="182880"/>
          </a:xfrm>
          <a:prstGeom prst="rect">
            <a:avLst/>
          </a:prstGeom>
          <a:noFill/>
          <a:ln/>
        </p:spPr>
        <p:txBody>
          <a:bodyPr wrap="square" lIns="0" tIns="0" rIns="0" bIns="0" rtlCol="0" anchor="ctr"/>
          <a:lstStyle/>
          <a:p>
            <a:pPr marL="0" indent="0">
              <a:buNone/>
            </a:pPr>
            <a:r>
              <a:rPr lang="en-US" sz="1130" dirty="0">
                <a:solidFill>
                  <a:srgbClr val="303846"/>
                </a:solidFill>
              </a:rPr>
              <a:t>layout, racks, conveyors, AGVs/AMRs, workers, docks</a:t>
            </a:r>
            <a:endParaRPr lang="en-US" sz="1130" dirty="0"/>
          </a:p>
        </p:txBody>
      </p:sp>
      <p:sp>
        <p:nvSpPr>
          <p:cNvPr id="12" name="Shape 10"/>
          <p:cNvSpPr/>
          <p:nvPr/>
        </p:nvSpPr>
        <p:spPr>
          <a:xfrm>
            <a:off x="6080760" y="1517904"/>
            <a:ext cx="0" cy="219456"/>
          </a:xfrm>
          <a:prstGeom prst="line">
            <a:avLst/>
          </a:prstGeom>
          <a:noFill/>
          <a:ln w="12700">
            <a:solidFill>
              <a:srgbClr val="667085"/>
            </a:solidFill>
            <a:prstDash val="solid"/>
            <a:tailEnd type="triangle"/>
          </a:ln>
        </p:spPr>
      </p:sp>
      <p:sp>
        <p:nvSpPr>
          <p:cNvPr id="13" name="Shape 11"/>
          <p:cNvSpPr/>
          <p:nvPr/>
        </p:nvSpPr>
        <p:spPr>
          <a:xfrm>
            <a:off x="914400" y="1764792"/>
            <a:ext cx="10332720" cy="530352"/>
          </a:xfrm>
          <a:prstGeom prst="roundRect">
            <a:avLst>
              <a:gd name="adj" fmla="val 6897"/>
            </a:avLst>
          </a:prstGeom>
          <a:solidFill>
            <a:srgbClr val="FFFFFF"/>
          </a:solidFill>
          <a:ln w="12700">
            <a:solidFill>
              <a:srgbClr val="E8ECF2"/>
            </a:solidFill>
            <a:prstDash val="solid"/>
          </a:ln>
        </p:spPr>
      </p:sp>
      <p:sp>
        <p:nvSpPr>
          <p:cNvPr id="14" name="Shape 12"/>
          <p:cNvSpPr/>
          <p:nvPr/>
        </p:nvSpPr>
        <p:spPr>
          <a:xfrm>
            <a:off x="914400" y="1764792"/>
            <a:ext cx="2148840" cy="530352"/>
          </a:xfrm>
          <a:prstGeom prst="rect">
            <a:avLst/>
          </a:prstGeom>
          <a:solidFill>
            <a:srgbClr val="2F6BD8"/>
          </a:solidFill>
          <a:ln w="12700">
            <a:solidFill>
              <a:srgbClr val="2F6BD8"/>
            </a:solidFill>
            <a:prstDash val="solid"/>
          </a:ln>
        </p:spPr>
      </p:sp>
      <p:sp>
        <p:nvSpPr>
          <p:cNvPr id="15" name="Text 13"/>
          <p:cNvSpPr/>
          <p:nvPr/>
        </p:nvSpPr>
        <p:spPr>
          <a:xfrm>
            <a:off x="987552" y="1911096"/>
            <a:ext cx="1993392" cy="164592"/>
          </a:xfrm>
          <a:prstGeom prst="rect">
            <a:avLst/>
          </a:prstGeom>
          <a:noFill/>
          <a:ln/>
        </p:spPr>
        <p:txBody>
          <a:bodyPr wrap="square" lIns="0" tIns="0" rIns="0" bIns="0" rtlCol="0" anchor="ctr"/>
          <a:lstStyle/>
          <a:p>
            <a:pPr marL="0" indent="0" algn="ctr">
              <a:buNone/>
            </a:pPr>
            <a:r>
              <a:rPr lang="en-US" sz="1150" b="1" dirty="0">
                <a:solidFill>
                  <a:srgbClr val="FFFFFF"/>
                </a:solidFill>
              </a:rPr>
              <a:t>Data acquisition</a:t>
            </a:r>
            <a:endParaRPr lang="en-US" sz="1150" dirty="0"/>
          </a:p>
        </p:txBody>
      </p:sp>
      <p:sp>
        <p:nvSpPr>
          <p:cNvPr id="16" name="Text 14"/>
          <p:cNvSpPr/>
          <p:nvPr/>
        </p:nvSpPr>
        <p:spPr>
          <a:xfrm>
            <a:off x="3246120" y="1911096"/>
            <a:ext cx="7498080" cy="182880"/>
          </a:xfrm>
          <a:prstGeom prst="rect">
            <a:avLst/>
          </a:prstGeom>
          <a:noFill/>
          <a:ln/>
        </p:spPr>
        <p:txBody>
          <a:bodyPr wrap="square" lIns="0" tIns="0" rIns="0" bIns="0" rtlCol="0" anchor="ctr"/>
          <a:lstStyle/>
          <a:p>
            <a:pPr marL="0" indent="0">
              <a:buNone/>
            </a:pPr>
            <a:r>
              <a:rPr lang="en-US" sz="1130" dirty="0">
                <a:solidFill>
                  <a:srgbClr val="303846"/>
                </a:solidFill>
              </a:rPr>
              <a:t>RFID, barcode, IoT sensors, PLCs, WMS logs, robot telemetry</a:t>
            </a:r>
            <a:endParaRPr lang="en-US" sz="1130" dirty="0"/>
          </a:p>
        </p:txBody>
      </p:sp>
      <p:sp>
        <p:nvSpPr>
          <p:cNvPr id="17" name="Shape 15"/>
          <p:cNvSpPr/>
          <p:nvPr/>
        </p:nvSpPr>
        <p:spPr>
          <a:xfrm>
            <a:off x="6080760" y="2322576"/>
            <a:ext cx="0" cy="219456"/>
          </a:xfrm>
          <a:prstGeom prst="line">
            <a:avLst/>
          </a:prstGeom>
          <a:noFill/>
          <a:ln w="12700">
            <a:solidFill>
              <a:srgbClr val="667085"/>
            </a:solidFill>
            <a:prstDash val="solid"/>
            <a:tailEnd type="triangle"/>
          </a:ln>
        </p:spPr>
      </p:sp>
      <p:sp>
        <p:nvSpPr>
          <p:cNvPr id="18" name="Shape 16"/>
          <p:cNvSpPr/>
          <p:nvPr/>
        </p:nvSpPr>
        <p:spPr>
          <a:xfrm>
            <a:off x="914400" y="2569464"/>
            <a:ext cx="10332720" cy="530352"/>
          </a:xfrm>
          <a:prstGeom prst="roundRect">
            <a:avLst>
              <a:gd name="adj" fmla="val 6897"/>
            </a:avLst>
          </a:prstGeom>
          <a:solidFill>
            <a:srgbClr val="FFFFFF"/>
          </a:solidFill>
          <a:ln w="12700">
            <a:solidFill>
              <a:srgbClr val="E8ECF2"/>
            </a:solidFill>
            <a:prstDash val="solid"/>
          </a:ln>
        </p:spPr>
      </p:sp>
      <p:sp>
        <p:nvSpPr>
          <p:cNvPr id="19" name="Shape 17"/>
          <p:cNvSpPr/>
          <p:nvPr/>
        </p:nvSpPr>
        <p:spPr>
          <a:xfrm>
            <a:off x="914400" y="2569464"/>
            <a:ext cx="2148840" cy="530352"/>
          </a:xfrm>
          <a:prstGeom prst="rect">
            <a:avLst/>
          </a:prstGeom>
          <a:solidFill>
            <a:srgbClr val="177E89"/>
          </a:solidFill>
          <a:ln w="12700">
            <a:solidFill>
              <a:srgbClr val="177E89"/>
            </a:solidFill>
            <a:prstDash val="solid"/>
          </a:ln>
        </p:spPr>
      </p:sp>
      <p:sp>
        <p:nvSpPr>
          <p:cNvPr id="20" name="Text 18"/>
          <p:cNvSpPr/>
          <p:nvPr/>
        </p:nvSpPr>
        <p:spPr>
          <a:xfrm>
            <a:off x="987552" y="2715768"/>
            <a:ext cx="1993392" cy="164592"/>
          </a:xfrm>
          <a:prstGeom prst="rect">
            <a:avLst/>
          </a:prstGeom>
          <a:noFill/>
          <a:ln/>
        </p:spPr>
        <p:txBody>
          <a:bodyPr wrap="square" lIns="0" tIns="0" rIns="0" bIns="0" rtlCol="0" anchor="ctr"/>
          <a:lstStyle/>
          <a:p>
            <a:pPr marL="0" indent="0" algn="ctr">
              <a:buNone/>
            </a:pPr>
            <a:r>
              <a:rPr lang="en-US" sz="1150" b="1" dirty="0">
                <a:solidFill>
                  <a:srgbClr val="FFFFFF"/>
                </a:solidFill>
              </a:rPr>
              <a:t>Integration layer</a:t>
            </a:r>
            <a:endParaRPr lang="en-US" sz="1150" dirty="0"/>
          </a:p>
        </p:txBody>
      </p:sp>
      <p:sp>
        <p:nvSpPr>
          <p:cNvPr id="21" name="Text 19"/>
          <p:cNvSpPr/>
          <p:nvPr/>
        </p:nvSpPr>
        <p:spPr>
          <a:xfrm>
            <a:off x="3246120" y="2715768"/>
            <a:ext cx="7498080" cy="182880"/>
          </a:xfrm>
          <a:prstGeom prst="rect">
            <a:avLst/>
          </a:prstGeom>
          <a:noFill/>
          <a:ln/>
        </p:spPr>
        <p:txBody>
          <a:bodyPr wrap="square" lIns="0" tIns="0" rIns="0" bIns="0" rtlCol="0" anchor="ctr"/>
          <a:lstStyle/>
          <a:p>
            <a:pPr marL="0" indent="0">
              <a:buNone/>
            </a:pPr>
            <a:r>
              <a:rPr lang="en-US" sz="1130" dirty="0">
                <a:solidFill>
                  <a:srgbClr val="303846"/>
                </a:solidFill>
              </a:rPr>
              <a:t>event streaming, APIs, databases, semantic mapping</a:t>
            </a:r>
            <a:endParaRPr lang="en-US" sz="1130" dirty="0"/>
          </a:p>
        </p:txBody>
      </p:sp>
      <p:sp>
        <p:nvSpPr>
          <p:cNvPr id="22" name="Shape 20"/>
          <p:cNvSpPr/>
          <p:nvPr/>
        </p:nvSpPr>
        <p:spPr>
          <a:xfrm>
            <a:off x="6080760" y="3127248"/>
            <a:ext cx="0" cy="219456"/>
          </a:xfrm>
          <a:prstGeom prst="line">
            <a:avLst/>
          </a:prstGeom>
          <a:noFill/>
          <a:ln w="12700">
            <a:solidFill>
              <a:srgbClr val="667085"/>
            </a:solidFill>
            <a:prstDash val="solid"/>
            <a:tailEnd type="triangle"/>
          </a:ln>
        </p:spPr>
      </p:sp>
      <p:sp>
        <p:nvSpPr>
          <p:cNvPr id="23" name="Shape 21"/>
          <p:cNvSpPr/>
          <p:nvPr/>
        </p:nvSpPr>
        <p:spPr>
          <a:xfrm>
            <a:off x="914400" y="3374136"/>
            <a:ext cx="10332720" cy="530352"/>
          </a:xfrm>
          <a:prstGeom prst="roundRect">
            <a:avLst>
              <a:gd name="adj" fmla="val 6897"/>
            </a:avLst>
          </a:prstGeom>
          <a:solidFill>
            <a:srgbClr val="FFFFFF"/>
          </a:solidFill>
          <a:ln w="12700">
            <a:solidFill>
              <a:srgbClr val="E8ECF2"/>
            </a:solidFill>
            <a:prstDash val="solid"/>
          </a:ln>
        </p:spPr>
      </p:sp>
      <p:sp>
        <p:nvSpPr>
          <p:cNvPr id="24" name="Shape 22"/>
          <p:cNvSpPr/>
          <p:nvPr/>
        </p:nvSpPr>
        <p:spPr>
          <a:xfrm>
            <a:off x="914400" y="3374136"/>
            <a:ext cx="2148840" cy="530352"/>
          </a:xfrm>
          <a:prstGeom prst="rect">
            <a:avLst/>
          </a:prstGeom>
          <a:solidFill>
            <a:srgbClr val="25A75A"/>
          </a:solidFill>
          <a:ln w="12700">
            <a:solidFill>
              <a:srgbClr val="25A75A"/>
            </a:solidFill>
            <a:prstDash val="solid"/>
          </a:ln>
        </p:spPr>
      </p:sp>
      <p:sp>
        <p:nvSpPr>
          <p:cNvPr id="25" name="Text 23"/>
          <p:cNvSpPr/>
          <p:nvPr/>
        </p:nvSpPr>
        <p:spPr>
          <a:xfrm>
            <a:off x="987552" y="3520440"/>
            <a:ext cx="1993392" cy="164592"/>
          </a:xfrm>
          <a:prstGeom prst="rect">
            <a:avLst/>
          </a:prstGeom>
          <a:noFill/>
          <a:ln/>
        </p:spPr>
        <p:txBody>
          <a:bodyPr wrap="square" lIns="0" tIns="0" rIns="0" bIns="0" rtlCol="0" anchor="ctr"/>
          <a:lstStyle/>
          <a:p>
            <a:pPr marL="0" indent="0" algn="ctr">
              <a:buNone/>
            </a:pPr>
            <a:r>
              <a:rPr lang="en-US" sz="1150" b="1" dirty="0">
                <a:solidFill>
                  <a:srgbClr val="FFFFFF"/>
                </a:solidFill>
              </a:rPr>
              <a:t>Modeling layer</a:t>
            </a:r>
            <a:endParaRPr lang="en-US" sz="1150" dirty="0"/>
          </a:p>
        </p:txBody>
      </p:sp>
      <p:sp>
        <p:nvSpPr>
          <p:cNvPr id="26" name="Text 24"/>
          <p:cNvSpPr/>
          <p:nvPr/>
        </p:nvSpPr>
        <p:spPr>
          <a:xfrm>
            <a:off x="3246120" y="3520440"/>
            <a:ext cx="7498080" cy="182880"/>
          </a:xfrm>
          <a:prstGeom prst="rect">
            <a:avLst/>
          </a:prstGeom>
          <a:noFill/>
          <a:ln/>
        </p:spPr>
        <p:txBody>
          <a:bodyPr wrap="square" lIns="0" tIns="0" rIns="0" bIns="0" rtlCol="0" anchor="ctr"/>
          <a:lstStyle/>
          <a:p>
            <a:pPr marL="0" indent="0">
              <a:buNone/>
            </a:pPr>
            <a:r>
              <a:rPr lang="en-US" sz="1130" dirty="0">
                <a:solidFill>
                  <a:srgbClr val="303846"/>
                </a:solidFill>
              </a:rPr>
              <a:t>DES, 3D simulation, process/resource/spatial models</a:t>
            </a:r>
            <a:endParaRPr lang="en-US" sz="1130" dirty="0"/>
          </a:p>
        </p:txBody>
      </p:sp>
      <p:sp>
        <p:nvSpPr>
          <p:cNvPr id="27" name="Shape 25"/>
          <p:cNvSpPr/>
          <p:nvPr/>
        </p:nvSpPr>
        <p:spPr>
          <a:xfrm>
            <a:off x="6080760" y="3931920"/>
            <a:ext cx="0" cy="219456"/>
          </a:xfrm>
          <a:prstGeom prst="line">
            <a:avLst/>
          </a:prstGeom>
          <a:noFill/>
          <a:ln w="12700">
            <a:solidFill>
              <a:srgbClr val="667085"/>
            </a:solidFill>
            <a:prstDash val="solid"/>
            <a:tailEnd type="triangle"/>
          </a:ln>
        </p:spPr>
      </p:sp>
      <p:sp>
        <p:nvSpPr>
          <p:cNvPr id="28" name="Shape 26"/>
          <p:cNvSpPr/>
          <p:nvPr/>
        </p:nvSpPr>
        <p:spPr>
          <a:xfrm>
            <a:off x="914400" y="4178808"/>
            <a:ext cx="10332720" cy="530352"/>
          </a:xfrm>
          <a:prstGeom prst="roundRect">
            <a:avLst>
              <a:gd name="adj" fmla="val 6897"/>
            </a:avLst>
          </a:prstGeom>
          <a:solidFill>
            <a:srgbClr val="FFFFFF"/>
          </a:solidFill>
          <a:ln w="12700">
            <a:solidFill>
              <a:srgbClr val="E8ECF2"/>
            </a:solidFill>
            <a:prstDash val="solid"/>
          </a:ln>
        </p:spPr>
      </p:sp>
      <p:sp>
        <p:nvSpPr>
          <p:cNvPr id="29" name="Shape 27"/>
          <p:cNvSpPr/>
          <p:nvPr/>
        </p:nvSpPr>
        <p:spPr>
          <a:xfrm>
            <a:off x="914400" y="4178808"/>
            <a:ext cx="2148840" cy="530352"/>
          </a:xfrm>
          <a:prstGeom prst="rect">
            <a:avLst/>
          </a:prstGeom>
          <a:solidFill>
            <a:srgbClr val="E8733A"/>
          </a:solidFill>
          <a:ln w="12700">
            <a:solidFill>
              <a:srgbClr val="E8733A"/>
            </a:solidFill>
            <a:prstDash val="solid"/>
          </a:ln>
        </p:spPr>
      </p:sp>
      <p:sp>
        <p:nvSpPr>
          <p:cNvPr id="30" name="Text 28"/>
          <p:cNvSpPr/>
          <p:nvPr/>
        </p:nvSpPr>
        <p:spPr>
          <a:xfrm>
            <a:off x="987552" y="4325112"/>
            <a:ext cx="1993392" cy="164592"/>
          </a:xfrm>
          <a:prstGeom prst="rect">
            <a:avLst/>
          </a:prstGeom>
          <a:noFill/>
          <a:ln/>
        </p:spPr>
        <p:txBody>
          <a:bodyPr wrap="square" lIns="0" tIns="0" rIns="0" bIns="0" rtlCol="0" anchor="ctr"/>
          <a:lstStyle/>
          <a:p>
            <a:pPr marL="0" indent="0" algn="ctr">
              <a:buNone/>
            </a:pPr>
            <a:r>
              <a:rPr lang="en-US" sz="1150" b="1" dirty="0">
                <a:solidFill>
                  <a:srgbClr val="FFFFFF"/>
                </a:solidFill>
              </a:rPr>
              <a:t>Analytics &amp; control</a:t>
            </a:r>
            <a:endParaRPr lang="en-US" sz="1150" dirty="0"/>
          </a:p>
        </p:txBody>
      </p:sp>
      <p:sp>
        <p:nvSpPr>
          <p:cNvPr id="31" name="Text 29"/>
          <p:cNvSpPr/>
          <p:nvPr/>
        </p:nvSpPr>
        <p:spPr>
          <a:xfrm>
            <a:off x="3246120" y="4325112"/>
            <a:ext cx="7498080" cy="182880"/>
          </a:xfrm>
          <a:prstGeom prst="rect">
            <a:avLst/>
          </a:prstGeom>
          <a:noFill/>
          <a:ln/>
        </p:spPr>
        <p:txBody>
          <a:bodyPr wrap="square" lIns="0" tIns="0" rIns="0" bIns="0" rtlCol="0" anchor="ctr"/>
          <a:lstStyle/>
          <a:p>
            <a:pPr marL="0" indent="0">
              <a:buNone/>
            </a:pPr>
            <a:r>
              <a:rPr lang="en-US" sz="1130" dirty="0">
                <a:solidFill>
                  <a:srgbClr val="303846"/>
                </a:solidFill>
              </a:rPr>
              <a:t>forecasting, optimization, routing, dispatching, adaptive rescheduling</a:t>
            </a:r>
            <a:endParaRPr lang="en-US" sz="1130" dirty="0"/>
          </a:p>
        </p:txBody>
      </p:sp>
      <p:sp>
        <p:nvSpPr>
          <p:cNvPr id="32" name="Shape 30"/>
          <p:cNvSpPr/>
          <p:nvPr/>
        </p:nvSpPr>
        <p:spPr>
          <a:xfrm>
            <a:off x="6080760" y="4736592"/>
            <a:ext cx="0" cy="219456"/>
          </a:xfrm>
          <a:prstGeom prst="line">
            <a:avLst/>
          </a:prstGeom>
          <a:noFill/>
          <a:ln w="12700">
            <a:solidFill>
              <a:srgbClr val="667085"/>
            </a:solidFill>
            <a:prstDash val="solid"/>
            <a:tailEnd type="triangle"/>
          </a:ln>
        </p:spPr>
      </p:sp>
      <p:sp>
        <p:nvSpPr>
          <p:cNvPr id="33" name="Shape 31"/>
          <p:cNvSpPr/>
          <p:nvPr/>
        </p:nvSpPr>
        <p:spPr>
          <a:xfrm>
            <a:off x="914400" y="4983480"/>
            <a:ext cx="10332720" cy="530352"/>
          </a:xfrm>
          <a:prstGeom prst="roundRect">
            <a:avLst>
              <a:gd name="adj" fmla="val 6897"/>
            </a:avLst>
          </a:prstGeom>
          <a:solidFill>
            <a:srgbClr val="FFFFFF"/>
          </a:solidFill>
          <a:ln w="12700">
            <a:solidFill>
              <a:srgbClr val="E8ECF2"/>
            </a:solidFill>
            <a:prstDash val="solid"/>
          </a:ln>
        </p:spPr>
      </p:sp>
      <p:sp>
        <p:nvSpPr>
          <p:cNvPr id="34" name="Shape 32"/>
          <p:cNvSpPr/>
          <p:nvPr/>
        </p:nvSpPr>
        <p:spPr>
          <a:xfrm>
            <a:off x="914400" y="4983480"/>
            <a:ext cx="2148840" cy="530352"/>
          </a:xfrm>
          <a:prstGeom prst="rect">
            <a:avLst/>
          </a:prstGeom>
          <a:solidFill>
            <a:srgbClr val="7B4BB2"/>
          </a:solidFill>
          <a:ln w="12700">
            <a:solidFill>
              <a:srgbClr val="7B4BB2"/>
            </a:solidFill>
            <a:prstDash val="solid"/>
          </a:ln>
        </p:spPr>
      </p:sp>
      <p:sp>
        <p:nvSpPr>
          <p:cNvPr id="35" name="Text 33"/>
          <p:cNvSpPr/>
          <p:nvPr/>
        </p:nvSpPr>
        <p:spPr>
          <a:xfrm>
            <a:off x="987552" y="5129784"/>
            <a:ext cx="1993392" cy="164592"/>
          </a:xfrm>
          <a:prstGeom prst="rect">
            <a:avLst/>
          </a:prstGeom>
          <a:noFill/>
          <a:ln/>
        </p:spPr>
        <p:txBody>
          <a:bodyPr wrap="square" lIns="0" tIns="0" rIns="0" bIns="0" rtlCol="0" anchor="ctr"/>
          <a:lstStyle/>
          <a:p>
            <a:pPr marL="0" indent="0" algn="ctr">
              <a:buNone/>
            </a:pPr>
            <a:r>
              <a:rPr lang="en-US" sz="1150" b="1" dirty="0">
                <a:solidFill>
                  <a:srgbClr val="FFFFFF"/>
                </a:solidFill>
              </a:rPr>
              <a:t>Governance &amp; lifecycle</a:t>
            </a:r>
            <a:endParaRPr lang="en-US" sz="1150" dirty="0"/>
          </a:p>
        </p:txBody>
      </p:sp>
      <p:sp>
        <p:nvSpPr>
          <p:cNvPr id="36" name="Text 34"/>
          <p:cNvSpPr/>
          <p:nvPr/>
        </p:nvSpPr>
        <p:spPr>
          <a:xfrm>
            <a:off x="3246120" y="5129784"/>
            <a:ext cx="7498080" cy="182880"/>
          </a:xfrm>
          <a:prstGeom prst="rect">
            <a:avLst/>
          </a:prstGeom>
          <a:noFill/>
          <a:ln/>
        </p:spPr>
        <p:txBody>
          <a:bodyPr wrap="square" lIns="0" tIns="0" rIns="0" bIns="0" rtlCol="0" anchor="ctr"/>
          <a:lstStyle/>
          <a:p>
            <a:pPr marL="0" indent="0">
              <a:buNone/>
            </a:pPr>
            <a:r>
              <a:rPr lang="en-US" sz="1130" dirty="0">
                <a:solidFill>
                  <a:srgbClr val="303846"/>
                </a:solidFill>
              </a:rPr>
              <a:t>cybersecurity, validation, traceability, requirements, maintenance</a:t>
            </a:r>
            <a:endParaRPr lang="en-US" sz="1130" dirty="0"/>
          </a:p>
        </p:txBody>
      </p:sp>
      <p:sp>
        <p:nvSpPr>
          <p:cNvPr id="37" name="Shape 35"/>
          <p:cNvSpPr/>
          <p:nvPr/>
        </p:nvSpPr>
        <p:spPr>
          <a:xfrm>
            <a:off x="914400" y="5897880"/>
            <a:ext cx="10332720" cy="411480"/>
          </a:xfrm>
          <a:prstGeom prst="roundRect">
            <a:avLst>
              <a:gd name="adj" fmla="val 8889"/>
            </a:avLst>
          </a:prstGeom>
          <a:solidFill>
            <a:srgbClr val="EDF5FF"/>
          </a:solidFill>
          <a:ln w="12700">
            <a:solidFill>
              <a:srgbClr val="E8ECF2"/>
            </a:solidFill>
            <a:prstDash val="solid"/>
          </a:ln>
        </p:spPr>
      </p:sp>
      <p:sp>
        <p:nvSpPr>
          <p:cNvPr id="38" name="Text 36"/>
          <p:cNvSpPr/>
          <p:nvPr/>
        </p:nvSpPr>
        <p:spPr>
          <a:xfrm>
            <a:off x="1115568" y="6016752"/>
            <a:ext cx="9738360" cy="118872"/>
          </a:xfrm>
          <a:prstGeom prst="rect">
            <a:avLst/>
          </a:prstGeom>
          <a:noFill/>
          <a:ln/>
        </p:spPr>
        <p:txBody>
          <a:bodyPr wrap="square" lIns="0" tIns="0" rIns="0" bIns="0" rtlCol="0" anchor="ctr">
            <a:normAutofit/>
          </a:bodyPr>
          <a:lstStyle/>
          <a:p>
            <a:pPr marL="0" indent="0">
              <a:buNone/>
            </a:pPr>
            <a:r>
              <a:rPr lang="en-US" sz="930" dirty="0">
                <a:solidFill>
                  <a:srgbClr val="303846"/>
                </a:solidFill>
              </a:rPr>
              <a:t>SE implication: a mature warehouse DT must be traceable, validated, interoperable, secure, usable, and embedded across lifecycle stages — not only a visualization or simulation model.</a:t>
            </a:r>
            <a:endParaRPr lang="en-US" sz="93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6F7F9"/>
        </a:solidFill>
        <a:effectLst/>
      </p:bgPr>
    </p:bg>
    <p:spTree>
      <p:nvGrpSpPr>
        <p:cNvPr id="1" name=""/>
        <p:cNvGrpSpPr/>
        <p:nvPr/>
      </p:nvGrpSpPr>
      <p:grpSpPr>
        <a:xfrm>
          <a:off x="0" y="0"/>
          <a:ext cx="0" cy="0"/>
          <a:chOff x="0" y="0"/>
          <a:chExt cx="0" cy="0"/>
        </a:xfrm>
      </p:grpSpPr>
      <p:sp>
        <p:nvSpPr>
          <p:cNvPr id="2" name="Shape 0"/>
          <p:cNvSpPr/>
          <p:nvPr/>
        </p:nvSpPr>
        <p:spPr>
          <a:xfrm>
            <a:off x="347472" y="329184"/>
            <a:ext cx="73152" cy="438912"/>
          </a:xfrm>
          <a:prstGeom prst="rect">
            <a:avLst/>
          </a:prstGeom>
          <a:solidFill>
            <a:srgbClr val="2F6BD8"/>
          </a:solidFill>
          <a:ln w="12700">
            <a:solidFill>
              <a:srgbClr val="2F6BD8"/>
            </a:solidFill>
            <a:prstDash val="solid"/>
          </a:ln>
        </p:spPr>
      </p:sp>
      <p:sp>
        <p:nvSpPr>
          <p:cNvPr id="3" name="Text 1"/>
          <p:cNvSpPr/>
          <p:nvPr/>
        </p:nvSpPr>
        <p:spPr>
          <a:xfrm>
            <a:off x="512064" y="292608"/>
            <a:ext cx="10789920" cy="502920"/>
          </a:xfrm>
          <a:prstGeom prst="rect">
            <a:avLst/>
          </a:prstGeom>
          <a:noFill/>
          <a:ln/>
        </p:spPr>
        <p:txBody>
          <a:bodyPr wrap="square" lIns="0" tIns="0" rIns="0" bIns="0" rtlCol="0" anchor="ctr"/>
          <a:lstStyle/>
          <a:p>
            <a:pPr marL="0" indent="0">
              <a:buNone/>
            </a:pPr>
            <a:r>
              <a:rPr lang="en-US" sz="2700" b="1" dirty="0">
                <a:solidFill>
                  <a:srgbClr val="303846"/>
                </a:solidFill>
                <a:latin typeface="Aptos Display" pitchFamily="34" charset="0"/>
                <a:ea typeface="Aptos Display" pitchFamily="34" charset="-122"/>
                <a:cs typeface="Aptos Display" pitchFamily="34" charset="-120"/>
              </a:rPr>
              <a:t>Research Gaps and Future Directions</a:t>
            </a:r>
            <a:endParaRPr lang="en-US" sz="2700" dirty="0"/>
          </a:p>
        </p:txBody>
      </p:sp>
      <p:sp>
        <p:nvSpPr>
          <p:cNvPr id="4" name="Shape 2"/>
          <p:cNvSpPr/>
          <p:nvPr/>
        </p:nvSpPr>
        <p:spPr>
          <a:xfrm>
            <a:off x="0" y="6510528"/>
            <a:ext cx="12191695" cy="347472"/>
          </a:xfrm>
          <a:prstGeom prst="rect">
            <a:avLst/>
          </a:prstGeom>
          <a:solidFill>
            <a:srgbClr val="303846"/>
          </a:solidFill>
          <a:ln w="12700">
            <a:solidFill>
              <a:srgbClr val="303846"/>
            </a:solidFill>
            <a:prstDash val="solid"/>
          </a:ln>
        </p:spPr>
      </p:sp>
      <p:sp>
        <p:nvSpPr>
          <p:cNvPr id="5" name="Text 3"/>
          <p:cNvSpPr/>
          <p:nvPr/>
        </p:nvSpPr>
        <p:spPr>
          <a:xfrm>
            <a:off x="320040" y="6592824"/>
            <a:ext cx="6583680" cy="137160"/>
          </a:xfrm>
          <a:prstGeom prst="rect">
            <a:avLst/>
          </a:prstGeom>
          <a:noFill/>
          <a:ln/>
        </p:spPr>
        <p:txBody>
          <a:bodyPr wrap="square" lIns="0" tIns="0" rIns="0" bIns="0" rtlCol="0" anchor="ctr"/>
          <a:lstStyle/>
          <a:p>
            <a:pPr marL="0" indent="0">
              <a:buNone/>
            </a:pPr>
            <a:r>
              <a:rPr lang="en-US" sz="750" i="1" dirty="0">
                <a:solidFill>
                  <a:srgbClr val="F2F4F7"/>
                </a:solidFill>
              </a:rPr>
              <a:t>Digital Twin-Enabled Intralogistics — Systematic Review | SEN601</a:t>
            </a:r>
            <a:endParaRPr lang="en-US" sz="750" dirty="0"/>
          </a:p>
        </p:txBody>
      </p:sp>
      <p:sp>
        <p:nvSpPr>
          <p:cNvPr id="6" name="Text 4"/>
          <p:cNvSpPr/>
          <p:nvPr/>
        </p:nvSpPr>
        <p:spPr>
          <a:xfrm>
            <a:off x="10195560" y="6592824"/>
            <a:ext cx="1280160" cy="137160"/>
          </a:xfrm>
          <a:prstGeom prst="rect">
            <a:avLst/>
          </a:prstGeom>
          <a:noFill/>
          <a:ln/>
        </p:spPr>
        <p:txBody>
          <a:bodyPr wrap="square" lIns="0" tIns="0" rIns="0" bIns="0" rtlCol="0" anchor="ctr"/>
          <a:lstStyle/>
          <a:p>
            <a:pPr marL="0" indent="0" algn="r">
              <a:buNone/>
            </a:pPr>
            <a:r>
              <a:rPr lang="en-US" sz="750" dirty="0">
                <a:solidFill>
                  <a:srgbClr val="F2F4F7"/>
                </a:solidFill>
              </a:rPr>
              <a:t>Future Research</a:t>
            </a:r>
            <a:endParaRPr lang="en-US" sz="750" dirty="0"/>
          </a:p>
        </p:txBody>
      </p:sp>
      <p:sp>
        <p:nvSpPr>
          <p:cNvPr id="7" name="Text 5"/>
          <p:cNvSpPr/>
          <p:nvPr/>
        </p:nvSpPr>
        <p:spPr>
          <a:xfrm>
            <a:off x="11539728" y="6583680"/>
            <a:ext cx="329184" cy="146304"/>
          </a:xfrm>
          <a:prstGeom prst="rect">
            <a:avLst/>
          </a:prstGeom>
          <a:noFill/>
          <a:ln/>
        </p:spPr>
        <p:txBody>
          <a:bodyPr wrap="square" lIns="0" tIns="0" rIns="0" bIns="0" rtlCol="0" anchor="ctr"/>
          <a:lstStyle/>
          <a:p>
            <a:pPr marL="0" indent="0" algn="r">
              <a:buNone/>
            </a:pPr>
            <a:r>
              <a:rPr lang="en-US" sz="850" dirty="0">
                <a:solidFill>
                  <a:srgbClr val="F2F4F7"/>
                </a:solidFill>
              </a:rPr>
              <a:t>18</a:t>
            </a:r>
            <a:endParaRPr lang="en-US" sz="850" dirty="0"/>
          </a:p>
        </p:txBody>
      </p:sp>
      <p:sp>
        <p:nvSpPr>
          <p:cNvPr id="8" name="Shape 6"/>
          <p:cNvSpPr/>
          <p:nvPr/>
        </p:nvSpPr>
        <p:spPr>
          <a:xfrm>
            <a:off x="594360" y="1024128"/>
            <a:ext cx="2414016" cy="724989"/>
          </a:xfrm>
          <a:prstGeom prst="rect">
            <a:avLst/>
          </a:prstGeom>
          <a:solidFill>
            <a:srgbClr val="3D4656"/>
          </a:solidFill>
          <a:ln w="6350">
            <a:solidFill>
              <a:srgbClr val="CED4DA"/>
            </a:solidFill>
            <a:prstDash val="solid"/>
          </a:ln>
        </p:spPr>
      </p:sp>
      <p:sp>
        <p:nvSpPr>
          <p:cNvPr id="9" name="Text 7"/>
          <p:cNvSpPr/>
          <p:nvPr/>
        </p:nvSpPr>
        <p:spPr>
          <a:xfrm>
            <a:off x="640080" y="1060704"/>
            <a:ext cx="2322576" cy="670125"/>
          </a:xfrm>
          <a:prstGeom prst="rect">
            <a:avLst/>
          </a:prstGeom>
          <a:noFill/>
          <a:ln/>
        </p:spPr>
        <p:txBody>
          <a:bodyPr wrap="square" lIns="254" tIns="254" rIns="254" bIns="254" rtlCol="0" anchor="ctr">
            <a:normAutofit/>
          </a:bodyPr>
          <a:lstStyle/>
          <a:p>
            <a:pPr marL="0" indent="0">
              <a:buNone/>
            </a:pPr>
            <a:r>
              <a:rPr lang="en-US" sz="880" b="1" dirty="0">
                <a:solidFill>
                  <a:srgbClr val="FFFFFF"/>
                </a:solidFill>
              </a:rPr>
              <a:t>Gap</a:t>
            </a:r>
            <a:endParaRPr lang="en-US" sz="880" dirty="0"/>
          </a:p>
        </p:txBody>
      </p:sp>
      <p:sp>
        <p:nvSpPr>
          <p:cNvPr id="10" name="Shape 8"/>
          <p:cNvSpPr/>
          <p:nvPr/>
        </p:nvSpPr>
        <p:spPr>
          <a:xfrm>
            <a:off x="3008376" y="1024128"/>
            <a:ext cx="4059936" cy="724989"/>
          </a:xfrm>
          <a:prstGeom prst="rect">
            <a:avLst/>
          </a:prstGeom>
          <a:solidFill>
            <a:srgbClr val="3D4656"/>
          </a:solidFill>
          <a:ln w="6350">
            <a:solidFill>
              <a:srgbClr val="CED4DA"/>
            </a:solidFill>
            <a:prstDash val="solid"/>
          </a:ln>
        </p:spPr>
      </p:sp>
      <p:sp>
        <p:nvSpPr>
          <p:cNvPr id="11" name="Text 9"/>
          <p:cNvSpPr/>
          <p:nvPr/>
        </p:nvSpPr>
        <p:spPr>
          <a:xfrm>
            <a:off x="3054096" y="1060704"/>
            <a:ext cx="3968496" cy="670125"/>
          </a:xfrm>
          <a:prstGeom prst="rect">
            <a:avLst/>
          </a:prstGeom>
          <a:noFill/>
          <a:ln/>
        </p:spPr>
        <p:txBody>
          <a:bodyPr wrap="square" lIns="254" tIns="254" rIns="254" bIns="254" rtlCol="0" anchor="ctr">
            <a:normAutofit/>
          </a:bodyPr>
          <a:lstStyle/>
          <a:p>
            <a:pPr marL="0" indent="0">
              <a:buNone/>
            </a:pPr>
            <a:r>
              <a:rPr lang="en-US" sz="880" b="1" dirty="0">
                <a:solidFill>
                  <a:srgbClr val="FFFFFF"/>
                </a:solidFill>
              </a:rPr>
              <a:t>Current limitation</a:t>
            </a:r>
            <a:endParaRPr lang="en-US" sz="880" dirty="0"/>
          </a:p>
        </p:txBody>
      </p:sp>
      <p:sp>
        <p:nvSpPr>
          <p:cNvPr id="12" name="Shape 10"/>
          <p:cNvSpPr/>
          <p:nvPr/>
        </p:nvSpPr>
        <p:spPr>
          <a:xfrm>
            <a:off x="7068312" y="1024128"/>
            <a:ext cx="4498848" cy="724989"/>
          </a:xfrm>
          <a:prstGeom prst="rect">
            <a:avLst/>
          </a:prstGeom>
          <a:solidFill>
            <a:srgbClr val="3D4656"/>
          </a:solidFill>
          <a:ln w="6350">
            <a:solidFill>
              <a:srgbClr val="CED4DA"/>
            </a:solidFill>
            <a:prstDash val="solid"/>
          </a:ln>
        </p:spPr>
      </p:sp>
      <p:sp>
        <p:nvSpPr>
          <p:cNvPr id="13" name="Text 11"/>
          <p:cNvSpPr/>
          <p:nvPr/>
        </p:nvSpPr>
        <p:spPr>
          <a:xfrm>
            <a:off x="7114032" y="1060704"/>
            <a:ext cx="4407408" cy="670125"/>
          </a:xfrm>
          <a:prstGeom prst="rect">
            <a:avLst/>
          </a:prstGeom>
          <a:noFill/>
          <a:ln/>
        </p:spPr>
        <p:txBody>
          <a:bodyPr wrap="square" lIns="254" tIns="254" rIns="254" bIns="254" rtlCol="0" anchor="ctr">
            <a:normAutofit/>
          </a:bodyPr>
          <a:lstStyle/>
          <a:p>
            <a:pPr marL="0" indent="0">
              <a:buNone/>
            </a:pPr>
            <a:r>
              <a:rPr lang="en-US" sz="880" b="1" dirty="0">
                <a:solidFill>
                  <a:srgbClr val="FFFFFF"/>
                </a:solidFill>
              </a:rPr>
              <a:t>Future research direction</a:t>
            </a:r>
            <a:endParaRPr lang="en-US" sz="880" dirty="0"/>
          </a:p>
        </p:txBody>
      </p:sp>
      <p:sp>
        <p:nvSpPr>
          <p:cNvPr id="14" name="Shape 12"/>
          <p:cNvSpPr/>
          <p:nvPr/>
        </p:nvSpPr>
        <p:spPr>
          <a:xfrm>
            <a:off x="594360" y="1749117"/>
            <a:ext cx="2414016" cy="724989"/>
          </a:xfrm>
          <a:prstGeom prst="rect">
            <a:avLst/>
          </a:prstGeom>
          <a:solidFill>
            <a:srgbClr val="F0F5F7"/>
          </a:solidFill>
          <a:ln w="6350">
            <a:solidFill>
              <a:srgbClr val="CED4DA"/>
            </a:solidFill>
            <a:prstDash val="solid"/>
          </a:ln>
        </p:spPr>
      </p:sp>
      <p:sp>
        <p:nvSpPr>
          <p:cNvPr id="15" name="Text 13"/>
          <p:cNvSpPr/>
          <p:nvPr/>
        </p:nvSpPr>
        <p:spPr>
          <a:xfrm>
            <a:off x="640080" y="1785693"/>
            <a:ext cx="2322576" cy="670125"/>
          </a:xfrm>
          <a:prstGeom prst="rect">
            <a:avLst/>
          </a:prstGeom>
          <a:noFill/>
          <a:ln/>
        </p:spPr>
        <p:txBody>
          <a:bodyPr wrap="square" lIns="254" tIns="254" rIns="254" bIns="254" rtlCol="0" anchor="ctr">
            <a:normAutofit/>
          </a:bodyPr>
          <a:lstStyle/>
          <a:p>
            <a:pPr marL="0" indent="0">
              <a:buNone/>
            </a:pPr>
            <a:r>
              <a:rPr lang="en-US" sz="880" dirty="0">
                <a:solidFill>
                  <a:srgbClr val="303846"/>
                </a:solidFill>
              </a:rPr>
              <a:t>Real-time synchronization</a:t>
            </a:r>
            <a:endParaRPr lang="en-US" sz="880" dirty="0"/>
          </a:p>
        </p:txBody>
      </p:sp>
      <p:sp>
        <p:nvSpPr>
          <p:cNvPr id="16" name="Shape 14"/>
          <p:cNvSpPr/>
          <p:nvPr/>
        </p:nvSpPr>
        <p:spPr>
          <a:xfrm>
            <a:off x="3008376" y="1749117"/>
            <a:ext cx="4059936" cy="724989"/>
          </a:xfrm>
          <a:prstGeom prst="rect">
            <a:avLst/>
          </a:prstGeom>
          <a:solidFill>
            <a:srgbClr val="F0F5F7"/>
          </a:solidFill>
          <a:ln w="6350">
            <a:solidFill>
              <a:srgbClr val="CED4DA"/>
            </a:solidFill>
            <a:prstDash val="solid"/>
          </a:ln>
        </p:spPr>
      </p:sp>
      <p:sp>
        <p:nvSpPr>
          <p:cNvPr id="17" name="Text 15"/>
          <p:cNvSpPr/>
          <p:nvPr/>
        </p:nvSpPr>
        <p:spPr>
          <a:xfrm>
            <a:off x="3054096" y="1785693"/>
            <a:ext cx="3968496" cy="670125"/>
          </a:xfrm>
          <a:prstGeom prst="rect">
            <a:avLst/>
          </a:prstGeom>
          <a:noFill/>
          <a:ln/>
        </p:spPr>
        <p:txBody>
          <a:bodyPr wrap="square" lIns="254" tIns="254" rIns="254" bIns="254" rtlCol="0" anchor="ctr">
            <a:normAutofit/>
          </a:bodyPr>
          <a:lstStyle/>
          <a:p>
            <a:pPr marL="0" indent="0">
              <a:buNone/>
            </a:pPr>
            <a:r>
              <a:rPr lang="en-US" sz="880" dirty="0">
                <a:solidFill>
                  <a:srgbClr val="303846"/>
                </a:solidFill>
              </a:rPr>
              <a:t>Many DTs remain simulation-based or digital-shadow-like</a:t>
            </a:r>
            <a:endParaRPr lang="en-US" sz="880" dirty="0"/>
          </a:p>
        </p:txBody>
      </p:sp>
      <p:sp>
        <p:nvSpPr>
          <p:cNvPr id="18" name="Shape 16"/>
          <p:cNvSpPr/>
          <p:nvPr/>
        </p:nvSpPr>
        <p:spPr>
          <a:xfrm>
            <a:off x="7068312" y="1749117"/>
            <a:ext cx="4498848" cy="724989"/>
          </a:xfrm>
          <a:prstGeom prst="rect">
            <a:avLst/>
          </a:prstGeom>
          <a:solidFill>
            <a:srgbClr val="F0F5F7"/>
          </a:solidFill>
          <a:ln w="6350">
            <a:solidFill>
              <a:srgbClr val="CED4DA"/>
            </a:solidFill>
            <a:prstDash val="solid"/>
          </a:ln>
        </p:spPr>
      </p:sp>
      <p:sp>
        <p:nvSpPr>
          <p:cNvPr id="19" name="Text 17"/>
          <p:cNvSpPr/>
          <p:nvPr/>
        </p:nvSpPr>
        <p:spPr>
          <a:xfrm>
            <a:off x="7114032" y="1785693"/>
            <a:ext cx="4407408" cy="670125"/>
          </a:xfrm>
          <a:prstGeom prst="rect">
            <a:avLst/>
          </a:prstGeom>
          <a:noFill/>
          <a:ln/>
        </p:spPr>
        <p:txBody>
          <a:bodyPr wrap="square" lIns="254" tIns="254" rIns="254" bIns="254" rtlCol="0" anchor="ctr">
            <a:normAutofit/>
          </a:bodyPr>
          <a:lstStyle/>
          <a:p>
            <a:pPr marL="0" indent="0">
              <a:buNone/>
            </a:pPr>
            <a:r>
              <a:rPr lang="en-US" sz="880" dirty="0">
                <a:solidFill>
                  <a:srgbClr val="303846"/>
                </a:solidFill>
              </a:rPr>
              <a:t>Event-driven data pipelines connected to WMS/WCS/robot fleets</a:t>
            </a:r>
            <a:endParaRPr lang="en-US" sz="880" dirty="0"/>
          </a:p>
        </p:txBody>
      </p:sp>
      <p:sp>
        <p:nvSpPr>
          <p:cNvPr id="20" name="Shape 18"/>
          <p:cNvSpPr/>
          <p:nvPr/>
        </p:nvSpPr>
        <p:spPr>
          <a:xfrm>
            <a:off x="594360" y="2474105"/>
            <a:ext cx="2414016" cy="724989"/>
          </a:xfrm>
          <a:prstGeom prst="rect">
            <a:avLst/>
          </a:prstGeom>
          <a:solidFill>
            <a:srgbClr val="FFFFFF"/>
          </a:solidFill>
          <a:ln w="6350">
            <a:solidFill>
              <a:srgbClr val="CED4DA"/>
            </a:solidFill>
            <a:prstDash val="solid"/>
          </a:ln>
        </p:spPr>
      </p:sp>
      <p:sp>
        <p:nvSpPr>
          <p:cNvPr id="21" name="Text 19"/>
          <p:cNvSpPr/>
          <p:nvPr/>
        </p:nvSpPr>
        <p:spPr>
          <a:xfrm>
            <a:off x="640080" y="2510681"/>
            <a:ext cx="2322576" cy="670125"/>
          </a:xfrm>
          <a:prstGeom prst="rect">
            <a:avLst/>
          </a:prstGeom>
          <a:noFill/>
          <a:ln/>
        </p:spPr>
        <p:txBody>
          <a:bodyPr wrap="square" lIns="254" tIns="254" rIns="254" bIns="254" rtlCol="0" anchor="ctr">
            <a:normAutofit/>
          </a:bodyPr>
          <a:lstStyle/>
          <a:p>
            <a:pPr marL="0" indent="0">
              <a:buNone/>
            </a:pPr>
            <a:r>
              <a:rPr lang="en-US" sz="880" dirty="0">
                <a:solidFill>
                  <a:srgbClr val="303846"/>
                </a:solidFill>
              </a:rPr>
              <a:t>Verification &amp; validation</a:t>
            </a:r>
            <a:endParaRPr lang="en-US" sz="880" dirty="0"/>
          </a:p>
        </p:txBody>
      </p:sp>
      <p:sp>
        <p:nvSpPr>
          <p:cNvPr id="22" name="Shape 20"/>
          <p:cNvSpPr/>
          <p:nvPr/>
        </p:nvSpPr>
        <p:spPr>
          <a:xfrm>
            <a:off x="3008376" y="2474105"/>
            <a:ext cx="4059936" cy="724989"/>
          </a:xfrm>
          <a:prstGeom prst="rect">
            <a:avLst/>
          </a:prstGeom>
          <a:solidFill>
            <a:srgbClr val="FFFFFF"/>
          </a:solidFill>
          <a:ln w="6350">
            <a:solidFill>
              <a:srgbClr val="CED4DA"/>
            </a:solidFill>
            <a:prstDash val="solid"/>
          </a:ln>
        </p:spPr>
      </p:sp>
      <p:sp>
        <p:nvSpPr>
          <p:cNvPr id="23" name="Text 21"/>
          <p:cNvSpPr/>
          <p:nvPr/>
        </p:nvSpPr>
        <p:spPr>
          <a:xfrm>
            <a:off x="3054096" y="2510681"/>
            <a:ext cx="3968496" cy="670125"/>
          </a:xfrm>
          <a:prstGeom prst="rect">
            <a:avLst/>
          </a:prstGeom>
          <a:noFill/>
          <a:ln/>
        </p:spPr>
        <p:txBody>
          <a:bodyPr wrap="square" lIns="254" tIns="254" rIns="254" bIns="254" rtlCol="0" anchor="ctr">
            <a:normAutofit/>
          </a:bodyPr>
          <a:lstStyle/>
          <a:p>
            <a:pPr marL="0" indent="0">
              <a:buNone/>
            </a:pPr>
            <a:r>
              <a:rPr lang="en-US" sz="880" dirty="0">
                <a:solidFill>
                  <a:srgbClr val="303846"/>
                </a:solidFill>
              </a:rPr>
              <a:t>Few studies define V&amp;V protocols against real system behavior</a:t>
            </a:r>
            <a:endParaRPr lang="en-US" sz="880" dirty="0"/>
          </a:p>
        </p:txBody>
      </p:sp>
      <p:sp>
        <p:nvSpPr>
          <p:cNvPr id="24" name="Shape 22"/>
          <p:cNvSpPr/>
          <p:nvPr/>
        </p:nvSpPr>
        <p:spPr>
          <a:xfrm>
            <a:off x="7068312" y="2474105"/>
            <a:ext cx="4498848" cy="724989"/>
          </a:xfrm>
          <a:prstGeom prst="rect">
            <a:avLst/>
          </a:prstGeom>
          <a:solidFill>
            <a:srgbClr val="FFFFFF"/>
          </a:solidFill>
          <a:ln w="6350">
            <a:solidFill>
              <a:srgbClr val="CED4DA"/>
            </a:solidFill>
            <a:prstDash val="solid"/>
          </a:ln>
        </p:spPr>
      </p:sp>
      <p:sp>
        <p:nvSpPr>
          <p:cNvPr id="25" name="Text 23"/>
          <p:cNvSpPr/>
          <p:nvPr/>
        </p:nvSpPr>
        <p:spPr>
          <a:xfrm>
            <a:off x="7114032" y="2510681"/>
            <a:ext cx="4407408" cy="670125"/>
          </a:xfrm>
          <a:prstGeom prst="rect">
            <a:avLst/>
          </a:prstGeom>
          <a:noFill/>
          <a:ln/>
        </p:spPr>
        <p:txBody>
          <a:bodyPr wrap="square" lIns="254" tIns="254" rIns="254" bIns="254" rtlCol="0" anchor="ctr">
            <a:normAutofit/>
          </a:bodyPr>
          <a:lstStyle/>
          <a:p>
            <a:pPr marL="0" indent="0">
              <a:buNone/>
            </a:pPr>
            <a:r>
              <a:rPr lang="en-US" sz="880" dirty="0">
                <a:solidFill>
                  <a:srgbClr val="303846"/>
                </a:solidFill>
              </a:rPr>
              <a:t>Model accuracy, scenario validity, confidence thresholds</a:t>
            </a:r>
            <a:endParaRPr lang="en-US" sz="880" dirty="0"/>
          </a:p>
        </p:txBody>
      </p:sp>
      <p:sp>
        <p:nvSpPr>
          <p:cNvPr id="26" name="Shape 24"/>
          <p:cNvSpPr/>
          <p:nvPr/>
        </p:nvSpPr>
        <p:spPr>
          <a:xfrm>
            <a:off x="594360" y="3199094"/>
            <a:ext cx="2414016" cy="724989"/>
          </a:xfrm>
          <a:prstGeom prst="rect">
            <a:avLst/>
          </a:prstGeom>
          <a:solidFill>
            <a:srgbClr val="F0F5F7"/>
          </a:solidFill>
          <a:ln w="6350">
            <a:solidFill>
              <a:srgbClr val="CED4DA"/>
            </a:solidFill>
            <a:prstDash val="solid"/>
          </a:ln>
        </p:spPr>
      </p:sp>
      <p:sp>
        <p:nvSpPr>
          <p:cNvPr id="27" name="Text 25"/>
          <p:cNvSpPr/>
          <p:nvPr/>
        </p:nvSpPr>
        <p:spPr>
          <a:xfrm>
            <a:off x="640080" y="3235670"/>
            <a:ext cx="2322576" cy="670125"/>
          </a:xfrm>
          <a:prstGeom prst="rect">
            <a:avLst/>
          </a:prstGeom>
          <a:noFill/>
          <a:ln/>
        </p:spPr>
        <p:txBody>
          <a:bodyPr wrap="square" lIns="254" tIns="254" rIns="254" bIns="254" rtlCol="0" anchor="ctr">
            <a:normAutofit/>
          </a:bodyPr>
          <a:lstStyle/>
          <a:p>
            <a:pPr marL="0" indent="0">
              <a:buNone/>
            </a:pPr>
            <a:r>
              <a:rPr lang="en-US" sz="880" dirty="0">
                <a:solidFill>
                  <a:srgbClr val="303846"/>
                </a:solidFill>
              </a:rPr>
              <a:t>Interoperability</a:t>
            </a:r>
            <a:endParaRPr lang="en-US" sz="880" dirty="0"/>
          </a:p>
        </p:txBody>
      </p:sp>
      <p:sp>
        <p:nvSpPr>
          <p:cNvPr id="28" name="Shape 26"/>
          <p:cNvSpPr/>
          <p:nvPr/>
        </p:nvSpPr>
        <p:spPr>
          <a:xfrm>
            <a:off x="3008376" y="3199094"/>
            <a:ext cx="4059936" cy="724989"/>
          </a:xfrm>
          <a:prstGeom prst="rect">
            <a:avLst/>
          </a:prstGeom>
          <a:solidFill>
            <a:srgbClr val="F0F5F7"/>
          </a:solidFill>
          <a:ln w="6350">
            <a:solidFill>
              <a:srgbClr val="CED4DA"/>
            </a:solidFill>
            <a:prstDash val="solid"/>
          </a:ln>
        </p:spPr>
      </p:sp>
      <p:sp>
        <p:nvSpPr>
          <p:cNvPr id="29" name="Text 27"/>
          <p:cNvSpPr/>
          <p:nvPr/>
        </p:nvSpPr>
        <p:spPr>
          <a:xfrm>
            <a:off x="3054096" y="3235670"/>
            <a:ext cx="3968496" cy="670125"/>
          </a:xfrm>
          <a:prstGeom prst="rect">
            <a:avLst/>
          </a:prstGeom>
          <a:noFill/>
          <a:ln/>
        </p:spPr>
        <p:txBody>
          <a:bodyPr wrap="square" lIns="254" tIns="254" rIns="254" bIns="254" rtlCol="0" anchor="ctr">
            <a:normAutofit/>
          </a:bodyPr>
          <a:lstStyle/>
          <a:p>
            <a:pPr marL="0" indent="0">
              <a:buNone/>
            </a:pPr>
            <a:r>
              <a:rPr lang="en-US" sz="880" dirty="0">
                <a:solidFill>
                  <a:srgbClr val="303846"/>
                </a:solidFill>
              </a:rPr>
              <a:t>Partial integration with WMS, WCS, ERP, IoT, PLCs</a:t>
            </a:r>
            <a:endParaRPr lang="en-US" sz="880" dirty="0"/>
          </a:p>
        </p:txBody>
      </p:sp>
      <p:sp>
        <p:nvSpPr>
          <p:cNvPr id="30" name="Shape 28"/>
          <p:cNvSpPr/>
          <p:nvPr/>
        </p:nvSpPr>
        <p:spPr>
          <a:xfrm>
            <a:off x="7068312" y="3199094"/>
            <a:ext cx="4498848" cy="724989"/>
          </a:xfrm>
          <a:prstGeom prst="rect">
            <a:avLst/>
          </a:prstGeom>
          <a:solidFill>
            <a:srgbClr val="F0F5F7"/>
          </a:solidFill>
          <a:ln w="6350">
            <a:solidFill>
              <a:srgbClr val="CED4DA"/>
            </a:solidFill>
            <a:prstDash val="solid"/>
          </a:ln>
        </p:spPr>
      </p:sp>
      <p:sp>
        <p:nvSpPr>
          <p:cNvPr id="31" name="Text 29"/>
          <p:cNvSpPr/>
          <p:nvPr/>
        </p:nvSpPr>
        <p:spPr>
          <a:xfrm>
            <a:off x="7114032" y="3235670"/>
            <a:ext cx="4407408" cy="670125"/>
          </a:xfrm>
          <a:prstGeom prst="rect">
            <a:avLst/>
          </a:prstGeom>
          <a:noFill/>
          <a:ln/>
        </p:spPr>
        <p:txBody>
          <a:bodyPr wrap="square" lIns="254" tIns="254" rIns="254" bIns="254" rtlCol="0" anchor="ctr">
            <a:normAutofit/>
          </a:bodyPr>
          <a:lstStyle/>
          <a:p>
            <a:pPr marL="0" indent="0">
              <a:buNone/>
            </a:pPr>
            <a:r>
              <a:rPr lang="en-US" sz="880" dirty="0">
                <a:solidFill>
                  <a:srgbClr val="303846"/>
                </a:solidFill>
              </a:rPr>
              <a:t>Reference architecture and open interfaces</a:t>
            </a:r>
            <a:endParaRPr lang="en-US" sz="880" dirty="0"/>
          </a:p>
        </p:txBody>
      </p:sp>
      <p:sp>
        <p:nvSpPr>
          <p:cNvPr id="32" name="Shape 30"/>
          <p:cNvSpPr/>
          <p:nvPr/>
        </p:nvSpPr>
        <p:spPr>
          <a:xfrm>
            <a:off x="594360" y="3924082"/>
            <a:ext cx="2414016" cy="724989"/>
          </a:xfrm>
          <a:prstGeom prst="rect">
            <a:avLst/>
          </a:prstGeom>
          <a:solidFill>
            <a:srgbClr val="FFFFFF"/>
          </a:solidFill>
          <a:ln w="6350">
            <a:solidFill>
              <a:srgbClr val="CED4DA"/>
            </a:solidFill>
            <a:prstDash val="solid"/>
          </a:ln>
        </p:spPr>
      </p:sp>
      <p:sp>
        <p:nvSpPr>
          <p:cNvPr id="33" name="Text 31"/>
          <p:cNvSpPr/>
          <p:nvPr/>
        </p:nvSpPr>
        <p:spPr>
          <a:xfrm>
            <a:off x="640080" y="3960658"/>
            <a:ext cx="2322576" cy="670125"/>
          </a:xfrm>
          <a:prstGeom prst="rect">
            <a:avLst/>
          </a:prstGeom>
          <a:noFill/>
          <a:ln/>
        </p:spPr>
        <p:txBody>
          <a:bodyPr wrap="square" lIns="254" tIns="254" rIns="254" bIns="254" rtlCol="0" anchor="ctr">
            <a:normAutofit/>
          </a:bodyPr>
          <a:lstStyle/>
          <a:p>
            <a:pPr marL="0" indent="0">
              <a:buNone/>
            </a:pPr>
            <a:r>
              <a:rPr lang="en-US" sz="880" dirty="0">
                <a:solidFill>
                  <a:srgbClr val="303846"/>
                </a:solidFill>
              </a:rPr>
              <a:t>Human factors</a:t>
            </a:r>
            <a:endParaRPr lang="en-US" sz="880" dirty="0"/>
          </a:p>
        </p:txBody>
      </p:sp>
      <p:sp>
        <p:nvSpPr>
          <p:cNvPr id="34" name="Shape 32"/>
          <p:cNvSpPr/>
          <p:nvPr/>
        </p:nvSpPr>
        <p:spPr>
          <a:xfrm>
            <a:off x="3008376" y="3924082"/>
            <a:ext cx="4059936" cy="724989"/>
          </a:xfrm>
          <a:prstGeom prst="rect">
            <a:avLst/>
          </a:prstGeom>
          <a:solidFill>
            <a:srgbClr val="FFFFFF"/>
          </a:solidFill>
          <a:ln w="6350">
            <a:solidFill>
              <a:srgbClr val="CED4DA"/>
            </a:solidFill>
            <a:prstDash val="solid"/>
          </a:ln>
        </p:spPr>
      </p:sp>
      <p:sp>
        <p:nvSpPr>
          <p:cNvPr id="35" name="Text 33"/>
          <p:cNvSpPr/>
          <p:nvPr/>
        </p:nvSpPr>
        <p:spPr>
          <a:xfrm>
            <a:off x="3054096" y="3960658"/>
            <a:ext cx="3968496" cy="670125"/>
          </a:xfrm>
          <a:prstGeom prst="rect">
            <a:avLst/>
          </a:prstGeom>
          <a:noFill/>
          <a:ln/>
        </p:spPr>
        <p:txBody>
          <a:bodyPr wrap="square" lIns="254" tIns="254" rIns="254" bIns="254" rtlCol="0" anchor="ctr">
            <a:normAutofit/>
          </a:bodyPr>
          <a:lstStyle/>
          <a:p>
            <a:pPr marL="0" indent="0">
              <a:buNone/>
            </a:pPr>
            <a:r>
              <a:rPr lang="en-US" sz="880" dirty="0">
                <a:solidFill>
                  <a:srgbClr val="303846"/>
                </a:solidFill>
              </a:rPr>
              <a:t>Operators and managers often secondary</a:t>
            </a:r>
            <a:endParaRPr lang="en-US" sz="880" dirty="0"/>
          </a:p>
        </p:txBody>
      </p:sp>
      <p:sp>
        <p:nvSpPr>
          <p:cNvPr id="36" name="Shape 34"/>
          <p:cNvSpPr/>
          <p:nvPr/>
        </p:nvSpPr>
        <p:spPr>
          <a:xfrm>
            <a:off x="7068312" y="3924082"/>
            <a:ext cx="4498848" cy="724989"/>
          </a:xfrm>
          <a:prstGeom prst="rect">
            <a:avLst/>
          </a:prstGeom>
          <a:solidFill>
            <a:srgbClr val="FFFFFF"/>
          </a:solidFill>
          <a:ln w="6350">
            <a:solidFill>
              <a:srgbClr val="CED4DA"/>
            </a:solidFill>
            <a:prstDash val="solid"/>
          </a:ln>
        </p:spPr>
      </p:sp>
      <p:sp>
        <p:nvSpPr>
          <p:cNvPr id="37" name="Text 35"/>
          <p:cNvSpPr/>
          <p:nvPr/>
        </p:nvSpPr>
        <p:spPr>
          <a:xfrm>
            <a:off x="7114032" y="3960658"/>
            <a:ext cx="4407408" cy="670125"/>
          </a:xfrm>
          <a:prstGeom prst="rect">
            <a:avLst/>
          </a:prstGeom>
          <a:noFill/>
          <a:ln/>
        </p:spPr>
        <p:txBody>
          <a:bodyPr wrap="square" lIns="254" tIns="254" rIns="254" bIns="254" rtlCol="0" anchor="ctr">
            <a:normAutofit/>
          </a:bodyPr>
          <a:lstStyle/>
          <a:p>
            <a:pPr marL="0" indent="0">
              <a:buNone/>
            </a:pPr>
            <a:r>
              <a:rPr lang="en-US" sz="880" dirty="0">
                <a:solidFill>
                  <a:srgbClr val="303846"/>
                </a:solidFill>
              </a:rPr>
              <a:t>Human-in-the-loop trust, usability, training, decision authority</a:t>
            </a:r>
            <a:endParaRPr lang="en-US" sz="880" dirty="0"/>
          </a:p>
        </p:txBody>
      </p:sp>
      <p:sp>
        <p:nvSpPr>
          <p:cNvPr id="38" name="Shape 36"/>
          <p:cNvSpPr/>
          <p:nvPr/>
        </p:nvSpPr>
        <p:spPr>
          <a:xfrm>
            <a:off x="594360" y="4649071"/>
            <a:ext cx="2414016" cy="724989"/>
          </a:xfrm>
          <a:prstGeom prst="rect">
            <a:avLst/>
          </a:prstGeom>
          <a:solidFill>
            <a:srgbClr val="F0F5F7"/>
          </a:solidFill>
          <a:ln w="6350">
            <a:solidFill>
              <a:srgbClr val="CED4DA"/>
            </a:solidFill>
            <a:prstDash val="solid"/>
          </a:ln>
        </p:spPr>
      </p:sp>
      <p:sp>
        <p:nvSpPr>
          <p:cNvPr id="39" name="Text 37"/>
          <p:cNvSpPr/>
          <p:nvPr/>
        </p:nvSpPr>
        <p:spPr>
          <a:xfrm>
            <a:off x="640080" y="4685647"/>
            <a:ext cx="2322576" cy="670125"/>
          </a:xfrm>
          <a:prstGeom prst="rect">
            <a:avLst/>
          </a:prstGeom>
          <a:noFill/>
          <a:ln/>
        </p:spPr>
        <p:txBody>
          <a:bodyPr wrap="square" lIns="254" tIns="254" rIns="254" bIns="254" rtlCol="0" anchor="ctr">
            <a:normAutofit/>
          </a:bodyPr>
          <a:lstStyle/>
          <a:p>
            <a:pPr marL="0" indent="0">
              <a:buNone/>
            </a:pPr>
            <a:r>
              <a:rPr lang="en-US" sz="880" dirty="0">
                <a:solidFill>
                  <a:srgbClr val="303846"/>
                </a:solidFill>
              </a:rPr>
              <a:t>Cybersecurity &amp; governance</a:t>
            </a:r>
            <a:endParaRPr lang="en-US" sz="880" dirty="0"/>
          </a:p>
        </p:txBody>
      </p:sp>
      <p:sp>
        <p:nvSpPr>
          <p:cNvPr id="40" name="Shape 38"/>
          <p:cNvSpPr/>
          <p:nvPr/>
        </p:nvSpPr>
        <p:spPr>
          <a:xfrm>
            <a:off x="3008376" y="4649071"/>
            <a:ext cx="4059936" cy="724989"/>
          </a:xfrm>
          <a:prstGeom prst="rect">
            <a:avLst/>
          </a:prstGeom>
          <a:solidFill>
            <a:srgbClr val="F0F5F7"/>
          </a:solidFill>
          <a:ln w="6350">
            <a:solidFill>
              <a:srgbClr val="CED4DA"/>
            </a:solidFill>
            <a:prstDash val="solid"/>
          </a:ln>
        </p:spPr>
      </p:sp>
      <p:sp>
        <p:nvSpPr>
          <p:cNvPr id="41" name="Text 39"/>
          <p:cNvSpPr/>
          <p:nvPr/>
        </p:nvSpPr>
        <p:spPr>
          <a:xfrm>
            <a:off x="3054096" y="4685647"/>
            <a:ext cx="3968496" cy="670125"/>
          </a:xfrm>
          <a:prstGeom prst="rect">
            <a:avLst/>
          </a:prstGeom>
          <a:noFill/>
          <a:ln/>
        </p:spPr>
        <p:txBody>
          <a:bodyPr wrap="square" lIns="254" tIns="254" rIns="254" bIns="254" rtlCol="0" anchor="ctr">
            <a:normAutofit/>
          </a:bodyPr>
          <a:lstStyle/>
          <a:p>
            <a:pPr marL="0" indent="0">
              <a:buNone/>
            </a:pPr>
            <a:r>
              <a:rPr lang="en-US" sz="880" dirty="0">
                <a:solidFill>
                  <a:srgbClr val="303846"/>
                </a:solidFill>
              </a:rPr>
              <a:t>DTs increase data dependency and attack surface</a:t>
            </a:r>
            <a:endParaRPr lang="en-US" sz="880" dirty="0"/>
          </a:p>
        </p:txBody>
      </p:sp>
      <p:sp>
        <p:nvSpPr>
          <p:cNvPr id="42" name="Shape 40"/>
          <p:cNvSpPr/>
          <p:nvPr/>
        </p:nvSpPr>
        <p:spPr>
          <a:xfrm>
            <a:off x="7068312" y="4649071"/>
            <a:ext cx="4498848" cy="724989"/>
          </a:xfrm>
          <a:prstGeom prst="rect">
            <a:avLst/>
          </a:prstGeom>
          <a:solidFill>
            <a:srgbClr val="F0F5F7"/>
          </a:solidFill>
          <a:ln w="6350">
            <a:solidFill>
              <a:srgbClr val="CED4DA"/>
            </a:solidFill>
            <a:prstDash val="solid"/>
          </a:ln>
        </p:spPr>
      </p:sp>
      <p:sp>
        <p:nvSpPr>
          <p:cNvPr id="43" name="Text 41"/>
          <p:cNvSpPr/>
          <p:nvPr/>
        </p:nvSpPr>
        <p:spPr>
          <a:xfrm>
            <a:off x="7114032" y="4685647"/>
            <a:ext cx="4407408" cy="670125"/>
          </a:xfrm>
          <a:prstGeom prst="rect">
            <a:avLst/>
          </a:prstGeom>
          <a:noFill/>
          <a:ln/>
        </p:spPr>
        <p:txBody>
          <a:bodyPr wrap="square" lIns="254" tIns="254" rIns="254" bIns="254" rtlCol="0" anchor="ctr">
            <a:normAutofit/>
          </a:bodyPr>
          <a:lstStyle/>
          <a:p>
            <a:pPr marL="0" indent="0">
              <a:buNone/>
            </a:pPr>
            <a:r>
              <a:rPr lang="en-US" sz="880" dirty="0">
                <a:solidFill>
                  <a:srgbClr val="303846"/>
                </a:solidFill>
              </a:rPr>
              <a:t>Access control, auditability, traceability, privacy-by-design</a:t>
            </a:r>
            <a:endParaRPr lang="en-US" sz="880" dirty="0"/>
          </a:p>
        </p:txBody>
      </p:sp>
      <p:sp>
        <p:nvSpPr>
          <p:cNvPr id="44" name="Shape 42"/>
          <p:cNvSpPr/>
          <p:nvPr/>
        </p:nvSpPr>
        <p:spPr>
          <a:xfrm>
            <a:off x="594360" y="5374059"/>
            <a:ext cx="2414016" cy="724989"/>
          </a:xfrm>
          <a:prstGeom prst="rect">
            <a:avLst/>
          </a:prstGeom>
          <a:solidFill>
            <a:srgbClr val="FFFFFF"/>
          </a:solidFill>
          <a:ln w="6350">
            <a:solidFill>
              <a:srgbClr val="CED4DA"/>
            </a:solidFill>
            <a:prstDash val="solid"/>
          </a:ln>
        </p:spPr>
      </p:sp>
      <p:sp>
        <p:nvSpPr>
          <p:cNvPr id="45" name="Text 43"/>
          <p:cNvSpPr/>
          <p:nvPr/>
        </p:nvSpPr>
        <p:spPr>
          <a:xfrm>
            <a:off x="640080" y="5410635"/>
            <a:ext cx="2322576" cy="670125"/>
          </a:xfrm>
          <a:prstGeom prst="rect">
            <a:avLst/>
          </a:prstGeom>
          <a:noFill/>
          <a:ln/>
        </p:spPr>
        <p:txBody>
          <a:bodyPr wrap="square" lIns="254" tIns="254" rIns="254" bIns="254" rtlCol="0" anchor="ctr">
            <a:normAutofit/>
          </a:bodyPr>
          <a:lstStyle/>
          <a:p>
            <a:pPr marL="0" indent="0">
              <a:buNone/>
            </a:pPr>
            <a:r>
              <a:rPr lang="en-US" sz="880" dirty="0">
                <a:solidFill>
                  <a:srgbClr val="303846"/>
                </a:solidFill>
              </a:rPr>
              <a:t>Sustainability metrics</a:t>
            </a:r>
            <a:endParaRPr lang="en-US" sz="880" dirty="0"/>
          </a:p>
        </p:txBody>
      </p:sp>
      <p:sp>
        <p:nvSpPr>
          <p:cNvPr id="46" name="Shape 44"/>
          <p:cNvSpPr/>
          <p:nvPr/>
        </p:nvSpPr>
        <p:spPr>
          <a:xfrm>
            <a:off x="3008376" y="5374059"/>
            <a:ext cx="4059936" cy="724989"/>
          </a:xfrm>
          <a:prstGeom prst="rect">
            <a:avLst/>
          </a:prstGeom>
          <a:solidFill>
            <a:srgbClr val="FFFFFF"/>
          </a:solidFill>
          <a:ln w="6350">
            <a:solidFill>
              <a:srgbClr val="CED4DA"/>
            </a:solidFill>
            <a:prstDash val="solid"/>
          </a:ln>
        </p:spPr>
      </p:sp>
      <p:sp>
        <p:nvSpPr>
          <p:cNvPr id="47" name="Text 45"/>
          <p:cNvSpPr/>
          <p:nvPr/>
        </p:nvSpPr>
        <p:spPr>
          <a:xfrm>
            <a:off x="3054096" y="5410635"/>
            <a:ext cx="3968496" cy="670125"/>
          </a:xfrm>
          <a:prstGeom prst="rect">
            <a:avLst/>
          </a:prstGeom>
          <a:noFill/>
          <a:ln/>
        </p:spPr>
        <p:txBody>
          <a:bodyPr wrap="square" lIns="254" tIns="254" rIns="254" bIns="254" rtlCol="0" anchor="ctr">
            <a:normAutofit/>
          </a:bodyPr>
          <a:lstStyle/>
          <a:p>
            <a:pPr marL="0" indent="0">
              <a:buNone/>
            </a:pPr>
            <a:r>
              <a:rPr lang="en-US" sz="880" dirty="0">
                <a:solidFill>
                  <a:srgbClr val="303846"/>
                </a:solidFill>
              </a:rPr>
              <a:t>Energy, emissions and resilience inconsistently measured</a:t>
            </a:r>
            <a:endParaRPr lang="en-US" sz="880" dirty="0"/>
          </a:p>
        </p:txBody>
      </p:sp>
      <p:sp>
        <p:nvSpPr>
          <p:cNvPr id="48" name="Shape 46"/>
          <p:cNvSpPr/>
          <p:nvPr/>
        </p:nvSpPr>
        <p:spPr>
          <a:xfrm>
            <a:off x="7068312" y="5374059"/>
            <a:ext cx="4498848" cy="724989"/>
          </a:xfrm>
          <a:prstGeom prst="rect">
            <a:avLst/>
          </a:prstGeom>
          <a:solidFill>
            <a:srgbClr val="FFFFFF"/>
          </a:solidFill>
          <a:ln w="6350">
            <a:solidFill>
              <a:srgbClr val="CED4DA"/>
            </a:solidFill>
            <a:prstDash val="solid"/>
          </a:ln>
        </p:spPr>
      </p:sp>
      <p:sp>
        <p:nvSpPr>
          <p:cNvPr id="49" name="Text 47"/>
          <p:cNvSpPr/>
          <p:nvPr/>
        </p:nvSpPr>
        <p:spPr>
          <a:xfrm>
            <a:off x="7114032" y="5410635"/>
            <a:ext cx="4407408" cy="670125"/>
          </a:xfrm>
          <a:prstGeom prst="rect">
            <a:avLst/>
          </a:prstGeom>
          <a:noFill/>
          <a:ln/>
        </p:spPr>
        <p:txBody>
          <a:bodyPr wrap="square" lIns="254" tIns="254" rIns="254" bIns="254" rtlCol="0" anchor="ctr">
            <a:normAutofit/>
          </a:bodyPr>
          <a:lstStyle/>
          <a:p>
            <a:pPr marL="0" indent="0">
              <a:buNone/>
            </a:pPr>
            <a:r>
              <a:rPr lang="en-US" sz="880" dirty="0">
                <a:solidFill>
                  <a:srgbClr val="303846"/>
                </a:solidFill>
              </a:rPr>
              <a:t>Common sustainability/resilience KPIs</a:t>
            </a:r>
            <a:endParaRPr lang="en-US" sz="88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6F7F9"/>
        </a:solidFill>
        <a:effectLst/>
      </p:bgPr>
    </p:bg>
    <p:spTree>
      <p:nvGrpSpPr>
        <p:cNvPr id="1" name=""/>
        <p:cNvGrpSpPr/>
        <p:nvPr/>
      </p:nvGrpSpPr>
      <p:grpSpPr>
        <a:xfrm>
          <a:off x="0" y="0"/>
          <a:ext cx="0" cy="0"/>
          <a:chOff x="0" y="0"/>
          <a:chExt cx="0" cy="0"/>
        </a:xfrm>
      </p:grpSpPr>
      <p:sp>
        <p:nvSpPr>
          <p:cNvPr id="2" name="Shape 0"/>
          <p:cNvSpPr/>
          <p:nvPr/>
        </p:nvSpPr>
        <p:spPr>
          <a:xfrm>
            <a:off x="347472" y="329184"/>
            <a:ext cx="73152" cy="438912"/>
          </a:xfrm>
          <a:prstGeom prst="rect">
            <a:avLst/>
          </a:prstGeom>
          <a:solidFill>
            <a:srgbClr val="2F6BD8"/>
          </a:solidFill>
          <a:ln w="12700">
            <a:solidFill>
              <a:srgbClr val="2F6BD8"/>
            </a:solidFill>
            <a:prstDash val="solid"/>
          </a:ln>
        </p:spPr>
      </p:sp>
      <p:sp>
        <p:nvSpPr>
          <p:cNvPr id="3" name="Text 1"/>
          <p:cNvSpPr/>
          <p:nvPr/>
        </p:nvSpPr>
        <p:spPr>
          <a:xfrm>
            <a:off x="512064" y="292608"/>
            <a:ext cx="10789920" cy="502920"/>
          </a:xfrm>
          <a:prstGeom prst="rect">
            <a:avLst/>
          </a:prstGeom>
          <a:noFill/>
          <a:ln/>
        </p:spPr>
        <p:txBody>
          <a:bodyPr wrap="square" lIns="0" tIns="0" rIns="0" bIns="0" rtlCol="0" anchor="ctr"/>
          <a:lstStyle/>
          <a:p>
            <a:pPr marL="0" indent="0">
              <a:buNone/>
            </a:pPr>
            <a:r>
              <a:rPr lang="en-US" sz="2700" b="1" dirty="0">
                <a:solidFill>
                  <a:srgbClr val="303846"/>
                </a:solidFill>
                <a:latin typeface="Aptos Display" pitchFamily="34" charset="0"/>
                <a:ea typeface="Aptos Display" pitchFamily="34" charset="-122"/>
                <a:cs typeface="Aptos Display" pitchFamily="34" charset="-120"/>
              </a:rPr>
              <a:t>Limitations and Threats to Validity</a:t>
            </a:r>
            <a:endParaRPr lang="en-US" sz="2700" dirty="0"/>
          </a:p>
        </p:txBody>
      </p:sp>
      <p:sp>
        <p:nvSpPr>
          <p:cNvPr id="4" name="Shape 2"/>
          <p:cNvSpPr/>
          <p:nvPr/>
        </p:nvSpPr>
        <p:spPr>
          <a:xfrm>
            <a:off x="0" y="6510528"/>
            <a:ext cx="12191695" cy="347472"/>
          </a:xfrm>
          <a:prstGeom prst="rect">
            <a:avLst/>
          </a:prstGeom>
          <a:solidFill>
            <a:srgbClr val="303846"/>
          </a:solidFill>
          <a:ln w="12700">
            <a:solidFill>
              <a:srgbClr val="303846"/>
            </a:solidFill>
            <a:prstDash val="solid"/>
          </a:ln>
        </p:spPr>
      </p:sp>
      <p:sp>
        <p:nvSpPr>
          <p:cNvPr id="5" name="Text 3"/>
          <p:cNvSpPr/>
          <p:nvPr/>
        </p:nvSpPr>
        <p:spPr>
          <a:xfrm>
            <a:off x="320040" y="6592824"/>
            <a:ext cx="6583680" cy="137160"/>
          </a:xfrm>
          <a:prstGeom prst="rect">
            <a:avLst/>
          </a:prstGeom>
          <a:noFill/>
          <a:ln/>
        </p:spPr>
        <p:txBody>
          <a:bodyPr wrap="square" lIns="0" tIns="0" rIns="0" bIns="0" rtlCol="0" anchor="ctr"/>
          <a:lstStyle/>
          <a:p>
            <a:pPr marL="0" indent="0">
              <a:buNone/>
            </a:pPr>
            <a:r>
              <a:rPr lang="en-US" sz="750" i="1" dirty="0">
                <a:solidFill>
                  <a:srgbClr val="F2F4F7"/>
                </a:solidFill>
              </a:rPr>
              <a:t>Digital Twin-Enabled Intralogistics — Systematic Review | SEN601</a:t>
            </a:r>
            <a:endParaRPr lang="en-US" sz="750" dirty="0"/>
          </a:p>
        </p:txBody>
      </p:sp>
      <p:sp>
        <p:nvSpPr>
          <p:cNvPr id="6" name="Text 4"/>
          <p:cNvSpPr/>
          <p:nvPr/>
        </p:nvSpPr>
        <p:spPr>
          <a:xfrm>
            <a:off x="10195560" y="6592824"/>
            <a:ext cx="1280160" cy="137160"/>
          </a:xfrm>
          <a:prstGeom prst="rect">
            <a:avLst/>
          </a:prstGeom>
          <a:noFill/>
          <a:ln/>
        </p:spPr>
        <p:txBody>
          <a:bodyPr wrap="square" lIns="0" tIns="0" rIns="0" bIns="0" rtlCol="0" anchor="ctr"/>
          <a:lstStyle/>
          <a:p>
            <a:pPr marL="0" indent="0" algn="r">
              <a:buNone/>
            </a:pPr>
            <a:r>
              <a:rPr lang="en-US" sz="750" dirty="0">
                <a:solidFill>
                  <a:srgbClr val="F2F4F7"/>
                </a:solidFill>
              </a:rPr>
              <a:t>Limitations</a:t>
            </a:r>
            <a:endParaRPr lang="en-US" sz="750" dirty="0"/>
          </a:p>
        </p:txBody>
      </p:sp>
      <p:sp>
        <p:nvSpPr>
          <p:cNvPr id="7" name="Text 5"/>
          <p:cNvSpPr/>
          <p:nvPr/>
        </p:nvSpPr>
        <p:spPr>
          <a:xfrm>
            <a:off x="11539728" y="6583680"/>
            <a:ext cx="329184" cy="146304"/>
          </a:xfrm>
          <a:prstGeom prst="rect">
            <a:avLst/>
          </a:prstGeom>
          <a:noFill/>
          <a:ln/>
        </p:spPr>
        <p:txBody>
          <a:bodyPr wrap="square" lIns="0" tIns="0" rIns="0" bIns="0" rtlCol="0" anchor="ctr"/>
          <a:lstStyle/>
          <a:p>
            <a:pPr marL="0" indent="0" algn="r">
              <a:buNone/>
            </a:pPr>
            <a:r>
              <a:rPr lang="en-US" sz="850" dirty="0">
                <a:solidFill>
                  <a:srgbClr val="F2F4F7"/>
                </a:solidFill>
              </a:rPr>
              <a:t>19</a:t>
            </a:r>
            <a:endParaRPr lang="en-US" sz="850" dirty="0"/>
          </a:p>
        </p:txBody>
      </p:sp>
      <p:sp>
        <p:nvSpPr>
          <p:cNvPr id="8" name="Shape 6"/>
          <p:cNvSpPr/>
          <p:nvPr/>
        </p:nvSpPr>
        <p:spPr>
          <a:xfrm>
            <a:off x="685800" y="960120"/>
            <a:ext cx="10835640" cy="786384"/>
          </a:xfrm>
          <a:prstGeom prst="roundRect">
            <a:avLst>
              <a:gd name="adj" fmla="val 4651"/>
            </a:avLst>
          </a:prstGeom>
          <a:solidFill>
            <a:srgbClr val="FFFFFF"/>
          </a:solidFill>
          <a:ln w="12700">
            <a:solidFill>
              <a:srgbClr val="E8ECF2"/>
            </a:solidFill>
            <a:prstDash val="solid"/>
          </a:ln>
        </p:spPr>
      </p:sp>
      <p:sp>
        <p:nvSpPr>
          <p:cNvPr id="9" name="Shape 7"/>
          <p:cNvSpPr/>
          <p:nvPr/>
        </p:nvSpPr>
        <p:spPr>
          <a:xfrm>
            <a:off x="685800" y="960120"/>
            <a:ext cx="731520" cy="786384"/>
          </a:xfrm>
          <a:prstGeom prst="rect">
            <a:avLst/>
          </a:prstGeom>
          <a:solidFill>
            <a:srgbClr val="D64545"/>
          </a:solidFill>
          <a:ln w="12700">
            <a:solidFill>
              <a:srgbClr val="D64545"/>
            </a:solidFill>
            <a:prstDash val="solid"/>
          </a:ln>
        </p:spPr>
      </p:sp>
      <p:sp>
        <p:nvSpPr>
          <p:cNvPr id="10" name="Text 8"/>
          <p:cNvSpPr/>
          <p:nvPr/>
        </p:nvSpPr>
        <p:spPr>
          <a:xfrm>
            <a:off x="795528" y="1216152"/>
            <a:ext cx="512064" cy="182880"/>
          </a:xfrm>
          <a:prstGeom prst="rect">
            <a:avLst/>
          </a:prstGeom>
          <a:noFill/>
          <a:ln/>
        </p:spPr>
        <p:txBody>
          <a:bodyPr wrap="square" lIns="0" tIns="0" rIns="0" bIns="0" rtlCol="0" anchor="ctr"/>
          <a:lstStyle/>
          <a:p>
            <a:pPr marL="0" indent="0" algn="ctr">
              <a:buNone/>
            </a:pPr>
            <a:r>
              <a:rPr lang="en-US" sz="1200" b="1" dirty="0">
                <a:solidFill>
                  <a:srgbClr val="FFFFFF"/>
                </a:solidFill>
              </a:rPr>
              <a:t>AS</a:t>
            </a:r>
            <a:endParaRPr lang="en-US" sz="1200" dirty="0"/>
          </a:p>
        </p:txBody>
      </p:sp>
      <p:sp>
        <p:nvSpPr>
          <p:cNvPr id="11" name="Text 9"/>
          <p:cNvSpPr/>
          <p:nvPr/>
        </p:nvSpPr>
        <p:spPr>
          <a:xfrm>
            <a:off x="1627632" y="1097280"/>
            <a:ext cx="2834640" cy="219456"/>
          </a:xfrm>
          <a:prstGeom prst="rect">
            <a:avLst/>
          </a:prstGeom>
          <a:noFill/>
          <a:ln/>
        </p:spPr>
        <p:txBody>
          <a:bodyPr wrap="square" lIns="0" tIns="0" rIns="0" bIns="0" rtlCol="0" anchor="ctr"/>
          <a:lstStyle/>
          <a:p>
            <a:pPr marL="0" indent="0">
              <a:buNone/>
            </a:pPr>
            <a:r>
              <a:rPr lang="en-US" sz="1250" b="1" dirty="0">
                <a:solidFill>
                  <a:srgbClr val="D64545"/>
                </a:solidFill>
              </a:rPr>
              <a:t>Abstract-level screening</a:t>
            </a:r>
            <a:endParaRPr lang="en-US" sz="1250" dirty="0"/>
          </a:p>
        </p:txBody>
      </p:sp>
      <p:sp>
        <p:nvSpPr>
          <p:cNvPr id="12" name="Text 10"/>
          <p:cNvSpPr/>
          <p:nvPr/>
        </p:nvSpPr>
        <p:spPr>
          <a:xfrm>
            <a:off x="1627632" y="1380744"/>
            <a:ext cx="9418320" cy="164592"/>
          </a:xfrm>
          <a:prstGeom prst="rect">
            <a:avLst/>
          </a:prstGeom>
          <a:noFill/>
          <a:ln/>
        </p:spPr>
        <p:txBody>
          <a:bodyPr wrap="square" lIns="0" tIns="0" rIns="0" bIns="0" rtlCol="0" anchor="ctr">
            <a:normAutofit/>
          </a:bodyPr>
          <a:lstStyle/>
          <a:p>
            <a:pPr marL="0" indent="0">
              <a:buNone/>
            </a:pPr>
            <a:r>
              <a:rPr lang="en-US" sz="1050" dirty="0">
                <a:solidFill>
                  <a:srgbClr val="303846"/>
                </a:solidFill>
              </a:rPr>
              <a:t>The review is coursework-level and based primarily on bibliographic metadata and accessible abstract-level evidence.</a:t>
            </a:r>
            <a:endParaRPr lang="en-US" sz="1050" dirty="0"/>
          </a:p>
        </p:txBody>
      </p:sp>
      <p:sp>
        <p:nvSpPr>
          <p:cNvPr id="13" name="Shape 11"/>
          <p:cNvSpPr/>
          <p:nvPr/>
        </p:nvSpPr>
        <p:spPr>
          <a:xfrm>
            <a:off x="685800" y="1984248"/>
            <a:ext cx="10835640" cy="786384"/>
          </a:xfrm>
          <a:prstGeom prst="roundRect">
            <a:avLst>
              <a:gd name="adj" fmla="val 4651"/>
            </a:avLst>
          </a:prstGeom>
          <a:solidFill>
            <a:srgbClr val="FFFFFF"/>
          </a:solidFill>
          <a:ln w="12700">
            <a:solidFill>
              <a:srgbClr val="E8ECF2"/>
            </a:solidFill>
            <a:prstDash val="solid"/>
          </a:ln>
        </p:spPr>
      </p:sp>
      <p:sp>
        <p:nvSpPr>
          <p:cNvPr id="14" name="Shape 12"/>
          <p:cNvSpPr/>
          <p:nvPr/>
        </p:nvSpPr>
        <p:spPr>
          <a:xfrm>
            <a:off x="685800" y="1984248"/>
            <a:ext cx="731520" cy="786384"/>
          </a:xfrm>
          <a:prstGeom prst="rect">
            <a:avLst/>
          </a:prstGeom>
          <a:solidFill>
            <a:srgbClr val="E8733A"/>
          </a:solidFill>
          <a:ln w="12700">
            <a:solidFill>
              <a:srgbClr val="E8733A"/>
            </a:solidFill>
            <a:prstDash val="solid"/>
          </a:ln>
        </p:spPr>
      </p:sp>
      <p:sp>
        <p:nvSpPr>
          <p:cNvPr id="15" name="Text 13"/>
          <p:cNvSpPr/>
          <p:nvPr/>
        </p:nvSpPr>
        <p:spPr>
          <a:xfrm>
            <a:off x="795528" y="2240280"/>
            <a:ext cx="512064" cy="182880"/>
          </a:xfrm>
          <a:prstGeom prst="rect">
            <a:avLst/>
          </a:prstGeom>
          <a:noFill/>
          <a:ln/>
        </p:spPr>
        <p:txBody>
          <a:bodyPr wrap="square" lIns="0" tIns="0" rIns="0" bIns="0" rtlCol="0" anchor="ctr"/>
          <a:lstStyle/>
          <a:p>
            <a:pPr marL="0" indent="0" algn="ctr">
              <a:buNone/>
            </a:pPr>
            <a:r>
              <a:rPr lang="en-US" sz="1200" b="1" dirty="0">
                <a:solidFill>
                  <a:srgbClr val="FFFFFF"/>
                </a:solidFill>
              </a:rPr>
              <a:t>DB</a:t>
            </a:r>
            <a:endParaRPr lang="en-US" sz="1200" dirty="0"/>
          </a:p>
        </p:txBody>
      </p:sp>
      <p:sp>
        <p:nvSpPr>
          <p:cNvPr id="16" name="Text 14"/>
          <p:cNvSpPr/>
          <p:nvPr/>
        </p:nvSpPr>
        <p:spPr>
          <a:xfrm>
            <a:off x="1627632" y="2121408"/>
            <a:ext cx="2834640" cy="219456"/>
          </a:xfrm>
          <a:prstGeom prst="rect">
            <a:avLst/>
          </a:prstGeom>
          <a:noFill/>
          <a:ln/>
        </p:spPr>
        <p:txBody>
          <a:bodyPr wrap="square" lIns="0" tIns="0" rIns="0" bIns="0" rtlCol="0" anchor="ctr"/>
          <a:lstStyle/>
          <a:p>
            <a:pPr marL="0" indent="0">
              <a:buNone/>
            </a:pPr>
            <a:r>
              <a:rPr lang="en-US" sz="1250" b="1" dirty="0">
                <a:solidFill>
                  <a:srgbClr val="E8733A"/>
                </a:solidFill>
              </a:rPr>
              <a:t>Database scope</a:t>
            </a:r>
            <a:endParaRPr lang="en-US" sz="1250" dirty="0"/>
          </a:p>
        </p:txBody>
      </p:sp>
      <p:sp>
        <p:nvSpPr>
          <p:cNvPr id="17" name="Text 15"/>
          <p:cNvSpPr/>
          <p:nvPr/>
        </p:nvSpPr>
        <p:spPr>
          <a:xfrm>
            <a:off x="1627632" y="2404872"/>
            <a:ext cx="9418320" cy="164592"/>
          </a:xfrm>
          <a:prstGeom prst="rect">
            <a:avLst/>
          </a:prstGeom>
          <a:noFill/>
          <a:ln/>
        </p:spPr>
        <p:txBody>
          <a:bodyPr wrap="square" lIns="0" tIns="0" rIns="0" bIns="0" rtlCol="0" anchor="ctr">
            <a:normAutofit/>
          </a:bodyPr>
          <a:lstStyle/>
          <a:p>
            <a:pPr marL="0" indent="0">
              <a:buNone/>
            </a:pPr>
            <a:r>
              <a:rPr lang="en-US" sz="1050" dirty="0">
                <a:solidFill>
                  <a:srgbClr val="303846"/>
                </a:solidFill>
              </a:rPr>
              <a:t>A fully replicable review should export records from Scopus, Web of Science, IEEE Xplore, ScienceDirect, SpringerLink and ACM DL.</a:t>
            </a:r>
            <a:endParaRPr lang="en-US" sz="1050" dirty="0"/>
          </a:p>
        </p:txBody>
      </p:sp>
      <p:sp>
        <p:nvSpPr>
          <p:cNvPr id="18" name="Shape 16"/>
          <p:cNvSpPr/>
          <p:nvPr/>
        </p:nvSpPr>
        <p:spPr>
          <a:xfrm>
            <a:off x="685800" y="3008376"/>
            <a:ext cx="10835640" cy="786384"/>
          </a:xfrm>
          <a:prstGeom prst="roundRect">
            <a:avLst>
              <a:gd name="adj" fmla="val 4651"/>
            </a:avLst>
          </a:prstGeom>
          <a:solidFill>
            <a:srgbClr val="FFFFFF"/>
          </a:solidFill>
          <a:ln w="12700">
            <a:solidFill>
              <a:srgbClr val="E8ECF2"/>
            </a:solidFill>
            <a:prstDash val="solid"/>
          </a:ln>
        </p:spPr>
      </p:sp>
      <p:sp>
        <p:nvSpPr>
          <p:cNvPr id="19" name="Shape 17"/>
          <p:cNvSpPr/>
          <p:nvPr/>
        </p:nvSpPr>
        <p:spPr>
          <a:xfrm>
            <a:off x="685800" y="3008376"/>
            <a:ext cx="731520" cy="786384"/>
          </a:xfrm>
          <a:prstGeom prst="rect">
            <a:avLst/>
          </a:prstGeom>
          <a:solidFill>
            <a:srgbClr val="7B4BB2"/>
          </a:solidFill>
          <a:ln w="12700">
            <a:solidFill>
              <a:srgbClr val="7B4BB2"/>
            </a:solidFill>
            <a:prstDash val="solid"/>
          </a:ln>
        </p:spPr>
      </p:sp>
      <p:sp>
        <p:nvSpPr>
          <p:cNvPr id="20" name="Text 18"/>
          <p:cNvSpPr/>
          <p:nvPr/>
        </p:nvSpPr>
        <p:spPr>
          <a:xfrm>
            <a:off x="795528" y="3264408"/>
            <a:ext cx="512064" cy="182880"/>
          </a:xfrm>
          <a:prstGeom prst="rect">
            <a:avLst/>
          </a:prstGeom>
          <a:noFill/>
          <a:ln/>
        </p:spPr>
        <p:txBody>
          <a:bodyPr wrap="square" lIns="0" tIns="0" rIns="0" bIns="0" rtlCol="0" anchor="ctr"/>
          <a:lstStyle/>
          <a:p>
            <a:pPr marL="0" indent="0" algn="ctr">
              <a:buNone/>
            </a:pPr>
            <a:r>
              <a:rPr lang="en-US" sz="1200" b="1" dirty="0">
                <a:solidFill>
                  <a:srgbClr val="FFFFFF"/>
                </a:solidFill>
              </a:rPr>
              <a:t>HT</a:t>
            </a:r>
            <a:endParaRPr lang="en-US" sz="1200" dirty="0"/>
          </a:p>
        </p:txBody>
      </p:sp>
      <p:sp>
        <p:nvSpPr>
          <p:cNvPr id="21" name="Text 19"/>
          <p:cNvSpPr/>
          <p:nvPr/>
        </p:nvSpPr>
        <p:spPr>
          <a:xfrm>
            <a:off x="1627632" y="3145536"/>
            <a:ext cx="2834640" cy="219456"/>
          </a:xfrm>
          <a:prstGeom prst="rect">
            <a:avLst/>
          </a:prstGeom>
          <a:noFill/>
          <a:ln/>
        </p:spPr>
        <p:txBody>
          <a:bodyPr wrap="square" lIns="0" tIns="0" rIns="0" bIns="0" rtlCol="0" anchor="ctr"/>
          <a:lstStyle/>
          <a:p>
            <a:pPr marL="0" indent="0">
              <a:buNone/>
            </a:pPr>
            <a:r>
              <a:rPr lang="en-US" sz="1250" b="1" dirty="0">
                <a:solidFill>
                  <a:srgbClr val="7B4BB2"/>
                </a:solidFill>
              </a:rPr>
              <a:t>Heterogeneity</a:t>
            </a:r>
            <a:endParaRPr lang="en-US" sz="1250" dirty="0"/>
          </a:p>
        </p:txBody>
      </p:sp>
      <p:sp>
        <p:nvSpPr>
          <p:cNvPr id="22" name="Text 20"/>
          <p:cNvSpPr/>
          <p:nvPr/>
        </p:nvSpPr>
        <p:spPr>
          <a:xfrm>
            <a:off x="1627632" y="3429000"/>
            <a:ext cx="9418320" cy="164592"/>
          </a:xfrm>
          <a:prstGeom prst="rect">
            <a:avLst/>
          </a:prstGeom>
          <a:noFill/>
          <a:ln/>
        </p:spPr>
        <p:txBody>
          <a:bodyPr wrap="square" lIns="0" tIns="0" rIns="0" bIns="0" rtlCol="0" anchor="ctr">
            <a:normAutofit/>
          </a:bodyPr>
          <a:lstStyle/>
          <a:p>
            <a:pPr marL="0" indent="0">
              <a:buNone/>
            </a:pPr>
            <a:r>
              <a:rPr lang="en-US" sz="1050" dirty="0">
                <a:solidFill>
                  <a:srgbClr val="303846"/>
                </a:solidFill>
              </a:rPr>
              <a:t>Included studies differ in domains, methods, outcomes, validation depth and maturity, limiting direct comparison.</a:t>
            </a:r>
            <a:endParaRPr lang="en-US" sz="1050" dirty="0"/>
          </a:p>
        </p:txBody>
      </p:sp>
      <p:sp>
        <p:nvSpPr>
          <p:cNvPr id="23" name="Shape 21"/>
          <p:cNvSpPr/>
          <p:nvPr/>
        </p:nvSpPr>
        <p:spPr>
          <a:xfrm>
            <a:off x="685800" y="4032504"/>
            <a:ext cx="10835640" cy="786384"/>
          </a:xfrm>
          <a:prstGeom prst="roundRect">
            <a:avLst>
              <a:gd name="adj" fmla="val 4651"/>
            </a:avLst>
          </a:prstGeom>
          <a:solidFill>
            <a:srgbClr val="FFFFFF"/>
          </a:solidFill>
          <a:ln w="12700">
            <a:solidFill>
              <a:srgbClr val="E8ECF2"/>
            </a:solidFill>
            <a:prstDash val="solid"/>
          </a:ln>
        </p:spPr>
      </p:sp>
      <p:sp>
        <p:nvSpPr>
          <p:cNvPr id="24" name="Shape 22"/>
          <p:cNvSpPr/>
          <p:nvPr/>
        </p:nvSpPr>
        <p:spPr>
          <a:xfrm>
            <a:off x="685800" y="4032504"/>
            <a:ext cx="731520" cy="786384"/>
          </a:xfrm>
          <a:prstGeom prst="rect">
            <a:avLst/>
          </a:prstGeom>
          <a:solidFill>
            <a:srgbClr val="2F6BD8"/>
          </a:solidFill>
          <a:ln w="12700">
            <a:solidFill>
              <a:srgbClr val="2F6BD8"/>
            </a:solidFill>
            <a:prstDash val="solid"/>
          </a:ln>
        </p:spPr>
      </p:sp>
      <p:sp>
        <p:nvSpPr>
          <p:cNvPr id="25" name="Text 23"/>
          <p:cNvSpPr/>
          <p:nvPr/>
        </p:nvSpPr>
        <p:spPr>
          <a:xfrm>
            <a:off x="795528" y="4288536"/>
            <a:ext cx="512064" cy="182880"/>
          </a:xfrm>
          <a:prstGeom prst="rect">
            <a:avLst/>
          </a:prstGeom>
          <a:noFill/>
          <a:ln/>
        </p:spPr>
        <p:txBody>
          <a:bodyPr wrap="square" lIns="0" tIns="0" rIns="0" bIns="0" rtlCol="0" anchor="ctr"/>
          <a:lstStyle/>
          <a:p>
            <a:pPr marL="0" indent="0" algn="ctr">
              <a:buNone/>
            </a:pPr>
            <a:r>
              <a:rPr lang="en-US" sz="1200" b="1" dirty="0">
                <a:solidFill>
                  <a:srgbClr val="FFFFFF"/>
                </a:solidFill>
              </a:rPr>
              <a:t>QA</a:t>
            </a:r>
            <a:endParaRPr lang="en-US" sz="1200" dirty="0"/>
          </a:p>
        </p:txBody>
      </p:sp>
      <p:sp>
        <p:nvSpPr>
          <p:cNvPr id="26" name="Text 24"/>
          <p:cNvSpPr/>
          <p:nvPr/>
        </p:nvSpPr>
        <p:spPr>
          <a:xfrm>
            <a:off x="1627632" y="4169664"/>
            <a:ext cx="2834640" cy="219456"/>
          </a:xfrm>
          <a:prstGeom prst="rect">
            <a:avLst/>
          </a:prstGeom>
          <a:noFill/>
          <a:ln/>
        </p:spPr>
        <p:txBody>
          <a:bodyPr wrap="square" lIns="0" tIns="0" rIns="0" bIns="0" rtlCol="0" anchor="ctr"/>
          <a:lstStyle/>
          <a:p>
            <a:pPr marL="0" indent="0">
              <a:buNone/>
            </a:pPr>
            <a:r>
              <a:rPr lang="en-US" sz="1250" b="1" dirty="0">
                <a:solidFill>
                  <a:srgbClr val="2F6BD8"/>
                </a:solidFill>
              </a:rPr>
              <a:t>Suggestive quality scoring</a:t>
            </a:r>
            <a:endParaRPr lang="en-US" sz="1250" dirty="0"/>
          </a:p>
        </p:txBody>
      </p:sp>
      <p:sp>
        <p:nvSpPr>
          <p:cNvPr id="27" name="Text 25"/>
          <p:cNvSpPr/>
          <p:nvPr/>
        </p:nvSpPr>
        <p:spPr>
          <a:xfrm>
            <a:off x="1627632" y="4453128"/>
            <a:ext cx="9418320" cy="164592"/>
          </a:xfrm>
          <a:prstGeom prst="rect">
            <a:avLst/>
          </a:prstGeom>
          <a:noFill/>
          <a:ln/>
        </p:spPr>
        <p:txBody>
          <a:bodyPr wrap="square" lIns="0" tIns="0" rIns="0" bIns="0" rtlCol="0" anchor="ctr">
            <a:normAutofit/>
          </a:bodyPr>
          <a:lstStyle/>
          <a:p>
            <a:pPr marL="0" indent="0">
              <a:buNone/>
            </a:pPr>
            <a:r>
              <a:rPr lang="en-US" sz="1050" dirty="0">
                <a:solidFill>
                  <a:srgbClr val="303846"/>
                </a:solidFill>
              </a:rPr>
              <a:t>Quality assessment may change after detailed full-text appraisal of every study.</a:t>
            </a:r>
            <a:endParaRPr lang="en-US" sz="1050" dirty="0"/>
          </a:p>
        </p:txBody>
      </p:sp>
      <p:sp>
        <p:nvSpPr>
          <p:cNvPr id="28" name="Shape 26"/>
          <p:cNvSpPr/>
          <p:nvPr/>
        </p:nvSpPr>
        <p:spPr>
          <a:xfrm>
            <a:off x="685800" y="5056632"/>
            <a:ext cx="10835640" cy="786384"/>
          </a:xfrm>
          <a:prstGeom prst="roundRect">
            <a:avLst>
              <a:gd name="adj" fmla="val 4651"/>
            </a:avLst>
          </a:prstGeom>
          <a:solidFill>
            <a:srgbClr val="FFFFFF"/>
          </a:solidFill>
          <a:ln w="12700">
            <a:solidFill>
              <a:srgbClr val="E8ECF2"/>
            </a:solidFill>
            <a:prstDash val="solid"/>
          </a:ln>
        </p:spPr>
      </p:sp>
      <p:sp>
        <p:nvSpPr>
          <p:cNvPr id="29" name="Shape 27"/>
          <p:cNvSpPr/>
          <p:nvPr/>
        </p:nvSpPr>
        <p:spPr>
          <a:xfrm>
            <a:off x="685800" y="5056632"/>
            <a:ext cx="731520" cy="786384"/>
          </a:xfrm>
          <a:prstGeom prst="rect">
            <a:avLst/>
          </a:prstGeom>
          <a:solidFill>
            <a:srgbClr val="25A75A"/>
          </a:solidFill>
          <a:ln w="12700">
            <a:solidFill>
              <a:srgbClr val="25A75A"/>
            </a:solidFill>
            <a:prstDash val="solid"/>
          </a:ln>
        </p:spPr>
      </p:sp>
      <p:sp>
        <p:nvSpPr>
          <p:cNvPr id="30" name="Text 28"/>
          <p:cNvSpPr/>
          <p:nvPr/>
        </p:nvSpPr>
        <p:spPr>
          <a:xfrm>
            <a:off x="795528" y="5312664"/>
            <a:ext cx="512064" cy="182880"/>
          </a:xfrm>
          <a:prstGeom prst="rect">
            <a:avLst/>
          </a:prstGeom>
          <a:noFill/>
          <a:ln/>
        </p:spPr>
        <p:txBody>
          <a:bodyPr wrap="square" lIns="0" tIns="0" rIns="0" bIns="0" rtlCol="0" anchor="ctr"/>
          <a:lstStyle/>
          <a:p>
            <a:pPr marL="0" indent="0" algn="ctr">
              <a:buNone/>
            </a:pPr>
            <a:r>
              <a:rPr lang="en-US" sz="1200" b="1" dirty="0">
                <a:solidFill>
                  <a:srgbClr val="FFFFFF"/>
                </a:solidFill>
              </a:rPr>
              <a:t>SC</a:t>
            </a:r>
            <a:endParaRPr lang="en-US" sz="1200" dirty="0"/>
          </a:p>
        </p:txBody>
      </p:sp>
      <p:sp>
        <p:nvSpPr>
          <p:cNvPr id="31" name="Text 29"/>
          <p:cNvSpPr/>
          <p:nvPr/>
        </p:nvSpPr>
        <p:spPr>
          <a:xfrm>
            <a:off x="1627632" y="5193792"/>
            <a:ext cx="2834640" cy="219456"/>
          </a:xfrm>
          <a:prstGeom prst="rect">
            <a:avLst/>
          </a:prstGeom>
          <a:noFill/>
          <a:ln/>
        </p:spPr>
        <p:txBody>
          <a:bodyPr wrap="square" lIns="0" tIns="0" rIns="0" bIns="0" rtlCol="0" anchor="ctr"/>
          <a:lstStyle/>
          <a:p>
            <a:pPr marL="0" indent="0">
              <a:buNone/>
            </a:pPr>
            <a:r>
              <a:rPr lang="en-US" sz="1250" b="1" dirty="0">
                <a:solidFill>
                  <a:srgbClr val="25A75A"/>
                </a:solidFill>
              </a:rPr>
              <a:t>Scope boundary</a:t>
            </a:r>
            <a:endParaRPr lang="en-US" sz="1250" dirty="0"/>
          </a:p>
        </p:txBody>
      </p:sp>
      <p:sp>
        <p:nvSpPr>
          <p:cNvPr id="32" name="Text 30"/>
          <p:cNvSpPr/>
          <p:nvPr/>
        </p:nvSpPr>
        <p:spPr>
          <a:xfrm>
            <a:off x="1627632" y="5477256"/>
            <a:ext cx="9418320" cy="164592"/>
          </a:xfrm>
          <a:prstGeom prst="rect">
            <a:avLst/>
          </a:prstGeom>
          <a:noFill/>
          <a:ln/>
        </p:spPr>
        <p:txBody>
          <a:bodyPr wrap="square" lIns="0" tIns="0" rIns="0" bIns="0" rtlCol="0" anchor="ctr">
            <a:normAutofit/>
          </a:bodyPr>
          <a:lstStyle/>
          <a:p>
            <a:pPr marL="0" indent="0">
              <a:buNone/>
            </a:pPr>
            <a:r>
              <a:rPr lang="en-US" sz="1050" dirty="0">
                <a:solidFill>
                  <a:srgbClr val="303846"/>
                </a:solidFill>
              </a:rPr>
              <a:t>Some included studies address production-logistics synchronization rather than pure warehouse control, but support intralogistics SE insights.</a:t>
            </a:r>
            <a:endParaRPr lang="en-US" sz="10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6F7F9"/>
        </a:solidFill>
        <a:effectLst/>
      </p:bgPr>
    </p:bg>
    <p:spTree>
      <p:nvGrpSpPr>
        <p:cNvPr id="1" name=""/>
        <p:cNvGrpSpPr/>
        <p:nvPr/>
      </p:nvGrpSpPr>
      <p:grpSpPr>
        <a:xfrm>
          <a:off x="0" y="0"/>
          <a:ext cx="0" cy="0"/>
          <a:chOff x="0" y="0"/>
          <a:chExt cx="0" cy="0"/>
        </a:xfrm>
      </p:grpSpPr>
      <p:sp>
        <p:nvSpPr>
          <p:cNvPr id="2" name="Shape 0"/>
          <p:cNvSpPr/>
          <p:nvPr/>
        </p:nvSpPr>
        <p:spPr>
          <a:xfrm>
            <a:off x="347472" y="329184"/>
            <a:ext cx="73152" cy="438912"/>
          </a:xfrm>
          <a:prstGeom prst="rect">
            <a:avLst/>
          </a:prstGeom>
          <a:solidFill>
            <a:srgbClr val="2F6BD8"/>
          </a:solidFill>
          <a:ln w="12700">
            <a:solidFill>
              <a:srgbClr val="2F6BD8"/>
            </a:solidFill>
            <a:prstDash val="solid"/>
          </a:ln>
        </p:spPr>
      </p:sp>
      <p:sp>
        <p:nvSpPr>
          <p:cNvPr id="3" name="Text 1"/>
          <p:cNvSpPr/>
          <p:nvPr/>
        </p:nvSpPr>
        <p:spPr>
          <a:xfrm>
            <a:off x="512064" y="292608"/>
            <a:ext cx="10789920" cy="502920"/>
          </a:xfrm>
          <a:prstGeom prst="rect">
            <a:avLst/>
          </a:prstGeom>
          <a:noFill/>
          <a:ln/>
        </p:spPr>
        <p:txBody>
          <a:bodyPr wrap="square" lIns="0" tIns="0" rIns="0" bIns="0" rtlCol="0" anchor="ctr"/>
          <a:lstStyle/>
          <a:p>
            <a:pPr marL="0" indent="0">
              <a:buNone/>
            </a:pPr>
            <a:r>
              <a:rPr lang="en-US" sz="2700" b="1" dirty="0">
                <a:solidFill>
                  <a:srgbClr val="303846"/>
                </a:solidFill>
                <a:latin typeface="Aptos Display" pitchFamily="34" charset="0"/>
                <a:ea typeface="Aptos Display" pitchFamily="34" charset="-122"/>
                <a:cs typeface="Aptos Display" pitchFamily="34" charset="-120"/>
              </a:rPr>
              <a:t>Conclusions &amp; Implications</a:t>
            </a:r>
            <a:endParaRPr lang="en-US" sz="2700" dirty="0"/>
          </a:p>
        </p:txBody>
      </p:sp>
      <p:sp>
        <p:nvSpPr>
          <p:cNvPr id="4" name="Shape 2"/>
          <p:cNvSpPr/>
          <p:nvPr/>
        </p:nvSpPr>
        <p:spPr>
          <a:xfrm>
            <a:off x="0" y="6510528"/>
            <a:ext cx="12191695" cy="347472"/>
          </a:xfrm>
          <a:prstGeom prst="rect">
            <a:avLst/>
          </a:prstGeom>
          <a:solidFill>
            <a:srgbClr val="303846"/>
          </a:solidFill>
          <a:ln w="12700">
            <a:solidFill>
              <a:srgbClr val="303846"/>
            </a:solidFill>
            <a:prstDash val="solid"/>
          </a:ln>
        </p:spPr>
      </p:sp>
      <p:sp>
        <p:nvSpPr>
          <p:cNvPr id="5" name="Text 3"/>
          <p:cNvSpPr/>
          <p:nvPr/>
        </p:nvSpPr>
        <p:spPr>
          <a:xfrm>
            <a:off x="320040" y="6592824"/>
            <a:ext cx="6583680" cy="137160"/>
          </a:xfrm>
          <a:prstGeom prst="rect">
            <a:avLst/>
          </a:prstGeom>
          <a:noFill/>
          <a:ln/>
        </p:spPr>
        <p:txBody>
          <a:bodyPr wrap="square" lIns="0" tIns="0" rIns="0" bIns="0" rtlCol="0" anchor="ctr"/>
          <a:lstStyle/>
          <a:p>
            <a:pPr marL="0" indent="0">
              <a:buNone/>
            </a:pPr>
            <a:r>
              <a:rPr lang="en-US" sz="750" i="1" dirty="0">
                <a:solidFill>
                  <a:srgbClr val="F2F4F7"/>
                </a:solidFill>
              </a:rPr>
              <a:t>Digital Twin-Enabled Intralogistics — Systematic Review | SEN601</a:t>
            </a:r>
            <a:endParaRPr lang="en-US" sz="750" dirty="0"/>
          </a:p>
        </p:txBody>
      </p:sp>
      <p:sp>
        <p:nvSpPr>
          <p:cNvPr id="6" name="Text 4"/>
          <p:cNvSpPr/>
          <p:nvPr/>
        </p:nvSpPr>
        <p:spPr>
          <a:xfrm>
            <a:off x="10195560" y="6592824"/>
            <a:ext cx="1280160" cy="137160"/>
          </a:xfrm>
          <a:prstGeom prst="rect">
            <a:avLst/>
          </a:prstGeom>
          <a:noFill/>
          <a:ln/>
        </p:spPr>
        <p:txBody>
          <a:bodyPr wrap="square" lIns="0" tIns="0" rIns="0" bIns="0" rtlCol="0" anchor="ctr"/>
          <a:lstStyle/>
          <a:p>
            <a:pPr marL="0" indent="0" algn="r">
              <a:buNone/>
            </a:pPr>
            <a:r>
              <a:rPr lang="en-US" sz="750" dirty="0">
                <a:solidFill>
                  <a:srgbClr val="F2F4F7"/>
                </a:solidFill>
              </a:rPr>
              <a:t>Conclusions</a:t>
            </a:r>
            <a:endParaRPr lang="en-US" sz="750" dirty="0"/>
          </a:p>
        </p:txBody>
      </p:sp>
      <p:sp>
        <p:nvSpPr>
          <p:cNvPr id="7" name="Text 5"/>
          <p:cNvSpPr/>
          <p:nvPr/>
        </p:nvSpPr>
        <p:spPr>
          <a:xfrm>
            <a:off x="11539728" y="6583680"/>
            <a:ext cx="329184" cy="146304"/>
          </a:xfrm>
          <a:prstGeom prst="rect">
            <a:avLst/>
          </a:prstGeom>
          <a:noFill/>
          <a:ln/>
        </p:spPr>
        <p:txBody>
          <a:bodyPr wrap="square" lIns="0" tIns="0" rIns="0" bIns="0" rtlCol="0" anchor="ctr"/>
          <a:lstStyle/>
          <a:p>
            <a:pPr marL="0" indent="0" algn="r">
              <a:buNone/>
            </a:pPr>
            <a:r>
              <a:rPr lang="en-US" sz="850" dirty="0">
                <a:solidFill>
                  <a:srgbClr val="F2F4F7"/>
                </a:solidFill>
              </a:rPr>
              <a:t>20</a:t>
            </a:r>
            <a:endParaRPr lang="en-US" sz="850" dirty="0"/>
          </a:p>
        </p:txBody>
      </p:sp>
      <p:sp>
        <p:nvSpPr>
          <p:cNvPr id="8" name="Shape 6"/>
          <p:cNvSpPr/>
          <p:nvPr/>
        </p:nvSpPr>
        <p:spPr>
          <a:xfrm>
            <a:off x="594360" y="950976"/>
            <a:ext cx="11018520" cy="960120"/>
          </a:xfrm>
          <a:prstGeom prst="roundRect">
            <a:avLst>
              <a:gd name="adj" fmla="val 3810"/>
            </a:avLst>
          </a:prstGeom>
          <a:solidFill>
            <a:srgbClr val="FFFFFF"/>
          </a:solidFill>
          <a:ln w="12700">
            <a:solidFill>
              <a:srgbClr val="E8ECF2"/>
            </a:solidFill>
            <a:prstDash val="solid"/>
          </a:ln>
        </p:spPr>
      </p:sp>
      <p:sp>
        <p:nvSpPr>
          <p:cNvPr id="9" name="Text 7"/>
          <p:cNvSpPr/>
          <p:nvPr/>
        </p:nvSpPr>
        <p:spPr>
          <a:xfrm>
            <a:off x="822960" y="1115568"/>
            <a:ext cx="2103120" cy="228600"/>
          </a:xfrm>
          <a:prstGeom prst="rect">
            <a:avLst/>
          </a:prstGeom>
          <a:noFill/>
          <a:ln/>
        </p:spPr>
        <p:txBody>
          <a:bodyPr wrap="square" lIns="0" tIns="0" rIns="0" bIns="0" rtlCol="0" anchor="ctr"/>
          <a:lstStyle/>
          <a:p>
            <a:pPr marL="0" indent="0">
              <a:buNone/>
            </a:pPr>
            <a:r>
              <a:rPr lang="en-US" sz="1400" b="1" dirty="0">
                <a:solidFill>
                  <a:srgbClr val="303846"/>
                </a:solidFill>
              </a:rPr>
              <a:t>Main Conclusion</a:t>
            </a:r>
            <a:endParaRPr lang="en-US" sz="1400" dirty="0"/>
          </a:p>
        </p:txBody>
      </p:sp>
      <p:sp>
        <p:nvSpPr>
          <p:cNvPr id="10" name="Text 8"/>
          <p:cNvSpPr/>
          <p:nvPr/>
        </p:nvSpPr>
        <p:spPr>
          <a:xfrm>
            <a:off x="822960" y="1389888"/>
            <a:ext cx="10195560" cy="310896"/>
          </a:xfrm>
          <a:prstGeom prst="rect">
            <a:avLst/>
          </a:prstGeom>
          <a:noFill/>
          <a:ln/>
        </p:spPr>
        <p:txBody>
          <a:bodyPr wrap="square" lIns="0" tIns="0" rIns="0" bIns="0" rtlCol="0" anchor="ctr">
            <a:normAutofit/>
          </a:bodyPr>
          <a:lstStyle/>
          <a:p>
            <a:pPr marL="0" indent="0">
              <a:buNone/>
            </a:pPr>
            <a:r>
              <a:rPr lang="en-US" sz="1080" dirty="0">
                <a:solidFill>
                  <a:srgbClr val="303846"/>
                </a:solidFill>
              </a:rPr>
              <a:t>This review of 15 primary studies indicates that digital twins can improve intralogistics decision quality through simulation-based analysis, resource allocation, routing/dispatching optimization, and adaptive warehouse control. However, most evidence remains simulation-, prototype-, or case-study based rather than mature closed-loop industrial deployment.</a:t>
            </a:r>
            <a:endParaRPr lang="en-US" sz="1080" dirty="0"/>
          </a:p>
        </p:txBody>
      </p:sp>
      <p:sp>
        <p:nvSpPr>
          <p:cNvPr id="11" name="Shape 9"/>
          <p:cNvSpPr/>
          <p:nvPr/>
        </p:nvSpPr>
        <p:spPr>
          <a:xfrm>
            <a:off x="658368" y="2331720"/>
            <a:ext cx="5257800" cy="1920240"/>
          </a:xfrm>
          <a:prstGeom prst="roundRect">
            <a:avLst>
              <a:gd name="adj" fmla="val 1905"/>
            </a:avLst>
          </a:prstGeom>
          <a:solidFill>
            <a:srgbClr val="FFFFFF"/>
          </a:solidFill>
          <a:ln w="12700">
            <a:solidFill>
              <a:srgbClr val="E8ECF2"/>
            </a:solidFill>
            <a:prstDash val="solid"/>
          </a:ln>
        </p:spPr>
      </p:sp>
      <p:sp>
        <p:nvSpPr>
          <p:cNvPr id="12" name="Text 10"/>
          <p:cNvSpPr/>
          <p:nvPr/>
        </p:nvSpPr>
        <p:spPr>
          <a:xfrm>
            <a:off x="868680" y="2514600"/>
            <a:ext cx="3108960" cy="228600"/>
          </a:xfrm>
          <a:prstGeom prst="rect">
            <a:avLst/>
          </a:prstGeom>
          <a:noFill/>
          <a:ln/>
        </p:spPr>
        <p:txBody>
          <a:bodyPr wrap="square" lIns="0" tIns="0" rIns="0" bIns="0" rtlCol="0" anchor="ctr"/>
          <a:lstStyle/>
          <a:p>
            <a:pPr marL="0" indent="0">
              <a:buNone/>
            </a:pPr>
            <a:r>
              <a:rPr lang="en-US" sz="1400" b="1" dirty="0">
                <a:solidFill>
                  <a:srgbClr val="303846"/>
                </a:solidFill>
              </a:rPr>
              <a:t>For Practitioners &amp; Managers</a:t>
            </a:r>
            <a:endParaRPr lang="en-US" sz="1400" dirty="0"/>
          </a:p>
        </p:txBody>
      </p:sp>
      <p:sp>
        <p:nvSpPr>
          <p:cNvPr id="13" name="Text 11"/>
          <p:cNvSpPr/>
          <p:nvPr/>
        </p:nvSpPr>
        <p:spPr>
          <a:xfrm>
            <a:off x="868680" y="2907792"/>
            <a:ext cx="4480560" cy="868680"/>
          </a:xfrm>
          <a:prstGeom prst="rect">
            <a:avLst/>
          </a:prstGeom>
          <a:noFill/>
          <a:ln/>
        </p:spPr>
        <p:txBody>
          <a:bodyPr wrap="square" lIns="889" tIns="889" rIns="889" bIns="889" rtlCol="0" anchor="ctr">
            <a:normAutofit/>
          </a:bodyPr>
          <a:lstStyle/>
          <a:p>
            <a:pPr marL="0" indent="0">
              <a:buNone/>
            </a:pPr>
            <a:r>
              <a:rPr lang="en-US" sz="1080" dirty="0">
                <a:solidFill>
                  <a:srgbClr val="303846"/>
                </a:solidFill>
              </a:rPr>
              <a:t>• Start with high-value operational pain points: picking, routing, congestion, resource utilization.
• Treat DT outputs as decision-support until validation and safety assurance are established.
• Prioritize interoperability with WMS/WCS/ERP and operator dashboards.</a:t>
            </a:r>
            <a:endParaRPr lang="en-US" sz="1080" dirty="0"/>
          </a:p>
        </p:txBody>
      </p:sp>
      <p:sp>
        <p:nvSpPr>
          <p:cNvPr id="14" name="Shape 12"/>
          <p:cNvSpPr/>
          <p:nvPr/>
        </p:nvSpPr>
        <p:spPr>
          <a:xfrm>
            <a:off x="6355080" y="2331720"/>
            <a:ext cx="5257800" cy="1920240"/>
          </a:xfrm>
          <a:prstGeom prst="roundRect">
            <a:avLst>
              <a:gd name="adj" fmla="val 1905"/>
            </a:avLst>
          </a:prstGeom>
          <a:solidFill>
            <a:srgbClr val="FFFFFF"/>
          </a:solidFill>
          <a:ln w="12700">
            <a:solidFill>
              <a:srgbClr val="E8ECF2"/>
            </a:solidFill>
            <a:prstDash val="solid"/>
          </a:ln>
        </p:spPr>
      </p:sp>
      <p:sp>
        <p:nvSpPr>
          <p:cNvPr id="15" name="Text 13"/>
          <p:cNvSpPr/>
          <p:nvPr/>
        </p:nvSpPr>
        <p:spPr>
          <a:xfrm>
            <a:off x="6565392" y="2514600"/>
            <a:ext cx="3108960" cy="228600"/>
          </a:xfrm>
          <a:prstGeom prst="rect">
            <a:avLst/>
          </a:prstGeom>
          <a:noFill/>
          <a:ln/>
        </p:spPr>
        <p:txBody>
          <a:bodyPr wrap="square" lIns="0" tIns="0" rIns="0" bIns="0" rtlCol="0" anchor="ctr"/>
          <a:lstStyle/>
          <a:p>
            <a:pPr marL="0" indent="0">
              <a:buNone/>
            </a:pPr>
            <a:r>
              <a:rPr lang="en-US" sz="1400" b="1" dirty="0">
                <a:solidFill>
                  <a:srgbClr val="303846"/>
                </a:solidFill>
              </a:rPr>
              <a:t>For Future Research</a:t>
            </a:r>
            <a:endParaRPr lang="en-US" sz="1400" dirty="0"/>
          </a:p>
        </p:txBody>
      </p:sp>
      <p:sp>
        <p:nvSpPr>
          <p:cNvPr id="16" name="Text 14"/>
          <p:cNvSpPr/>
          <p:nvPr/>
        </p:nvSpPr>
        <p:spPr>
          <a:xfrm>
            <a:off x="6565392" y="2907792"/>
            <a:ext cx="4480560" cy="868680"/>
          </a:xfrm>
          <a:prstGeom prst="rect">
            <a:avLst/>
          </a:prstGeom>
          <a:noFill/>
          <a:ln/>
        </p:spPr>
        <p:txBody>
          <a:bodyPr wrap="square" lIns="889" tIns="889" rIns="889" bIns="889" rtlCol="0" anchor="ctr">
            <a:normAutofit/>
          </a:bodyPr>
          <a:lstStyle/>
          <a:p>
            <a:pPr marL="0" indent="0">
              <a:buNone/>
            </a:pPr>
            <a:r>
              <a:rPr lang="en-US" sz="1080" dirty="0">
                <a:solidFill>
                  <a:srgbClr val="303846"/>
                </a:solidFill>
              </a:rPr>
              <a:t>• Longitudinal industrial studies measuring operational and economic impact.
• Formal V&amp;V protocols and reference architectures for warehouse DTs.
• Human-in-the-loop DT design for trust, usability, and decision authority.</a:t>
            </a:r>
            <a:endParaRPr lang="en-US" sz="1080" dirty="0"/>
          </a:p>
        </p:txBody>
      </p:sp>
      <p:sp>
        <p:nvSpPr>
          <p:cNvPr id="17" name="Shape 15"/>
          <p:cNvSpPr/>
          <p:nvPr/>
        </p:nvSpPr>
        <p:spPr>
          <a:xfrm>
            <a:off x="658368" y="4800600"/>
            <a:ext cx="10954512" cy="868680"/>
          </a:xfrm>
          <a:prstGeom prst="roundRect">
            <a:avLst>
              <a:gd name="adj" fmla="val 4211"/>
            </a:avLst>
          </a:prstGeom>
          <a:solidFill>
            <a:srgbClr val="EDF5FF"/>
          </a:solidFill>
          <a:ln w="12700">
            <a:solidFill>
              <a:srgbClr val="E8ECF2"/>
            </a:solidFill>
            <a:prstDash val="solid"/>
          </a:ln>
        </p:spPr>
      </p:sp>
      <p:sp>
        <p:nvSpPr>
          <p:cNvPr id="18" name="Text 16"/>
          <p:cNvSpPr/>
          <p:nvPr/>
        </p:nvSpPr>
        <p:spPr>
          <a:xfrm>
            <a:off x="868680" y="4983480"/>
            <a:ext cx="2743200" cy="228600"/>
          </a:xfrm>
          <a:prstGeom prst="rect">
            <a:avLst/>
          </a:prstGeom>
          <a:noFill/>
          <a:ln/>
        </p:spPr>
        <p:txBody>
          <a:bodyPr wrap="square" lIns="0" tIns="0" rIns="0" bIns="0" rtlCol="0" anchor="ctr"/>
          <a:lstStyle/>
          <a:p>
            <a:pPr marL="0" indent="0">
              <a:buNone/>
            </a:pPr>
            <a:r>
              <a:rPr lang="en-US" sz="1400" b="1" dirty="0">
                <a:solidFill>
                  <a:srgbClr val="303846"/>
                </a:solidFill>
              </a:rPr>
              <a:t>Dissemination &amp; Reporting</a:t>
            </a:r>
            <a:endParaRPr lang="en-US" sz="1400" dirty="0"/>
          </a:p>
        </p:txBody>
      </p:sp>
      <p:sp>
        <p:nvSpPr>
          <p:cNvPr id="19" name="Text 17"/>
          <p:cNvSpPr/>
          <p:nvPr/>
        </p:nvSpPr>
        <p:spPr>
          <a:xfrm>
            <a:off x="868680" y="5285232"/>
            <a:ext cx="10149840" cy="201168"/>
          </a:xfrm>
          <a:prstGeom prst="rect">
            <a:avLst/>
          </a:prstGeom>
          <a:noFill/>
          <a:ln/>
        </p:spPr>
        <p:txBody>
          <a:bodyPr wrap="square" lIns="0" tIns="0" rIns="0" bIns="0" rtlCol="0" anchor="ctr">
            <a:normAutofit/>
          </a:bodyPr>
          <a:lstStyle/>
          <a:p>
            <a:pPr marL="0" indent="0">
              <a:buNone/>
            </a:pPr>
            <a:r>
              <a:rPr lang="en-US" sz="1050" dirty="0">
                <a:solidFill>
                  <a:srgbClr val="303846"/>
                </a:solidFill>
              </a:rPr>
              <a:t>Reported using a transparent systematic review structure: RQs, PICOS, search logic, selection criteria, PRISMA flow, data extraction, quality appraisal, synthesis, limitations, and research implications.</a:t>
            </a:r>
            <a:endParaRPr lang="en-US" sz="10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6F7F9"/>
        </a:solidFill>
        <a:effectLst/>
      </p:bgPr>
    </p:bg>
    <p:spTree>
      <p:nvGrpSpPr>
        <p:cNvPr id="1" name=""/>
        <p:cNvGrpSpPr/>
        <p:nvPr/>
      </p:nvGrpSpPr>
      <p:grpSpPr>
        <a:xfrm>
          <a:off x="0" y="0"/>
          <a:ext cx="0" cy="0"/>
          <a:chOff x="0" y="0"/>
          <a:chExt cx="0" cy="0"/>
        </a:xfrm>
      </p:grpSpPr>
      <p:sp>
        <p:nvSpPr>
          <p:cNvPr id="2" name="Shape 0"/>
          <p:cNvSpPr/>
          <p:nvPr/>
        </p:nvSpPr>
        <p:spPr>
          <a:xfrm>
            <a:off x="347472" y="329184"/>
            <a:ext cx="73152" cy="438912"/>
          </a:xfrm>
          <a:prstGeom prst="rect">
            <a:avLst/>
          </a:prstGeom>
          <a:solidFill>
            <a:srgbClr val="2F6BD8"/>
          </a:solidFill>
          <a:ln w="12700">
            <a:solidFill>
              <a:srgbClr val="2F6BD8"/>
            </a:solidFill>
            <a:prstDash val="solid"/>
          </a:ln>
        </p:spPr>
      </p:sp>
      <p:sp>
        <p:nvSpPr>
          <p:cNvPr id="3" name="Text 1"/>
          <p:cNvSpPr/>
          <p:nvPr/>
        </p:nvSpPr>
        <p:spPr>
          <a:xfrm>
            <a:off x="512064" y="292608"/>
            <a:ext cx="10789920" cy="502920"/>
          </a:xfrm>
          <a:prstGeom prst="rect">
            <a:avLst/>
          </a:prstGeom>
          <a:noFill/>
          <a:ln/>
        </p:spPr>
        <p:txBody>
          <a:bodyPr wrap="square" lIns="0" tIns="0" rIns="0" bIns="0" rtlCol="0" anchor="ctr"/>
          <a:lstStyle/>
          <a:p>
            <a:pPr marL="0" indent="0">
              <a:buNone/>
            </a:pPr>
            <a:r>
              <a:rPr lang="en-US" sz="2700" b="1" dirty="0">
                <a:solidFill>
                  <a:srgbClr val="303846"/>
                </a:solidFill>
                <a:latin typeface="Aptos Display" pitchFamily="34" charset="0"/>
                <a:ea typeface="Aptos Display" pitchFamily="34" charset="-122"/>
                <a:cs typeface="Aptos Display" pitchFamily="34" charset="-120"/>
              </a:rPr>
              <a:t>References — Primary Studies</a:t>
            </a:r>
            <a:endParaRPr lang="en-US" sz="2700" dirty="0"/>
          </a:p>
        </p:txBody>
      </p:sp>
      <p:sp>
        <p:nvSpPr>
          <p:cNvPr id="4" name="Shape 2"/>
          <p:cNvSpPr/>
          <p:nvPr/>
        </p:nvSpPr>
        <p:spPr>
          <a:xfrm>
            <a:off x="0" y="6510528"/>
            <a:ext cx="12191695" cy="347472"/>
          </a:xfrm>
          <a:prstGeom prst="rect">
            <a:avLst/>
          </a:prstGeom>
          <a:solidFill>
            <a:srgbClr val="303846"/>
          </a:solidFill>
          <a:ln w="12700">
            <a:solidFill>
              <a:srgbClr val="303846"/>
            </a:solidFill>
            <a:prstDash val="solid"/>
          </a:ln>
        </p:spPr>
      </p:sp>
      <p:sp>
        <p:nvSpPr>
          <p:cNvPr id="5" name="Text 3"/>
          <p:cNvSpPr/>
          <p:nvPr/>
        </p:nvSpPr>
        <p:spPr>
          <a:xfrm>
            <a:off x="320040" y="6592824"/>
            <a:ext cx="6583680" cy="137160"/>
          </a:xfrm>
          <a:prstGeom prst="rect">
            <a:avLst/>
          </a:prstGeom>
          <a:noFill/>
          <a:ln/>
        </p:spPr>
        <p:txBody>
          <a:bodyPr wrap="square" lIns="0" tIns="0" rIns="0" bIns="0" rtlCol="0" anchor="ctr"/>
          <a:lstStyle/>
          <a:p>
            <a:pPr marL="0" indent="0">
              <a:buNone/>
            </a:pPr>
            <a:r>
              <a:rPr lang="en-US" sz="750" i="1" dirty="0">
                <a:solidFill>
                  <a:srgbClr val="F2F4F7"/>
                </a:solidFill>
              </a:rPr>
              <a:t>Digital Twin-Enabled Intralogistics — Systematic Review | SEN601</a:t>
            </a:r>
            <a:endParaRPr lang="en-US" sz="750" dirty="0"/>
          </a:p>
        </p:txBody>
      </p:sp>
      <p:sp>
        <p:nvSpPr>
          <p:cNvPr id="6" name="Text 4"/>
          <p:cNvSpPr/>
          <p:nvPr/>
        </p:nvSpPr>
        <p:spPr>
          <a:xfrm>
            <a:off x="10195560" y="6592824"/>
            <a:ext cx="1280160" cy="137160"/>
          </a:xfrm>
          <a:prstGeom prst="rect">
            <a:avLst/>
          </a:prstGeom>
          <a:noFill/>
          <a:ln/>
        </p:spPr>
        <p:txBody>
          <a:bodyPr wrap="square" lIns="0" tIns="0" rIns="0" bIns="0" rtlCol="0" anchor="ctr"/>
          <a:lstStyle/>
          <a:p>
            <a:pPr marL="0" indent="0" algn="r">
              <a:buNone/>
            </a:pPr>
            <a:r>
              <a:rPr lang="en-US" sz="750" dirty="0">
                <a:solidFill>
                  <a:srgbClr val="F2F4F7"/>
                </a:solidFill>
              </a:rPr>
              <a:t>References</a:t>
            </a:r>
            <a:endParaRPr lang="en-US" sz="750" dirty="0"/>
          </a:p>
        </p:txBody>
      </p:sp>
      <p:sp>
        <p:nvSpPr>
          <p:cNvPr id="7" name="Text 5"/>
          <p:cNvSpPr/>
          <p:nvPr/>
        </p:nvSpPr>
        <p:spPr>
          <a:xfrm>
            <a:off x="11539728" y="6583680"/>
            <a:ext cx="329184" cy="146304"/>
          </a:xfrm>
          <a:prstGeom prst="rect">
            <a:avLst/>
          </a:prstGeom>
          <a:noFill/>
          <a:ln/>
        </p:spPr>
        <p:txBody>
          <a:bodyPr wrap="square" lIns="0" tIns="0" rIns="0" bIns="0" rtlCol="0" anchor="ctr"/>
          <a:lstStyle/>
          <a:p>
            <a:pPr marL="0" indent="0" algn="r">
              <a:buNone/>
            </a:pPr>
            <a:r>
              <a:rPr lang="en-US" sz="850" dirty="0">
                <a:solidFill>
                  <a:srgbClr val="F2F4F7"/>
                </a:solidFill>
              </a:rPr>
              <a:t>21</a:t>
            </a:r>
            <a:endParaRPr lang="en-US" sz="850" dirty="0"/>
          </a:p>
        </p:txBody>
      </p:sp>
      <p:sp>
        <p:nvSpPr>
          <p:cNvPr id="8" name="Text 6"/>
          <p:cNvSpPr/>
          <p:nvPr/>
        </p:nvSpPr>
        <p:spPr>
          <a:xfrm>
            <a:off x="685800" y="969264"/>
            <a:ext cx="5943600" cy="228600"/>
          </a:xfrm>
          <a:prstGeom prst="rect">
            <a:avLst/>
          </a:prstGeom>
          <a:noFill/>
          <a:ln/>
        </p:spPr>
        <p:txBody>
          <a:bodyPr wrap="square" lIns="0" tIns="0" rIns="0" bIns="0" rtlCol="0" anchor="ctr"/>
          <a:lstStyle/>
          <a:p>
            <a:pPr marL="0" indent="0">
              <a:buNone/>
            </a:pPr>
            <a:r>
              <a:rPr lang="en-US" sz="1400" b="1" dirty="0">
                <a:solidFill>
                  <a:srgbClr val="303846"/>
                </a:solidFill>
              </a:rPr>
              <a:t>Primary studies cited in the synthesis (S1–S15)</a:t>
            </a:r>
            <a:endParaRPr lang="en-US" sz="1400" dirty="0"/>
          </a:p>
        </p:txBody>
      </p:sp>
      <p:sp>
        <p:nvSpPr>
          <p:cNvPr id="9" name="Text 7"/>
          <p:cNvSpPr/>
          <p:nvPr/>
        </p:nvSpPr>
        <p:spPr>
          <a:xfrm>
            <a:off x="713232" y="1417320"/>
            <a:ext cx="10744200" cy="4526280"/>
          </a:xfrm>
          <a:prstGeom prst="rect">
            <a:avLst/>
          </a:prstGeom>
          <a:noFill/>
          <a:ln/>
        </p:spPr>
        <p:txBody>
          <a:bodyPr wrap="square" lIns="889" tIns="889" rIns="889" bIns="889" rtlCol="0" anchor="ctr">
            <a:normAutofit/>
          </a:bodyPr>
          <a:lstStyle/>
          <a:p>
            <a:pPr marL="0" indent="0">
              <a:buNone/>
            </a:pPr>
            <a:r>
              <a:rPr lang="en-US" sz="870" dirty="0">
                <a:solidFill>
                  <a:srgbClr val="303846"/>
                </a:solidFill>
              </a:rPr>
              <a:t>• S1 Kawczynski et al. (2023). Digital Twin for Complex Logistics Systems: Large-scale automated order picking and fulfillment.
• S2 Legato &amp; Mazza (2026). Digital twin solution for manual order-picking operations in a wholesale distribution center.
• S3 Guerrazzi et al. (2024). Balancing picking and outbound loading efficiency in an SBS/RS through a digital twin.
• S4 Zhang et al. (2024). AGV dispatching and routing integration via digital twin with deep reinforcement learning.
• S5 Yao et al. (2024). Simulation-based Digital Twin for smart warehouse: Towards standardization.
• S6 Felix-Cigalat &amp; Domingo (2023). Towards a Digital Twin Warehouse through optimization of internal transport.
• S7 Liu et al. (2024). DT-based production-logistics synchronization system for satellite mass assembly shop-floor.
• S8 Zhao et al. (2022). DT-enabled dynamic spatial-temporal knowledge graph for production logistics resource allocation.</a:t>
            </a:r>
            <a:endParaRPr lang="en-US" sz="87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6F7F9"/>
        </a:solidFill>
        <a:effectLst/>
      </p:bgPr>
    </p:bg>
    <p:spTree>
      <p:nvGrpSpPr>
        <p:cNvPr id="1" name=""/>
        <p:cNvGrpSpPr/>
        <p:nvPr/>
      </p:nvGrpSpPr>
      <p:grpSpPr>
        <a:xfrm>
          <a:off x="0" y="0"/>
          <a:ext cx="0" cy="0"/>
          <a:chOff x="0" y="0"/>
          <a:chExt cx="0" cy="0"/>
        </a:xfrm>
      </p:grpSpPr>
      <p:sp>
        <p:nvSpPr>
          <p:cNvPr id="2" name="Shape 0"/>
          <p:cNvSpPr/>
          <p:nvPr/>
        </p:nvSpPr>
        <p:spPr>
          <a:xfrm>
            <a:off x="347472" y="329184"/>
            <a:ext cx="73152" cy="438912"/>
          </a:xfrm>
          <a:prstGeom prst="rect">
            <a:avLst/>
          </a:prstGeom>
          <a:solidFill>
            <a:srgbClr val="2F6BD8"/>
          </a:solidFill>
          <a:ln w="12700">
            <a:solidFill>
              <a:srgbClr val="2F6BD8"/>
            </a:solidFill>
            <a:prstDash val="solid"/>
          </a:ln>
        </p:spPr>
      </p:sp>
      <p:sp>
        <p:nvSpPr>
          <p:cNvPr id="3" name="Text 1"/>
          <p:cNvSpPr/>
          <p:nvPr/>
        </p:nvSpPr>
        <p:spPr>
          <a:xfrm>
            <a:off x="512064" y="292608"/>
            <a:ext cx="10789920" cy="502920"/>
          </a:xfrm>
          <a:prstGeom prst="rect">
            <a:avLst/>
          </a:prstGeom>
          <a:noFill/>
          <a:ln/>
        </p:spPr>
        <p:txBody>
          <a:bodyPr wrap="square" lIns="0" tIns="0" rIns="0" bIns="0" rtlCol="0" anchor="ctr"/>
          <a:lstStyle/>
          <a:p>
            <a:pPr marL="0" indent="0">
              <a:buNone/>
            </a:pPr>
            <a:r>
              <a:rPr lang="en-US" sz="2700" b="1" dirty="0">
                <a:solidFill>
                  <a:srgbClr val="303846"/>
                </a:solidFill>
                <a:latin typeface="Aptos Display" pitchFamily="34" charset="0"/>
                <a:ea typeface="Aptos Display" pitchFamily="34" charset="-122"/>
                <a:cs typeface="Aptos Display" pitchFamily="34" charset="-120"/>
              </a:rPr>
              <a:t>References — Primary and Supporting Studies</a:t>
            </a:r>
            <a:endParaRPr lang="en-US" sz="2700" dirty="0"/>
          </a:p>
        </p:txBody>
      </p:sp>
      <p:sp>
        <p:nvSpPr>
          <p:cNvPr id="4" name="Shape 2"/>
          <p:cNvSpPr/>
          <p:nvPr/>
        </p:nvSpPr>
        <p:spPr>
          <a:xfrm>
            <a:off x="0" y="6510528"/>
            <a:ext cx="12191695" cy="347472"/>
          </a:xfrm>
          <a:prstGeom prst="rect">
            <a:avLst/>
          </a:prstGeom>
          <a:solidFill>
            <a:srgbClr val="303846"/>
          </a:solidFill>
          <a:ln w="12700">
            <a:solidFill>
              <a:srgbClr val="303846"/>
            </a:solidFill>
            <a:prstDash val="solid"/>
          </a:ln>
        </p:spPr>
      </p:sp>
      <p:sp>
        <p:nvSpPr>
          <p:cNvPr id="5" name="Text 3"/>
          <p:cNvSpPr/>
          <p:nvPr/>
        </p:nvSpPr>
        <p:spPr>
          <a:xfrm>
            <a:off x="320040" y="6592824"/>
            <a:ext cx="6583680" cy="137160"/>
          </a:xfrm>
          <a:prstGeom prst="rect">
            <a:avLst/>
          </a:prstGeom>
          <a:noFill/>
          <a:ln/>
        </p:spPr>
        <p:txBody>
          <a:bodyPr wrap="square" lIns="0" tIns="0" rIns="0" bIns="0" rtlCol="0" anchor="ctr"/>
          <a:lstStyle/>
          <a:p>
            <a:pPr marL="0" indent="0">
              <a:buNone/>
            </a:pPr>
            <a:r>
              <a:rPr lang="en-US" sz="750" i="1" dirty="0">
                <a:solidFill>
                  <a:srgbClr val="F2F4F7"/>
                </a:solidFill>
              </a:rPr>
              <a:t>Digital Twin-Enabled Intralogistics — Systematic Review | SEN601</a:t>
            </a:r>
            <a:endParaRPr lang="en-US" sz="750" dirty="0"/>
          </a:p>
        </p:txBody>
      </p:sp>
      <p:sp>
        <p:nvSpPr>
          <p:cNvPr id="6" name="Text 4"/>
          <p:cNvSpPr/>
          <p:nvPr/>
        </p:nvSpPr>
        <p:spPr>
          <a:xfrm>
            <a:off x="10195560" y="6592824"/>
            <a:ext cx="1280160" cy="137160"/>
          </a:xfrm>
          <a:prstGeom prst="rect">
            <a:avLst/>
          </a:prstGeom>
          <a:noFill/>
          <a:ln/>
        </p:spPr>
        <p:txBody>
          <a:bodyPr wrap="square" lIns="0" tIns="0" rIns="0" bIns="0" rtlCol="0" anchor="ctr"/>
          <a:lstStyle/>
          <a:p>
            <a:pPr marL="0" indent="0" algn="r">
              <a:buNone/>
            </a:pPr>
            <a:r>
              <a:rPr lang="en-US" sz="750" dirty="0">
                <a:solidFill>
                  <a:srgbClr val="F2F4F7"/>
                </a:solidFill>
              </a:rPr>
              <a:t>References</a:t>
            </a:r>
            <a:endParaRPr lang="en-US" sz="750" dirty="0"/>
          </a:p>
        </p:txBody>
      </p:sp>
      <p:sp>
        <p:nvSpPr>
          <p:cNvPr id="7" name="Text 5"/>
          <p:cNvSpPr/>
          <p:nvPr/>
        </p:nvSpPr>
        <p:spPr>
          <a:xfrm>
            <a:off x="11539728" y="6583680"/>
            <a:ext cx="329184" cy="146304"/>
          </a:xfrm>
          <a:prstGeom prst="rect">
            <a:avLst/>
          </a:prstGeom>
          <a:noFill/>
          <a:ln/>
        </p:spPr>
        <p:txBody>
          <a:bodyPr wrap="square" lIns="0" tIns="0" rIns="0" bIns="0" rtlCol="0" anchor="ctr"/>
          <a:lstStyle/>
          <a:p>
            <a:pPr marL="0" indent="0" algn="r">
              <a:buNone/>
            </a:pPr>
            <a:r>
              <a:rPr lang="en-US" sz="850" dirty="0">
                <a:solidFill>
                  <a:srgbClr val="F2F4F7"/>
                </a:solidFill>
              </a:rPr>
              <a:t>22</a:t>
            </a:r>
            <a:endParaRPr lang="en-US" sz="850" dirty="0"/>
          </a:p>
        </p:txBody>
      </p:sp>
      <p:sp>
        <p:nvSpPr>
          <p:cNvPr id="8" name="Text 6"/>
          <p:cNvSpPr/>
          <p:nvPr/>
        </p:nvSpPr>
        <p:spPr>
          <a:xfrm>
            <a:off x="713232" y="1051560"/>
            <a:ext cx="10744200" cy="4526280"/>
          </a:xfrm>
          <a:prstGeom prst="rect">
            <a:avLst/>
          </a:prstGeom>
          <a:noFill/>
          <a:ln/>
        </p:spPr>
        <p:txBody>
          <a:bodyPr wrap="square" lIns="889" tIns="889" rIns="889" bIns="889" rtlCol="0" anchor="ctr">
            <a:normAutofit/>
          </a:bodyPr>
          <a:lstStyle/>
          <a:p>
            <a:pPr marL="0" indent="0">
              <a:buNone/>
            </a:pPr>
            <a:r>
              <a:rPr lang="en-US" sz="880" dirty="0">
                <a:solidFill>
                  <a:srgbClr val="303846"/>
                </a:solidFill>
              </a:rPr>
              <a:t>• S9 Li et al. (2022). Operation twins: production-intralogistics synchronisation in Industry 4.0.
• S10 Ferrari et al. (2022). Roadmap towards an automated warehouse digital twin.
• S11 Vachalek et al. (2021). Universal cyber-physical model for testing logistics control algorithms.
• S12 Rigo et al. (2026). Digital twin of a material handling system based on a physical construction-kit model.
• S13 Cao &amp; Lei (2022). Digital Twin-Driven Warehouse Management System for picking path planning.
• S14 Hong et al. (2024). DT-based cross-enterprise production-delivery synchronization.
• S15 Zhang et al. (2026). Digital twin driven opti-state control approach for smart warehousing.
• R1–R5: Ferrari et al. (2025); Elbouzidi et al. (2023); Aretoulaki et al. (2024); Kaiblinger &amp; Woschank (2022); Yao et al. (2023).</a:t>
            </a:r>
            <a:endParaRPr lang="en-US" sz="880" dirty="0"/>
          </a:p>
        </p:txBody>
      </p:sp>
      <p:sp>
        <p:nvSpPr>
          <p:cNvPr id="9" name="Shape 7"/>
          <p:cNvSpPr/>
          <p:nvPr/>
        </p:nvSpPr>
        <p:spPr>
          <a:xfrm>
            <a:off x="713232" y="5715000"/>
            <a:ext cx="10744200" cy="411480"/>
          </a:xfrm>
          <a:prstGeom prst="roundRect">
            <a:avLst>
              <a:gd name="adj" fmla="val 8889"/>
            </a:avLst>
          </a:prstGeom>
          <a:solidFill>
            <a:srgbClr val="F3F4F6"/>
          </a:solidFill>
          <a:ln w="12700">
            <a:solidFill>
              <a:srgbClr val="E8ECF2"/>
            </a:solidFill>
            <a:prstDash val="solid"/>
          </a:ln>
        </p:spPr>
      </p:sp>
      <p:sp>
        <p:nvSpPr>
          <p:cNvPr id="10" name="Text 8"/>
          <p:cNvSpPr/>
          <p:nvPr/>
        </p:nvSpPr>
        <p:spPr>
          <a:xfrm>
            <a:off x="914400" y="5843016"/>
            <a:ext cx="9966960" cy="118872"/>
          </a:xfrm>
          <a:prstGeom prst="rect">
            <a:avLst/>
          </a:prstGeom>
          <a:noFill/>
          <a:ln/>
        </p:spPr>
        <p:txBody>
          <a:bodyPr wrap="square" lIns="0" tIns="0" rIns="0" bIns="0" rtlCol="0" anchor="ctr">
            <a:normAutofit/>
          </a:bodyPr>
          <a:lstStyle/>
          <a:p>
            <a:pPr marL="0" indent="0">
              <a:buNone/>
            </a:pPr>
            <a:r>
              <a:rPr lang="en-US" sz="880" dirty="0">
                <a:solidFill>
                  <a:srgbClr val="667085"/>
                </a:solidFill>
              </a:rPr>
              <a:t>Note: Study codes (S1–S15 / R1–R5) are used on result slides to keep academic references visible without overcrowding the presentation.</a:t>
            </a:r>
            <a:endParaRPr lang="en-US" sz="88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41C2E"/>
        </a:solidFill>
        <a:effectLst/>
      </p:bgPr>
    </p:bg>
    <p:spTree>
      <p:nvGrpSpPr>
        <p:cNvPr id="1" name=""/>
        <p:cNvGrpSpPr/>
        <p:nvPr/>
      </p:nvGrpSpPr>
      <p:grpSpPr>
        <a:xfrm>
          <a:off x="0" y="0"/>
          <a:ext cx="0" cy="0"/>
          <a:chOff x="0" y="0"/>
          <a:chExt cx="0" cy="0"/>
        </a:xfrm>
      </p:grpSpPr>
      <p:sp>
        <p:nvSpPr>
          <p:cNvPr id="2" name="AccentBar"/>
          <p:cNvSpPr/>
          <p:nvPr/>
        </p:nvSpPr>
        <p:spPr>
          <a:xfrm>
            <a:off x="548640" y="548640"/>
            <a:ext cx="45720" cy="5121840"/>
          </a:xfrm>
          <a:prstGeom prst="rect">
            <a:avLst/>
          </a:prstGeom>
          <a:solidFill>
            <a:srgbClr val="2F6BD8"/>
          </a:solidFill>
          <a:ln>
            <a:noFill/>
          </a:ln>
        </p:spPr>
      </p:sp>
      <p:sp>
        <p:nvSpPr>
          <p:cNvPr id="3" name="ThankYou"/>
          <p:cNvSpPr/>
          <p:nvPr/>
        </p:nvSpPr>
        <p:spPr>
          <a:xfrm>
            <a:off x="731520" y="822960"/>
            <a:ext cx="10789920" cy="1097280"/>
          </a:xfrm>
          <a:prstGeom prst="rect">
            <a:avLst/>
          </a:prstGeom>
          <a:noFill/>
          <a:ln>
            <a:noFill/>
          </a:ln>
        </p:spPr>
        <p:txBody>
          <a:bodyPr wrap="square" lIns="0" tIns="0" rIns="0" bIns="0" rtlCol="0" anchor="ctr">
            <a:normAutofit/>
          </a:bodyPr>
          <a:lstStyle/>
          <a:p>
            <a:pPr marL="0" indent="0">
              <a:buNone/>
            </a:pPr>
            <a:r>
              <a:rPr lang="en-US" sz="5200" b="1" dirty="0">
                <a:solidFill>
                  <a:srgbClr val="FFFFFF"/>
                </a:solidFill>
                <a:latin typeface="Aptos Display"/>
              </a:rPr>
              <a:t>Thank You</a:t>
            </a:r>
          </a:p>
        </p:txBody>
      </p:sp>
      <p:sp>
        <p:nvSpPr>
          <p:cNvPr id="4" name="Questions"/>
          <p:cNvSpPr/>
          <p:nvPr/>
        </p:nvSpPr>
        <p:spPr>
          <a:xfrm>
            <a:off x="731520" y="1920240"/>
            <a:ext cx="7315200" cy="365760"/>
          </a:xfrm>
          <a:prstGeom prst="rect">
            <a:avLst/>
          </a:prstGeom>
          <a:noFill/>
          <a:ln>
            <a:noFill/>
          </a:ln>
        </p:spPr>
        <p:txBody>
          <a:bodyPr wrap="square" lIns="0" tIns="0" rIns="0" bIns="0" rtlCol="0" anchor="ctr"/>
          <a:lstStyle/>
          <a:p>
            <a:pPr marL="0" indent="0">
              <a:buNone/>
            </a:pPr>
            <a:r>
              <a:rPr lang="en-US" sz="1800" i="1" dirty="0">
                <a:solidFill>
                  <a:srgbClr val="5B8DD9"/>
                </a:solidFill>
                <a:latin typeface="Aptos"/>
              </a:rPr>
              <a:t>Questions and discussion are welcome.</a:t>
            </a:r>
          </a:p>
        </p:txBody>
      </p:sp>
      <p:sp>
        <p:nvSpPr>
          <p:cNvPr id="5" name="Divider"/>
          <p:cNvSpPr/>
          <p:nvPr/>
        </p:nvSpPr>
        <p:spPr>
          <a:xfrm>
            <a:off x="731520" y="2560320"/>
            <a:ext cx="10789920" cy="9144"/>
          </a:xfrm>
          <a:prstGeom prst="rect">
            <a:avLst/>
          </a:prstGeom>
          <a:solidFill>
            <a:srgbClr val="1E3A5F"/>
          </a:solidFill>
          <a:ln>
            <a:noFill/>
          </a:ln>
        </p:spPr>
      </p:sp>
      <p:sp>
        <p:nvSpPr>
          <p:cNvPr id="6" name="ReviewTitle"/>
          <p:cNvSpPr/>
          <p:nvPr/>
        </p:nvSpPr>
        <p:spPr>
          <a:xfrm>
            <a:off x="731520" y="2651520"/>
            <a:ext cx="10789920" cy="320040"/>
          </a:xfrm>
          <a:prstGeom prst="rect">
            <a:avLst/>
          </a:prstGeom>
          <a:noFill/>
          <a:ln>
            <a:noFill/>
          </a:ln>
        </p:spPr>
        <p:txBody>
          <a:bodyPr wrap="square" lIns="0" tIns="0" rIns="0" bIns="0" rtlCol="0" anchor="ctr"/>
          <a:lstStyle/>
          <a:p>
            <a:pPr marL="0" indent="0">
              <a:buNone/>
            </a:pPr>
            <a:r>
              <a:rPr lang="en-US" sz="1200" dirty="0">
                <a:solidFill>
                  <a:srgbClr val="8BAED4"/>
                </a:solidFill>
                <a:latin typeface="Aptos"/>
              </a:rPr>
              <a:t>Digital Twin-Enabled Intralogistics and Warehouse Control Systems: A Systematic Literature Review</a:t>
            </a:r>
          </a:p>
        </p:txBody>
      </p:sp>
      <p:sp>
        <p:nvSpPr>
          <p:cNvPr id="7" name="AuthorName"/>
          <p:cNvSpPr/>
          <p:nvPr/>
        </p:nvSpPr>
        <p:spPr>
          <a:xfrm>
            <a:off x="731520" y="3200400"/>
            <a:ext cx="6400800" cy="320040"/>
          </a:xfrm>
          <a:prstGeom prst="rect">
            <a:avLst/>
          </a:prstGeom>
          <a:noFill/>
          <a:ln>
            <a:noFill/>
          </a:ln>
        </p:spPr>
        <p:txBody>
          <a:bodyPr wrap="square" lIns="0" tIns="0" rIns="0" bIns="0" rtlCol="0" anchor="ctr"/>
          <a:lstStyle/>
          <a:p>
            <a:pPr marL="0" indent="0">
              <a:buNone/>
            </a:pPr>
            <a:r>
              <a:rPr lang="tr-TR" sz="1400" b="1" dirty="0">
                <a:solidFill>
                  <a:srgbClr val="FFFFFF"/>
                </a:solidFill>
                <a:latin typeface="Aptos"/>
              </a:rPr>
              <a:t>Oğuz Kaan Tuğlu</a:t>
            </a:r>
          </a:p>
        </p:txBody>
      </p:sp>
      <p:sp>
        <p:nvSpPr>
          <p:cNvPr id="8" name="Affiliation"/>
          <p:cNvSpPr/>
          <p:nvPr/>
        </p:nvSpPr>
        <p:spPr>
          <a:xfrm>
            <a:off x="731520" y="3566880"/>
            <a:ext cx="7315200" cy="548640"/>
          </a:xfrm>
          <a:prstGeom prst="rect">
            <a:avLst/>
          </a:prstGeom>
          <a:noFill/>
          <a:ln>
            <a:noFill/>
          </a:ln>
        </p:spPr>
        <p:txBody>
          <a:bodyPr wrap="square" lIns="0" tIns="0" rIns="0" bIns="0" rtlCol="0" anchor="t">
            <a:normAutofit/>
          </a:bodyPr>
          <a:lstStyle/>
          <a:p>
            <a:pPr marL="0" indent="0">
              <a:buNone/>
            </a:pPr>
            <a:r>
              <a:rPr lang="en-US" sz="1050" dirty="0">
                <a:solidFill>
                  <a:srgbClr val="8BAED4"/>
                </a:solidFill>
                <a:latin typeface="Aptos"/>
              </a:rPr>
              <a:t>M.Sc. Systems Engineering  ·  Graduate School of Informatics  ·  Hacettepe University</a:t>
            </a:r>
          </a:p>
          <a:p>
            <a:pPr marL="0" indent="0">
              <a:buNone/>
            </a:pPr>
            <a:r>
              <a:rPr lang="en-US" sz="1050" dirty="0">
                <a:solidFill>
                  <a:srgbClr val="8BAED4"/>
                </a:solidFill>
                <a:latin typeface="Aptos"/>
              </a:rPr>
              <a:t>SEN601 Research Techniques and Publication Ethics  ·  May 2026</a:t>
            </a:r>
          </a:p>
        </p:txBody>
      </p:sp>
      <p:sp>
        <p:nvSpPr>
          <p:cNvPr id="9" name="Email"/>
          <p:cNvSpPr/>
          <p:nvPr/>
        </p:nvSpPr>
        <p:spPr>
          <a:xfrm>
            <a:off x="731520" y="4205760"/>
            <a:ext cx="4572000" cy="228600"/>
          </a:xfrm>
          <a:prstGeom prst="rect">
            <a:avLst/>
          </a:prstGeom>
          <a:noFill/>
          <a:ln>
            <a:noFill/>
          </a:ln>
        </p:spPr>
        <p:txBody>
          <a:bodyPr wrap="square" lIns="0" tIns="0" rIns="0" bIns="0" rtlCol="0" anchor="ctr"/>
          <a:lstStyle/>
          <a:p>
            <a:pPr marL="0" indent="0">
              <a:buNone/>
            </a:pPr>
            <a:r>
              <a:rPr lang="en-US" sz="950" dirty="0">
                <a:solidFill>
                  <a:srgbClr val="4A6A8A"/>
                </a:solidFill>
                <a:latin typeface="Aptos"/>
              </a:rPr>
              <a:t>ogzknttgl@gmail.com</a:t>
            </a:r>
          </a:p>
        </p:txBody>
      </p:sp>
      <p:sp>
        <p:nvSpPr>
          <p:cNvPr id="10" name="FooterBar"/>
          <p:cNvSpPr/>
          <p:nvPr/>
        </p:nvSpPr>
        <p:spPr>
          <a:xfrm>
            <a:off x="0" y="6510528"/>
            <a:ext cx="12191695" cy="347472"/>
          </a:xfrm>
          <a:prstGeom prst="rect">
            <a:avLst/>
          </a:prstGeom>
          <a:solidFill>
            <a:srgbClr val="0D1526"/>
          </a:solidFill>
          <a:ln>
            <a:noFill/>
          </a:ln>
        </p:spPr>
      </p:sp>
      <p:sp>
        <p:nvSpPr>
          <p:cNvPr id="11" name="FooterLeft"/>
          <p:cNvSpPr/>
          <p:nvPr/>
        </p:nvSpPr>
        <p:spPr>
          <a:xfrm>
            <a:off x="320040" y="6547104"/>
            <a:ext cx="6583680" cy="137160"/>
          </a:xfrm>
          <a:prstGeom prst="rect">
            <a:avLst/>
          </a:prstGeom>
          <a:noFill/>
          <a:ln>
            <a:noFill/>
          </a:ln>
        </p:spPr>
        <p:txBody>
          <a:bodyPr wrap="square" lIns="0" tIns="0" rIns="0" bIns="0" rtlCol="0" anchor="ctr"/>
          <a:lstStyle/>
          <a:p>
            <a:pPr marL="0" indent="0">
              <a:buNone/>
            </a:pPr>
            <a:r>
              <a:rPr lang="en-US" sz="750" i="1" dirty="0">
                <a:solidFill>
                  <a:srgbClr val="3A5A7A"/>
                </a:solidFill>
                <a:latin typeface="Aptos"/>
              </a:rPr>
              <a:t>Digital Twin-Enabled Intralogistics — Systematic Review  |  SEN601</a:t>
            </a:r>
          </a:p>
        </p:txBody>
      </p:sp>
      <p:sp>
        <p:nvSpPr>
          <p:cNvPr id="12" name="FooterRight"/>
          <p:cNvSpPr/>
          <p:nvPr/>
        </p:nvSpPr>
        <p:spPr>
          <a:xfrm>
            <a:off x="10195560" y="6547104"/>
            <a:ext cx="1280160" cy="137160"/>
          </a:xfrm>
          <a:prstGeom prst="rect">
            <a:avLst/>
          </a:prstGeom>
          <a:noFill/>
          <a:ln>
            <a:noFill/>
          </a:ln>
        </p:spPr>
        <p:txBody>
          <a:bodyPr wrap="square" lIns="0" tIns="0" rIns="0" bIns="0" rtlCol="0" anchor="ctr"/>
          <a:lstStyle/>
          <a:p>
            <a:pPr marL="0" indent="0" algn="r">
              <a:buNone/>
            </a:pPr>
            <a:r>
              <a:rPr lang="en-US" sz="750" dirty="0">
                <a:solidFill>
                  <a:srgbClr val="3A5A7A"/>
                </a:solidFill>
                <a:latin typeface="Aptos"/>
              </a:rPr>
              <a:t>Questions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8892</Words>
  <Application>Microsoft Macintosh PowerPoint</Application>
  <PresentationFormat>Widescreen</PresentationFormat>
  <Paragraphs>851</Paragraphs>
  <Slides>24</Slides>
  <Notes>24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24</vt:i4>
      </vt:variant>
    </vt:vector>
  </HeadingPairs>
  <TitlesOfParts>
    <vt:vector size="29" baseType="lpstr">
      <vt:lpstr>Aptos</vt:lpstr>
      <vt:lpstr>Aptos Display</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SEN601</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Digital Twin-Enabled Intralogistics and Warehouse Control Systems</dc:title>
  <dc:subject>Systematic Review Presentation</dc:subject>
  <dc:creator>Oğuz Kaan Tuğlu</dc:creator>
  <cp:lastModifiedBy>Microsoft Office User</cp:lastModifiedBy>
  <cp:revision>2</cp:revision>
  <dcterms:created xsi:type="dcterms:W3CDTF">2026-05-14T17:23:30Z</dcterms:created>
  <dcterms:modified xsi:type="dcterms:W3CDTF">2026-05-17T09:24:36Z</dcterms:modified>
</cp:coreProperties>
</file>