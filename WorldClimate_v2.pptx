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608"/>
    <p:restoredTop sz="76042"/>
  </p:normalViewPr>
  <p:slideViewPr>
    <p:cSldViewPr snapToGrid="0" snapToObjects="1">
      <p:cViewPr varScale="1">
        <p:scale>
          <a:sx n="77" d="100"/>
          <a:sy n="77" d="100"/>
        </p:scale>
        <p:origin x="2824" y="9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Pre-Session</c:v>
                </c:pt>
              </c:strCache>
            </c:strRef>
          </c:tx>
          <c:spPr>
            <a:solidFill>
              <a:srgbClr val="94A3B8"/>
            </a:solidFill>
            <a:effectLst/>
          </c:spPr>
          <c:invertIfNegative val="0"/>
          <c:dLbls>
            <c:numFmt formatCode="#,##0" sourceLinked="0"/>
            <c:spPr>
              <a:noFill/>
              <a:ln>
                <a:noFill/>
              </a:ln>
              <a:effectLst/>
            </c:spPr>
            <c:txPr>
              <a:bodyPr/>
              <a:lstStyle/>
              <a:p>
                <a:pPr>
                  <a:defRPr sz="900" b="0" i="0" u="none" strike="noStrike">
                    <a:solidFill>
                      <a:srgbClr val="0F2D4E"/>
                    </a:solidFill>
                    <a:latin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Knowledge</c:v>
                </c:pt>
                <c:pt idx="1">
                  <c:v>Affect / Urgency</c:v>
                </c:pt>
                <c:pt idx="2">
                  <c:v>Intent to Act</c:v>
                </c:pt>
                <c:pt idx="3">
                  <c:v>Desire to Learn</c:v>
                </c:pt>
              </c:strCache>
            </c:strRef>
          </c:cat>
          <c:val>
            <c:numRef>
              <c:f>Sheet1!$B$2:$B$5</c:f>
              <c:numCache>
                <c:formatCode>General</c:formatCode>
                <c:ptCount val="4"/>
                <c:pt idx="0">
                  <c:v>52</c:v>
                </c:pt>
                <c:pt idx="1">
                  <c:v>48</c:v>
                </c:pt>
                <c:pt idx="2">
                  <c:v>55</c:v>
                </c:pt>
                <c:pt idx="3">
                  <c:v>50</c:v>
                </c:pt>
              </c:numCache>
            </c:numRef>
          </c:val>
          <c:extLst>
            <c:ext xmlns:c16="http://schemas.microsoft.com/office/drawing/2014/chart" uri="{C3380CC4-5D6E-409C-BE32-E72D297353CC}">
              <c16:uniqueId val="{00000000-75DA-574A-BC8B-7CF85B4362F6}"/>
            </c:ext>
          </c:extLst>
        </c:ser>
        <c:ser>
          <c:idx val="1"/>
          <c:order val="1"/>
          <c:tx>
            <c:strRef>
              <c:f>Sheet1!$C$1</c:f>
              <c:strCache>
                <c:ptCount val="1"/>
                <c:pt idx="0">
                  <c:v>Post-Session</c:v>
                </c:pt>
              </c:strCache>
            </c:strRef>
          </c:tx>
          <c:spPr>
            <a:solidFill>
              <a:srgbClr val="0D9488"/>
            </a:solidFill>
            <a:effectLst/>
          </c:spPr>
          <c:invertIfNegative val="0"/>
          <c:dLbls>
            <c:numFmt formatCode="#,##0" sourceLinked="0"/>
            <c:spPr>
              <a:noFill/>
              <a:ln>
                <a:noFill/>
              </a:ln>
              <a:effectLst/>
            </c:spPr>
            <c:txPr>
              <a:bodyPr/>
              <a:lstStyle/>
              <a:p>
                <a:pPr>
                  <a:defRPr sz="900" b="0" i="0" u="none" strike="noStrike">
                    <a:solidFill>
                      <a:srgbClr val="0F2D4E"/>
                    </a:solidFill>
                    <a:latin typeface="Arial"/>
                  </a:defRPr>
                </a:pPr>
                <a:endParaRPr lang="en-T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Knowledge</c:v>
                </c:pt>
                <c:pt idx="1">
                  <c:v>Affect / Urgency</c:v>
                </c:pt>
                <c:pt idx="2">
                  <c:v>Intent to Act</c:v>
                </c:pt>
                <c:pt idx="3">
                  <c:v>Desire to Learn</c:v>
                </c:pt>
              </c:strCache>
            </c:strRef>
          </c:cat>
          <c:val>
            <c:numRef>
              <c:f>Sheet1!$C$2:$C$5</c:f>
              <c:numCache>
                <c:formatCode>General</c:formatCode>
                <c:ptCount val="4"/>
                <c:pt idx="0">
                  <c:v>71</c:v>
                </c:pt>
                <c:pt idx="1">
                  <c:v>78</c:v>
                </c:pt>
                <c:pt idx="2">
                  <c:v>74</c:v>
                </c:pt>
                <c:pt idx="3">
                  <c:v>79</c:v>
                </c:pt>
              </c:numCache>
            </c:numRef>
          </c:val>
          <c:extLst>
            <c:ext xmlns:c16="http://schemas.microsoft.com/office/drawing/2014/chart" uri="{C3380CC4-5D6E-409C-BE32-E72D297353CC}">
              <c16:uniqueId val="{00000001-75DA-574A-BC8B-7CF85B4362F6}"/>
            </c:ext>
          </c:extLst>
        </c:ser>
        <c:dLbls>
          <c:showLegendKey val="0"/>
          <c:showVal val="1"/>
          <c:showCatName val="0"/>
          <c:showSerName val="0"/>
          <c:showPercent val="0"/>
          <c:showBubbleSize val="0"/>
        </c:dLbls>
        <c:gapWidth val="12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TR"/>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TR"/>
          </a:p>
        </c:txPr>
        <c:crossAx val="2094734554"/>
        <c:crosses val="autoZero"/>
        <c:crossBetween val="between"/>
      </c:valAx>
      <c:spPr>
        <a:solidFill>
          <a:srgbClr val="FFFFFF"/>
        </a:solidFill>
        <a:ln>
          <a:noFill/>
        </a:ln>
        <a:effectLst/>
      </c:spPr>
    </c:plotArea>
    <c:legend>
      <c:legendPos val="b"/>
      <c:overlay val="0"/>
      <c:txPr>
        <a:bodyPr/>
        <a:lstStyle/>
        <a:p>
          <a:pPr>
            <a:defRPr sz="1000">
              <a:solidFill>
                <a:srgbClr val="475569"/>
              </a:solidFill>
            </a:defRPr>
          </a:pPr>
          <a:endParaRPr lang="en-TR"/>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4648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I'm going to present a 2018 study by Rooney-</a:t>
            </a:r>
            <a:r>
              <a:rPr lang="en-US" dirty="0" err="1"/>
              <a:t>Varga</a:t>
            </a:r>
            <a:r>
              <a:rPr lang="en-US" dirty="0"/>
              <a:t> and colleagues, published in PLOS ONE. The paper asks a simple but important question: why do information campaigns about climate change fail, and what can we do differently?" Bir </a:t>
            </a:r>
            <a:r>
              <a:rPr lang="en-US" dirty="0" err="1"/>
              <a:t>cümleyle</a:t>
            </a:r>
            <a:r>
              <a:rPr lang="en-US" dirty="0"/>
              <a:t> </a:t>
            </a:r>
            <a:r>
              <a:rPr lang="en-US" dirty="0" err="1"/>
              <a:t>metodun</a:t>
            </a:r>
            <a:r>
              <a:rPr lang="en-US" dirty="0"/>
              <a:t> </a:t>
            </a:r>
            <a:r>
              <a:rPr lang="en-US" dirty="0" err="1"/>
              <a:t>adını</a:t>
            </a:r>
            <a:r>
              <a:rPr lang="en-US" dirty="0"/>
              <a:t> </a:t>
            </a:r>
            <a:r>
              <a:rPr lang="en-US" dirty="0" err="1"/>
              <a:t>söyle</a:t>
            </a:r>
            <a:r>
              <a:rPr lang="en-US" dirty="0"/>
              <a:t>: "The answer they propose is a simulation-based action research approach."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start with the problem the authors identified, then walk through the simulation itself, the methodology, findings, and finally connect it all back to action research as a method."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climate system involves dozens of interacting feedback loops — humans simply cannot mentally simulate this." Affect </a:t>
            </a:r>
            <a:r>
              <a:rPr lang="en-US" dirty="0" err="1"/>
              <a:t>için</a:t>
            </a:r>
            <a:r>
              <a:rPr lang="en-US" dirty="0"/>
              <a:t>: "A PowerPoint slide showing a temperature graph does not make you feel anything. World Climate does." Social forces </a:t>
            </a:r>
            <a:r>
              <a:rPr lang="en-US" dirty="0" err="1"/>
              <a:t>için</a:t>
            </a:r>
            <a:r>
              <a:rPr lang="en-US" dirty="0"/>
              <a:t>: "If everyone in your social circle dismisses climate change, new information won't change your mind."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 are assigned the role of China's climate negotiator. You sit across from the EU and the US. You argue about your Nationally Determined Contribution." Sonra </a:t>
            </a:r>
            <a:r>
              <a:rPr lang="en-US" dirty="0" err="1"/>
              <a:t>sağ</a:t>
            </a:r>
            <a:r>
              <a:rPr lang="en-US" dirty="0"/>
              <a:t> </a:t>
            </a:r>
            <a:r>
              <a:rPr lang="en-US" dirty="0" err="1"/>
              <a:t>sütuna</a:t>
            </a:r>
            <a:r>
              <a:rPr lang="en-US" dirty="0"/>
              <a:t> </a:t>
            </a:r>
            <a:r>
              <a:rPr lang="en-US" dirty="0" err="1"/>
              <a:t>geç</a:t>
            </a:r>
            <a:r>
              <a:rPr lang="en-US" dirty="0"/>
              <a:t>: "All those decisions get fed into C-ROADS, a real climate model used by policymakers — and within one second you see whether your agreement keeps warming below 2°C."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Methodology</a:t>
            </a:r>
            <a:r>
              <a:rPr lang="en-US" dirty="0"/>
              <a:t> </a:t>
            </a:r>
            <a:r>
              <a:rPr lang="en-US" dirty="0" err="1"/>
              <a:t>Rakamlarla</a:t>
            </a:r>
            <a:r>
              <a:rPr lang="en-US" dirty="0"/>
              <a:t> </a:t>
            </a:r>
            <a:r>
              <a:rPr lang="en-US" dirty="0" err="1"/>
              <a:t>başla</a:t>
            </a:r>
            <a:r>
              <a:rPr lang="en-US" dirty="0"/>
              <a:t>: "2,042 participants, 39 sessions, 8 nations." Sonra construct </a:t>
            </a:r>
            <a:r>
              <a:rPr lang="en-US" dirty="0" err="1"/>
              <a:t>tablosuna</a:t>
            </a:r>
            <a:r>
              <a:rPr lang="en-US" dirty="0"/>
              <a:t> </a:t>
            </a:r>
            <a:r>
              <a:rPr lang="en-US" dirty="0" err="1"/>
              <a:t>geç</a:t>
            </a:r>
            <a:r>
              <a:rPr lang="en-US" dirty="0"/>
              <a:t>: "The researchers didn't just ask 'did you learn something?' They developed four latent constructs using Exploratory Factor Analysis." Her </a:t>
            </a:r>
            <a:r>
              <a:rPr lang="en-US" dirty="0" err="1"/>
              <a:t>construct'ı</a:t>
            </a:r>
            <a:r>
              <a:rPr lang="en-US" dirty="0"/>
              <a:t> </a:t>
            </a:r>
            <a:r>
              <a:rPr lang="en-US" dirty="0" err="1"/>
              <a:t>bir</a:t>
            </a:r>
            <a:r>
              <a:rPr lang="en-US" dirty="0"/>
              <a:t> </a:t>
            </a:r>
            <a:r>
              <a:rPr lang="en-US" dirty="0" err="1"/>
              <a:t>cümleyle</a:t>
            </a:r>
            <a:r>
              <a:rPr lang="en-US" dirty="0"/>
              <a:t> </a:t>
            </a:r>
            <a:r>
              <a:rPr lang="en-US" dirty="0" err="1"/>
              <a:t>tanıt</a:t>
            </a:r>
            <a:r>
              <a:rPr lang="en-US" dirty="0"/>
              <a:t>. </a:t>
            </a:r>
            <a:r>
              <a:rPr lang="en-US" dirty="0" err="1"/>
              <a:t>En</a:t>
            </a:r>
            <a:r>
              <a:rPr lang="en-US" dirty="0"/>
              <a:t> </a:t>
            </a:r>
            <a:r>
              <a:rPr lang="en-US" dirty="0" err="1"/>
              <a:t>sona</a:t>
            </a:r>
            <a:r>
              <a:rPr lang="en-US" dirty="0"/>
              <a:t> </a:t>
            </a:r>
            <a:r>
              <a:rPr lang="en-US" dirty="0" err="1"/>
              <a:t>gelince</a:t>
            </a:r>
            <a:r>
              <a:rPr lang="en-US" dirty="0"/>
              <a:t> </a:t>
            </a:r>
            <a:r>
              <a:rPr lang="en-US" dirty="0" err="1"/>
              <a:t>şunu</a:t>
            </a:r>
            <a:r>
              <a:rPr lang="en-US" dirty="0"/>
              <a:t> </a:t>
            </a:r>
            <a:r>
              <a:rPr lang="en-US" dirty="0" err="1"/>
              <a:t>ekle</a:t>
            </a:r>
            <a:r>
              <a:rPr lang="en-US" dirty="0"/>
              <a:t>: "The key regression question was: does knowledge drive action intent, or does affect?"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Affect — it jumped from 48 to 78. Now look at the regression finding on the right: gains in affect predicted intent to act. Gains in knowledge alone did not." Bu </a:t>
            </a:r>
            <a:r>
              <a:rPr lang="en-US" dirty="0" err="1"/>
              <a:t>noktada</a:t>
            </a:r>
            <a:r>
              <a:rPr lang="en-US" dirty="0"/>
              <a:t> </a:t>
            </a:r>
            <a:r>
              <a:rPr lang="en-US" dirty="0" err="1"/>
              <a:t>bir</a:t>
            </a:r>
            <a:r>
              <a:rPr lang="en-US" dirty="0"/>
              <a:t> an dur. "That's the central finding of this paper." Sonra cross-political </a:t>
            </a:r>
            <a:r>
              <a:rPr lang="en-US" dirty="0" err="1"/>
              <a:t>bölümüne</a:t>
            </a:r>
            <a:r>
              <a:rPr lang="en-US" dirty="0"/>
              <a:t> </a:t>
            </a:r>
            <a:r>
              <a:rPr lang="en-US" dirty="0" err="1"/>
              <a:t>geç</a:t>
            </a:r>
            <a:r>
              <a:rPr lang="en-US" dirty="0"/>
              <a:t>: "And it worked equally well for participants who oppose government regulation — perhaps the hardest audience to reach.”</a:t>
            </a:r>
          </a:p>
          <a:p>
            <a:r>
              <a:rPr lang="en-US" dirty="0"/>
              <a:t>"The findings show statistically significant gains across all four constructs — knowledge, affect, intent to act, and desire to learn. But the most important result is not in the chart. The regression analysis revealed that gains in affect — specifically urgency and hope — predicted intent to act. Gains in knowledge alone did not. In other words, feeling matters more than knowing. What makes this even more compelling is that the gains were equally strong among participants who oppose government regulation — typically the hardest audience to reach on climate change. And the results were consistent across 8 nations and very different participant groups."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explain why this is an action research study." </a:t>
            </a:r>
            <a:r>
              <a:rPr lang="en-US" dirty="0" err="1"/>
              <a:t>Döngüyü</a:t>
            </a:r>
            <a:r>
              <a:rPr lang="en-US" dirty="0"/>
              <a:t> </a:t>
            </a:r>
            <a:r>
              <a:rPr lang="en-US" dirty="0" err="1"/>
              <a:t>saat</a:t>
            </a:r>
            <a:r>
              <a:rPr lang="en-US" dirty="0"/>
              <a:t> </a:t>
            </a:r>
            <a:r>
              <a:rPr lang="en-US" dirty="0" err="1"/>
              <a:t>yönünde</a:t>
            </a:r>
            <a:r>
              <a:rPr lang="en-US" dirty="0"/>
              <a:t> </a:t>
            </a:r>
            <a:r>
              <a:rPr lang="en-US" dirty="0" err="1"/>
              <a:t>aç</a:t>
            </a:r>
            <a:r>
              <a:rPr lang="en-US" dirty="0"/>
              <a:t>: "They identified a clear problem — the deficit model isn't working. They designed an intervention — World Climate. They collected systematic evidence. And based on what they found — that affect matters more than knowledge — they refined the simulation to emphasize emotional engagement." Son </a:t>
            </a:r>
            <a:r>
              <a:rPr lang="en-US" dirty="0" err="1"/>
              <a:t>cümle</a:t>
            </a:r>
            <a:r>
              <a:rPr lang="en-US" dirty="0"/>
              <a:t>: "This is a textbook Diagnose → Intervene → Evaluate → Refine cycle.”</a:t>
            </a:r>
          </a:p>
          <a:p>
            <a:r>
              <a:rPr lang="en-US" dirty="0"/>
              <a:t>"Think of this as a story in four acts. First, the researchers saw a clear problem — climate information campaigns weren't working. Second, they designed a response — the World Climate simulation. Third, they measured the impact systematically — and found something surprising: emotion, not knowledge, drives action. Fourth, they took that finding and rebuilt the simulation around it. That's not just research — that's action research. You diagnose, you intervene, you evaluate, and you refine. And then you start again."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is a direct challenge to how most climate communicators still operate today. The message is simple: stop trying to inform people into action. Start trying to engage them emotionally.”</a:t>
            </a:r>
          </a:p>
          <a:p>
            <a:r>
              <a:rPr lang="en-US" dirty="0"/>
              <a:t>"Simulation is not just a fun activity. It's a serious pedagogical tool. The 'learn for yourself' effect — experiencing consequences firsthand — is far more powerful than any lecture.”</a:t>
            </a:r>
          </a:p>
          <a:p>
            <a:r>
              <a:rPr lang="en-US" dirty="0"/>
              <a:t>"In today's </a:t>
            </a:r>
            <a:r>
              <a:rPr lang="en-US" dirty="0" err="1"/>
              <a:t>polarised</a:t>
            </a:r>
            <a:r>
              <a:rPr lang="en-US" dirty="0"/>
              <a:t> world, this is a remarkable finding. Simulation reaches people that facts and arguments cannot — because it doesn't tell them what to think, it lets them experience the consequences themselves.”</a:t>
            </a:r>
          </a:p>
          <a:p>
            <a:r>
              <a:rPr lang="en-US" dirty="0"/>
              <a:t>"This is not a laboratory experiment anymore. 42,000 people in 77 countries. Officially </a:t>
            </a:r>
            <a:r>
              <a:rPr lang="en-US" dirty="0" err="1"/>
              <a:t>recognised</a:t>
            </a:r>
            <a:r>
              <a:rPr lang="en-US" dirty="0"/>
              <a:t> in France, Germany, and South Korea. Free and open source. The scale alone tells you this works beyond controlled settings."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Conclusion</a:t>
            </a:r>
            <a:r>
              <a:rPr lang="en-US" dirty="0"/>
              <a:t> </a:t>
            </a:r>
            <a:r>
              <a:rPr lang="en-US" dirty="0" err="1"/>
              <a:t>Alıntıyı</a:t>
            </a:r>
            <a:r>
              <a:rPr lang="en-US" dirty="0"/>
              <a:t> </a:t>
            </a:r>
            <a:r>
              <a:rPr lang="en-US" dirty="0" err="1"/>
              <a:t>oku</a:t>
            </a:r>
            <a:r>
              <a:rPr lang="en-US" dirty="0"/>
              <a:t>. Sonra her </a:t>
            </a:r>
            <a:r>
              <a:rPr lang="en-US" dirty="0" err="1"/>
              <a:t>bullet'ı</a:t>
            </a:r>
            <a:r>
              <a:rPr lang="en-US" dirty="0"/>
              <a:t> </a:t>
            </a:r>
            <a:r>
              <a:rPr lang="en-US" dirty="0" err="1"/>
              <a:t>tek</a:t>
            </a:r>
            <a:r>
              <a:rPr lang="en-US" dirty="0"/>
              <a:t> </a:t>
            </a:r>
            <a:r>
              <a:rPr lang="en-US" dirty="0" err="1"/>
              <a:t>cümleyle</a:t>
            </a:r>
            <a:r>
              <a:rPr lang="en-US" dirty="0"/>
              <a:t> </a:t>
            </a:r>
            <a:r>
              <a:rPr lang="en-US" dirty="0" err="1"/>
              <a:t>geç</a:t>
            </a:r>
            <a:r>
              <a:rPr lang="en-US" dirty="0"/>
              <a:t>. Son </a:t>
            </a:r>
            <a:r>
              <a:rPr lang="en-US" dirty="0" err="1"/>
              <a:t>bullet'ta</a:t>
            </a:r>
            <a:r>
              <a:rPr lang="en-US" dirty="0"/>
              <a:t> dur: "They demonstrated the full Simulation–Action Research cycle in a real-world setting. That's what makes this paper a methodological contribution, not just an education study."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World Climate works, we need to look at the theory behind it. Three learning mechanisms are activated simultaneously. First, experiential learning — participants don't sit and listen, they make decisions and see the consequences. Second, affective engagement — the simulation triggers real emotions. Seeing your negotiation result in 3.5 degrees of warming in real time is not the same as reading about it in a report. Third, social learning — you are negotiating face to face with other people, watching them commit, argue, and react. That social pressure is a powerful motivator. No lecture activates all three of these at once. World Climate does."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Validity</a:t>
            </a:r>
            <a:r>
              <a:rPr lang="en-US" dirty="0"/>
              <a:t> </a:t>
            </a:r>
            <a:r>
              <a:rPr lang="en-US" dirty="0" err="1"/>
              <a:t>Hızlı</a:t>
            </a:r>
            <a:r>
              <a:rPr lang="en-US" dirty="0"/>
              <a:t> ama net </a:t>
            </a:r>
            <a:r>
              <a:rPr lang="en-US" dirty="0" err="1"/>
              <a:t>geç</a:t>
            </a:r>
            <a:r>
              <a:rPr lang="en-US" dirty="0"/>
              <a:t>. "The authors were aware of two threats to their findings, and they addressed both." Her </a:t>
            </a:r>
            <a:r>
              <a:rPr lang="en-US" dirty="0" err="1"/>
              <a:t>kartı</a:t>
            </a:r>
            <a:r>
              <a:rPr lang="en-US" dirty="0"/>
              <a:t> </a:t>
            </a:r>
            <a:r>
              <a:rPr lang="en-US" dirty="0" err="1"/>
              <a:t>oku</a:t>
            </a:r>
            <a:r>
              <a:rPr lang="en-US" dirty="0"/>
              <a:t>, </a:t>
            </a:r>
            <a:r>
              <a:rPr lang="en-US" dirty="0" err="1"/>
              <a:t>çözümü</a:t>
            </a:r>
            <a:r>
              <a:rPr lang="en-US" dirty="0"/>
              <a:t> </a:t>
            </a:r>
            <a:r>
              <a:rPr lang="en-US" dirty="0" err="1"/>
              <a:t>söyle</a:t>
            </a:r>
            <a:r>
              <a:rPr lang="en-US" dirty="0"/>
              <a:t>. Verdict </a:t>
            </a:r>
            <a:r>
              <a:rPr lang="en-US" dirty="0" err="1"/>
              <a:t>cümlesini</a:t>
            </a:r>
            <a:r>
              <a:rPr lang="en-US" dirty="0"/>
              <a:t> </a:t>
            </a:r>
            <a:r>
              <a:rPr lang="en-US" dirty="0" err="1"/>
              <a:t>vurgula</a:t>
            </a:r>
            <a:r>
              <a:rPr lang="en-US" dirty="0"/>
              <a:t>. Bu </a:t>
            </a:r>
            <a:r>
              <a:rPr lang="en-US" dirty="0" err="1"/>
              <a:t>slayt</a:t>
            </a:r>
            <a:r>
              <a:rPr lang="en-US" dirty="0"/>
              <a:t> </a:t>
            </a:r>
            <a:r>
              <a:rPr lang="en-US" dirty="0" err="1"/>
              <a:t>güvenilirlik</a:t>
            </a:r>
            <a:r>
              <a:rPr lang="en-US" dirty="0"/>
              <a:t> </a:t>
            </a:r>
            <a:r>
              <a:rPr lang="en-US" dirty="0" err="1"/>
              <a:t>hissi</a:t>
            </a:r>
            <a:r>
              <a:rPr lang="en-US" dirty="0"/>
              <a:t> </a:t>
            </a:r>
            <a:r>
              <a:rPr lang="en-US" dirty="0" err="1"/>
              <a:t>verir</a:t>
            </a:r>
            <a:r>
              <a:rPr lang="en-US" dirty="0"/>
              <a:t> — </a:t>
            </a:r>
            <a:r>
              <a:rPr lang="en-US" dirty="0" err="1"/>
              <a:t>atlamayın</a:t>
            </a:r>
            <a:r>
              <a:rPr lang="en-US" dirty="0"/>
              <a:t>.</a:t>
            </a:r>
          </a:p>
          <a:p>
            <a:r>
              <a:rPr lang="en-US" dirty="0"/>
              <a:t>"The second threat is that facilitators collected their own data, which could introduce bias. The authors addressed this by removing sessions with low response rates — and the findings held."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Limitations &amp; Future Directions</a:t>
            </a:r>
            <a:r>
              <a:rPr lang="en-US" dirty="0"/>
              <a:t> Sol </a:t>
            </a:r>
            <a:r>
              <a:rPr lang="en-US" dirty="0" err="1"/>
              <a:t>sütun</a:t>
            </a:r>
            <a:r>
              <a:rPr lang="en-US" dirty="0"/>
              <a:t> </a:t>
            </a:r>
            <a:r>
              <a:rPr lang="en-US" dirty="0" err="1"/>
              <a:t>için</a:t>
            </a:r>
            <a:r>
              <a:rPr lang="en-US" dirty="0"/>
              <a:t>: "No study is perfect. The biggest gap here is that they only measured intent — not actual </a:t>
            </a:r>
            <a:r>
              <a:rPr lang="en-US" dirty="0" err="1"/>
              <a:t>behaviour</a:t>
            </a:r>
            <a:r>
              <a:rPr lang="en-US" dirty="0"/>
              <a:t>." </a:t>
            </a:r>
            <a:r>
              <a:rPr lang="en-US" dirty="0" err="1"/>
              <a:t>Sağ</a:t>
            </a:r>
            <a:r>
              <a:rPr lang="en-US" dirty="0"/>
              <a:t> </a:t>
            </a:r>
            <a:r>
              <a:rPr lang="en-US" dirty="0" err="1"/>
              <a:t>sütun</a:t>
            </a:r>
            <a:r>
              <a:rPr lang="en-US" dirty="0"/>
              <a:t> </a:t>
            </a:r>
            <a:r>
              <a:rPr lang="en-US" dirty="0" err="1"/>
              <a:t>için</a:t>
            </a:r>
            <a:r>
              <a:rPr lang="en-US" dirty="0"/>
              <a:t>: "But the future directions are strong — especially RCTs and </a:t>
            </a:r>
            <a:r>
              <a:rPr lang="en-US" dirty="0" err="1"/>
              <a:t>behavioural</a:t>
            </a:r>
            <a:r>
              <a:rPr lang="en-US" dirty="0"/>
              <a:t> follow-up, which would make this evidence much more compelling."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D4E"/>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54864"/>
          </a:xfrm>
          <a:prstGeom prst="rect">
            <a:avLst/>
          </a:prstGeom>
          <a:solidFill>
            <a:srgbClr val="0D9488"/>
          </a:solidFill>
          <a:ln w="12700">
            <a:solidFill>
              <a:srgbClr val="0D9488"/>
            </a:solidFill>
            <a:prstDash val="solid"/>
          </a:ln>
        </p:spPr>
      </p:sp>
      <p:sp>
        <p:nvSpPr>
          <p:cNvPr id="3" name="Shape 1"/>
          <p:cNvSpPr/>
          <p:nvPr/>
        </p:nvSpPr>
        <p:spPr>
          <a:xfrm>
            <a:off x="0" y="0"/>
            <a:ext cx="0" cy="5143500"/>
          </a:xfrm>
          <a:prstGeom prst="line">
            <a:avLst/>
          </a:prstGeom>
          <a:noFill/>
          <a:ln w="3810">
            <a:solidFill>
              <a:srgbClr val="FFFFFF">
                <a:alpha val="10000"/>
              </a:srgbClr>
            </a:solidFill>
            <a:prstDash val="solid"/>
          </a:ln>
        </p:spPr>
      </p:sp>
      <p:sp>
        <p:nvSpPr>
          <p:cNvPr id="4" name="Shape 2"/>
          <p:cNvSpPr/>
          <p:nvPr/>
        </p:nvSpPr>
        <p:spPr>
          <a:xfrm>
            <a:off x="914400" y="0"/>
            <a:ext cx="0" cy="5143500"/>
          </a:xfrm>
          <a:prstGeom prst="line">
            <a:avLst/>
          </a:prstGeom>
          <a:noFill/>
          <a:ln w="3810">
            <a:solidFill>
              <a:srgbClr val="FFFFFF">
                <a:alpha val="10000"/>
              </a:srgbClr>
            </a:solidFill>
            <a:prstDash val="solid"/>
          </a:ln>
        </p:spPr>
      </p:sp>
      <p:sp>
        <p:nvSpPr>
          <p:cNvPr id="5" name="Shape 3"/>
          <p:cNvSpPr/>
          <p:nvPr/>
        </p:nvSpPr>
        <p:spPr>
          <a:xfrm>
            <a:off x="1828800" y="0"/>
            <a:ext cx="0" cy="5143500"/>
          </a:xfrm>
          <a:prstGeom prst="line">
            <a:avLst/>
          </a:prstGeom>
          <a:noFill/>
          <a:ln w="3810">
            <a:solidFill>
              <a:srgbClr val="FFFFFF">
                <a:alpha val="10000"/>
              </a:srgbClr>
            </a:solidFill>
            <a:prstDash val="solid"/>
          </a:ln>
        </p:spPr>
      </p:sp>
      <p:sp>
        <p:nvSpPr>
          <p:cNvPr id="6" name="Shape 4"/>
          <p:cNvSpPr/>
          <p:nvPr/>
        </p:nvSpPr>
        <p:spPr>
          <a:xfrm>
            <a:off x="2743200" y="0"/>
            <a:ext cx="0" cy="5143500"/>
          </a:xfrm>
          <a:prstGeom prst="line">
            <a:avLst/>
          </a:prstGeom>
          <a:noFill/>
          <a:ln w="3810">
            <a:solidFill>
              <a:srgbClr val="FFFFFF">
                <a:alpha val="10000"/>
              </a:srgbClr>
            </a:solidFill>
            <a:prstDash val="solid"/>
          </a:ln>
        </p:spPr>
      </p:sp>
      <p:sp>
        <p:nvSpPr>
          <p:cNvPr id="7" name="Shape 5"/>
          <p:cNvSpPr/>
          <p:nvPr/>
        </p:nvSpPr>
        <p:spPr>
          <a:xfrm>
            <a:off x="3657600" y="0"/>
            <a:ext cx="0" cy="5143500"/>
          </a:xfrm>
          <a:prstGeom prst="line">
            <a:avLst/>
          </a:prstGeom>
          <a:noFill/>
          <a:ln w="3810">
            <a:solidFill>
              <a:srgbClr val="FFFFFF">
                <a:alpha val="10000"/>
              </a:srgbClr>
            </a:solidFill>
            <a:prstDash val="solid"/>
          </a:ln>
        </p:spPr>
      </p:sp>
      <p:sp>
        <p:nvSpPr>
          <p:cNvPr id="8" name="Shape 6"/>
          <p:cNvSpPr/>
          <p:nvPr/>
        </p:nvSpPr>
        <p:spPr>
          <a:xfrm>
            <a:off x="4572000" y="0"/>
            <a:ext cx="0" cy="5143500"/>
          </a:xfrm>
          <a:prstGeom prst="line">
            <a:avLst/>
          </a:prstGeom>
          <a:noFill/>
          <a:ln w="3810">
            <a:solidFill>
              <a:srgbClr val="FFFFFF">
                <a:alpha val="10000"/>
              </a:srgbClr>
            </a:solidFill>
            <a:prstDash val="solid"/>
          </a:ln>
        </p:spPr>
      </p:sp>
      <p:sp>
        <p:nvSpPr>
          <p:cNvPr id="9" name="Shape 7"/>
          <p:cNvSpPr/>
          <p:nvPr/>
        </p:nvSpPr>
        <p:spPr>
          <a:xfrm>
            <a:off x="5486400" y="0"/>
            <a:ext cx="0" cy="5143500"/>
          </a:xfrm>
          <a:prstGeom prst="line">
            <a:avLst/>
          </a:prstGeom>
          <a:noFill/>
          <a:ln w="3810">
            <a:solidFill>
              <a:srgbClr val="FFFFFF">
                <a:alpha val="10000"/>
              </a:srgbClr>
            </a:solidFill>
            <a:prstDash val="solid"/>
          </a:ln>
        </p:spPr>
      </p:sp>
      <p:sp>
        <p:nvSpPr>
          <p:cNvPr id="10" name="Shape 8"/>
          <p:cNvSpPr/>
          <p:nvPr/>
        </p:nvSpPr>
        <p:spPr>
          <a:xfrm>
            <a:off x="6400800" y="0"/>
            <a:ext cx="0" cy="5143500"/>
          </a:xfrm>
          <a:prstGeom prst="line">
            <a:avLst/>
          </a:prstGeom>
          <a:noFill/>
          <a:ln w="3810">
            <a:solidFill>
              <a:srgbClr val="FFFFFF">
                <a:alpha val="10000"/>
              </a:srgbClr>
            </a:solidFill>
            <a:prstDash val="solid"/>
          </a:ln>
        </p:spPr>
      </p:sp>
      <p:sp>
        <p:nvSpPr>
          <p:cNvPr id="11" name="Shape 9"/>
          <p:cNvSpPr/>
          <p:nvPr/>
        </p:nvSpPr>
        <p:spPr>
          <a:xfrm>
            <a:off x="7315200" y="0"/>
            <a:ext cx="0" cy="5143500"/>
          </a:xfrm>
          <a:prstGeom prst="line">
            <a:avLst/>
          </a:prstGeom>
          <a:noFill/>
          <a:ln w="3810">
            <a:solidFill>
              <a:srgbClr val="FFFFFF">
                <a:alpha val="10000"/>
              </a:srgbClr>
            </a:solidFill>
            <a:prstDash val="solid"/>
          </a:ln>
        </p:spPr>
      </p:sp>
      <p:sp>
        <p:nvSpPr>
          <p:cNvPr id="12" name="Shape 10"/>
          <p:cNvSpPr/>
          <p:nvPr/>
        </p:nvSpPr>
        <p:spPr>
          <a:xfrm>
            <a:off x="8229600" y="0"/>
            <a:ext cx="0" cy="5143500"/>
          </a:xfrm>
          <a:prstGeom prst="line">
            <a:avLst/>
          </a:prstGeom>
          <a:noFill/>
          <a:ln w="3810">
            <a:solidFill>
              <a:srgbClr val="FFFFFF">
                <a:alpha val="10000"/>
              </a:srgbClr>
            </a:solidFill>
            <a:prstDash val="solid"/>
          </a:ln>
        </p:spPr>
      </p:sp>
      <p:sp>
        <p:nvSpPr>
          <p:cNvPr id="13" name="Text 11"/>
          <p:cNvSpPr/>
          <p:nvPr/>
        </p:nvSpPr>
        <p:spPr>
          <a:xfrm>
            <a:off x="548640" y="822960"/>
            <a:ext cx="8046720" cy="640080"/>
          </a:xfrm>
          <a:prstGeom prst="rect">
            <a:avLst/>
          </a:prstGeom>
          <a:noFill/>
          <a:ln/>
        </p:spPr>
        <p:txBody>
          <a:bodyPr wrap="square" rtlCol="0" anchor="ctr"/>
          <a:lstStyle/>
          <a:p>
            <a:pPr marL="0" indent="0" algn="ctr">
              <a:buNone/>
            </a:pPr>
            <a:r>
              <a:rPr lang="en-US" sz="3000" dirty="0">
                <a:solidFill>
                  <a:srgbClr val="14B8A6"/>
                </a:solidFill>
                <a:latin typeface="Calibri" pitchFamily="34" charset="0"/>
                <a:ea typeface="Calibri" pitchFamily="34" charset="-122"/>
                <a:cs typeface="Calibri" pitchFamily="34" charset="-120"/>
              </a:rPr>
              <a:t>Combining Role-Play with</a:t>
            </a:r>
            <a:endParaRPr lang="en-US" sz="3000" dirty="0"/>
          </a:p>
        </p:txBody>
      </p:sp>
      <p:sp>
        <p:nvSpPr>
          <p:cNvPr id="14" name="Text 12"/>
          <p:cNvSpPr/>
          <p:nvPr/>
        </p:nvSpPr>
        <p:spPr>
          <a:xfrm>
            <a:off x="548640" y="1417320"/>
            <a:ext cx="8046720" cy="82296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Interactive Simulation</a:t>
            </a:r>
            <a:endParaRPr lang="en-US" sz="4000" dirty="0"/>
          </a:p>
        </p:txBody>
      </p:sp>
      <p:sp>
        <p:nvSpPr>
          <p:cNvPr id="15" name="Text 13"/>
          <p:cNvSpPr/>
          <p:nvPr/>
        </p:nvSpPr>
        <p:spPr>
          <a:xfrm>
            <a:off x="548640" y="2194560"/>
            <a:ext cx="8046720" cy="502920"/>
          </a:xfrm>
          <a:prstGeom prst="rect">
            <a:avLst/>
          </a:prstGeom>
          <a:noFill/>
          <a:ln/>
        </p:spPr>
        <p:txBody>
          <a:bodyPr wrap="square" rtlCol="0" anchor="ctr"/>
          <a:lstStyle/>
          <a:p>
            <a:pPr marL="0" indent="0" algn="ctr">
              <a:buNone/>
            </a:pPr>
            <a:r>
              <a:rPr lang="en-US" sz="2200" dirty="0">
                <a:solidFill>
                  <a:srgbClr val="CCFBF1"/>
                </a:solidFill>
                <a:latin typeface="Calibri" pitchFamily="34" charset="0"/>
                <a:ea typeface="Calibri" pitchFamily="34" charset="-122"/>
                <a:cs typeface="Calibri" pitchFamily="34" charset="-120"/>
              </a:rPr>
              <a:t>to Motivate Informed Climate Action</a:t>
            </a:r>
            <a:endParaRPr lang="en-US" sz="2200" dirty="0"/>
          </a:p>
        </p:txBody>
      </p:sp>
      <p:sp>
        <p:nvSpPr>
          <p:cNvPr id="16" name="Shape 14"/>
          <p:cNvSpPr/>
          <p:nvPr/>
        </p:nvSpPr>
        <p:spPr>
          <a:xfrm>
            <a:off x="2286000" y="2834640"/>
            <a:ext cx="4572000" cy="0"/>
          </a:xfrm>
          <a:prstGeom prst="line">
            <a:avLst/>
          </a:prstGeom>
          <a:noFill/>
          <a:ln w="19050">
            <a:solidFill>
              <a:srgbClr val="0D9488"/>
            </a:solidFill>
            <a:prstDash val="solid"/>
          </a:ln>
        </p:spPr>
      </p:sp>
      <p:sp>
        <p:nvSpPr>
          <p:cNvPr id="17" name="Text 15"/>
          <p:cNvSpPr/>
          <p:nvPr/>
        </p:nvSpPr>
        <p:spPr>
          <a:xfrm>
            <a:off x="548640" y="2999232"/>
            <a:ext cx="8046720" cy="274320"/>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Rooney-Varga et al. (2018)  ·  PLOS ONE  ·  DOI: 10.1371/journal.pone.0202877</a:t>
            </a:r>
            <a:endParaRPr lang="en-US" sz="1000" dirty="0"/>
          </a:p>
        </p:txBody>
      </p:sp>
      <p:sp>
        <p:nvSpPr>
          <p:cNvPr id="18" name="Text 16"/>
          <p:cNvSpPr/>
          <p:nvPr/>
        </p:nvSpPr>
        <p:spPr>
          <a:xfrm>
            <a:off x="548640" y="3502152"/>
            <a:ext cx="804672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Oğuz Kaan Tuğlu  ·  SEN601</a:t>
            </a:r>
            <a:endParaRPr lang="en-US" sz="1100" dirty="0"/>
          </a:p>
        </p:txBody>
      </p:sp>
      <p:sp>
        <p:nvSpPr>
          <p:cNvPr id="19" name="Shape 17"/>
          <p:cNvSpPr/>
          <p:nvPr/>
        </p:nvSpPr>
        <p:spPr>
          <a:xfrm>
            <a:off x="3200400" y="4389120"/>
            <a:ext cx="2743200" cy="411480"/>
          </a:xfrm>
          <a:prstGeom prst="rect">
            <a:avLst/>
          </a:prstGeom>
          <a:solidFill>
            <a:srgbClr val="0D9488">
              <a:alpha val="80000"/>
            </a:srgbClr>
          </a:solidFill>
          <a:ln w="12700">
            <a:solidFill>
              <a:srgbClr val="0D9488"/>
            </a:solidFill>
            <a:prstDash val="solid"/>
          </a:ln>
        </p:spPr>
      </p:sp>
      <p:sp>
        <p:nvSpPr>
          <p:cNvPr id="20" name="Text 18"/>
          <p:cNvSpPr/>
          <p:nvPr/>
        </p:nvSpPr>
        <p:spPr>
          <a:xfrm>
            <a:off x="3200400" y="4389120"/>
            <a:ext cx="274320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Simulation + Action Research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2D4E"/>
          </a:solidFill>
          <a:ln w="12700">
            <a:solidFill>
              <a:srgbClr val="0F2D4E"/>
            </a:solidFill>
            <a:prstDash val="solid"/>
          </a:ln>
        </p:spPr>
      </p:sp>
      <p:sp>
        <p:nvSpPr>
          <p:cNvPr id="3" name="Text 1"/>
          <p:cNvSpPr/>
          <p:nvPr/>
        </p:nvSpPr>
        <p:spPr>
          <a:xfrm>
            <a:off x="411480" y="164592"/>
            <a:ext cx="8321040" cy="475488"/>
          </a:xfrm>
          <a:prstGeom prst="rect">
            <a:avLst/>
          </a:prstGeom>
          <a:noFill/>
          <a:ln/>
        </p:spPr>
        <p:txBody>
          <a:bodyPr wrap="square" lIns="0" tIns="0" rIns="0" bIns="0" rtlCol="0" anchor="ctr"/>
          <a:lstStyle/>
          <a:p>
            <a:pPr marL="0" indent="0">
              <a:buNone/>
            </a:pPr>
            <a:r>
              <a:rPr lang="en-US" sz="2200" b="1" kern="0" spc="100" dirty="0">
                <a:solidFill>
                  <a:sysClr val="windowText" lastClr="000000"/>
                </a:solidFill>
                <a:latin typeface="Calibri" pitchFamily="34" charset="0"/>
                <a:ea typeface="Calibri" pitchFamily="34" charset="-122"/>
                <a:cs typeface="Calibri" pitchFamily="34" charset="-120"/>
              </a:rPr>
              <a:t>PRESENTATION AGENDA</a:t>
            </a:r>
            <a:endParaRPr lang="en-US" sz="2200" dirty="0">
              <a:solidFill>
                <a:sysClr val="windowText" lastClr="000000"/>
              </a:solidFill>
            </a:endParaRPr>
          </a:p>
        </p:txBody>
      </p:sp>
      <p:sp>
        <p:nvSpPr>
          <p:cNvPr id="4" name="Text 2"/>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02</a:t>
            </a:r>
            <a:endParaRPr lang="en-US" sz="1000" dirty="0"/>
          </a:p>
        </p:txBody>
      </p:sp>
      <p:sp>
        <p:nvSpPr>
          <p:cNvPr id="5" name="Shape 3"/>
          <p:cNvSpPr/>
          <p:nvPr/>
        </p:nvSpPr>
        <p:spPr>
          <a:xfrm>
            <a:off x="320040" y="868680"/>
            <a:ext cx="384048" cy="457200"/>
          </a:xfrm>
          <a:prstGeom prst="rect">
            <a:avLst/>
          </a:prstGeom>
          <a:solidFill>
            <a:srgbClr val="0F2D4E"/>
          </a:solidFill>
          <a:ln w="12700">
            <a:solidFill>
              <a:srgbClr val="0F2D4E"/>
            </a:solidFill>
            <a:prstDash val="solid"/>
          </a:ln>
        </p:spPr>
      </p:sp>
      <p:sp>
        <p:nvSpPr>
          <p:cNvPr id="6" name="Text 4"/>
          <p:cNvSpPr/>
          <p:nvPr/>
        </p:nvSpPr>
        <p:spPr>
          <a:xfrm>
            <a:off x="320040" y="868680"/>
            <a:ext cx="384048" cy="457200"/>
          </a:xfrm>
          <a:prstGeom prst="rect">
            <a:avLst/>
          </a:prstGeom>
          <a:noFill/>
          <a:ln/>
        </p:spPr>
        <p:txBody>
          <a:bodyPr wrap="square" lIns="0" tIns="0" rIns="0" bIns="0" rtlCol="0" anchor="ctr"/>
          <a:lstStyle/>
          <a:p>
            <a:pPr marL="0" indent="0" algn="ctr">
              <a:buNone/>
            </a:pPr>
            <a:r>
              <a:rPr lang="en-US" sz="1200" b="1" dirty="0">
                <a:solidFill>
                  <a:srgbClr val="0D9488"/>
                </a:solidFill>
              </a:rPr>
              <a:t>01</a:t>
            </a:r>
            <a:endParaRPr lang="en-US" sz="1200" dirty="0"/>
          </a:p>
        </p:txBody>
      </p:sp>
      <p:sp>
        <p:nvSpPr>
          <p:cNvPr id="7" name="Shape 5"/>
          <p:cNvSpPr/>
          <p:nvPr/>
        </p:nvSpPr>
        <p:spPr>
          <a:xfrm>
            <a:off x="777240" y="868680"/>
            <a:ext cx="3931920" cy="4572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8" name="Text 6"/>
          <p:cNvSpPr/>
          <p:nvPr/>
        </p:nvSpPr>
        <p:spPr>
          <a:xfrm>
            <a:off x="886968" y="886968"/>
            <a:ext cx="3749040" cy="457200"/>
          </a:xfrm>
          <a:prstGeom prst="rect">
            <a:avLst/>
          </a:prstGeom>
          <a:noFill/>
          <a:ln/>
        </p:spPr>
        <p:txBody>
          <a:bodyPr wrap="square" lIns="0" tIns="0" rIns="0" bIns="0"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The Problem</a:t>
            </a:r>
            <a:endParaRPr lang="en-US" sz="1100" dirty="0"/>
          </a:p>
          <a:p>
            <a:pPr marL="0" indent="0">
              <a:buNone/>
            </a:pPr>
            <a:r>
              <a:rPr lang="en-US" sz="950" dirty="0">
                <a:solidFill>
                  <a:srgbClr val="475569"/>
                </a:solidFill>
                <a:latin typeface="Calibri" pitchFamily="34" charset="0"/>
                <a:ea typeface="Calibri" pitchFamily="34" charset="-122"/>
                <a:cs typeface="Calibri" pitchFamily="34" charset="-120"/>
              </a:rPr>
              <a:t>Why traditional climate communication fails</a:t>
            </a:r>
            <a:endParaRPr lang="en-US" sz="1100" dirty="0"/>
          </a:p>
        </p:txBody>
      </p:sp>
      <p:sp>
        <p:nvSpPr>
          <p:cNvPr id="9" name="Shape 7"/>
          <p:cNvSpPr/>
          <p:nvPr/>
        </p:nvSpPr>
        <p:spPr>
          <a:xfrm>
            <a:off x="320040" y="1572768"/>
            <a:ext cx="384048" cy="457200"/>
          </a:xfrm>
          <a:prstGeom prst="rect">
            <a:avLst/>
          </a:prstGeom>
          <a:solidFill>
            <a:srgbClr val="0F2D4E"/>
          </a:solidFill>
          <a:ln w="12700">
            <a:solidFill>
              <a:srgbClr val="0F2D4E"/>
            </a:solidFill>
            <a:prstDash val="solid"/>
          </a:ln>
        </p:spPr>
      </p:sp>
      <p:sp>
        <p:nvSpPr>
          <p:cNvPr id="10" name="Text 8"/>
          <p:cNvSpPr/>
          <p:nvPr/>
        </p:nvSpPr>
        <p:spPr>
          <a:xfrm>
            <a:off x="320040" y="1572768"/>
            <a:ext cx="384048" cy="457200"/>
          </a:xfrm>
          <a:prstGeom prst="rect">
            <a:avLst/>
          </a:prstGeom>
          <a:noFill/>
          <a:ln/>
        </p:spPr>
        <p:txBody>
          <a:bodyPr wrap="square" lIns="0" tIns="0" rIns="0" bIns="0" rtlCol="0" anchor="ctr"/>
          <a:lstStyle/>
          <a:p>
            <a:pPr marL="0" indent="0" algn="ctr">
              <a:buNone/>
            </a:pPr>
            <a:r>
              <a:rPr lang="en-US" sz="1200" b="1" dirty="0">
                <a:solidFill>
                  <a:srgbClr val="0D9488"/>
                </a:solidFill>
              </a:rPr>
              <a:t>02</a:t>
            </a:r>
            <a:endParaRPr lang="en-US" sz="1200" dirty="0"/>
          </a:p>
        </p:txBody>
      </p:sp>
      <p:sp>
        <p:nvSpPr>
          <p:cNvPr id="11" name="Shape 9"/>
          <p:cNvSpPr/>
          <p:nvPr/>
        </p:nvSpPr>
        <p:spPr>
          <a:xfrm>
            <a:off x="777240" y="1572768"/>
            <a:ext cx="3931920" cy="4572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2" name="Text 10"/>
          <p:cNvSpPr/>
          <p:nvPr/>
        </p:nvSpPr>
        <p:spPr>
          <a:xfrm>
            <a:off x="886968" y="1591056"/>
            <a:ext cx="3749040" cy="457200"/>
          </a:xfrm>
          <a:prstGeom prst="rect">
            <a:avLst/>
          </a:prstGeom>
          <a:noFill/>
          <a:ln/>
        </p:spPr>
        <p:txBody>
          <a:bodyPr wrap="square" lIns="0" tIns="0" rIns="0" bIns="0"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The Simulation</a:t>
            </a:r>
            <a:endParaRPr lang="en-US" sz="1100" dirty="0"/>
          </a:p>
          <a:p>
            <a:pPr marL="0" indent="0">
              <a:buNone/>
            </a:pPr>
            <a:r>
              <a:rPr lang="en-US" sz="950" dirty="0">
                <a:solidFill>
                  <a:srgbClr val="475569"/>
                </a:solidFill>
                <a:latin typeface="Calibri" pitchFamily="34" charset="0"/>
                <a:ea typeface="Calibri" pitchFamily="34" charset="-122"/>
                <a:cs typeface="Calibri" pitchFamily="34" charset="-120"/>
              </a:rPr>
              <a:t>World Climate: role-play + C-ROADS model</a:t>
            </a:r>
            <a:endParaRPr lang="en-US" sz="1100" dirty="0"/>
          </a:p>
        </p:txBody>
      </p:sp>
      <p:sp>
        <p:nvSpPr>
          <p:cNvPr id="13" name="Shape 11"/>
          <p:cNvSpPr/>
          <p:nvPr/>
        </p:nvSpPr>
        <p:spPr>
          <a:xfrm>
            <a:off x="320040" y="2276856"/>
            <a:ext cx="384048" cy="457200"/>
          </a:xfrm>
          <a:prstGeom prst="rect">
            <a:avLst/>
          </a:prstGeom>
          <a:solidFill>
            <a:srgbClr val="0F2D4E"/>
          </a:solidFill>
          <a:ln w="12700">
            <a:solidFill>
              <a:srgbClr val="0F2D4E"/>
            </a:solidFill>
            <a:prstDash val="solid"/>
          </a:ln>
        </p:spPr>
      </p:sp>
      <p:sp>
        <p:nvSpPr>
          <p:cNvPr id="14" name="Text 12"/>
          <p:cNvSpPr/>
          <p:nvPr/>
        </p:nvSpPr>
        <p:spPr>
          <a:xfrm>
            <a:off x="320040" y="2276856"/>
            <a:ext cx="384048" cy="457200"/>
          </a:xfrm>
          <a:prstGeom prst="rect">
            <a:avLst/>
          </a:prstGeom>
          <a:noFill/>
          <a:ln/>
        </p:spPr>
        <p:txBody>
          <a:bodyPr wrap="square" lIns="0" tIns="0" rIns="0" bIns="0" rtlCol="0" anchor="ctr"/>
          <a:lstStyle/>
          <a:p>
            <a:pPr marL="0" indent="0" algn="ctr">
              <a:buNone/>
            </a:pPr>
            <a:r>
              <a:rPr lang="en-US" sz="1200" b="1" dirty="0">
                <a:solidFill>
                  <a:srgbClr val="0D9488"/>
                </a:solidFill>
              </a:rPr>
              <a:t>03</a:t>
            </a:r>
            <a:endParaRPr lang="en-US" sz="1200" dirty="0"/>
          </a:p>
        </p:txBody>
      </p:sp>
      <p:sp>
        <p:nvSpPr>
          <p:cNvPr id="15" name="Shape 13"/>
          <p:cNvSpPr/>
          <p:nvPr/>
        </p:nvSpPr>
        <p:spPr>
          <a:xfrm>
            <a:off x="777240" y="2276856"/>
            <a:ext cx="3931920" cy="4572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6" name="Text 14"/>
          <p:cNvSpPr/>
          <p:nvPr/>
        </p:nvSpPr>
        <p:spPr>
          <a:xfrm>
            <a:off x="886968" y="2295144"/>
            <a:ext cx="3749040" cy="457200"/>
          </a:xfrm>
          <a:prstGeom prst="rect">
            <a:avLst/>
          </a:prstGeom>
          <a:noFill/>
          <a:ln/>
        </p:spPr>
        <p:txBody>
          <a:bodyPr wrap="square" lIns="0" tIns="0" rIns="0" bIns="0"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Methodology</a:t>
            </a:r>
            <a:endParaRPr lang="en-US" sz="1100" dirty="0"/>
          </a:p>
          <a:p>
            <a:pPr marL="0" indent="0">
              <a:buNone/>
            </a:pPr>
            <a:r>
              <a:rPr lang="en-US" sz="950" dirty="0">
                <a:solidFill>
                  <a:srgbClr val="475569"/>
                </a:solidFill>
                <a:latin typeface="Calibri" pitchFamily="34" charset="0"/>
                <a:ea typeface="Calibri" pitchFamily="34" charset="-122"/>
                <a:cs typeface="Calibri" pitchFamily="34" charset="-120"/>
              </a:rPr>
              <a:t>Research design, sample &amp; measures</a:t>
            </a:r>
            <a:endParaRPr lang="en-US" sz="1100" dirty="0"/>
          </a:p>
        </p:txBody>
      </p:sp>
      <p:sp>
        <p:nvSpPr>
          <p:cNvPr id="17" name="Shape 15"/>
          <p:cNvSpPr/>
          <p:nvPr/>
        </p:nvSpPr>
        <p:spPr>
          <a:xfrm>
            <a:off x="4800600" y="868680"/>
            <a:ext cx="384048" cy="457200"/>
          </a:xfrm>
          <a:prstGeom prst="rect">
            <a:avLst/>
          </a:prstGeom>
          <a:solidFill>
            <a:srgbClr val="0F2D4E"/>
          </a:solidFill>
          <a:ln w="12700">
            <a:solidFill>
              <a:srgbClr val="0F2D4E"/>
            </a:solidFill>
            <a:prstDash val="solid"/>
          </a:ln>
        </p:spPr>
      </p:sp>
      <p:sp>
        <p:nvSpPr>
          <p:cNvPr id="18" name="Text 16"/>
          <p:cNvSpPr/>
          <p:nvPr/>
        </p:nvSpPr>
        <p:spPr>
          <a:xfrm>
            <a:off x="4800600" y="868680"/>
            <a:ext cx="384048" cy="457200"/>
          </a:xfrm>
          <a:prstGeom prst="rect">
            <a:avLst/>
          </a:prstGeom>
          <a:noFill/>
          <a:ln/>
        </p:spPr>
        <p:txBody>
          <a:bodyPr wrap="square" lIns="0" tIns="0" rIns="0" bIns="0" rtlCol="0" anchor="ctr"/>
          <a:lstStyle/>
          <a:p>
            <a:pPr marL="0" indent="0" algn="ctr">
              <a:buNone/>
            </a:pPr>
            <a:r>
              <a:rPr lang="en-US" sz="1200" b="1" dirty="0">
                <a:solidFill>
                  <a:srgbClr val="0D9488"/>
                </a:solidFill>
              </a:rPr>
              <a:t>04</a:t>
            </a:r>
            <a:endParaRPr lang="en-US" sz="1200" dirty="0"/>
          </a:p>
        </p:txBody>
      </p:sp>
      <p:sp>
        <p:nvSpPr>
          <p:cNvPr id="19" name="Shape 17"/>
          <p:cNvSpPr/>
          <p:nvPr/>
        </p:nvSpPr>
        <p:spPr>
          <a:xfrm>
            <a:off x="5257800" y="868680"/>
            <a:ext cx="3931920" cy="4572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20" name="Text 18"/>
          <p:cNvSpPr/>
          <p:nvPr/>
        </p:nvSpPr>
        <p:spPr>
          <a:xfrm>
            <a:off x="5367528" y="886968"/>
            <a:ext cx="3749040" cy="457200"/>
          </a:xfrm>
          <a:prstGeom prst="rect">
            <a:avLst/>
          </a:prstGeom>
          <a:noFill/>
          <a:ln/>
        </p:spPr>
        <p:txBody>
          <a:bodyPr wrap="square" lIns="0" tIns="0" rIns="0" bIns="0"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Key Findings</a:t>
            </a:r>
            <a:endParaRPr lang="en-US" sz="1100" dirty="0"/>
          </a:p>
          <a:p>
            <a:pPr marL="0" indent="0">
              <a:buNone/>
            </a:pPr>
            <a:r>
              <a:rPr lang="en-US" sz="950" dirty="0">
                <a:solidFill>
                  <a:srgbClr val="475569"/>
                </a:solidFill>
                <a:latin typeface="Calibri" pitchFamily="34" charset="0"/>
                <a:ea typeface="Calibri" pitchFamily="34" charset="-122"/>
                <a:cs typeface="Calibri" pitchFamily="34" charset="-120"/>
              </a:rPr>
              <a:t>Knowledge, affect &amp; intent to act</a:t>
            </a:r>
            <a:endParaRPr lang="en-US" sz="1100" dirty="0"/>
          </a:p>
        </p:txBody>
      </p:sp>
      <p:sp>
        <p:nvSpPr>
          <p:cNvPr id="21" name="Shape 19"/>
          <p:cNvSpPr/>
          <p:nvPr/>
        </p:nvSpPr>
        <p:spPr>
          <a:xfrm>
            <a:off x="4800600" y="1572768"/>
            <a:ext cx="384048" cy="457200"/>
          </a:xfrm>
          <a:prstGeom prst="rect">
            <a:avLst/>
          </a:prstGeom>
          <a:solidFill>
            <a:srgbClr val="0F2D4E"/>
          </a:solidFill>
          <a:ln w="12700">
            <a:solidFill>
              <a:srgbClr val="0F2D4E"/>
            </a:solidFill>
            <a:prstDash val="solid"/>
          </a:ln>
        </p:spPr>
      </p:sp>
      <p:sp>
        <p:nvSpPr>
          <p:cNvPr id="22" name="Text 20"/>
          <p:cNvSpPr/>
          <p:nvPr/>
        </p:nvSpPr>
        <p:spPr>
          <a:xfrm>
            <a:off x="4800600" y="1572768"/>
            <a:ext cx="384048" cy="457200"/>
          </a:xfrm>
          <a:prstGeom prst="rect">
            <a:avLst/>
          </a:prstGeom>
          <a:noFill/>
          <a:ln/>
        </p:spPr>
        <p:txBody>
          <a:bodyPr wrap="square" lIns="0" tIns="0" rIns="0" bIns="0" rtlCol="0" anchor="ctr"/>
          <a:lstStyle/>
          <a:p>
            <a:pPr marL="0" indent="0" algn="ctr">
              <a:buNone/>
            </a:pPr>
            <a:r>
              <a:rPr lang="en-US" sz="1200" b="1" dirty="0">
                <a:solidFill>
                  <a:srgbClr val="0D9488"/>
                </a:solidFill>
              </a:rPr>
              <a:t>05</a:t>
            </a:r>
            <a:endParaRPr lang="en-US" sz="1200" dirty="0"/>
          </a:p>
        </p:txBody>
      </p:sp>
      <p:sp>
        <p:nvSpPr>
          <p:cNvPr id="23" name="Shape 21"/>
          <p:cNvSpPr/>
          <p:nvPr/>
        </p:nvSpPr>
        <p:spPr>
          <a:xfrm>
            <a:off x="5257800" y="1572768"/>
            <a:ext cx="3931920" cy="4572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24" name="Text 22"/>
          <p:cNvSpPr/>
          <p:nvPr/>
        </p:nvSpPr>
        <p:spPr>
          <a:xfrm>
            <a:off x="5367528" y="1591056"/>
            <a:ext cx="3749040" cy="457200"/>
          </a:xfrm>
          <a:prstGeom prst="rect">
            <a:avLst/>
          </a:prstGeom>
          <a:noFill/>
          <a:ln/>
        </p:spPr>
        <p:txBody>
          <a:bodyPr wrap="square" lIns="0" tIns="0" rIns="0" bIns="0"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The Action Research Link</a:t>
            </a:r>
            <a:endParaRPr lang="en-US" sz="1100" dirty="0"/>
          </a:p>
          <a:p>
            <a:pPr marL="0" indent="0">
              <a:buNone/>
            </a:pPr>
            <a:r>
              <a:rPr lang="en-US" sz="950" dirty="0">
                <a:solidFill>
                  <a:srgbClr val="475569"/>
                </a:solidFill>
                <a:latin typeface="Calibri" pitchFamily="34" charset="0"/>
                <a:ea typeface="Calibri" pitchFamily="34" charset="-122"/>
                <a:cs typeface="Calibri" pitchFamily="34" charset="-120"/>
              </a:rPr>
              <a:t>Iterative improvement cycle</a:t>
            </a:r>
            <a:endParaRPr lang="en-US" sz="1100" dirty="0"/>
          </a:p>
        </p:txBody>
      </p:sp>
      <p:sp>
        <p:nvSpPr>
          <p:cNvPr id="25" name="Shape 23"/>
          <p:cNvSpPr/>
          <p:nvPr/>
        </p:nvSpPr>
        <p:spPr>
          <a:xfrm>
            <a:off x="4800600" y="2276856"/>
            <a:ext cx="384048" cy="457200"/>
          </a:xfrm>
          <a:prstGeom prst="rect">
            <a:avLst/>
          </a:prstGeom>
          <a:solidFill>
            <a:srgbClr val="0F2D4E"/>
          </a:solidFill>
          <a:ln w="12700">
            <a:solidFill>
              <a:srgbClr val="0F2D4E"/>
            </a:solidFill>
            <a:prstDash val="solid"/>
          </a:ln>
        </p:spPr>
      </p:sp>
      <p:sp>
        <p:nvSpPr>
          <p:cNvPr id="26" name="Text 24"/>
          <p:cNvSpPr/>
          <p:nvPr/>
        </p:nvSpPr>
        <p:spPr>
          <a:xfrm>
            <a:off x="4800600" y="2276856"/>
            <a:ext cx="384048" cy="457200"/>
          </a:xfrm>
          <a:prstGeom prst="rect">
            <a:avLst/>
          </a:prstGeom>
          <a:noFill/>
          <a:ln/>
        </p:spPr>
        <p:txBody>
          <a:bodyPr wrap="square" lIns="0" tIns="0" rIns="0" bIns="0" rtlCol="0" anchor="ctr"/>
          <a:lstStyle/>
          <a:p>
            <a:pPr marL="0" indent="0" algn="ctr">
              <a:buNone/>
            </a:pPr>
            <a:r>
              <a:rPr lang="en-US" sz="1200" b="1" dirty="0">
                <a:solidFill>
                  <a:srgbClr val="0D9488"/>
                </a:solidFill>
              </a:rPr>
              <a:t>06</a:t>
            </a:r>
            <a:endParaRPr lang="en-US" sz="1200" dirty="0"/>
          </a:p>
        </p:txBody>
      </p:sp>
      <p:sp>
        <p:nvSpPr>
          <p:cNvPr id="27" name="Shape 25"/>
          <p:cNvSpPr/>
          <p:nvPr/>
        </p:nvSpPr>
        <p:spPr>
          <a:xfrm>
            <a:off x="5257800" y="2276856"/>
            <a:ext cx="3931920" cy="4572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28" name="Text 26"/>
          <p:cNvSpPr/>
          <p:nvPr/>
        </p:nvSpPr>
        <p:spPr>
          <a:xfrm>
            <a:off x="5367528" y="2295144"/>
            <a:ext cx="3749040" cy="457200"/>
          </a:xfrm>
          <a:prstGeom prst="rect">
            <a:avLst/>
          </a:prstGeom>
          <a:noFill/>
          <a:ln/>
        </p:spPr>
        <p:txBody>
          <a:bodyPr wrap="square" lIns="0" tIns="0" rIns="0" bIns="0"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Implications</a:t>
            </a:r>
            <a:endParaRPr lang="en-US" sz="1100" dirty="0"/>
          </a:p>
          <a:p>
            <a:pPr marL="0" indent="0">
              <a:buNone/>
            </a:pPr>
            <a:r>
              <a:rPr lang="en-US" sz="950" dirty="0">
                <a:solidFill>
                  <a:srgbClr val="475569"/>
                </a:solidFill>
                <a:latin typeface="Calibri" pitchFamily="34" charset="0"/>
                <a:ea typeface="Calibri" pitchFamily="34" charset="-122"/>
                <a:cs typeface="Calibri" pitchFamily="34" charset="-120"/>
              </a:rPr>
              <a:t>What this means for education &amp; policy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2D4E"/>
          </a:solidFill>
          <a:ln w="12700">
            <a:solidFill>
              <a:srgbClr val="0F2D4E"/>
            </a:solidFill>
            <a:prstDash val="solid"/>
          </a:ln>
        </p:spPr>
      </p:sp>
      <p:sp>
        <p:nvSpPr>
          <p:cNvPr id="3" name="Text 1"/>
          <p:cNvSpPr/>
          <p:nvPr/>
        </p:nvSpPr>
        <p:spPr>
          <a:xfrm>
            <a:off x="411480" y="164592"/>
            <a:ext cx="8321040" cy="475488"/>
          </a:xfrm>
          <a:prstGeom prst="rect">
            <a:avLst/>
          </a:prstGeom>
          <a:noFill/>
          <a:ln/>
        </p:spPr>
        <p:txBody>
          <a:bodyPr wrap="square" lIns="0" tIns="0" rIns="0" bIns="0" rtlCol="0" anchor="ctr"/>
          <a:lstStyle/>
          <a:p>
            <a:pPr marL="0" indent="0">
              <a:buNone/>
            </a:pPr>
            <a:r>
              <a:rPr lang="en-US" sz="2200" b="1" kern="0" spc="100" dirty="0">
                <a:solidFill>
                  <a:sysClr val="windowText" lastClr="000000"/>
                </a:solidFill>
                <a:latin typeface="Calibri" pitchFamily="34" charset="0"/>
                <a:ea typeface="Calibri" pitchFamily="34" charset="-122"/>
                <a:cs typeface="Calibri" pitchFamily="34" charset="-120"/>
              </a:rPr>
              <a:t>THE PROBLEM: WHY INFORMATION ALONE FAILS</a:t>
            </a:r>
            <a:endParaRPr lang="en-US" sz="2200" dirty="0">
              <a:solidFill>
                <a:sysClr val="windowText" lastClr="000000"/>
              </a:solidFill>
            </a:endParaRPr>
          </a:p>
        </p:txBody>
      </p:sp>
      <p:sp>
        <p:nvSpPr>
          <p:cNvPr id="4" name="Text 2"/>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03</a:t>
            </a:r>
            <a:endParaRPr lang="en-US" sz="1000" dirty="0"/>
          </a:p>
        </p:txBody>
      </p:sp>
      <p:sp>
        <p:nvSpPr>
          <p:cNvPr id="5" name="Shape 3"/>
          <p:cNvSpPr/>
          <p:nvPr/>
        </p:nvSpPr>
        <p:spPr>
          <a:xfrm>
            <a:off x="320040" y="749808"/>
            <a:ext cx="8503920" cy="804672"/>
          </a:xfrm>
          <a:prstGeom prst="rect">
            <a:avLst/>
          </a:prstGeom>
          <a:solidFill>
            <a:srgbClr val="0F2D4E"/>
          </a:solidFill>
          <a:ln w="12700">
            <a:solidFill>
              <a:srgbClr val="0F2D4E"/>
            </a:solidFill>
            <a:prstDash val="solid"/>
          </a:ln>
        </p:spPr>
      </p:sp>
      <p:sp>
        <p:nvSpPr>
          <p:cNvPr id="6" name="Shape 4"/>
          <p:cNvSpPr/>
          <p:nvPr/>
        </p:nvSpPr>
        <p:spPr>
          <a:xfrm>
            <a:off x="320040" y="749808"/>
            <a:ext cx="54864" cy="804672"/>
          </a:xfrm>
          <a:prstGeom prst="rect">
            <a:avLst/>
          </a:prstGeom>
          <a:solidFill>
            <a:srgbClr val="0D9488"/>
          </a:solidFill>
          <a:ln w="12700">
            <a:solidFill>
              <a:srgbClr val="0D9488"/>
            </a:solidFill>
            <a:prstDash val="solid"/>
          </a:ln>
        </p:spPr>
      </p:sp>
      <p:sp>
        <p:nvSpPr>
          <p:cNvPr id="7" name="Text 5"/>
          <p:cNvSpPr/>
          <p:nvPr/>
        </p:nvSpPr>
        <p:spPr>
          <a:xfrm>
            <a:off x="502920" y="777240"/>
            <a:ext cx="8229600" cy="749808"/>
          </a:xfrm>
          <a:prstGeom prst="rect">
            <a:avLst/>
          </a:prstGeom>
          <a:noFill/>
          <a:ln/>
        </p:spPr>
        <p:txBody>
          <a:bodyPr wrap="square" lIns="0" tIns="0" rIns="0" bIns="0" rtlCol="0" anchor="ctr"/>
          <a:lstStyle/>
          <a:p>
            <a:pPr marL="0" indent="0">
              <a:buNone/>
            </a:pPr>
            <a:r>
              <a:rPr lang="en-US" sz="2800" b="1" dirty="0">
                <a:solidFill>
                  <a:srgbClr val="0D9488"/>
                </a:solidFill>
                <a:latin typeface="Calibri" pitchFamily="34" charset="0"/>
                <a:ea typeface="Calibri" pitchFamily="34" charset="-122"/>
                <a:cs typeface="Calibri" pitchFamily="34" charset="-120"/>
              </a:rPr>
              <a:t>"</a:t>
            </a:r>
            <a:r>
              <a:rPr lang="en-US" sz="1300" dirty="0">
                <a:solidFill>
                  <a:srgbClr val="FFFFFF"/>
                </a:solidFill>
                <a:latin typeface="Calibri" pitchFamily="34" charset="0"/>
                <a:ea typeface="Calibri" pitchFamily="34" charset="-122"/>
                <a:cs typeface="Calibri" pitchFamily="34" charset="-120"/>
              </a:rPr>
              <a:t>The gap between scientific and public understanding of climate change remains wide — </a:t>
            </a:r>
            <a:r>
              <a:rPr lang="en-US" sz="1300" i="1" dirty="0">
                <a:solidFill>
                  <a:srgbClr val="CCFBF1"/>
                </a:solidFill>
                <a:latin typeface="Calibri" pitchFamily="34" charset="0"/>
                <a:ea typeface="Calibri" pitchFamily="34" charset="-122"/>
                <a:cs typeface="Calibri" pitchFamily="34" charset="-120"/>
              </a:rPr>
              <a:t>despite decades of information campaigns.</a:t>
            </a:r>
            <a:r>
              <a:rPr lang="en-US" sz="2800" b="1" dirty="0">
                <a:solidFill>
                  <a:srgbClr val="0D9488"/>
                </a:solidFill>
                <a:latin typeface="Calibri" pitchFamily="34" charset="0"/>
                <a:ea typeface="Calibri" pitchFamily="34" charset="-122"/>
                <a:cs typeface="Calibri" pitchFamily="34" charset="-120"/>
              </a:rPr>
              <a:t>"</a:t>
            </a:r>
            <a:endParaRPr lang="en-US" sz="2800" dirty="0"/>
          </a:p>
        </p:txBody>
      </p:sp>
      <p:sp>
        <p:nvSpPr>
          <p:cNvPr id="8" name="Shape 6"/>
          <p:cNvSpPr/>
          <p:nvPr/>
        </p:nvSpPr>
        <p:spPr>
          <a:xfrm>
            <a:off x="320040" y="1719072"/>
            <a:ext cx="2743200" cy="24231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9" name="Shape 7"/>
          <p:cNvSpPr/>
          <p:nvPr/>
        </p:nvSpPr>
        <p:spPr>
          <a:xfrm>
            <a:off x="320040" y="1719072"/>
            <a:ext cx="2743200" cy="54864"/>
          </a:xfrm>
          <a:prstGeom prst="rect">
            <a:avLst/>
          </a:prstGeom>
          <a:solidFill>
            <a:srgbClr val="0D9488"/>
          </a:solidFill>
          <a:ln w="12700">
            <a:solidFill>
              <a:srgbClr val="0D9488"/>
            </a:solidFill>
            <a:prstDash val="solid"/>
          </a:ln>
        </p:spPr>
      </p:sp>
      <p:sp>
        <p:nvSpPr>
          <p:cNvPr id="10" name="Shape 8"/>
          <p:cNvSpPr/>
          <p:nvPr/>
        </p:nvSpPr>
        <p:spPr>
          <a:xfrm>
            <a:off x="429768" y="1828800"/>
            <a:ext cx="347472" cy="347472"/>
          </a:xfrm>
          <a:prstGeom prst="ellipse">
            <a:avLst/>
          </a:prstGeom>
          <a:solidFill>
            <a:srgbClr val="0F2D4E"/>
          </a:solidFill>
          <a:ln w="12700">
            <a:solidFill>
              <a:srgbClr val="0F2D4E"/>
            </a:solidFill>
            <a:prstDash val="solid"/>
          </a:ln>
        </p:spPr>
      </p:sp>
      <p:sp>
        <p:nvSpPr>
          <p:cNvPr id="11" name="Text 9"/>
          <p:cNvSpPr/>
          <p:nvPr/>
        </p:nvSpPr>
        <p:spPr>
          <a:xfrm>
            <a:off x="429768" y="1828800"/>
            <a:ext cx="347472" cy="347472"/>
          </a:xfrm>
          <a:prstGeom prst="rect">
            <a:avLst/>
          </a:prstGeom>
          <a:noFill/>
          <a:ln/>
        </p:spPr>
        <p:txBody>
          <a:bodyPr wrap="square" lIns="0" tIns="0" rIns="0" bIns="0" rtlCol="0" anchor="ctr"/>
          <a:lstStyle/>
          <a:p>
            <a:pPr marL="0" indent="0" algn="ctr">
              <a:buNone/>
            </a:pPr>
            <a:r>
              <a:rPr lang="en-US" sz="1200" b="1" dirty="0">
                <a:solidFill>
                  <a:srgbClr val="0D9488"/>
                </a:solidFill>
              </a:rPr>
              <a:t>1</a:t>
            </a:r>
            <a:endParaRPr lang="en-US" sz="1200" dirty="0"/>
          </a:p>
        </p:txBody>
      </p:sp>
      <p:sp>
        <p:nvSpPr>
          <p:cNvPr id="12" name="Text 10"/>
          <p:cNvSpPr/>
          <p:nvPr/>
        </p:nvSpPr>
        <p:spPr>
          <a:xfrm>
            <a:off x="850392" y="1828800"/>
            <a:ext cx="2103120" cy="347472"/>
          </a:xfrm>
          <a:prstGeom prst="rect">
            <a:avLst/>
          </a:prstGeom>
          <a:noFill/>
          <a:ln/>
        </p:spPr>
        <p:txBody>
          <a:bodyPr wrap="square" lIns="0" tIns="0" rIns="0" bIns="0" rtlCol="0" anchor="ctr"/>
          <a:lstStyle/>
          <a:p>
            <a:pPr marL="0" indent="0">
              <a:buNone/>
            </a:pPr>
            <a:r>
              <a:rPr lang="en-US" sz="1200" b="1" dirty="0">
                <a:solidFill>
                  <a:srgbClr val="0F2D4E"/>
                </a:solidFill>
                <a:latin typeface="Calibri" pitchFamily="34" charset="0"/>
                <a:ea typeface="Calibri" pitchFamily="34" charset="-122"/>
                <a:cs typeface="Calibri" pitchFamily="34" charset="-120"/>
              </a:rPr>
              <a:t>Cognitive Limits</a:t>
            </a:r>
            <a:endParaRPr lang="en-US" sz="1200" dirty="0"/>
          </a:p>
        </p:txBody>
      </p:sp>
      <p:sp>
        <p:nvSpPr>
          <p:cNvPr id="13" name="Shape 11"/>
          <p:cNvSpPr/>
          <p:nvPr/>
        </p:nvSpPr>
        <p:spPr>
          <a:xfrm>
            <a:off x="457200" y="2249424"/>
            <a:ext cx="2468880" cy="0"/>
          </a:xfrm>
          <a:prstGeom prst="line">
            <a:avLst/>
          </a:prstGeom>
          <a:noFill/>
          <a:ln w="6350">
            <a:solidFill>
              <a:srgbClr val="E2E8F0"/>
            </a:solidFill>
            <a:prstDash val="solid"/>
          </a:ln>
        </p:spPr>
      </p:sp>
      <p:sp>
        <p:nvSpPr>
          <p:cNvPr id="14" name="Text 12"/>
          <p:cNvSpPr/>
          <p:nvPr/>
        </p:nvSpPr>
        <p:spPr>
          <a:xfrm>
            <a:off x="457200" y="2331720"/>
            <a:ext cx="2468880" cy="1737360"/>
          </a:xfrm>
          <a:prstGeom prst="rect">
            <a:avLst/>
          </a:prstGeom>
          <a:noFill/>
          <a:ln/>
        </p:spPr>
        <p:txBody>
          <a:bodyPr wrap="square" rtlCol="0" anchor="t"/>
          <a:lstStyle/>
          <a:p>
            <a:pPr marL="0" indent="0">
              <a:buNone/>
            </a:pPr>
            <a:r>
              <a:rPr lang="en-US" sz="1100" dirty="0">
                <a:solidFill>
                  <a:srgbClr val="475569"/>
                </a:solidFill>
                <a:latin typeface="Calibri" pitchFamily="34" charset="0"/>
                <a:ea typeface="Calibri" pitchFamily="34" charset="-122"/>
                <a:cs typeface="Calibri" pitchFamily="34" charset="-120"/>
              </a:rPr>
              <a:t>Humans can only process 2-3 interacting variables at once — far less than climate dynamics require.</a:t>
            </a:r>
            <a:endParaRPr lang="en-US" sz="1100" dirty="0"/>
          </a:p>
        </p:txBody>
      </p:sp>
      <p:sp>
        <p:nvSpPr>
          <p:cNvPr id="15" name="Shape 13"/>
          <p:cNvSpPr/>
          <p:nvPr/>
        </p:nvSpPr>
        <p:spPr>
          <a:xfrm>
            <a:off x="3264408" y="1719072"/>
            <a:ext cx="2743200" cy="24231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6" name="Shape 14"/>
          <p:cNvSpPr/>
          <p:nvPr/>
        </p:nvSpPr>
        <p:spPr>
          <a:xfrm>
            <a:off x="3264408" y="1719072"/>
            <a:ext cx="2743200" cy="54864"/>
          </a:xfrm>
          <a:prstGeom prst="rect">
            <a:avLst/>
          </a:prstGeom>
          <a:solidFill>
            <a:srgbClr val="0D9488"/>
          </a:solidFill>
          <a:ln w="12700">
            <a:solidFill>
              <a:srgbClr val="0D9488"/>
            </a:solidFill>
            <a:prstDash val="solid"/>
          </a:ln>
        </p:spPr>
      </p:sp>
      <p:sp>
        <p:nvSpPr>
          <p:cNvPr id="17" name="Shape 15"/>
          <p:cNvSpPr/>
          <p:nvPr/>
        </p:nvSpPr>
        <p:spPr>
          <a:xfrm>
            <a:off x="3374136" y="1828800"/>
            <a:ext cx="347472" cy="347472"/>
          </a:xfrm>
          <a:prstGeom prst="ellipse">
            <a:avLst/>
          </a:prstGeom>
          <a:solidFill>
            <a:srgbClr val="0F2D4E"/>
          </a:solidFill>
          <a:ln w="12700">
            <a:solidFill>
              <a:srgbClr val="0F2D4E"/>
            </a:solidFill>
            <a:prstDash val="solid"/>
          </a:ln>
        </p:spPr>
      </p:sp>
      <p:sp>
        <p:nvSpPr>
          <p:cNvPr id="18" name="Text 16"/>
          <p:cNvSpPr/>
          <p:nvPr/>
        </p:nvSpPr>
        <p:spPr>
          <a:xfrm>
            <a:off x="3374136" y="1828800"/>
            <a:ext cx="347472" cy="347472"/>
          </a:xfrm>
          <a:prstGeom prst="rect">
            <a:avLst/>
          </a:prstGeom>
          <a:noFill/>
          <a:ln/>
        </p:spPr>
        <p:txBody>
          <a:bodyPr wrap="square" lIns="0" tIns="0" rIns="0" bIns="0" rtlCol="0" anchor="ctr"/>
          <a:lstStyle/>
          <a:p>
            <a:pPr marL="0" indent="0" algn="ctr">
              <a:buNone/>
            </a:pPr>
            <a:r>
              <a:rPr lang="en-US" sz="1200" b="1" dirty="0">
                <a:solidFill>
                  <a:srgbClr val="0D9488"/>
                </a:solidFill>
              </a:rPr>
              <a:t>2</a:t>
            </a:r>
            <a:endParaRPr lang="en-US" sz="1200" dirty="0"/>
          </a:p>
        </p:txBody>
      </p:sp>
      <p:sp>
        <p:nvSpPr>
          <p:cNvPr id="19" name="Text 17"/>
          <p:cNvSpPr/>
          <p:nvPr/>
        </p:nvSpPr>
        <p:spPr>
          <a:xfrm>
            <a:off x="3794760" y="1828800"/>
            <a:ext cx="2103120" cy="347472"/>
          </a:xfrm>
          <a:prstGeom prst="rect">
            <a:avLst/>
          </a:prstGeom>
          <a:noFill/>
          <a:ln/>
        </p:spPr>
        <p:txBody>
          <a:bodyPr wrap="square" lIns="0" tIns="0" rIns="0" bIns="0" rtlCol="0" anchor="ctr"/>
          <a:lstStyle/>
          <a:p>
            <a:pPr marL="0" indent="0">
              <a:buNone/>
            </a:pPr>
            <a:r>
              <a:rPr lang="en-US" sz="1200" b="1" dirty="0">
                <a:solidFill>
                  <a:srgbClr val="0F2D4E"/>
                </a:solidFill>
                <a:latin typeface="Calibri" pitchFamily="34" charset="0"/>
                <a:ea typeface="Calibri" pitchFamily="34" charset="-122"/>
                <a:cs typeface="Calibri" pitchFamily="34" charset="-120"/>
              </a:rPr>
              <a:t>Missing Affect</a:t>
            </a:r>
            <a:endParaRPr lang="en-US" sz="1200" dirty="0"/>
          </a:p>
        </p:txBody>
      </p:sp>
      <p:sp>
        <p:nvSpPr>
          <p:cNvPr id="20" name="Shape 18"/>
          <p:cNvSpPr/>
          <p:nvPr/>
        </p:nvSpPr>
        <p:spPr>
          <a:xfrm>
            <a:off x="3401568" y="2249424"/>
            <a:ext cx="2468880" cy="0"/>
          </a:xfrm>
          <a:prstGeom prst="line">
            <a:avLst/>
          </a:prstGeom>
          <a:noFill/>
          <a:ln w="6350">
            <a:solidFill>
              <a:srgbClr val="E2E8F0"/>
            </a:solidFill>
            <a:prstDash val="solid"/>
          </a:ln>
        </p:spPr>
      </p:sp>
      <p:sp>
        <p:nvSpPr>
          <p:cNvPr id="21" name="Text 19"/>
          <p:cNvSpPr/>
          <p:nvPr/>
        </p:nvSpPr>
        <p:spPr>
          <a:xfrm>
            <a:off x="3401568" y="2331720"/>
            <a:ext cx="2468880" cy="1737360"/>
          </a:xfrm>
          <a:prstGeom prst="rect">
            <a:avLst/>
          </a:prstGeom>
          <a:noFill/>
          <a:ln/>
        </p:spPr>
        <p:txBody>
          <a:bodyPr wrap="square" rtlCol="0" anchor="t"/>
          <a:lstStyle/>
          <a:p>
            <a:pPr marL="0" indent="0">
              <a:buNone/>
            </a:pPr>
            <a:r>
              <a:rPr lang="en-US" sz="1100" dirty="0">
                <a:solidFill>
                  <a:srgbClr val="475569"/>
                </a:solidFill>
                <a:latin typeface="Calibri" pitchFamily="34" charset="0"/>
                <a:ea typeface="Calibri" pitchFamily="34" charset="-122"/>
                <a:cs typeface="Calibri" pitchFamily="34" charset="-120"/>
              </a:rPr>
              <a:t>Passive presentations fail to trigger the emotional urgency needed for behaviour change.</a:t>
            </a:r>
            <a:endParaRPr lang="en-US" sz="1100" dirty="0"/>
          </a:p>
        </p:txBody>
      </p:sp>
      <p:sp>
        <p:nvSpPr>
          <p:cNvPr id="22" name="Shape 20"/>
          <p:cNvSpPr/>
          <p:nvPr/>
        </p:nvSpPr>
        <p:spPr>
          <a:xfrm>
            <a:off x="6208776" y="1719072"/>
            <a:ext cx="2743200" cy="242316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23" name="Shape 21"/>
          <p:cNvSpPr/>
          <p:nvPr/>
        </p:nvSpPr>
        <p:spPr>
          <a:xfrm>
            <a:off x="6208776" y="1719072"/>
            <a:ext cx="2743200" cy="54864"/>
          </a:xfrm>
          <a:prstGeom prst="rect">
            <a:avLst/>
          </a:prstGeom>
          <a:solidFill>
            <a:srgbClr val="0D9488"/>
          </a:solidFill>
          <a:ln w="12700">
            <a:solidFill>
              <a:srgbClr val="0D9488"/>
            </a:solidFill>
            <a:prstDash val="solid"/>
          </a:ln>
        </p:spPr>
      </p:sp>
      <p:sp>
        <p:nvSpPr>
          <p:cNvPr id="24" name="Shape 22"/>
          <p:cNvSpPr/>
          <p:nvPr/>
        </p:nvSpPr>
        <p:spPr>
          <a:xfrm>
            <a:off x="6318504" y="1828800"/>
            <a:ext cx="347472" cy="347472"/>
          </a:xfrm>
          <a:prstGeom prst="ellipse">
            <a:avLst/>
          </a:prstGeom>
          <a:solidFill>
            <a:srgbClr val="0F2D4E"/>
          </a:solidFill>
          <a:ln w="12700">
            <a:solidFill>
              <a:srgbClr val="0F2D4E"/>
            </a:solidFill>
            <a:prstDash val="solid"/>
          </a:ln>
        </p:spPr>
      </p:sp>
      <p:sp>
        <p:nvSpPr>
          <p:cNvPr id="25" name="Text 23"/>
          <p:cNvSpPr/>
          <p:nvPr/>
        </p:nvSpPr>
        <p:spPr>
          <a:xfrm>
            <a:off x="6318504" y="1828800"/>
            <a:ext cx="347472" cy="347472"/>
          </a:xfrm>
          <a:prstGeom prst="rect">
            <a:avLst/>
          </a:prstGeom>
          <a:noFill/>
          <a:ln/>
        </p:spPr>
        <p:txBody>
          <a:bodyPr wrap="square" lIns="0" tIns="0" rIns="0" bIns="0" rtlCol="0" anchor="ctr"/>
          <a:lstStyle/>
          <a:p>
            <a:pPr marL="0" indent="0" algn="ctr">
              <a:buNone/>
            </a:pPr>
            <a:r>
              <a:rPr lang="en-US" sz="1200" b="1" dirty="0">
                <a:solidFill>
                  <a:srgbClr val="0D9488"/>
                </a:solidFill>
              </a:rPr>
              <a:t>3</a:t>
            </a:r>
            <a:endParaRPr lang="en-US" sz="1200" dirty="0"/>
          </a:p>
        </p:txBody>
      </p:sp>
      <p:sp>
        <p:nvSpPr>
          <p:cNvPr id="26" name="Text 24"/>
          <p:cNvSpPr/>
          <p:nvPr/>
        </p:nvSpPr>
        <p:spPr>
          <a:xfrm>
            <a:off x="6739128" y="1828800"/>
            <a:ext cx="2103120" cy="347472"/>
          </a:xfrm>
          <a:prstGeom prst="rect">
            <a:avLst/>
          </a:prstGeom>
          <a:noFill/>
          <a:ln/>
        </p:spPr>
        <p:txBody>
          <a:bodyPr wrap="square" lIns="0" tIns="0" rIns="0" bIns="0" rtlCol="0" anchor="ctr"/>
          <a:lstStyle/>
          <a:p>
            <a:pPr marL="0" indent="0">
              <a:buNone/>
            </a:pPr>
            <a:r>
              <a:rPr lang="en-US" sz="1200" b="1" dirty="0">
                <a:solidFill>
                  <a:srgbClr val="0F2D4E"/>
                </a:solidFill>
                <a:latin typeface="Calibri" pitchFamily="34" charset="0"/>
                <a:ea typeface="Calibri" pitchFamily="34" charset="-122"/>
                <a:cs typeface="Calibri" pitchFamily="34" charset="-120"/>
              </a:rPr>
              <a:t>Social Forces</a:t>
            </a:r>
            <a:endParaRPr lang="en-US" sz="1200" dirty="0"/>
          </a:p>
        </p:txBody>
      </p:sp>
      <p:sp>
        <p:nvSpPr>
          <p:cNvPr id="27" name="Shape 25"/>
          <p:cNvSpPr/>
          <p:nvPr/>
        </p:nvSpPr>
        <p:spPr>
          <a:xfrm>
            <a:off x="6345936" y="2249424"/>
            <a:ext cx="2468880" cy="0"/>
          </a:xfrm>
          <a:prstGeom prst="line">
            <a:avLst/>
          </a:prstGeom>
          <a:noFill/>
          <a:ln w="6350">
            <a:solidFill>
              <a:srgbClr val="E2E8F0"/>
            </a:solidFill>
            <a:prstDash val="solid"/>
          </a:ln>
        </p:spPr>
      </p:sp>
      <p:sp>
        <p:nvSpPr>
          <p:cNvPr id="28" name="Text 26"/>
          <p:cNvSpPr/>
          <p:nvPr/>
        </p:nvSpPr>
        <p:spPr>
          <a:xfrm>
            <a:off x="6345936" y="2331720"/>
            <a:ext cx="2468880" cy="1737360"/>
          </a:xfrm>
          <a:prstGeom prst="rect">
            <a:avLst/>
          </a:prstGeom>
          <a:noFill/>
          <a:ln/>
        </p:spPr>
        <p:txBody>
          <a:bodyPr wrap="square" rtlCol="0" anchor="t"/>
          <a:lstStyle/>
          <a:p>
            <a:pPr marL="0" indent="0">
              <a:buNone/>
            </a:pPr>
            <a:r>
              <a:rPr lang="en-US" sz="1100" dirty="0">
                <a:solidFill>
                  <a:srgbClr val="475569"/>
                </a:solidFill>
                <a:latin typeface="Calibri" pitchFamily="34" charset="0"/>
                <a:ea typeface="Calibri" pitchFamily="34" charset="-122"/>
                <a:cs typeface="Calibri" pitchFamily="34" charset="-120"/>
              </a:rPr>
              <a:t>Identity-based belief systems and social networks shape acceptance more than facts alone.</a:t>
            </a:r>
            <a:endParaRPr lang="en-US" sz="1100" dirty="0"/>
          </a:p>
        </p:txBody>
      </p:sp>
      <p:sp>
        <p:nvSpPr>
          <p:cNvPr id="29" name="Shape 27"/>
          <p:cNvSpPr/>
          <p:nvPr/>
        </p:nvSpPr>
        <p:spPr>
          <a:xfrm>
            <a:off x="320040" y="4315968"/>
            <a:ext cx="8503920" cy="548640"/>
          </a:xfrm>
          <a:prstGeom prst="rect">
            <a:avLst/>
          </a:prstGeom>
          <a:solidFill>
            <a:srgbClr val="CCFBF1"/>
          </a:solidFill>
          <a:ln w="10160">
            <a:solidFill>
              <a:srgbClr val="0D9488"/>
            </a:solidFill>
            <a:prstDash val="solid"/>
          </a:ln>
        </p:spPr>
      </p:sp>
      <p:sp>
        <p:nvSpPr>
          <p:cNvPr id="30" name="Text 28"/>
          <p:cNvSpPr/>
          <p:nvPr/>
        </p:nvSpPr>
        <p:spPr>
          <a:xfrm>
            <a:off x="457200" y="4315968"/>
            <a:ext cx="8321040" cy="548640"/>
          </a:xfrm>
          <a:prstGeom prst="rect">
            <a:avLst/>
          </a:prstGeom>
          <a:noFill/>
          <a:ln/>
        </p:spPr>
        <p:txBody>
          <a:bodyPr wrap="square" rtlCol="0" anchor="ctr"/>
          <a:lstStyle/>
          <a:p>
            <a:pPr marL="0" indent="0">
              <a:buNone/>
            </a:pPr>
            <a:r>
              <a:rPr lang="en-US" sz="1200" b="1" dirty="0">
                <a:solidFill>
                  <a:srgbClr val="0F2D4E"/>
                </a:solidFill>
                <a:latin typeface="Calibri" pitchFamily="34" charset="0"/>
                <a:ea typeface="Calibri" pitchFamily="34" charset="-122"/>
                <a:cs typeface="Calibri" pitchFamily="34" charset="-120"/>
              </a:rPr>
              <a:t>→  Solution: Let people learn for themselves through simulation and experiential engagement.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2D4E"/>
          </a:solidFill>
          <a:ln w="12700">
            <a:solidFill>
              <a:srgbClr val="0F2D4E"/>
            </a:solidFill>
            <a:prstDash val="solid"/>
          </a:ln>
        </p:spPr>
      </p:sp>
      <p:sp>
        <p:nvSpPr>
          <p:cNvPr id="3" name="Text 1"/>
          <p:cNvSpPr/>
          <p:nvPr/>
        </p:nvSpPr>
        <p:spPr>
          <a:xfrm>
            <a:off x="411480" y="164592"/>
            <a:ext cx="8321040" cy="475488"/>
          </a:xfrm>
          <a:prstGeom prst="rect">
            <a:avLst/>
          </a:prstGeom>
          <a:noFill/>
          <a:ln/>
        </p:spPr>
        <p:txBody>
          <a:bodyPr wrap="square" lIns="0" tIns="0" rIns="0" bIns="0" rtlCol="0" anchor="ctr"/>
          <a:lstStyle/>
          <a:p>
            <a:pPr marL="0" indent="0">
              <a:buNone/>
            </a:pPr>
            <a:r>
              <a:rPr lang="en-US" sz="2200" b="1" kern="0" spc="100" dirty="0">
                <a:solidFill>
                  <a:sysClr val="windowText" lastClr="000000"/>
                </a:solidFill>
                <a:latin typeface="Calibri" pitchFamily="34" charset="0"/>
                <a:ea typeface="Calibri" pitchFamily="34" charset="-122"/>
                <a:cs typeface="Calibri" pitchFamily="34" charset="-120"/>
              </a:rPr>
              <a:t>THE WORLD CLIMATE SIMULATION</a:t>
            </a:r>
            <a:endParaRPr lang="en-US" sz="2200" dirty="0">
              <a:solidFill>
                <a:sysClr val="windowText" lastClr="000000"/>
              </a:solidFill>
            </a:endParaRPr>
          </a:p>
        </p:txBody>
      </p:sp>
      <p:sp>
        <p:nvSpPr>
          <p:cNvPr id="4" name="Text 2"/>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04</a:t>
            </a:r>
            <a:endParaRPr lang="en-US" sz="1000" dirty="0"/>
          </a:p>
        </p:txBody>
      </p:sp>
      <p:sp>
        <p:nvSpPr>
          <p:cNvPr id="5" name="Shape 3"/>
          <p:cNvSpPr/>
          <p:nvPr/>
        </p:nvSpPr>
        <p:spPr>
          <a:xfrm>
            <a:off x="320040" y="749808"/>
            <a:ext cx="4114800" cy="41148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749808"/>
            <a:ext cx="4114800" cy="54864"/>
          </a:xfrm>
          <a:prstGeom prst="rect">
            <a:avLst/>
          </a:prstGeom>
          <a:solidFill>
            <a:srgbClr val="0D9488"/>
          </a:solidFill>
          <a:ln w="12700">
            <a:solidFill>
              <a:srgbClr val="0D9488"/>
            </a:solidFill>
            <a:prstDash val="solid"/>
          </a:ln>
        </p:spPr>
      </p:sp>
      <p:sp>
        <p:nvSpPr>
          <p:cNvPr id="7" name="Text 5"/>
          <p:cNvSpPr/>
          <p:nvPr/>
        </p:nvSpPr>
        <p:spPr>
          <a:xfrm>
            <a:off x="457200" y="868680"/>
            <a:ext cx="3840480" cy="347472"/>
          </a:xfrm>
          <a:prstGeom prst="rect">
            <a:avLst/>
          </a:prstGeom>
          <a:noFill/>
          <a:ln/>
        </p:spPr>
        <p:txBody>
          <a:bodyPr wrap="square" rtlCol="0" anchor="ctr"/>
          <a:lstStyle/>
          <a:p>
            <a:pPr marL="0" indent="0">
              <a:buNone/>
            </a:pPr>
            <a:r>
              <a:rPr lang="en-US" sz="1300" b="1" dirty="0">
                <a:solidFill>
                  <a:srgbClr val="0F2D4E"/>
                </a:solidFill>
                <a:latin typeface="Calibri" pitchFamily="34" charset="0"/>
                <a:ea typeface="Calibri" pitchFamily="34" charset="-122"/>
                <a:cs typeface="Calibri" pitchFamily="34" charset="-120"/>
              </a:rPr>
              <a:t>How It Works</a:t>
            </a:r>
            <a:endParaRPr lang="en-US" sz="1300" dirty="0"/>
          </a:p>
        </p:txBody>
      </p:sp>
      <p:sp>
        <p:nvSpPr>
          <p:cNvPr id="8" name="Shape 6"/>
          <p:cNvSpPr/>
          <p:nvPr/>
        </p:nvSpPr>
        <p:spPr>
          <a:xfrm>
            <a:off x="457200" y="1298448"/>
            <a:ext cx="594360" cy="292608"/>
          </a:xfrm>
          <a:prstGeom prst="rect">
            <a:avLst/>
          </a:prstGeom>
          <a:solidFill>
            <a:srgbClr val="0D9488"/>
          </a:solidFill>
          <a:ln w="12700">
            <a:solidFill>
              <a:srgbClr val="0D9488"/>
            </a:solidFill>
            <a:prstDash val="solid"/>
          </a:ln>
        </p:spPr>
      </p:sp>
      <p:sp>
        <p:nvSpPr>
          <p:cNvPr id="9" name="Text 7"/>
          <p:cNvSpPr/>
          <p:nvPr/>
        </p:nvSpPr>
        <p:spPr>
          <a:xfrm>
            <a:off x="457200" y="1298448"/>
            <a:ext cx="594360" cy="292608"/>
          </a:xfrm>
          <a:prstGeom prst="rect">
            <a:avLst/>
          </a:prstGeom>
          <a:noFill/>
          <a:ln/>
        </p:spPr>
        <p:txBody>
          <a:bodyPr wrap="square" lIns="0" tIns="0" rIns="0" bIns="0" rtlCol="0" anchor="ctr"/>
          <a:lstStyle/>
          <a:p>
            <a:pPr marL="0" indent="0" algn="ctr">
              <a:buNone/>
            </a:pPr>
            <a:r>
              <a:rPr lang="en-US" sz="850" b="1" dirty="0">
                <a:solidFill>
                  <a:srgbClr val="FFFFFF"/>
                </a:solidFill>
              </a:rPr>
              <a:t>ASSIGN</a:t>
            </a:r>
            <a:endParaRPr lang="en-US" sz="850" dirty="0"/>
          </a:p>
        </p:txBody>
      </p:sp>
      <p:sp>
        <p:nvSpPr>
          <p:cNvPr id="10" name="Text 8"/>
          <p:cNvSpPr/>
          <p:nvPr/>
        </p:nvSpPr>
        <p:spPr>
          <a:xfrm>
            <a:off x="1143000" y="1280160"/>
            <a:ext cx="3108960" cy="384048"/>
          </a:xfrm>
          <a:prstGeom prst="rect">
            <a:avLst/>
          </a:prstGeom>
          <a:noFill/>
          <a:ln/>
        </p:spPr>
        <p:txBody>
          <a:bodyPr wrap="square" rtlCol="0" anchor="t"/>
          <a:lstStyle/>
          <a:p>
            <a:pPr marL="0" indent="0">
              <a:buNone/>
            </a:pPr>
            <a:r>
              <a:rPr lang="en-US" sz="1050" dirty="0">
                <a:solidFill>
                  <a:srgbClr val="475569"/>
                </a:solidFill>
                <a:latin typeface="Calibri" pitchFamily="34" charset="0"/>
                <a:ea typeface="Calibri" pitchFamily="34" charset="-122"/>
                <a:cs typeface="Calibri" pitchFamily="34" charset="-120"/>
              </a:rPr>
              <a:t>Participants receive country/bloc roles: USA, EU, China, India, Other Developed, Other Developing.</a:t>
            </a:r>
            <a:endParaRPr lang="en-US" sz="1050" dirty="0"/>
          </a:p>
        </p:txBody>
      </p:sp>
      <p:sp>
        <p:nvSpPr>
          <p:cNvPr id="11" name="Shape 9"/>
          <p:cNvSpPr/>
          <p:nvPr/>
        </p:nvSpPr>
        <p:spPr>
          <a:xfrm>
            <a:off x="457200" y="1645920"/>
            <a:ext cx="3840480" cy="0"/>
          </a:xfrm>
          <a:prstGeom prst="line">
            <a:avLst/>
          </a:prstGeom>
          <a:noFill/>
          <a:ln w="6350">
            <a:solidFill>
              <a:srgbClr val="E2E8F0"/>
            </a:solidFill>
            <a:prstDash val="solid"/>
          </a:ln>
        </p:spPr>
      </p:sp>
      <p:sp>
        <p:nvSpPr>
          <p:cNvPr id="12" name="Shape 10"/>
          <p:cNvSpPr/>
          <p:nvPr/>
        </p:nvSpPr>
        <p:spPr>
          <a:xfrm>
            <a:off x="457200" y="2194560"/>
            <a:ext cx="594360" cy="292608"/>
          </a:xfrm>
          <a:prstGeom prst="rect">
            <a:avLst/>
          </a:prstGeom>
          <a:solidFill>
            <a:srgbClr val="0D9488"/>
          </a:solidFill>
          <a:ln w="12700">
            <a:solidFill>
              <a:srgbClr val="0D9488"/>
            </a:solidFill>
            <a:prstDash val="solid"/>
          </a:ln>
        </p:spPr>
      </p:sp>
      <p:sp>
        <p:nvSpPr>
          <p:cNvPr id="13" name="Text 11"/>
          <p:cNvSpPr/>
          <p:nvPr/>
        </p:nvSpPr>
        <p:spPr>
          <a:xfrm>
            <a:off x="457200" y="2194560"/>
            <a:ext cx="594360" cy="292608"/>
          </a:xfrm>
          <a:prstGeom prst="rect">
            <a:avLst/>
          </a:prstGeom>
          <a:noFill/>
          <a:ln/>
        </p:spPr>
        <p:txBody>
          <a:bodyPr wrap="square" lIns="0" tIns="0" rIns="0" bIns="0" rtlCol="0" anchor="ctr"/>
          <a:lstStyle/>
          <a:p>
            <a:pPr marL="0" indent="0" algn="ctr">
              <a:buNone/>
            </a:pPr>
            <a:r>
              <a:rPr lang="en-US" sz="850" b="1" dirty="0">
                <a:solidFill>
                  <a:srgbClr val="FFFFFF"/>
                </a:solidFill>
              </a:rPr>
              <a:t>NEGOTIATE</a:t>
            </a:r>
            <a:endParaRPr lang="en-US" sz="850" dirty="0"/>
          </a:p>
        </p:txBody>
      </p:sp>
      <p:sp>
        <p:nvSpPr>
          <p:cNvPr id="14" name="Text 12"/>
          <p:cNvSpPr/>
          <p:nvPr/>
        </p:nvSpPr>
        <p:spPr>
          <a:xfrm>
            <a:off x="1143000" y="2176272"/>
            <a:ext cx="3108960" cy="384048"/>
          </a:xfrm>
          <a:prstGeom prst="rect">
            <a:avLst/>
          </a:prstGeom>
          <a:noFill/>
          <a:ln/>
        </p:spPr>
        <p:txBody>
          <a:bodyPr wrap="square" rtlCol="0" anchor="t"/>
          <a:lstStyle/>
          <a:p>
            <a:pPr marL="0" indent="0">
              <a:buNone/>
            </a:pPr>
            <a:r>
              <a:rPr lang="en-US" sz="1050" dirty="0">
                <a:solidFill>
                  <a:srgbClr val="475569"/>
                </a:solidFill>
                <a:latin typeface="Calibri" pitchFamily="34" charset="0"/>
                <a:ea typeface="Calibri" pitchFamily="34" charset="-122"/>
                <a:cs typeface="Calibri" pitchFamily="34" charset="-120"/>
              </a:rPr>
              <a:t>Face-to-face talks: each delegation sets Nationally Determined Contributions (NDCs).</a:t>
            </a:r>
            <a:endParaRPr lang="en-US" sz="1050" dirty="0"/>
          </a:p>
        </p:txBody>
      </p:sp>
      <p:sp>
        <p:nvSpPr>
          <p:cNvPr id="15" name="Shape 13"/>
          <p:cNvSpPr/>
          <p:nvPr/>
        </p:nvSpPr>
        <p:spPr>
          <a:xfrm>
            <a:off x="457200" y="2542032"/>
            <a:ext cx="3840480" cy="0"/>
          </a:xfrm>
          <a:prstGeom prst="line">
            <a:avLst/>
          </a:prstGeom>
          <a:noFill/>
          <a:ln w="6350">
            <a:solidFill>
              <a:srgbClr val="E2E8F0"/>
            </a:solidFill>
            <a:prstDash val="solid"/>
          </a:ln>
        </p:spPr>
      </p:sp>
      <p:sp>
        <p:nvSpPr>
          <p:cNvPr id="16" name="Shape 14"/>
          <p:cNvSpPr/>
          <p:nvPr/>
        </p:nvSpPr>
        <p:spPr>
          <a:xfrm>
            <a:off x="457200" y="3090672"/>
            <a:ext cx="594360" cy="292608"/>
          </a:xfrm>
          <a:prstGeom prst="rect">
            <a:avLst/>
          </a:prstGeom>
          <a:solidFill>
            <a:srgbClr val="0D9488"/>
          </a:solidFill>
          <a:ln w="12700">
            <a:solidFill>
              <a:srgbClr val="0D9488"/>
            </a:solidFill>
            <a:prstDash val="solid"/>
          </a:ln>
        </p:spPr>
      </p:sp>
      <p:sp>
        <p:nvSpPr>
          <p:cNvPr id="17" name="Text 15"/>
          <p:cNvSpPr/>
          <p:nvPr/>
        </p:nvSpPr>
        <p:spPr>
          <a:xfrm>
            <a:off x="457200" y="3090672"/>
            <a:ext cx="594360" cy="292608"/>
          </a:xfrm>
          <a:prstGeom prst="rect">
            <a:avLst/>
          </a:prstGeom>
          <a:noFill/>
          <a:ln/>
        </p:spPr>
        <p:txBody>
          <a:bodyPr wrap="square" lIns="0" tIns="0" rIns="0" bIns="0" rtlCol="0" anchor="ctr"/>
          <a:lstStyle/>
          <a:p>
            <a:pPr marL="0" indent="0" algn="ctr">
              <a:buNone/>
            </a:pPr>
            <a:r>
              <a:rPr lang="en-US" sz="850" b="1" dirty="0">
                <a:solidFill>
                  <a:srgbClr val="FFFFFF"/>
                </a:solidFill>
              </a:rPr>
              <a:t>SIMULATE</a:t>
            </a:r>
            <a:endParaRPr lang="en-US" sz="850" dirty="0"/>
          </a:p>
        </p:txBody>
      </p:sp>
      <p:sp>
        <p:nvSpPr>
          <p:cNvPr id="18" name="Text 16"/>
          <p:cNvSpPr/>
          <p:nvPr/>
        </p:nvSpPr>
        <p:spPr>
          <a:xfrm>
            <a:off x="1143000" y="3072384"/>
            <a:ext cx="3108960" cy="384048"/>
          </a:xfrm>
          <a:prstGeom prst="rect">
            <a:avLst/>
          </a:prstGeom>
          <a:noFill/>
          <a:ln/>
        </p:spPr>
        <p:txBody>
          <a:bodyPr wrap="square" rtlCol="0" anchor="t"/>
          <a:lstStyle/>
          <a:p>
            <a:pPr marL="0" indent="0">
              <a:buNone/>
            </a:pPr>
            <a:r>
              <a:rPr lang="en-US" sz="1050" dirty="0">
                <a:solidFill>
                  <a:srgbClr val="475569"/>
                </a:solidFill>
                <a:latin typeface="Calibri" pitchFamily="34" charset="0"/>
                <a:ea typeface="Calibri" pitchFamily="34" charset="-122"/>
                <a:cs typeface="Calibri" pitchFamily="34" charset="-120"/>
              </a:rPr>
              <a:t>Decisions entered into C-ROADS — a system-dynamics climate model — for instant feedback.</a:t>
            </a:r>
            <a:endParaRPr lang="en-US" sz="1050" dirty="0"/>
          </a:p>
        </p:txBody>
      </p:sp>
      <p:sp>
        <p:nvSpPr>
          <p:cNvPr id="19" name="Shape 17"/>
          <p:cNvSpPr/>
          <p:nvPr/>
        </p:nvSpPr>
        <p:spPr>
          <a:xfrm>
            <a:off x="457200" y="3438144"/>
            <a:ext cx="3840480" cy="0"/>
          </a:xfrm>
          <a:prstGeom prst="line">
            <a:avLst/>
          </a:prstGeom>
          <a:noFill/>
          <a:ln w="6350">
            <a:solidFill>
              <a:srgbClr val="E2E8F0"/>
            </a:solidFill>
            <a:prstDash val="solid"/>
          </a:ln>
        </p:spPr>
      </p:sp>
      <p:sp>
        <p:nvSpPr>
          <p:cNvPr id="20" name="Shape 18"/>
          <p:cNvSpPr/>
          <p:nvPr/>
        </p:nvSpPr>
        <p:spPr>
          <a:xfrm>
            <a:off x="457200" y="3986784"/>
            <a:ext cx="594360" cy="292608"/>
          </a:xfrm>
          <a:prstGeom prst="rect">
            <a:avLst/>
          </a:prstGeom>
          <a:solidFill>
            <a:srgbClr val="0D9488"/>
          </a:solidFill>
          <a:ln w="12700">
            <a:solidFill>
              <a:srgbClr val="0D9488"/>
            </a:solidFill>
            <a:prstDash val="solid"/>
          </a:ln>
        </p:spPr>
      </p:sp>
      <p:sp>
        <p:nvSpPr>
          <p:cNvPr id="21" name="Text 19"/>
          <p:cNvSpPr/>
          <p:nvPr/>
        </p:nvSpPr>
        <p:spPr>
          <a:xfrm>
            <a:off x="457200" y="3986784"/>
            <a:ext cx="594360" cy="292608"/>
          </a:xfrm>
          <a:prstGeom prst="rect">
            <a:avLst/>
          </a:prstGeom>
          <a:noFill/>
          <a:ln/>
        </p:spPr>
        <p:txBody>
          <a:bodyPr wrap="square" lIns="0" tIns="0" rIns="0" bIns="0" rtlCol="0" anchor="ctr"/>
          <a:lstStyle/>
          <a:p>
            <a:pPr marL="0" indent="0" algn="ctr">
              <a:buNone/>
            </a:pPr>
            <a:r>
              <a:rPr lang="en-US" sz="850" b="1" dirty="0">
                <a:solidFill>
                  <a:srgbClr val="FFFFFF"/>
                </a:solidFill>
              </a:rPr>
              <a:t>DEBRIEF</a:t>
            </a:r>
            <a:endParaRPr lang="en-US" sz="850" dirty="0"/>
          </a:p>
        </p:txBody>
      </p:sp>
      <p:sp>
        <p:nvSpPr>
          <p:cNvPr id="22" name="Text 20"/>
          <p:cNvSpPr/>
          <p:nvPr/>
        </p:nvSpPr>
        <p:spPr>
          <a:xfrm>
            <a:off x="1143000" y="3968496"/>
            <a:ext cx="3108960" cy="384048"/>
          </a:xfrm>
          <a:prstGeom prst="rect">
            <a:avLst/>
          </a:prstGeom>
          <a:noFill/>
          <a:ln/>
        </p:spPr>
        <p:txBody>
          <a:bodyPr wrap="square" rtlCol="0" anchor="t"/>
          <a:lstStyle/>
          <a:p>
            <a:pPr marL="0" indent="0">
              <a:buNone/>
            </a:pPr>
            <a:r>
              <a:rPr lang="en-US" sz="1050" dirty="0">
                <a:solidFill>
                  <a:srgbClr val="475569"/>
                </a:solidFill>
                <a:latin typeface="Calibri" pitchFamily="34" charset="0"/>
                <a:ea typeface="Calibri" pitchFamily="34" charset="-122"/>
                <a:cs typeface="Calibri" pitchFamily="34" charset="-120"/>
              </a:rPr>
              <a:t>Facilitator-led reflection on results, gaps to 2°C target, and emotional responses.</a:t>
            </a:r>
            <a:endParaRPr lang="en-US" sz="1050" dirty="0"/>
          </a:p>
        </p:txBody>
      </p:sp>
      <p:sp>
        <p:nvSpPr>
          <p:cNvPr id="23" name="Shape 21"/>
          <p:cNvSpPr/>
          <p:nvPr/>
        </p:nvSpPr>
        <p:spPr>
          <a:xfrm>
            <a:off x="4663440" y="749808"/>
            <a:ext cx="4160520" cy="4114800"/>
          </a:xfrm>
          <a:prstGeom prst="rect">
            <a:avLst/>
          </a:prstGeom>
          <a:solidFill>
            <a:srgbClr val="0F2D4E"/>
          </a:solidFill>
          <a:ln w="12700">
            <a:solidFill>
              <a:srgbClr val="0F2D4E"/>
            </a:solidFill>
            <a:prstDash val="solid"/>
          </a:ln>
          <a:effectLst>
            <a:outerShdw blurRad="101600" dist="38100" dir="8100000" algn="bl" rotWithShape="0">
              <a:srgbClr val="000000">
                <a:alpha val="12000"/>
              </a:srgbClr>
            </a:outerShdw>
          </a:effectLst>
        </p:spPr>
      </p:sp>
      <p:sp>
        <p:nvSpPr>
          <p:cNvPr id="24" name="Text 22"/>
          <p:cNvSpPr/>
          <p:nvPr/>
        </p:nvSpPr>
        <p:spPr>
          <a:xfrm>
            <a:off x="4800600" y="877824"/>
            <a:ext cx="3886200" cy="365760"/>
          </a:xfrm>
          <a:prstGeom prst="rect">
            <a:avLst/>
          </a:prstGeom>
          <a:noFill/>
          <a:ln/>
        </p:spPr>
        <p:txBody>
          <a:bodyPr wrap="square"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C-ROADS: The Science Engine</a:t>
            </a:r>
            <a:endParaRPr lang="en-US" sz="1300" dirty="0"/>
          </a:p>
        </p:txBody>
      </p:sp>
      <p:sp>
        <p:nvSpPr>
          <p:cNvPr id="25" name="Shape 23"/>
          <p:cNvSpPr/>
          <p:nvPr/>
        </p:nvSpPr>
        <p:spPr>
          <a:xfrm>
            <a:off x="4800600" y="1316736"/>
            <a:ext cx="45720" cy="502920"/>
          </a:xfrm>
          <a:prstGeom prst="rect">
            <a:avLst/>
          </a:prstGeom>
          <a:solidFill>
            <a:srgbClr val="0D9488"/>
          </a:solidFill>
          <a:ln w="12700">
            <a:solidFill>
              <a:srgbClr val="0D9488"/>
            </a:solidFill>
            <a:prstDash val="solid"/>
          </a:ln>
        </p:spPr>
      </p:sp>
      <p:sp>
        <p:nvSpPr>
          <p:cNvPr id="26" name="Text 24"/>
          <p:cNvSpPr/>
          <p:nvPr/>
        </p:nvSpPr>
        <p:spPr>
          <a:xfrm>
            <a:off x="4919472" y="1298448"/>
            <a:ext cx="3749040"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System Dynamics Model</a:t>
            </a:r>
            <a:endParaRPr lang="en-US" sz="1050" dirty="0"/>
          </a:p>
        </p:txBody>
      </p:sp>
      <p:sp>
        <p:nvSpPr>
          <p:cNvPr id="27" name="Text 25"/>
          <p:cNvSpPr/>
          <p:nvPr/>
        </p:nvSpPr>
        <p:spPr>
          <a:xfrm>
            <a:off x="4919472" y="1536192"/>
            <a:ext cx="3749040" cy="365760"/>
          </a:xfrm>
          <a:prstGeom prst="rect">
            <a:avLst/>
          </a:prstGeom>
          <a:noFill/>
          <a:ln/>
        </p:spPr>
        <p:txBody>
          <a:bodyPr wrap="square" lIns="0" tIns="0" rIns="0" bIns="0" rtlCol="0" anchor="t"/>
          <a:lstStyle/>
          <a:p>
            <a:pPr marL="0" indent="0">
              <a:buNone/>
            </a:pPr>
            <a:r>
              <a:rPr lang="en-US" sz="950" dirty="0">
                <a:solidFill>
                  <a:srgbClr val="CCFBF1"/>
                </a:solidFill>
                <a:latin typeface="Calibri" pitchFamily="34" charset="0"/>
                <a:ea typeface="Calibri" pitchFamily="34" charset="-122"/>
                <a:cs typeface="Calibri" pitchFamily="34" charset="-120"/>
              </a:rPr>
              <a:t>Differential equations model carbon cycle, GHG stocks, radiative forcing, ocean heat exchange, and sea-level rise.</a:t>
            </a:r>
            <a:endParaRPr lang="en-US" sz="950" dirty="0"/>
          </a:p>
        </p:txBody>
      </p:sp>
      <p:sp>
        <p:nvSpPr>
          <p:cNvPr id="28" name="Shape 26"/>
          <p:cNvSpPr/>
          <p:nvPr/>
        </p:nvSpPr>
        <p:spPr>
          <a:xfrm>
            <a:off x="4800600" y="1984248"/>
            <a:ext cx="45720" cy="502920"/>
          </a:xfrm>
          <a:prstGeom prst="rect">
            <a:avLst/>
          </a:prstGeom>
          <a:solidFill>
            <a:srgbClr val="0D9488"/>
          </a:solidFill>
          <a:ln w="12700">
            <a:solidFill>
              <a:srgbClr val="0D9488"/>
            </a:solidFill>
            <a:prstDash val="solid"/>
          </a:ln>
        </p:spPr>
      </p:sp>
      <p:sp>
        <p:nvSpPr>
          <p:cNvPr id="29" name="Text 27"/>
          <p:cNvSpPr/>
          <p:nvPr/>
        </p:nvSpPr>
        <p:spPr>
          <a:xfrm>
            <a:off x="4919472" y="1965960"/>
            <a:ext cx="3749040"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Immediate Feedback</a:t>
            </a:r>
            <a:endParaRPr lang="en-US" sz="1050" dirty="0"/>
          </a:p>
        </p:txBody>
      </p:sp>
      <p:sp>
        <p:nvSpPr>
          <p:cNvPr id="30" name="Text 28"/>
          <p:cNvSpPr/>
          <p:nvPr/>
        </p:nvSpPr>
        <p:spPr>
          <a:xfrm>
            <a:off x="4919472" y="2203704"/>
            <a:ext cx="3749040" cy="365760"/>
          </a:xfrm>
          <a:prstGeom prst="rect">
            <a:avLst/>
          </a:prstGeom>
          <a:noFill/>
          <a:ln/>
        </p:spPr>
        <p:txBody>
          <a:bodyPr wrap="square" lIns="0" tIns="0" rIns="0" bIns="0" rtlCol="0" anchor="t"/>
          <a:lstStyle/>
          <a:p>
            <a:pPr marL="0" indent="0">
              <a:buNone/>
            </a:pPr>
            <a:r>
              <a:rPr lang="en-US" sz="950" dirty="0">
                <a:solidFill>
                  <a:srgbClr val="CCFBF1"/>
                </a:solidFill>
                <a:latin typeface="Calibri" pitchFamily="34" charset="0"/>
                <a:ea typeface="Calibri" pitchFamily="34" charset="-122"/>
                <a:cs typeface="Calibri" pitchFamily="34" charset="-120"/>
              </a:rPr>
              <a:t>Decisions entered → model runs in ~1 second, showing temperature and CO₂ trajectories through 2100.</a:t>
            </a:r>
            <a:endParaRPr lang="en-US" sz="950" dirty="0"/>
          </a:p>
        </p:txBody>
      </p:sp>
      <p:sp>
        <p:nvSpPr>
          <p:cNvPr id="31" name="Shape 29"/>
          <p:cNvSpPr/>
          <p:nvPr/>
        </p:nvSpPr>
        <p:spPr>
          <a:xfrm>
            <a:off x="4800600" y="2651760"/>
            <a:ext cx="45720" cy="502920"/>
          </a:xfrm>
          <a:prstGeom prst="rect">
            <a:avLst/>
          </a:prstGeom>
          <a:solidFill>
            <a:srgbClr val="0D9488"/>
          </a:solidFill>
          <a:ln w="12700">
            <a:solidFill>
              <a:srgbClr val="0D9488"/>
            </a:solidFill>
            <a:prstDash val="solid"/>
          </a:ln>
        </p:spPr>
      </p:sp>
      <p:sp>
        <p:nvSpPr>
          <p:cNvPr id="32" name="Text 30"/>
          <p:cNvSpPr/>
          <p:nvPr/>
        </p:nvSpPr>
        <p:spPr>
          <a:xfrm>
            <a:off x="4919472" y="2633472"/>
            <a:ext cx="3749040"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Transparent &amp; Adjustable</a:t>
            </a:r>
            <a:endParaRPr lang="en-US" sz="1050" dirty="0"/>
          </a:p>
        </p:txBody>
      </p:sp>
      <p:sp>
        <p:nvSpPr>
          <p:cNvPr id="33" name="Text 31"/>
          <p:cNvSpPr/>
          <p:nvPr/>
        </p:nvSpPr>
        <p:spPr>
          <a:xfrm>
            <a:off x="4919472" y="2871216"/>
            <a:ext cx="3749040" cy="365760"/>
          </a:xfrm>
          <a:prstGeom prst="rect">
            <a:avLst/>
          </a:prstGeom>
          <a:noFill/>
          <a:ln/>
        </p:spPr>
        <p:txBody>
          <a:bodyPr wrap="square" lIns="0" tIns="0" rIns="0" bIns="0" rtlCol="0" anchor="t"/>
          <a:lstStyle/>
          <a:p>
            <a:pPr marL="0" indent="0">
              <a:buNone/>
            </a:pPr>
            <a:r>
              <a:rPr lang="en-US" sz="950" dirty="0">
                <a:solidFill>
                  <a:srgbClr val="CCFBF1"/>
                </a:solidFill>
                <a:latin typeface="Calibri" pitchFamily="34" charset="0"/>
                <a:ea typeface="Calibri" pitchFamily="34" charset="-122"/>
                <a:cs typeface="Calibri" pitchFamily="34" charset="-120"/>
              </a:rPr>
              <a:t>Users can tweak climate sensitivity, CO₂ feedbacks, Arctic methane — no black box.</a:t>
            </a:r>
            <a:endParaRPr lang="en-US" sz="950" dirty="0"/>
          </a:p>
        </p:txBody>
      </p:sp>
      <p:sp>
        <p:nvSpPr>
          <p:cNvPr id="34" name="Shape 32"/>
          <p:cNvSpPr/>
          <p:nvPr/>
        </p:nvSpPr>
        <p:spPr>
          <a:xfrm>
            <a:off x="4800600" y="3319272"/>
            <a:ext cx="45720" cy="502920"/>
          </a:xfrm>
          <a:prstGeom prst="rect">
            <a:avLst/>
          </a:prstGeom>
          <a:solidFill>
            <a:srgbClr val="0D9488"/>
          </a:solidFill>
          <a:ln w="12700">
            <a:solidFill>
              <a:srgbClr val="0D9488"/>
            </a:solidFill>
            <a:prstDash val="solid"/>
          </a:ln>
        </p:spPr>
      </p:sp>
      <p:sp>
        <p:nvSpPr>
          <p:cNvPr id="35" name="Text 33"/>
          <p:cNvSpPr/>
          <p:nvPr/>
        </p:nvSpPr>
        <p:spPr>
          <a:xfrm>
            <a:off x="4919472" y="3300984"/>
            <a:ext cx="3749040"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Validated</a:t>
            </a:r>
            <a:endParaRPr lang="en-US" sz="1050" dirty="0"/>
          </a:p>
        </p:txBody>
      </p:sp>
      <p:sp>
        <p:nvSpPr>
          <p:cNvPr id="36" name="Text 34"/>
          <p:cNvSpPr/>
          <p:nvPr/>
        </p:nvSpPr>
        <p:spPr>
          <a:xfrm>
            <a:off x="4919472" y="3538728"/>
            <a:ext cx="3749040" cy="365760"/>
          </a:xfrm>
          <a:prstGeom prst="rect">
            <a:avLst/>
          </a:prstGeom>
          <a:noFill/>
          <a:ln/>
        </p:spPr>
        <p:txBody>
          <a:bodyPr wrap="square" lIns="0" tIns="0" rIns="0" bIns="0" rtlCol="0" anchor="t"/>
          <a:lstStyle/>
          <a:p>
            <a:pPr marL="0" indent="0">
              <a:buNone/>
            </a:pPr>
            <a:r>
              <a:rPr lang="en-US" sz="950" dirty="0">
                <a:solidFill>
                  <a:srgbClr val="CCFBF1"/>
                </a:solidFill>
                <a:latin typeface="Calibri" pitchFamily="34" charset="0"/>
                <a:ea typeface="Calibri" pitchFamily="34" charset="-122"/>
                <a:cs typeface="Calibri" pitchFamily="34" charset="-120"/>
              </a:rPr>
              <a:t>Closely replicates historical data from 1850 and CMIP5 model projections across multiple RCPs.</a:t>
            </a:r>
            <a:endParaRPr lang="en-US" sz="950" dirty="0"/>
          </a:p>
        </p:txBody>
      </p:sp>
      <p:sp>
        <p:nvSpPr>
          <p:cNvPr id="37" name="Shape 35"/>
          <p:cNvSpPr/>
          <p:nvPr/>
        </p:nvSpPr>
        <p:spPr>
          <a:xfrm>
            <a:off x="4800600" y="3986784"/>
            <a:ext cx="45720" cy="502920"/>
          </a:xfrm>
          <a:prstGeom prst="rect">
            <a:avLst/>
          </a:prstGeom>
          <a:solidFill>
            <a:srgbClr val="0D9488"/>
          </a:solidFill>
          <a:ln w="12700">
            <a:solidFill>
              <a:srgbClr val="0D9488"/>
            </a:solidFill>
            <a:prstDash val="solid"/>
          </a:ln>
        </p:spPr>
      </p:sp>
      <p:sp>
        <p:nvSpPr>
          <p:cNvPr id="38" name="Text 36"/>
          <p:cNvSpPr/>
          <p:nvPr/>
        </p:nvSpPr>
        <p:spPr>
          <a:xfrm>
            <a:off x="4919472" y="3968496"/>
            <a:ext cx="3749040" cy="25603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Freely Available</a:t>
            </a:r>
            <a:endParaRPr lang="en-US" sz="1050" dirty="0"/>
          </a:p>
        </p:txBody>
      </p:sp>
      <p:sp>
        <p:nvSpPr>
          <p:cNvPr id="39" name="Text 37"/>
          <p:cNvSpPr/>
          <p:nvPr/>
        </p:nvSpPr>
        <p:spPr>
          <a:xfrm>
            <a:off x="4919472" y="4206240"/>
            <a:ext cx="3749040" cy="365760"/>
          </a:xfrm>
          <a:prstGeom prst="rect">
            <a:avLst/>
          </a:prstGeom>
          <a:noFill/>
          <a:ln/>
        </p:spPr>
        <p:txBody>
          <a:bodyPr wrap="square" lIns="0" tIns="0" rIns="0" bIns="0" rtlCol="0" anchor="t"/>
          <a:lstStyle/>
          <a:p>
            <a:pPr marL="0" indent="0">
              <a:buNone/>
            </a:pPr>
            <a:r>
              <a:rPr lang="en-US" sz="950" dirty="0">
                <a:solidFill>
                  <a:srgbClr val="CCFBF1"/>
                </a:solidFill>
                <a:latin typeface="Calibri" pitchFamily="34" charset="0"/>
                <a:ea typeface="Calibri" pitchFamily="34" charset="-122"/>
                <a:cs typeface="Calibri" pitchFamily="34" charset="-120"/>
              </a:rPr>
              <a:t>Open-source, runs online or offline on any laptop: climateinteractive.org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2D4E"/>
          </a:solidFill>
          <a:ln w="12700">
            <a:solidFill>
              <a:srgbClr val="0F2D4E"/>
            </a:solidFill>
            <a:prstDash val="solid"/>
          </a:ln>
        </p:spPr>
      </p:sp>
      <p:sp>
        <p:nvSpPr>
          <p:cNvPr id="3" name="Text 1"/>
          <p:cNvSpPr/>
          <p:nvPr/>
        </p:nvSpPr>
        <p:spPr>
          <a:xfrm>
            <a:off x="411480" y="164592"/>
            <a:ext cx="8321040" cy="475488"/>
          </a:xfrm>
          <a:prstGeom prst="rect">
            <a:avLst/>
          </a:prstGeom>
          <a:noFill/>
          <a:ln/>
        </p:spPr>
        <p:txBody>
          <a:bodyPr wrap="square" lIns="0" tIns="0" rIns="0" bIns="0" rtlCol="0" anchor="ctr"/>
          <a:lstStyle/>
          <a:p>
            <a:pPr marL="0" indent="0">
              <a:buNone/>
            </a:pPr>
            <a:r>
              <a:rPr lang="en-US" sz="2200" b="1" kern="0" spc="100" dirty="0">
                <a:solidFill>
                  <a:sysClr val="windowText" lastClr="000000"/>
                </a:solidFill>
                <a:latin typeface="Calibri" pitchFamily="34" charset="0"/>
                <a:ea typeface="Calibri" pitchFamily="34" charset="-122"/>
                <a:cs typeface="Calibri" pitchFamily="34" charset="-120"/>
              </a:rPr>
              <a:t>METHODOLOGY: RESEARCH DESIGN</a:t>
            </a:r>
            <a:endParaRPr lang="en-US" sz="2200" dirty="0">
              <a:solidFill>
                <a:sysClr val="windowText" lastClr="000000"/>
              </a:solidFill>
            </a:endParaRPr>
          </a:p>
        </p:txBody>
      </p:sp>
      <p:sp>
        <p:nvSpPr>
          <p:cNvPr id="4" name="Text 2"/>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05</a:t>
            </a:r>
            <a:endParaRPr lang="en-US" sz="1000" dirty="0"/>
          </a:p>
        </p:txBody>
      </p:sp>
      <p:sp>
        <p:nvSpPr>
          <p:cNvPr id="5" name="Shape 3"/>
          <p:cNvSpPr/>
          <p:nvPr/>
        </p:nvSpPr>
        <p:spPr>
          <a:xfrm>
            <a:off x="320040" y="749808"/>
            <a:ext cx="1965960" cy="868680"/>
          </a:xfrm>
          <a:prstGeom prst="rect">
            <a:avLst/>
          </a:prstGeom>
          <a:solidFill>
            <a:srgbClr val="0F2D4E"/>
          </a:solidFill>
          <a:ln w="12700">
            <a:solidFill>
              <a:srgbClr val="0F2D4E"/>
            </a:solidFill>
            <a:prstDash val="solid"/>
          </a:ln>
          <a:effectLst>
            <a:outerShdw blurRad="101600" dist="38100" dir="8100000" algn="bl" rotWithShape="0">
              <a:srgbClr val="000000">
                <a:alpha val="12000"/>
              </a:srgbClr>
            </a:outerShdw>
          </a:effectLst>
        </p:spPr>
      </p:sp>
      <p:sp>
        <p:nvSpPr>
          <p:cNvPr id="6" name="Text 4"/>
          <p:cNvSpPr/>
          <p:nvPr/>
        </p:nvSpPr>
        <p:spPr>
          <a:xfrm>
            <a:off x="320040" y="804672"/>
            <a:ext cx="1965960" cy="457200"/>
          </a:xfrm>
          <a:prstGeom prst="rect">
            <a:avLst/>
          </a:prstGeom>
          <a:noFill/>
          <a:ln/>
        </p:spPr>
        <p:txBody>
          <a:bodyPr wrap="square" lIns="0" tIns="0" rIns="0" bIns="0" rtlCol="0" anchor="ctr"/>
          <a:lstStyle/>
          <a:p>
            <a:pPr marL="0" indent="0" algn="ctr">
              <a:buNone/>
            </a:pPr>
            <a:r>
              <a:rPr lang="en-US" sz="2400" b="1" dirty="0">
                <a:solidFill>
                  <a:srgbClr val="0D9488"/>
                </a:solidFill>
                <a:latin typeface="Calibri" pitchFamily="34" charset="0"/>
                <a:ea typeface="Calibri" pitchFamily="34" charset="-122"/>
                <a:cs typeface="Calibri" pitchFamily="34" charset="-120"/>
              </a:rPr>
              <a:t>2,042</a:t>
            </a:r>
            <a:endParaRPr lang="en-US" sz="2400" dirty="0"/>
          </a:p>
        </p:txBody>
      </p:sp>
      <p:sp>
        <p:nvSpPr>
          <p:cNvPr id="7" name="Text 5"/>
          <p:cNvSpPr/>
          <p:nvPr/>
        </p:nvSpPr>
        <p:spPr>
          <a:xfrm>
            <a:off x="320040" y="1252728"/>
            <a:ext cx="196596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Total Participants</a:t>
            </a:r>
            <a:endParaRPr lang="en-US" sz="950" dirty="0"/>
          </a:p>
        </p:txBody>
      </p:sp>
      <p:sp>
        <p:nvSpPr>
          <p:cNvPr id="8" name="Shape 6"/>
          <p:cNvSpPr/>
          <p:nvPr/>
        </p:nvSpPr>
        <p:spPr>
          <a:xfrm>
            <a:off x="2468880" y="749808"/>
            <a:ext cx="1965960" cy="868680"/>
          </a:xfrm>
          <a:prstGeom prst="rect">
            <a:avLst/>
          </a:prstGeom>
          <a:solidFill>
            <a:srgbClr val="0F2D4E"/>
          </a:solidFill>
          <a:ln w="12700">
            <a:solidFill>
              <a:srgbClr val="0F2D4E"/>
            </a:solidFill>
            <a:prstDash val="solid"/>
          </a:ln>
          <a:effectLst>
            <a:outerShdw blurRad="101600" dist="38100" dir="8100000" algn="bl" rotWithShape="0">
              <a:srgbClr val="000000">
                <a:alpha val="12000"/>
              </a:srgbClr>
            </a:outerShdw>
          </a:effectLst>
        </p:spPr>
      </p:sp>
      <p:sp>
        <p:nvSpPr>
          <p:cNvPr id="9" name="Text 7"/>
          <p:cNvSpPr/>
          <p:nvPr/>
        </p:nvSpPr>
        <p:spPr>
          <a:xfrm>
            <a:off x="2468880" y="804672"/>
            <a:ext cx="1965960" cy="457200"/>
          </a:xfrm>
          <a:prstGeom prst="rect">
            <a:avLst/>
          </a:prstGeom>
          <a:noFill/>
          <a:ln/>
        </p:spPr>
        <p:txBody>
          <a:bodyPr wrap="square" lIns="0" tIns="0" rIns="0" bIns="0" rtlCol="0" anchor="ctr"/>
          <a:lstStyle/>
          <a:p>
            <a:pPr marL="0" indent="0" algn="ctr">
              <a:buNone/>
            </a:pPr>
            <a:r>
              <a:rPr lang="en-US" sz="2400" b="1" dirty="0">
                <a:solidFill>
                  <a:srgbClr val="0D9488"/>
                </a:solidFill>
                <a:latin typeface="Calibri" pitchFamily="34" charset="0"/>
                <a:ea typeface="Calibri" pitchFamily="34" charset="-122"/>
                <a:cs typeface="Calibri" pitchFamily="34" charset="-120"/>
              </a:rPr>
              <a:t>39</a:t>
            </a:r>
            <a:endParaRPr lang="en-US" sz="2400" dirty="0"/>
          </a:p>
        </p:txBody>
      </p:sp>
      <p:sp>
        <p:nvSpPr>
          <p:cNvPr id="10" name="Text 8"/>
          <p:cNvSpPr/>
          <p:nvPr/>
        </p:nvSpPr>
        <p:spPr>
          <a:xfrm>
            <a:off x="2468880" y="1252728"/>
            <a:ext cx="196596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Sessions Analyzed</a:t>
            </a:r>
            <a:endParaRPr lang="en-US" sz="950" dirty="0"/>
          </a:p>
        </p:txBody>
      </p:sp>
      <p:sp>
        <p:nvSpPr>
          <p:cNvPr id="11" name="Shape 9"/>
          <p:cNvSpPr/>
          <p:nvPr/>
        </p:nvSpPr>
        <p:spPr>
          <a:xfrm>
            <a:off x="4617720" y="749808"/>
            <a:ext cx="1965960" cy="868680"/>
          </a:xfrm>
          <a:prstGeom prst="rect">
            <a:avLst/>
          </a:prstGeom>
          <a:solidFill>
            <a:srgbClr val="0F2D4E"/>
          </a:solidFill>
          <a:ln w="12700">
            <a:solidFill>
              <a:srgbClr val="0F2D4E"/>
            </a:solidFill>
            <a:prstDash val="solid"/>
          </a:ln>
          <a:effectLst>
            <a:outerShdw blurRad="101600" dist="38100" dir="8100000" algn="bl" rotWithShape="0">
              <a:srgbClr val="000000">
                <a:alpha val="12000"/>
              </a:srgbClr>
            </a:outerShdw>
          </a:effectLst>
        </p:spPr>
      </p:sp>
      <p:sp>
        <p:nvSpPr>
          <p:cNvPr id="12" name="Text 10"/>
          <p:cNvSpPr/>
          <p:nvPr/>
        </p:nvSpPr>
        <p:spPr>
          <a:xfrm>
            <a:off x="4617720" y="804672"/>
            <a:ext cx="1965960" cy="457200"/>
          </a:xfrm>
          <a:prstGeom prst="rect">
            <a:avLst/>
          </a:prstGeom>
          <a:noFill/>
          <a:ln/>
        </p:spPr>
        <p:txBody>
          <a:bodyPr wrap="square" lIns="0" tIns="0" rIns="0" bIns="0" rtlCol="0" anchor="ctr"/>
          <a:lstStyle/>
          <a:p>
            <a:pPr marL="0" indent="0" algn="ctr">
              <a:buNone/>
            </a:pPr>
            <a:r>
              <a:rPr lang="en-US" sz="2400" b="1" dirty="0">
                <a:solidFill>
                  <a:srgbClr val="0D9488"/>
                </a:solidFill>
                <a:latin typeface="Calibri" pitchFamily="34" charset="0"/>
                <a:ea typeface="Calibri" pitchFamily="34" charset="-122"/>
                <a:cs typeface="Calibri" pitchFamily="34" charset="-120"/>
              </a:rPr>
              <a:t>8</a:t>
            </a:r>
            <a:endParaRPr lang="en-US" sz="2400" dirty="0"/>
          </a:p>
        </p:txBody>
      </p:sp>
      <p:sp>
        <p:nvSpPr>
          <p:cNvPr id="13" name="Text 11"/>
          <p:cNvSpPr/>
          <p:nvPr/>
        </p:nvSpPr>
        <p:spPr>
          <a:xfrm>
            <a:off x="4617720" y="1252728"/>
            <a:ext cx="196596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Nations</a:t>
            </a:r>
            <a:endParaRPr lang="en-US" sz="950" dirty="0"/>
          </a:p>
        </p:txBody>
      </p:sp>
      <p:sp>
        <p:nvSpPr>
          <p:cNvPr id="14" name="Shape 12"/>
          <p:cNvSpPr/>
          <p:nvPr/>
        </p:nvSpPr>
        <p:spPr>
          <a:xfrm>
            <a:off x="6766560" y="749808"/>
            <a:ext cx="1965960" cy="868680"/>
          </a:xfrm>
          <a:prstGeom prst="rect">
            <a:avLst/>
          </a:prstGeom>
          <a:solidFill>
            <a:srgbClr val="0F2D4E"/>
          </a:solidFill>
          <a:ln w="12700">
            <a:solidFill>
              <a:srgbClr val="0F2D4E"/>
            </a:solidFill>
            <a:prstDash val="solid"/>
          </a:ln>
          <a:effectLst>
            <a:outerShdw blurRad="101600" dist="38100" dir="8100000" algn="bl" rotWithShape="0">
              <a:srgbClr val="000000">
                <a:alpha val="12000"/>
              </a:srgbClr>
            </a:outerShdw>
          </a:effectLst>
        </p:spPr>
      </p:sp>
      <p:sp>
        <p:nvSpPr>
          <p:cNvPr id="15" name="Text 13"/>
          <p:cNvSpPr/>
          <p:nvPr/>
        </p:nvSpPr>
        <p:spPr>
          <a:xfrm>
            <a:off x="6766560" y="804672"/>
            <a:ext cx="1965960" cy="457200"/>
          </a:xfrm>
          <a:prstGeom prst="rect">
            <a:avLst/>
          </a:prstGeom>
          <a:noFill/>
          <a:ln/>
        </p:spPr>
        <p:txBody>
          <a:bodyPr wrap="square" lIns="0" tIns="0" rIns="0" bIns="0" rtlCol="0" anchor="ctr"/>
          <a:lstStyle/>
          <a:p>
            <a:pPr marL="0" indent="0" algn="ctr">
              <a:buNone/>
            </a:pPr>
            <a:r>
              <a:rPr lang="en-US" sz="2400" b="1" dirty="0">
                <a:solidFill>
                  <a:srgbClr val="0D9488"/>
                </a:solidFill>
                <a:latin typeface="Calibri" pitchFamily="34" charset="0"/>
                <a:ea typeface="Calibri" pitchFamily="34" charset="-122"/>
                <a:cs typeface="Calibri" pitchFamily="34" charset="-120"/>
              </a:rPr>
              <a:t>Pre/Post</a:t>
            </a:r>
            <a:endParaRPr lang="en-US" sz="2400" dirty="0"/>
          </a:p>
        </p:txBody>
      </p:sp>
      <p:sp>
        <p:nvSpPr>
          <p:cNvPr id="16" name="Text 14"/>
          <p:cNvSpPr/>
          <p:nvPr/>
        </p:nvSpPr>
        <p:spPr>
          <a:xfrm>
            <a:off x="6766560" y="1252728"/>
            <a:ext cx="1965960" cy="27432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Survey Design</a:t>
            </a:r>
            <a:endParaRPr lang="en-US" sz="950" dirty="0"/>
          </a:p>
        </p:txBody>
      </p:sp>
      <p:sp>
        <p:nvSpPr>
          <p:cNvPr id="17" name="Text 15"/>
          <p:cNvSpPr/>
          <p:nvPr/>
        </p:nvSpPr>
        <p:spPr>
          <a:xfrm>
            <a:off x="320040" y="1783080"/>
            <a:ext cx="8503920" cy="320040"/>
          </a:xfrm>
          <a:prstGeom prst="rect">
            <a:avLst/>
          </a:prstGeom>
          <a:noFill/>
          <a:ln/>
        </p:spPr>
        <p:txBody>
          <a:bodyPr wrap="square" rtlCol="0" anchor="ctr"/>
          <a:lstStyle/>
          <a:p>
            <a:pPr marL="0" indent="0">
              <a:buNone/>
            </a:pPr>
            <a:r>
              <a:rPr lang="en-US" sz="1200" b="1" dirty="0">
                <a:solidFill>
                  <a:srgbClr val="0F2D4E"/>
                </a:solidFill>
                <a:latin typeface="Calibri" pitchFamily="34" charset="0"/>
                <a:ea typeface="Calibri" pitchFamily="34" charset="-122"/>
                <a:cs typeface="Calibri" pitchFamily="34" charset="-120"/>
              </a:rPr>
              <a:t>Survey Constructs (Exploratory Factor Analysis)</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2121408"/>
          <a:ext cx="8503920" cy="2194560"/>
        </p:xfrm>
        <a:graphic>
          <a:graphicData uri="http://schemas.openxmlformats.org/drawingml/2006/table">
            <a:tbl>
              <a:tblPr/>
              <a:tblGrid>
                <a:gridCol w="19202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38912">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Construct</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D4E"/>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What it measures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D4E"/>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Example item</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2D4E"/>
                    </a:solidFill>
                  </a:tcPr>
                </a:tc>
                <a:extLst>
                  <a:ext uri="{0D108BD9-81ED-4DB2-BD59-A6C34878D82A}">
                    <a16:rowId xmlns:a16="http://schemas.microsoft.com/office/drawing/2014/main" val="10000"/>
                  </a:ext>
                </a:extLst>
              </a:tr>
              <a:tr h="438912">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Climate Knowledge</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Understanding of causes, dynamics, and impacts of climate change</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"GHG emissions cause warming over decades"</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Affective Engagement</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Urgency, hope, concern — emotional responses to climate change</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"I feel a sense of urgency about climate change"</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Intent to Act</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Desire to take personal, civic, or political action</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"I intend to reduce my own carbon footprint"</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Desire to Learn</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Motivation to seek more information about climate change</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475569"/>
                          </a:solidFill>
                          <a:latin typeface="Calibri" pitchFamily="34" charset="0"/>
                          <a:ea typeface="Calibri" pitchFamily="34" charset="-122"/>
                          <a:cs typeface="Calibri" pitchFamily="34" charset="-120"/>
                        </a:rPr>
                        <a:t>"I want to learn more about what I can do"</a:t>
                      </a:r>
                      <a:endParaRPr lang="en-US" sz="105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9" name="Shape 16"/>
          <p:cNvSpPr/>
          <p:nvPr/>
        </p:nvSpPr>
        <p:spPr>
          <a:xfrm>
            <a:off x="320040" y="4572000"/>
            <a:ext cx="8503920" cy="347472"/>
          </a:xfrm>
          <a:prstGeom prst="rect">
            <a:avLst/>
          </a:prstGeom>
          <a:solidFill>
            <a:srgbClr val="CCFBF1"/>
          </a:solidFill>
          <a:ln w="6350">
            <a:solidFill>
              <a:srgbClr val="0D9488"/>
            </a:solidFill>
            <a:prstDash val="solid"/>
          </a:ln>
        </p:spPr>
      </p:sp>
      <p:sp>
        <p:nvSpPr>
          <p:cNvPr id="20" name="Text 17"/>
          <p:cNvSpPr/>
          <p:nvPr/>
        </p:nvSpPr>
        <p:spPr>
          <a:xfrm>
            <a:off x="457200" y="4572000"/>
            <a:ext cx="8321040" cy="347472"/>
          </a:xfrm>
          <a:prstGeom prst="rect">
            <a:avLst/>
          </a:prstGeom>
          <a:noFill/>
          <a:ln/>
        </p:spPr>
        <p:txBody>
          <a:bodyPr wrap="square" rtlCol="0" anchor="ctr"/>
          <a:lstStyle/>
          <a:p>
            <a:pPr marL="0" indent="0">
              <a:buNone/>
            </a:pPr>
            <a:r>
              <a:rPr lang="en-US" sz="1050" dirty="0">
                <a:solidFill>
                  <a:srgbClr val="0F2D4E"/>
                </a:solidFill>
                <a:latin typeface="Calibri" pitchFamily="34" charset="0"/>
                <a:ea typeface="Calibri" pitchFamily="34" charset="-122"/>
                <a:cs typeface="Calibri" pitchFamily="34" charset="-120"/>
              </a:rPr>
              <a:t>Regression analyses examined whether gains in knowledge vs. affect drove desire to learn and intent to act.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2D4E"/>
          </a:solidFill>
          <a:ln w="12700">
            <a:solidFill>
              <a:srgbClr val="0F2D4E"/>
            </a:solidFill>
            <a:prstDash val="solid"/>
          </a:ln>
        </p:spPr>
      </p:sp>
      <p:sp>
        <p:nvSpPr>
          <p:cNvPr id="3" name="Text 1"/>
          <p:cNvSpPr/>
          <p:nvPr/>
        </p:nvSpPr>
        <p:spPr>
          <a:xfrm>
            <a:off x="411480" y="164592"/>
            <a:ext cx="8321040" cy="475488"/>
          </a:xfrm>
          <a:prstGeom prst="rect">
            <a:avLst/>
          </a:prstGeom>
          <a:noFill/>
          <a:ln/>
        </p:spPr>
        <p:txBody>
          <a:bodyPr wrap="square" lIns="0" tIns="0" rIns="0" bIns="0" rtlCol="0" anchor="ctr"/>
          <a:lstStyle/>
          <a:p>
            <a:pPr marL="0" indent="0">
              <a:buNone/>
            </a:pPr>
            <a:r>
              <a:rPr lang="en-US" sz="2200" b="1" kern="0" spc="100" dirty="0">
                <a:solidFill>
                  <a:sysClr val="windowText" lastClr="000000"/>
                </a:solidFill>
                <a:latin typeface="Calibri" pitchFamily="34" charset="0"/>
                <a:ea typeface="Calibri" pitchFamily="34" charset="-122"/>
                <a:cs typeface="Calibri" pitchFamily="34" charset="-120"/>
              </a:rPr>
              <a:t>KEY FINDINGS: STATISTICALLY SIGNIFICANT GAINS</a:t>
            </a:r>
            <a:endParaRPr lang="en-US" sz="2200" dirty="0">
              <a:solidFill>
                <a:sysClr val="windowText" lastClr="000000"/>
              </a:solidFill>
            </a:endParaRPr>
          </a:p>
        </p:txBody>
      </p:sp>
      <p:sp>
        <p:nvSpPr>
          <p:cNvPr id="4" name="Text 2"/>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06</a:t>
            </a:r>
            <a:endParaRPr lang="en-US" sz="1000" dirty="0"/>
          </a:p>
        </p:txBody>
      </p:sp>
      <p:graphicFrame>
        <p:nvGraphicFramePr>
          <p:cNvPr id="5" name="Chart 0"/>
          <p:cNvGraphicFramePr/>
          <p:nvPr/>
        </p:nvGraphicFramePr>
        <p:xfrm>
          <a:off x="320040" y="749808"/>
          <a:ext cx="484632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394960" y="777240"/>
            <a:ext cx="3429000" cy="118872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7" name="Shape 4"/>
          <p:cNvSpPr/>
          <p:nvPr/>
        </p:nvSpPr>
        <p:spPr>
          <a:xfrm>
            <a:off x="5394960" y="777240"/>
            <a:ext cx="54864" cy="1188720"/>
          </a:xfrm>
          <a:prstGeom prst="rect">
            <a:avLst/>
          </a:prstGeom>
          <a:solidFill>
            <a:srgbClr val="0D9488"/>
          </a:solidFill>
          <a:ln w="12700">
            <a:solidFill>
              <a:srgbClr val="0D9488"/>
            </a:solidFill>
            <a:prstDash val="solid"/>
          </a:ln>
        </p:spPr>
      </p:sp>
      <p:sp>
        <p:nvSpPr>
          <p:cNvPr id="8" name="Text 5"/>
          <p:cNvSpPr/>
          <p:nvPr/>
        </p:nvSpPr>
        <p:spPr>
          <a:xfrm>
            <a:off x="5541264" y="868680"/>
            <a:ext cx="3200400" cy="292608"/>
          </a:xfrm>
          <a:prstGeom prst="rect">
            <a:avLst/>
          </a:prstGeom>
          <a:noFill/>
          <a:ln/>
        </p:spPr>
        <p:txBody>
          <a:bodyPr wrap="square" lIns="0" tIns="0" rIns="0" bIns="0"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  Affect, not Knowledge, drives action</a:t>
            </a:r>
            <a:endParaRPr lang="en-US" sz="1100" dirty="0"/>
          </a:p>
        </p:txBody>
      </p:sp>
      <p:sp>
        <p:nvSpPr>
          <p:cNvPr id="9" name="Text 6"/>
          <p:cNvSpPr/>
          <p:nvPr/>
        </p:nvSpPr>
        <p:spPr>
          <a:xfrm>
            <a:off x="5541264" y="1188720"/>
            <a:ext cx="3200400" cy="713232"/>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Gains in urgency and hope predicted intent to act and desire to learn — but gains in knowledge alone did not.</a:t>
            </a:r>
            <a:endParaRPr lang="en-US" sz="1000" dirty="0"/>
          </a:p>
        </p:txBody>
      </p:sp>
      <p:sp>
        <p:nvSpPr>
          <p:cNvPr id="10" name="Shape 7"/>
          <p:cNvSpPr/>
          <p:nvPr/>
        </p:nvSpPr>
        <p:spPr>
          <a:xfrm>
            <a:off x="5394960" y="2093976"/>
            <a:ext cx="3429000" cy="118872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1" name="Shape 8"/>
          <p:cNvSpPr/>
          <p:nvPr/>
        </p:nvSpPr>
        <p:spPr>
          <a:xfrm>
            <a:off x="5394960" y="2093976"/>
            <a:ext cx="54864" cy="1188720"/>
          </a:xfrm>
          <a:prstGeom prst="rect">
            <a:avLst/>
          </a:prstGeom>
          <a:solidFill>
            <a:srgbClr val="F59E0B"/>
          </a:solidFill>
          <a:ln w="12700">
            <a:solidFill>
              <a:srgbClr val="F59E0B"/>
            </a:solidFill>
            <a:prstDash val="solid"/>
          </a:ln>
        </p:spPr>
      </p:sp>
      <p:sp>
        <p:nvSpPr>
          <p:cNvPr id="12" name="Text 9"/>
          <p:cNvSpPr/>
          <p:nvPr/>
        </p:nvSpPr>
        <p:spPr>
          <a:xfrm>
            <a:off x="5541264" y="2185416"/>
            <a:ext cx="3200400" cy="292608"/>
          </a:xfrm>
          <a:prstGeom prst="rect">
            <a:avLst/>
          </a:prstGeom>
          <a:noFill/>
          <a:ln/>
        </p:spPr>
        <p:txBody>
          <a:bodyPr wrap="square" lIns="0" tIns="0" rIns="0" bIns="0"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  Crosses political divides</a:t>
            </a:r>
            <a:endParaRPr lang="en-US" sz="1100" dirty="0"/>
          </a:p>
        </p:txBody>
      </p:sp>
      <p:sp>
        <p:nvSpPr>
          <p:cNvPr id="13" name="Text 10"/>
          <p:cNvSpPr/>
          <p:nvPr/>
        </p:nvSpPr>
        <p:spPr>
          <a:xfrm>
            <a:off x="5541264" y="2505456"/>
            <a:ext cx="3200400" cy="713232"/>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Participants opposing government regulation of free markets gained equally — suggesting potential to reach climate skeptics.</a:t>
            </a:r>
            <a:endParaRPr lang="en-US" sz="1000" dirty="0"/>
          </a:p>
        </p:txBody>
      </p:sp>
      <p:sp>
        <p:nvSpPr>
          <p:cNvPr id="14" name="Shape 11"/>
          <p:cNvSpPr/>
          <p:nvPr/>
        </p:nvSpPr>
        <p:spPr>
          <a:xfrm>
            <a:off x="5394960" y="3410712"/>
            <a:ext cx="3429000" cy="118872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5" name="Shape 12"/>
          <p:cNvSpPr/>
          <p:nvPr/>
        </p:nvSpPr>
        <p:spPr>
          <a:xfrm>
            <a:off x="5394960" y="3410712"/>
            <a:ext cx="54864" cy="1188720"/>
          </a:xfrm>
          <a:prstGeom prst="rect">
            <a:avLst/>
          </a:prstGeom>
          <a:solidFill>
            <a:srgbClr val="14B8A6"/>
          </a:solidFill>
          <a:ln w="12700">
            <a:solidFill>
              <a:srgbClr val="14B8A6"/>
            </a:solidFill>
            <a:prstDash val="solid"/>
          </a:ln>
        </p:spPr>
      </p:sp>
      <p:sp>
        <p:nvSpPr>
          <p:cNvPr id="16" name="Text 13"/>
          <p:cNvSpPr/>
          <p:nvPr/>
        </p:nvSpPr>
        <p:spPr>
          <a:xfrm>
            <a:off x="5541264" y="3502152"/>
            <a:ext cx="3200400" cy="292608"/>
          </a:xfrm>
          <a:prstGeom prst="rect">
            <a:avLst/>
          </a:prstGeom>
          <a:noFill/>
          <a:ln/>
        </p:spPr>
        <p:txBody>
          <a:bodyPr wrap="square" lIns="0" tIns="0" rIns="0" bIns="0"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  Consistent across groups</a:t>
            </a:r>
            <a:endParaRPr lang="en-US" sz="1100" dirty="0"/>
          </a:p>
        </p:txBody>
      </p:sp>
      <p:sp>
        <p:nvSpPr>
          <p:cNvPr id="17" name="Text 14"/>
          <p:cNvSpPr/>
          <p:nvPr/>
        </p:nvSpPr>
        <p:spPr>
          <a:xfrm>
            <a:off x="5541264" y="3822192"/>
            <a:ext cx="3200400" cy="713232"/>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Gains were robust across 8 nations, diverse audiences (students, professionals, educators), and voluntary vs. required participation.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2D4E"/>
          </a:solidFill>
          <a:ln w="12700">
            <a:solidFill>
              <a:srgbClr val="0F2D4E"/>
            </a:solidFill>
            <a:prstDash val="solid"/>
          </a:ln>
        </p:spPr>
      </p:sp>
      <p:sp>
        <p:nvSpPr>
          <p:cNvPr id="3" name="Text 1"/>
          <p:cNvSpPr/>
          <p:nvPr/>
        </p:nvSpPr>
        <p:spPr>
          <a:xfrm>
            <a:off x="411480" y="164592"/>
            <a:ext cx="8321040" cy="475488"/>
          </a:xfrm>
          <a:prstGeom prst="rect">
            <a:avLst/>
          </a:prstGeom>
          <a:noFill/>
          <a:ln/>
        </p:spPr>
        <p:txBody>
          <a:bodyPr wrap="square" lIns="0" tIns="0" rIns="0" bIns="0" rtlCol="0" anchor="ctr"/>
          <a:lstStyle/>
          <a:p>
            <a:pPr marL="0" indent="0">
              <a:buNone/>
            </a:pPr>
            <a:r>
              <a:rPr lang="en-US" sz="2200" b="1" kern="0" spc="100" dirty="0">
                <a:solidFill>
                  <a:sysClr val="windowText" lastClr="000000"/>
                </a:solidFill>
                <a:latin typeface="Calibri" pitchFamily="34" charset="0"/>
                <a:ea typeface="Calibri" pitchFamily="34" charset="-122"/>
                <a:cs typeface="Calibri" pitchFamily="34" charset="-120"/>
              </a:rPr>
              <a:t>THE ACTION RESEARCH LINK: ITERATIVE IMPROVEMENT</a:t>
            </a:r>
            <a:endParaRPr lang="en-US" sz="2200" dirty="0">
              <a:solidFill>
                <a:sysClr val="windowText" lastClr="000000"/>
              </a:solidFill>
            </a:endParaRPr>
          </a:p>
        </p:txBody>
      </p:sp>
      <p:sp>
        <p:nvSpPr>
          <p:cNvPr id="4" name="Text 2"/>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07</a:t>
            </a:r>
            <a:endParaRPr lang="en-US" sz="1000" dirty="0"/>
          </a:p>
        </p:txBody>
      </p:sp>
      <p:sp>
        <p:nvSpPr>
          <p:cNvPr id="5" name="Shape 3"/>
          <p:cNvSpPr/>
          <p:nvPr/>
        </p:nvSpPr>
        <p:spPr>
          <a:xfrm>
            <a:off x="2958860" y="2194560"/>
            <a:ext cx="2743200" cy="1051560"/>
          </a:xfrm>
          <a:prstGeom prst="ellipse">
            <a:avLst/>
          </a:prstGeom>
          <a:solidFill>
            <a:srgbClr val="CCFBF1"/>
          </a:solidFill>
          <a:ln w="12700">
            <a:solidFill>
              <a:srgbClr val="0D9488"/>
            </a:solidFill>
            <a:prstDash val="solid"/>
          </a:ln>
        </p:spPr>
      </p:sp>
      <p:sp>
        <p:nvSpPr>
          <p:cNvPr id="6" name="Text 4"/>
          <p:cNvSpPr/>
          <p:nvPr/>
        </p:nvSpPr>
        <p:spPr>
          <a:xfrm>
            <a:off x="2958860" y="2140968"/>
            <a:ext cx="2743200" cy="1051560"/>
          </a:xfrm>
          <a:prstGeom prst="rect">
            <a:avLst/>
          </a:prstGeom>
          <a:noFill/>
          <a:ln/>
        </p:spPr>
        <p:txBody>
          <a:bodyPr wrap="square" rtlCol="0" anchor="ctr"/>
          <a:lstStyle/>
          <a:p>
            <a:pPr marL="0" indent="0" algn="ctr">
              <a:buNone/>
            </a:pPr>
            <a:r>
              <a:rPr lang="en-US" sz="1050" b="1" dirty="0">
                <a:solidFill>
                  <a:srgbClr val="0F2D4E"/>
                </a:solidFill>
                <a:latin typeface="Calibri" pitchFamily="34" charset="0"/>
                <a:ea typeface="Calibri" pitchFamily="34" charset="-122"/>
                <a:cs typeface="Calibri" pitchFamily="34" charset="-120"/>
              </a:rPr>
              <a:t>Simulation</a:t>
            </a:r>
            <a:endParaRPr lang="en-US" sz="1050" dirty="0"/>
          </a:p>
          <a:p>
            <a:pPr marL="0" indent="0" algn="ctr">
              <a:buNone/>
            </a:pPr>
            <a:r>
              <a:rPr lang="en-US" sz="1050" b="1" dirty="0">
                <a:solidFill>
                  <a:srgbClr val="0F2D4E"/>
                </a:solidFill>
                <a:latin typeface="Calibri" pitchFamily="34" charset="0"/>
                <a:ea typeface="Calibri" pitchFamily="34" charset="-122"/>
                <a:cs typeface="Calibri" pitchFamily="34" charset="-120"/>
              </a:rPr>
              <a:t>Action Research</a:t>
            </a:r>
            <a:endParaRPr lang="en-US" sz="1050" dirty="0"/>
          </a:p>
          <a:p>
            <a:pPr marL="0" indent="0" algn="ctr">
              <a:buNone/>
            </a:pPr>
            <a:r>
              <a:rPr lang="en-US" sz="1050" b="1" dirty="0">
                <a:solidFill>
                  <a:srgbClr val="0F2D4E"/>
                </a:solidFill>
                <a:latin typeface="Calibri" pitchFamily="34" charset="0"/>
                <a:ea typeface="Calibri" pitchFamily="34" charset="-122"/>
                <a:cs typeface="Calibri" pitchFamily="34" charset="-120"/>
              </a:rPr>
              <a:t>Cycle</a:t>
            </a:r>
            <a:endParaRPr lang="en-US" sz="1050" dirty="0"/>
          </a:p>
        </p:txBody>
      </p:sp>
      <p:sp>
        <p:nvSpPr>
          <p:cNvPr id="7" name="Shape 5"/>
          <p:cNvSpPr/>
          <p:nvPr/>
        </p:nvSpPr>
        <p:spPr>
          <a:xfrm>
            <a:off x="137160" y="923543"/>
            <a:ext cx="397764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TR"/>
          </a:p>
        </p:txBody>
      </p:sp>
      <p:sp>
        <p:nvSpPr>
          <p:cNvPr id="8" name="Shape 6"/>
          <p:cNvSpPr/>
          <p:nvPr/>
        </p:nvSpPr>
        <p:spPr>
          <a:xfrm>
            <a:off x="137160" y="928116"/>
            <a:ext cx="3977640" cy="54864"/>
          </a:xfrm>
          <a:prstGeom prst="rect">
            <a:avLst/>
          </a:prstGeom>
          <a:solidFill>
            <a:srgbClr val="0F2D4E"/>
          </a:solidFill>
          <a:ln w="12700">
            <a:solidFill>
              <a:srgbClr val="0F2D4E"/>
            </a:solidFill>
            <a:prstDash val="solid"/>
          </a:ln>
        </p:spPr>
      </p:sp>
      <p:sp>
        <p:nvSpPr>
          <p:cNvPr id="9" name="Shape 7"/>
          <p:cNvSpPr/>
          <p:nvPr/>
        </p:nvSpPr>
        <p:spPr>
          <a:xfrm>
            <a:off x="210312" y="1081278"/>
            <a:ext cx="347472" cy="347472"/>
          </a:xfrm>
          <a:prstGeom prst="ellipse">
            <a:avLst/>
          </a:prstGeom>
          <a:solidFill>
            <a:srgbClr val="0F2D4E"/>
          </a:solidFill>
          <a:ln w="12700">
            <a:solidFill>
              <a:srgbClr val="0F2D4E"/>
            </a:solidFill>
            <a:prstDash val="solid"/>
          </a:ln>
        </p:spPr>
        <p:txBody>
          <a:bodyPr/>
          <a:lstStyle/>
          <a:p>
            <a:endParaRPr lang="en-TR"/>
          </a:p>
        </p:txBody>
      </p:sp>
      <p:sp>
        <p:nvSpPr>
          <p:cNvPr id="10" name="Text 8"/>
          <p:cNvSpPr/>
          <p:nvPr/>
        </p:nvSpPr>
        <p:spPr>
          <a:xfrm>
            <a:off x="219456" y="1078991"/>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1" name="Text 9"/>
          <p:cNvSpPr/>
          <p:nvPr/>
        </p:nvSpPr>
        <p:spPr>
          <a:xfrm>
            <a:off x="649224" y="1078992"/>
            <a:ext cx="3291840" cy="274320"/>
          </a:xfrm>
          <a:prstGeom prst="rect">
            <a:avLst/>
          </a:prstGeom>
          <a:noFill/>
          <a:ln/>
        </p:spPr>
        <p:txBody>
          <a:bodyPr wrap="square" lIns="0" tIns="0" rIns="0" bIns="0"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DIAGNOSE</a:t>
            </a:r>
            <a:endParaRPr lang="en-US" sz="1100" dirty="0"/>
          </a:p>
        </p:txBody>
      </p:sp>
      <p:sp>
        <p:nvSpPr>
          <p:cNvPr id="12" name="Text 10"/>
          <p:cNvSpPr/>
          <p:nvPr/>
        </p:nvSpPr>
        <p:spPr>
          <a:xfrm>
            <a:off x="449581" y="1455419"/>
            <a:ext cx="3749040" cy="621792"/>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Problem: public climate understanding lags science. Existing info campaigns insufficient.</a:t>
            </a:r>
            <a:endParaRPr lang="en-US" sz="1000" dirty="0"/>
          </a:p>
        </p:txBody>
      </p:sp>
      <p:sp>
        <p:nvSpPr>
          <p:cNvPr id="13" name="Shape 11"/>
          <p:cNvSpPr/>
          <p:nvPr/>
        </p:nvSpPr>
        <p:spPr>
          <a:xfrm>
            <a:off x="4480560" y="914400"/>
            <a:ext cx="397764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4480560" y="914400"/>
            <a:ext cx="3977640" cy="54864"/>
          </a:xfrm>
          <a:prstGeom prst="rect">
            <a:avLst/>
          </a:prstGeom>
          <a:solidFill>
            <a:srgbClr val="0D9488"/>
          </a:solidFill>
          <a:ln w="12700">
            <a:solidFill>
              <a:srgbClr val="0D9488"/>
            </a:solidFill>
            <a:prstDash val="solid"/>
          </a:ln>
        </p:spPr>
      </p:sp>
      <p:sp>
        <p:nvSpPr>
          <p:cNvPr id="15" name="Shape 13"/>
          <p:cNvSpPr/>
          <p:nvPr/>
        </p:nvSpPr>
        <p:spPr>
          <a:xfrm>
            <a:off x="4590288" y="1042416"/>
            <a:ext cx="347472" cy="347472"/>
          </a:xfrm>
          <a:prstGeom prst="ellipse">
            <a:avLst/>
          </a:prstGeom>
          <a:solidFill>
            <a:srgbClr val="0D9488"/>
          </a:solidFill>
          <a:ln w="12700">
            <a:solidFill>
              <a:srgbClr val="0D9488"/>
            </a:solidFill>
            <a:prstDash val="solid"/>
          </a:ln>
        </p:spPr>
      </p:sp>
      <p:sp>
        <p:nvSpPr>
          <p:cNvPr id="16" name="Text 14"/>
          <p:cNvSpPr/>
          <p:nvPr/>
        </p:nvSpPr>
        <p:spPr>
          <a:xfrm>
            <a:off x="4590288" y="104241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7" name="Text 15"/>
          <p:cNvSpPr/>
          <p:nvPr/>
        </p:nvSpPr>
        <p:spPr>
          <a:xfrm>
            <a:off x="5029200" y="1024128"/>
            <a:ext cx="3291840" cy="27432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INTERVENE</a:t>
            </a:r>
            <a:endParaRPr lang="en-US" sz="1100" dirty="0"/>
          </a:p>
        </p:txBody>
      </p:sp>
      <p:sp>
        <p:nvSpPr>
          <p:cNvPr id="18" name="Text 16"/>
          <p:cNvSpPr/>
          <p:nvPr/>
        </p:nvSpPr>
        <p:spPr>
          <a:xfrm>
            <a:off x="4669991" y="1396367"/>
            <a:ext cx="3749040" cy="621792"/>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Design World Climate: role-play + C-ROADS. Deploy across 39 sessions in 8 countries.</a:t>
            </a:r>
            <a:endParaRPr lang="en-US" sz="1000" dirty="0"/>
          </a:p>
        </p:txBody>
      </p:sp>
      <p:sp>
        <p:nvSpPr>
          <p:cNvPr id="19" name="Shape 17"/>
          <p:cNvSpPr/>
          <p:nvPr/>
        </p:nvSpPr>
        <p:spPr>
          <a:xfrm>
            <a:off x="4572000" y="3499866"/>
            <a:ext cx="397764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TR" dirty="0"/>
          </a:p>
        </p:txBody>
      </p:sp>
      <p:sp>
        <p:nvSpPr>
          <p:cNvPr id="20" name="Shape 18"/>
          <p:cNvSpPr/>
          <p:nvPr/>
        </p:nvSpPr>
        <p:spPr>
          <a:xfrm>
            <a:off x="4565098" y="3489579"/>
            <a:ext cx="3977640" cy="54864"/>
          </a:xfrm>
          <a:prstGeom prst="rect">
            <a:avLst/>
          </a:prstGeom>
          <a:solidFill>
            <a:srgbClr val="14B8A6"/>
          </a:solidFill>
          <a:ln w="12700">
            <a:solidFill>
              <a:srgbClr val="14B8A6"/>
            </a:solidFill>
            <a:prstDash val="solid"/>
          </a:ln>
        </p:spPr>
      </p:sp>
      <p:sp>
        <p:nvSpPr>
          <p:cNvPr id="21" name="Shape 19"/>
          <p:cNvSpPr/>
          <p:nvPr/>
        </p:nvSpPr>
        <p:spPr>
          <a:xfrm>
            <a:off x="4669991" y="3569210"/>
            <a:ext cx="347472" cy="347472"/>
          </a:xfrm>
          <a:prstGeom prst="ellipse">
            <a:avLst/>
          </a:prstGeom>
          <a:solidFill>
            <a:srgbClr val="14B8A6"/>
          </a:solidFill>
          <a:ln w="12700">
            <a:solidFill>
              <a:srgbClr val="14B8A6"/>
            </a:solidFill>
            <a:prstDash val="solid"/>
          </a:ln>
        </p:spPr>
        <p:txBody>
          <a:bodyPr/>
          <a:lstStyle/>
          <a:p>
            <a:endParaRPr lang="en-TR" dirty="0"/>
          </a:p>
        </p:txBody>
      </p:sp>
      <p:sp>
        <p:nvSpPr>
          <p:cNvPr id="22" name="Text 20"/>
          <p:cNvSpPr/>
          <p:nvPr/>
        </p:nvSpPr>
        <p:spPr>
          <a:xfrm>
            <a:off x="4669991" y="356921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3" name="Text 21"/>
          <p:cNvSpPr/>
          <p:nvPr/>
        </p:nvSpPr>
        <p:spPr>
          <a:xfrm>
            <a:off x="5115454" y="3579305"/>
            <a:ext cx="3291840" cy="274320"/>
          </a:xfrm>
          <a:prstGeom prst="rect">
            <a:avLst/>
          </a:prstGeom>
          <a:noFill/>
          <a:ln/>
        </p:spPr>
        <p:txBody>
          <a:bodyPr wrap="square" lIns="0" tIns="0" rIns="0" bIns="0" rtlCol="0" anchor="ctr"/>
          <a:lstStyle/>
          <a:p>
            <a:pPr marL="0" indent="0">
              <a:buNone/>
            </a:pPr>
            <a:r>
              <a:rPr lang="en-US" sz="1100" b="1" dirty="0">
                <a:solidFill>
                  <a:srgbClr val="14B8A6"/>
                </a:solidFill>
                <a:latin typeface="Calibri" pitchFamily="34" charset="0"/>
                <a:ea typeface="Calibri" pitchFamily="34" charset="-122"/>
                <a:cs typeface="Calibri" pitchFamily="34" charset="-120"/>
              </a:rPr>
              <a:t>EVALUATE</a:t>
            </a:r>
            <a:endParaRPr lang="en-US" sz="1100" dirty="0"/>
          </a:p>
        </p:txBody>
      </p:sp>
      <p:sp>
        <p:nvSpPr>
          <p:cNvPr id="24" name="Text 22"/>
          <p:cNvSpPr/>
          <p:nvPr/>
        </p:nvSpPr>
        <p:spPr>
          <a:xfrm>
            <a:off x="4843727" y="3951544"/>
            <a:ext cx="3749040" cy="621792"/>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Pre/post surveys + EFA factor analysis + regression. 2,042 participants assessed across four constructs.</a:t>
            </a:r>
            <a:endParaRPr lang="en-US" sz="1000" dirty="0"/>
          </a:p>
        </p:txBody>
      </p:sp>
      <p:sp>
        <p:nvSpPr>
          <p:cNvPr id="25" name="Shape 23"/>
          <p:cNvSpPr/>
          <p:nvPr/>
        </p:nvSpPr>
        <p:spPr>
          <a:xfrm>
            <a:off x="137160" y="3529584"/>
            <a:ext cx="3977640" cy="11430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txBody>
          <a:bodyPr/>
          <a:lstStyle/>
          <a:p>
            <a:endParaRPr lang="en-TR" dirty="0"/>
          </a:p>
        </p:txBody>
      </p:sp>
      <p:sp>
        <p:nvSpPr>
          <p:cNvPr id="26" name="Shape 24"/>
          <p:cNvSpPr/>
          <p:nvPr/>
        </p:nvSpPr>
        <p:spPr>
          <a:xfrm>
            <a:off x="137160" y="3474720"/>
            <a:ext cx="3977640" cy="54864"/>
          </a:xfrm>
          <a:prstGeom prst="rect">
            <a:avLst/>
          </a:prstGeom>
          <a:solidFill>
            <a:srgbClr val="F59E0B"/>
          </a:solidFill>
          <a:ln w="12700">
            <a:solidFill>
              <a:srgbClr val="F59E0B"/>
            </a:solidFill>
            <a:prstDash val="solid"/>
          </a:ln>
        </p:spPr>
      </p:sp>
      <p:sp>
        <p:nvSpPr>
          <p:cNvPr id="27" name="Shape 25"/>
          <p:cNvSpPr/>
          <p:nvPr/>
        </p:nvSpPr>
        <p:spPr>
          <a:xfrm>
            <a:off x="162350" y="3570732"/>
            <a:ext cx="347472" cy="347472"/>
          </a:xfrm>
          <a:prstGeom prst="ellipse">
            <a:avLst/>
          </a:prstGeom>
          <a:solidFill>
            <a:srgbClr val="F59E0B"/>
          </a:solidFill>
          <a:ln w="12700">
            <a:solidFill>
              <a:srgbClr val="F59E0B"/>
            </a:solidFill>
            <a:prstDash val="solid"/>
          </a:ln>
        </p:spPr>
      </p:sp>
      <p:sp>
        <p:nvSpPr>
          <p:cNvPr id="28" name="Text 26"/>
          <p:cNvSpPr/>
          <p:nvPr/>
        </p:nvSpPr>
        <p:spPr>
          <a:xfrm>
            <a:off x="155448" y="356082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9" name="Text 27"/>
          <p:cNvSpPr/>
          <p:nvPr/>
        </p:nvSpPr>
        <p:spPr>
          <a:xfrm>
            <a:off x="587458" y="3570732"/>
            <a:ext cx="3291840" cy="274320"/>
          </a:xfrm>
          <a:prstGeom prst="rect">
            <a:avLst/>
          </a:prstGeom>
          <a:noFill/>
          <a:ln/>
        </p:spPr>
        <p:txBody>
          <a:bodyPr wrap="square" lIns="0" tIns="0" rIns="0" bIns="0"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REFLECT &amp; REFINE</a:t>
            </a:r>
            <a:endParaRPr lang="en-US" sz="1100" dirty="0"/>
          </a:p>
        </p:txBody>
      </p:sp>
      <p:sp>
        <p:nvSpPr>
          <p:cNvPr id="30" name="Text 28"/>
          <p:cNvSpPr/>
          <p:nvPr/>
        </p:nvSpPr>
        <p:spPr>
          <a:xfrm>
            <a:off x="429768" y="3931920"/>
            <a:ext cx="3749040" cy="621792"/>
          </a:xfrm>
          <a:prstGeom prst="rect">
            <a:avLst/>
          </a:prstGeom>
          <a:noFill/>
          <a:ln/>
        </p:spPr>
        <p:txBody>
          <a:bodyPr wrap="square" lIns="0" tIns="0" rIns="0" bIns="0" rtlCol="0" anchor="t"/>
          <a:lstStyle/>
          <a:p>
            <a:pPr marL="0" indent="0">
              <a:buNone/>
            </a:pPr>
            <a:r>
              <a:rPr lang="en-US" sz="1000" dirty="0">
                <a:solidFill>
                  <a:srgbClr val="475569"/>
                </a:solidFill>
                <a:latin typeface="Calibri" pitchFamily="34" charset="0"/>
                <a:ea typeface="Calibri" pitchFamily="34" charset="-122"/>
                <a:cs typeface="Calibri" pitchFamily="34" charset="-120"/>
              </a:rPr>
              <a:t>Affect (not knowledge) drives intent. Simulation iterated: emphasis shifted to emotional engagement &amp; urgency.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2D4E"/>
          </a:solidFill>
          <a:ln w="12700">
            <a:solidFill>
              <a:srgbClr val="0F2D4E"/>
            </a:solidFill>
            <a:prstDash val="solid"/>
          </a:ln>
        </p:spPr>
      </p:sp>
      <p:sp>
        <p:nvSpPr>
          <p:cNvPr id="3" name="Text 1"/>
          <p:cNvSpPr/>
          <p:nvPr/>
        </p:nvSpPr>
        <p:spPr>
          <a:xfrm>
            <a:off x="411480" y="164592"/>
            <a:ext cx="8321040" cy="475488"/>
          </a:xfrm>
          <a:prstGeom prst="rect">
            <a:avLst/>
          </a:prstGeom>
          <a:noFill/>
          <a:ln/>
        </p:spPr>
        <p:txBody>
          <a:bodyPr wrap="square" lIns="0" tIns="0" rIns="0" bIns="0" rtlCol="0" anchor="ctr"/>
          <a:lstStyle/>
          <a:p>
            <a:pPr marL="0" indent="0">
              <a:buNone/>
            </a:pPr>
            <a:r>
              <a:rPr lang="en-US" sz="2200" b="1" kern="0" spc="100" dirty="0">
                <a:solidFill>
                  <a:sysClr val="windowText" lastClr="000000"/>
                </a:solidFill>
                <a:latin typeface="Calibri" pitchFamily="34" charset="0"/>
                <a:ea typeface="Calibri" pitchFamily="34" charset="-122"/>
                <a:cs typeface="Calibri" pitchFamily="34" charset="-120"/>
              </a:rPr>
              <a:t>IMPLICATIONS FOR EDUCATION &amp; POLICY</a:t>
            </a:r>
            <a:endParaRPr lang="en-US" sz="2200" dirty="0">
              <a:solidFill>
                <a:sysClr val="windowText" lastClr="000000"/>
              </a:solidFill>
            </a:endParaRPr>
          </a:p>
        </p:txBody>
      </p:sp>
      <p:sp>
        <p:nvSpPr>
          <p:cNvPr id="4" name="Text 2"/>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08</a:t>
            </a:r>
            <a:endParaRPr lang="en-US" sz="1000" dirty="0"/>
          </a:p>
        </p:txBody>
      </p:sp>
      <p:sp>
        <p:nvSpPr>
          <p:cNvPr id="5" name="Shape 3"/>
          <p:cNvSpPr/>
          <p:nvPr/>
        </p:nvSpPr>
        <p:spPr>
          <a:xfrm>
            <a:off x="320040" y="822960"/>
            <a:ext cx="4160520" cy="178308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822960"/>
            <a:ext cx="4160520" cy="64008"/>
          </a:xfrm>
          <a:prstGeom prst="rect">
            <a:avLst/>
          </a:prstGeom>
          <a:solidFill>
            <a:srgbClr val="0D9488"/>
          </a:solidFill>
          <a:ln w="12700">
            <a:solidFill>
              <a:srgbClr val="0D9488"/>
            </a:solidFill>
            <a:prstDash val="solid"/>
          </a:ln>
        </p:spPr>
      </p:sp>
      <p:sp>
        <p:nvSpPr>
          <p:cNvPr id="7" name="Text 5"/>
          <p:cNvSpPr/>
          <p:nvPr/>
        </p:nvSpPr>
        <p:spPr>
          <a:xfrm>
            <a:off x="484632" y="950976"/>
            <a:ext cx="3840480" cy="365760"/>
          </a:xfrm>
          <a:prstGeom prst="rect">
            <a:avLst/>
          </a:prstGeom>
          <a:noFill/>
          <a:ln/>
        </p:spPr>
        <p:txBody>
          <a:bodyPr wrap="square" lIns="0" tIns="0" rIns="0" bIns="0" rtlCol="0" anchor="ctr"/>
          <a:lstStyle/>
          <a:p>
            <a:pPr marL="0" indent="0">
              <a:buNone/>
            </a:pPr>
            <a:r>
              <a:rPr lang="en-US" sz="1200" b="1" dirty="0">
                <a:solidFill>
                  <a:srgbClr val="0F2D4E"/>
                </a:solidFill>
                <a:latin typeface="Calibri" pitchFamily="34" charset="0"/>
                <a:ea typeface="Calibri" pitchFamily="34" charset="-122"/>
                <a:cs typeface="Calibri" pitchFamily="34" charset="-120"/>
              </a:rPr>
              <a:t>Rethink Communication Strategy</a:t>
            </a:r>
            <a:endParaRPr lang="en-US" sz="1200" dirty="0"/>
          </a:p>
        </p:txBody>
      </p:sp>
      <p:sp>
        <p:nvSpPr>
          <p:cNvPr id="8" name="Shape 6"/>
          <p:cNvSpPr/>
          <p:nvPr/>
        </p:nvSpPr>
        <p:spPr>
          <a:xfrm>
            <a:off x="484632" y="1353312"/>
            <a:ext cx="3840480" cy="0"/>
          </a:xfrm>
          <a:prstGeom prst="line">
            <a:avLst/>
          </a:prstGeom>
          <a:noFill/>
          <a:ln w="6350">
            <a:solidFill>
              <a:srgbClr val="E2E8F0"/>
            </a:solidFill>
            <a:prstDash val="solid"/>
          </a:ln>
        </p:spPr>
      </p:sp>
      <p:sp>
        <p:nvSpPr>
          <p:cNvPr id="9" name="Text 7"/>
          <p:cNvSpPr/>
          <p:nvPr/>
        </p:nvSpPr>
        <p:spPr>
          <a:xfrm>
            <a:off x="484632" y="1444752"/>
            <a:ext cx="3840480" cy="109728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Move beyond the information deficit model. Affective engagement and experiential learning produce lasting behaviour change where facts alone cannot.</a:t>
            </a:r>
            <a:endParaRPr lang="en-US" sz="1050" dirty="0"/>
          </a:p>
        </p:txBody>
      </p:sp>
      <p:sp>
        <p:nvSpPr>
          <p:cNvPr id="10" name="Shape 8"/>
          <p:cNvSpPr/>
          <p:nvPr/>
        </p:nvSpPr>
        <p:spPr>
          <a:xfrm>
            <a:off x="4754880" y="822960"/>
            <a:ext cx="4160520" cy="178308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1" name="Shape 9"/>
          <p:cNvSpPr/>
          <p:nvPr/>
        </p:nvSpPr>
        <p:spPr>
          <a:xfrm>
            <a:off x="4754880" y="822960"/>
            <a:ext cx="4160520" cy="64008"/>
          </a:xfrm>
          <a:prstGeom prst="rect">
            <a:avLst/>
          </a:prstGeom>
          <a:solidFill>
            <a:srgbClr val="0F2D4E"/>
          </a:solidFill>
          <a:ln w="12700">
            <a:solidFill>
              <a:srgbClr val="0F2D4E"/>
            </a:solidFill>
            <a:prstDash val="solid"/>
          </a:ln>
        </p:spPr>
      </p:sp>
      <p:sp>
        <p:nvSpPr>
          <p:cNvPr id="12" name="Text 10"/>
          <p:cNvSpPr/>
          <p:nvPr/>
        </p:nvSpPr>
        <p:spPr>
          <a:xfrm>
            <a:off x="4919472" y="950976"/>
            <a:ext cx="3840480" cy="365760"/>
          </a:xfrm>
          <a:prstGeom prst="rect">
            <a:avLst/>
          </a:prstGeom>
          <a:noFill/>
          <a:ln/>
        </p:spPr>
        <p:txBody>
          <a:bodyPr wrap="square" lIns="0" tIns="0" rIns="0" bIns="0" rtlCol="0" anchor="ctr"/>
          <a:lstStyle/>
          <a:p>
            <a:pPr marL="0" indent="0">
              <a:buNone/>
            </a:pPr>
            <a:r>
              <a:rPr lang="en-US" sz="1200" b="1" dirty="0">
                <a:solidFill>
                  <a:srgbClr val="0F2D4E"/>
                </a:solidFill>
                <a:latin typeface="Calibri" pitchFamily="34" charset="0"/>
                <a:ea typeface="Calibri" pitchFamily="34" charset="-122"/>
                <a:cs typeface="Calibri" pitchFamily="34" charset="-120"/>
              </a:rPr>
              <a:t>Simulation as Pedagogical Tool</a:t>
            </a:r>
            <a:endParaRPr lang="en-US" sz="1200" dirty="0"/>
          </a:p>
        </p:txBody>
      </p:sp>
      <p:sp>
        <p:nvSpPr>
          <p:cNvPr id="13" name="Shape 11"/>
          <p:cNvSpPr/>
          <p:nvPr/>
        </p:nvSpPr>
        <p:spPr>
          <a:xfrm>
            <a:off x="4919472" y="1353312"/>
            <a:ext cx="3840480" cy="0"/>
          </a:xfrm>
          <a:prstGeom prst="line">
            <a:avLst/>
          </a:prstGeom>
          <a:noFill/>
          <a:ln w="6350">
            <a:solidFill>
              <a:srgbClr val="E2E8F0"/>
            </a:solidFill>
            <a:prstDash val="solid"/>
          </a:ln>
        </p:spPr>
      </p:sp>
      <p:sp>
        <p:nvSpPr>
          <p:cNvPr id="14" name="Text 12"/>
          <p:cNvSpPr/>
          <p:nvPr/>
        </p:nvSpPr>
        <p:spPr>
          <a:xfrm>
            <a:off x="4919472" y="1444752"/>
            <a:ext cx="3840480" cy="109728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Role-play + interactive models enable learners to experience complex systems personally. The 'learn for yourself' effect is more powerful than passive reception.</a:t>
            </a:r>
            <a:endParaRPr lang="en-US" sz="1050" dirty="0"/>
          </a:p>
        </p:txBody>
      </p:sp>
      <p:sp>
        <p:nvSpPr>
          <p:cNvPr id="15" name="Shape 13"/>
          <p:cNvSpPr/>
          <p:nvPr/>
        </p:nvSpPr>
        <p:spPr>
          <a:xfrm>
            <a:off x="320040" y="2788920"/>
            <a:ext cx="4160520" cy="178308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6" name="Shape 14"/>
          <p:cNvSpPr/>
          <p:nvPr/>
        </p:nvSpPr>
        <p:spPr>
          <a:xfrm>
            <a:off x="320040" y="2788920"/>
            <a:ext cx="4160520" cy="64008"/>
          </a:xfrm>
          <a:prstGeom prst="rect">
            <a:avLst/>
          </a:prstGeom>
          <a:solidFill>
            <a:srgbClr val="F59E0B"/>
          </a:solidFill>
          <a:ln w="12700">
            <a:solidFill>
              <a:srgbClr val="F59E0B"/>
            </a:solidFill>
            <a:prstDash val="solid"/>
          </a:ln>
        </p:spPr>
      </p:sp>
      <p:sp>
        <p:nvSpPr>
          <p:cNvPr id="17" name="Text 15"/>
          <p:cNvSpPr/>
          <p:nvPr/>
        </p:nvSpPr>
        <p:spPr>
          <a:xfrm>
            <a:off x="484632" y="2916936"/>
            <a:ext cx="3840480" cy="365760"/>
          </a:xfrm>
          <a:prstGeom prst="rect">
            <a:avLst/>
          </a:prstGeom>
          <a:noFill/>
          <a:ln/>
        </p:spPr>
        <p:txBody>
          <a:bodyPr wrap="square" lIns="0" tIns="0" rIns="0" bIns="0" rtlCol="0" anchor="ctr"/>
          <a:lstStyle/>
          <a:p>
            <a:pPr marL="0" indent="0">
              <a:buNone/>
            </a:pPr>
            <a:r>
              <a:rPr lang="en-US" sz="1200" b="1" dirty="0">
                <a:solidFill>
                  <a:srgbClr val="0F2D4E"/>
                </a:solidFill>
                <a:latin typeface="Calibri" pitchFamily="34" charset="0"/>
                <a:ea typeface="Calibri" pitchFamily="34" charset="-122"/>
                <a:cs typeface="Calibri" pitchFamily="34" charset="-120"/>
              </a:rPr>
              <a:t>Cross-Political Reach</a:t>
            </a:r>
            <a:endParaRPr lang="en-US" sz="1200" dirty="0"/>
          </a:p>
        </p:txBody>
      </p:sp>
      <p:sp>
        <p:nvSpPr>
          <p:cNvPr id="18" name="Shape 16"/>
          <p:cNvSpPr/>
          <p:nvPr/>
        </p:nvSpPr>
        <p:spPr>
          <a:xfrm>
            <a:off x="484632" y="3319272"/>
            <a:ext cx="3840480" cy="0"/>
          </a:xfrm>
          <a:prstGeom prst="line">
            <a:avLst/>
          </a:prstGeom>
          <a:noFill/>
          <a:ln w="6350">
            <a:solidFill>
              <a:srgbClr val="E2E8F0"/>
            </a:solidFill>
            <a:prstDash val="solid"/>
          </a:ln>
        </p:spPr>
      </p:sp>
      <p:sp>
        <p:nvSpPr>
          <p:cNvPr id="19" name="Text 17"/>
          <p:cNvSpPr/>
          <p:nvPr/>
        </p:nvSpPr>
        <p:spPr>
          <a:xfrm>
            <a:off x="484632" y="3410712"/>
            <a:ext cx="3840480" cy="109728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Gains were equally strong among participants opposing government regulation — a rare finding suggesting simulations can bridge political divides on contested topics.</a:t>
            </a:r>
            <a:endParaRPr lang="en-US" sz="1050" dirty="0"/>
          </a:p>
        </p:txBody>
      </p:sp>
      <p:sp>
        <p:nvSpPr>
          <p:cNvPr id="20" name="Shape 18"/>
          <p:cNvSpPr/>
          <p:nvPr/>
        </p:nvSpPr>
        <p:spPr>
          <a:xfrm>
            <a:off x="4754880" y="2788920"/>
            <a:ext cx="4160520" cy="178308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21" name="Shape 19"/>
          <p:cNvSpPr/>
          <p:nvPr/>
        </p:nvSpPr>
        <p:spPr>
          <a:xfrm>
            <a:off x="4754880" y="2788920"/>
            <a:ext cx="4160520" cy="64008"/>
          </a:xfrm>
          <a:prstGeom prst="rect">
            <a:avLst/>
          </a:prstGeom>
          <a:solidFill>
            <a:srgbClr val="14B8A6"/>
          </a:solidFill>
          <a:ln w="12700">
            <a:solidFill>
              <a:srgbClr val="14B8A6"/>
            </a:solidFill>
            <a:prstDash val="solid"/>
          </a:ln>
        </p:spPr>
      </p:sp>
      <p:sp>
        <p:nvSpPr>
          <p:cNvPr id="22" name="Text 20"/>
          <p:cNvSpPr/>
          <p:nvPr/>
        </p:nvSpPr>
        <p:spPr>
          <a:xfrm>
            <a:off x="4919472" y="2916936"/>
            <a:ext cx="3840480" cy="365760"/>
          </a:xfrm>
          <a:prstGeom prst="rect">
            <a:avLst/>
          </a:prstGeom>
          <a:noFill/>
          <a:ln/>
        </p:spPr>
        <p:txBody>
          <a:bodyPr wrap="square" lIns="0" tIns="0" rIns="0" bIns="0" rtlCol="0" anchor="ctr"/>
          <a:lstStyle/>
          <a:p>
            <a:pPr marL="0" indent="0">
              <a:buNone/>
            </a:pPr>
            <a:r>
              <a:rPr lang="en-US" sz="1200" b="1" dirty="0">
                <a:solidFill>
                  <a:srgbClr val="0F2D4E"/>
                </a:solidFill>
                <a:latin typeface="Calibri" pitchFamily="34" charset="0"/>
                <a:ea typeface="Calibri" pitchFamily="34" charset="-122"/>
                <a:cs typeface="Calibri" pitchFamily="34" charset="-120"/>
              </a:rPr>
              <a:t>Scalability</a:t>
            </a:r>
            <a:endParaRPr lang="en-US" sz="1200" dirty="0"/>
          </a:p>
        </p:txBody>
      </p:sp>
      <p:sp>
        <p:nvSpPr>
          <p:cNvPr id="23" name="Shape 21"/>
          <p:cNvSpPr/>
          <p:nvPr/>
        </p:nvSpPr>
        <p:spPr>
          <a:xfrm>
            <a:off x="4919472" y="3319272"/>
            <a:ext cx="3840480" cy="0"/>
          </a:xfrm>
          <a:prstGeom prst="line">
            <a:avLst/>
          </a:prstGeom>
          <a:noFill/>
          <a:ln w="6350">
            <a:solidFill>
              <a:srgbClr val="E2E8F0"/>
            </a:solidFill>
            <a:prstDash val="solid"/>
          </a:ln>
        </p:spPr>
      </p:sp>
      <p:sp>
        <p:nvSpPr>
          <p:cNvPr id="24" name="Text 22"/>
          <p:cNvSpPr/>
          <p:nvPr/>
        </p:nvSpPr>
        <p:spPr>
          <a:xfrm>
            <a:off x="4919472" y="3410712"/>
            <a:ext cx="3840480" cy="109728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42,000+ participants in 77 countries by 2018. Designated official resource in France, Germany, and South Korea. Free and open source.</a:t>
            </a:r>
            <a:endParaRPr lang="en-US" sz="1050" dirty="0"/>
          </a:p>
        </p:txBody>
      </p:sp>
      <p:sp>
        <p:nvSpPr>
          <p:cNvPr id="25" name="Shape 23"/>
          <p:cNvSpPr/>
          <p:nvPr/>
        </p:nvSpPr>
        <p:spPr>
          <a:xfrm>
            <a:off x="320040" y="4617720"/>
            <a:ext cx="8503920" cy="320040"/>
          </a:xfrm>
          <a:prstGeom prst="rect">
            <a:avLst/>
          </a:prstGeom>
          <a:solidFill>
            <a:srgbClr val="0F2D4E"/>
          </a:solidFill>
          <a:ln w="12700">
            <a:solidFill>
              <a:srgbClr val="0F2D4E"/>
            </a:solidFill>
            <a:prstDash val="solid"/>
          </a:ln>
        </p:spPr>
      </p:sp>
      <p:sp>
        <p:nvSpPr>
          <p:cNvPr id="26" name="Text 24"/>
          <p:cNvSpPr/>
          <p:nvPr/>
        </p:nvSpPr>
        <p:spPr>
          <a:xfrm>
            <a:off x="457200" y="4617720"/>
            <a:ext cx="832104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Key Insight: Urgency + Hope → Action.   Neither knowledge alone nor despair is sufficient.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D4E"/>
        </a:solidFill>
        <a:effectLst/>
      </p:bgPr>
    </p:bg>
    <p:spTree>
      <p:nvGrpSpPr>
        <p:cNvPr id="1" name=""/>
        <p:cNvGrpSpPr/>
        <p:nvPr/>
      </p:nvGrpSpPr>
      <p:grpSpPr>
        <a:xfrm>
          <a:off x="0" y="0"/>
          <a:ext cx="0" cy="0"/>
          <a:chOff x="0" y="0"/>
          <a:chExt cx="0" cy="0"/>
        </a:xfrm>
      </p:grpSpPr>
      <p:sp>
        <p:nvSpPr>
          <p:cNvPr id="2" name="Shape 0"/>
          <p:cNvSpPr/>
          <p:nvPr/>
        </p:nvSpPr>
        <p:spPr>
          <a:xfrm>
            <a:off x="0" y="1645920"/>
            <a:ext cx="9144000" cy="54864"/>
          </a:xfrm>
          <a:prstGeom prst="rect">
            <a:avLst/>
          </a:prstGeom>
          <a:solidFill>
            <a:srgbClr val="0D9488"/>
          </a:solidFill>
          <a:ln w="12700">
            <a:solidFill>
              <a:srgbClr val="0D9488"/>
            </a:solidFill>
            <a:prstDash val="solid"/>
          </a:ln>
        </p:spPr>
      </p:sp>
      <p:sp>
        <p:nvSpPr>
          <p:cNvPr id="3" name="Text 1"/>
          <p:cNvSpPr/>
          <p:nvPr/>
        </p:nvSpPr>
        <p:spPr>
          <a:xfrm>
            <a:off x="548640" y="274320"/>
            <a:ext cx="8046720" cy="457200"/>
          </a:xfrm>
          <a:prstGeom prst="rect">
            <a:avLst/>
          </a:prstGeom>
          <a:noFill/>
          <a:ln/>
        </p:spPr>
        <p:txBody>
          <a:bodyPr wrap="square" rtlCol="0" anchor="ctr"/>
          <a:lstStyle/>
          <a:p>
            <a:pPr marL="0" indent="0" algn="ctr">
              <a:buNone/>
            </a:pPr>
            <a:r>
              <a:rPr lang="en-US" sz="1400" b="1" kern="0" spc="400" dirty="0">
                <a:solidFill>
                  <a:srgbClr val="0D9488"/>
                </a:solidFill>
                <a:latin typeface="Calibri" pitchFamily="34" charset="0"/>
                <a:ea typeface="Calibri" pitchFamily="34" charset="-122"/>
                <a:cs typeface="Calibri" pitchFamily="34" charset="-120"/>
              </a:rPr>
              <a:t>CONCLUSION</a:t>
            </a:r>
            <a:endParaRPr lang="en-US" sz="1400" dirty="0"/>
          </a:p>
        </p:txBody>
      </p:sp>
      <p:sp>
        <p:nvSpPr>
          <p:cNvPr id="4" name="Text 2"/>
          <p:cNvSpPr/>
          <p:nvPr/>
        </p:nvSpPr>
        <p:spPr>
          <a:xfrm>
            <a:off x="548640" y="822960"/>
            <a:ext cx="8046720" cy="1005840"/>
          </a:xfrm>
          <a:prstGeom prst="rect">
            <a:avLst/>
          </a:prstGeom>
          <a:noFill/>
          <a:ln/>
        </p:spPr>
        <p:txBody>
          <a:bodyPr wrap="square" rtlCol="0" anchor="ctr"/>
          <a:lstStyle/>
          <a:p>
            <a:pPr marL="0" indent="0" algn="ctr">
              <a:buNone/>
            </a:pPr>
            <a:r>
              <a:rPr lang="en-US" sz="1800" dirty="0">
                <a:solidFill>
                  <a:srgbClr val="FFFFFF"/>
                </a:solidFill>
                <a:latin typeface="Calibri" pitchFamily="34" charset="0"/>
                <a:ea typeface="Calibri" pitchFamily="34" charset="-122"/>
                <a:cs typeface="Calibri" pitchFamily="34" charset="-120"/>
              </a:rPr>
              <a:t>"Effective climate change communication must not only inform — </a:t>
            </a:r>
            <a:r>
              <a:rPr lang="en-US" sz="1800" b="1" dirty="0">
                <a:solidFill>
                  <a:srgbClr val="14B8A6"/>
                </a:solidFill>
                <a:latin typeface="Calibri" pitchFamily="34" charset="0"/>
                <a:ea typeface="Calibri" pitchFamily="34" charset="-122"/>
                <a:cs typeface="Calibri" pitchFamily="34" charset="-120"/>
              </a:rPr>
              <a:t>it must engage people emotionally and socially.</a:t>
            </a:r>
            <a:r>
              <a:rPr lang="en-US" sz="1800" dirty="0">
                <a:solidFill>
                  <a:srgbClr val="FFFFFF"/>
                </a:solidFill>
                <a:latin typeface="Calibri" pitchFamily="34" charset="0"/>
                <a:ea typeface="Calibri" pitchFamily="34" charset="-122"/>
                <a:cs typeface="Calibri" pitchFamily="34" charset="-120"/>
              </a:rPr>
              <a:t>"</a:t>
            </a:r>
            <a:endParaRPr lang="en-US" sz="1800" dirty="0"/>
          </a:p>
        </p:txBody>
      </p:sp>
      <p:sp>
        <p:nvSpPr>
          <p:cNvPr id="5" name="Shape 3"/>
          <p:cNvSpPr/>
          <p:nvPr/>
        </p:nvSpPr>
        <p:spPr>
          <a:xfrm>
            <a:off x="548640" y="1874520"/>
            <a:ext cx="54864" cy="347472"/>
          </a:xfrm>
          <a:prstGeom prst="rect">
            <a:avLst/>
          </a:prstGeom>
          <a:solidFill>
            <a:srgbClr val="0D9488"/>
          </a:solidFill>
          <a:ln w="12700">
            <a:solidFill>
              <a:srgbClr val="0D9488"/>
            </a:solidFill>
            <a:prstDash val="solid"/>
          </a:ln>
        </p:spPr>
      </p:sp>
      <p:sp>
        <p:nvSpPr>
          <p:cNvPr id="6" name="Text 4"/>
          <p:cNvSpPr/>
          <p:nvPr/>
        </p:nvSpPr>
        <p:spPr>
          <a:xfrm>
            <a:off x="749808" y="1874520"/>
            <a:ext cx="777240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World Climate = role-play + system-dynamics simulation, deployed across 8 nations with 2,042 participants</a:t>
            </a:r>
            <a:endParaRPr lang="en-US" sz="1100" dirty="0"/>
          </a:p>
        </p:txBody>
      </p:sp>
      <p:sp>
        <p:nvSpPr>
          <p:cNvPr id="7" name="Shape 5"/>
          <p:cNvSpPr/>
          <p:nvPr/>
        </p:nvSpPr>
        <p:spPr>
          <a:xfrm>
            <a:off x="548640" y="2450592"/>
            <a:ext cx="54864" cy="347472"/>
          </a:xfrm>
          <a:prstGeom prst="rect">
            <a:avLst/>
          </a:prstGeom>
          <a:solidFill>
            <a:srgbClr val="0D9488"/>
          </a:solidFill>
          <a:ln w="12700">
            <a:solidFill>
              <a:srgbClr val="0D9488"/>
            </a:solidFill>
            <a:prstDash val="solid"/>
          </a:ln>
        </p:spPr>
      </p:sp>
      <p:sp>
        <p:nvSpPr>
          <p:cNvPr id="8" name="Text 6"/>
          <p:cNvSpPr/>
          <p:nvPr/>
        </p:nvSpPr>
        <p:spPr>
          <a:xfrm>
            <a:off x="749808" y="2450592"/>
            <a:ext cx="777240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Significant pre→post gains in climate knowledge, affect, intent to act, and desire to learn</a:t>
            </a:r>
            <a:endParaRPr lang="en-US" sz="1100" dirty="0"/>
          </a:p>
        </p:txBody>
      </p:sp>
      <p:sp>
        <p:nvSpPr>
          <p:cNvPr id="9" name="Shape 7"/>
          <p:cNvSpPr/>
          <p:nvPr/>
        </p:nvSpPr>
        <p:spPr>
          <a:xfrm>
            <a:off x="548640" y="3026664"/>
            <a:ext cx="54864" cy="347472"/>
          </a:xfrm>
          <a:prstGeom prst="rect">
            <a:avLst/>
          </a:prstGeom>
          <a:solidFill>
            <a:srgbClr val="0D9488"/>
          </a:solidFill>
          <a:ln w="12700">
            <a:solidFill>
              <a:srgbClr val="0D9488"/>
            </a:solidFill>
            <a:prstDash val="solid"/>
          </a:ln>
        </p:spPr>
      </p:sp>
      <p:sp>
        <p:nvSpPr>
          <p:cNvPr id="10" name="Text 8"/>
          <p:cNvSpPr/>
          <p:nvPr/>
        </p:nvSpPr>
        <p:spPr>
          <a:xfrm>
            <a:off x="749808" y="3026664"/>
            <a:ext cx="777240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Affect — not knowledge — predicts action intent: urgency and hope are the critical levers</a:t>
            </a:r>
            <a:endParaRPr lang="en-US" sz="1100" dirty="0"/>
          </a:p>
        </p:txBody>
      </p:sp>
      <p:sp>
        <p:nvSpPr>
          <p:cNvPr id="11" name="Shape 9"/>
          <p:cNvSpPr/>
          <p:nvPr/>
        </p:nvSpPr>
        <p:spPr>
          <a:xfrm>
            <a:off x="548640" y="3602736"/>
            <a:ext cx="54864" cy="347472"/>
          </a:xfrm>
          <a:prstGeom prst="rect">
            <a:avLst/>
          </a:prstGeom>
          <a:solidFill>
            <a:srgbClr val="0D9488"/>
          </a:solidFill>
          <a:ln w="12700">
            <a:solidFill>
              <a:srgbClr val="0D9488"/>
            </a:solidFill>
            <a:prstDash val="solid"/>
          </a:ln>
        </p:spPr>
      </p:sp>
      <p:sp>
        <p:nvSpPr>
          <p:cNvPr id="12" name="Text 10"/>
          <p:cNvSpPr/>
          <p:nvPr/>
        </p:nvSpPr>
        <p:spPr>
          <a:xfrm>
            <a:off x="749808" y="3602736"/>
            <a:ext cx="777240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Works across the political divide: equally effective with those who oppose government regulation</a:t>
            </a:r>
            <a:endParaRPr lang="en-US" sz="1100" dirty="0"/>
          </a:p>
        </p:txBody>
      </p:sp>
      <p:sp>
        <p:nvSpPr>
          <p:cNvPr id="13" name="Shape 11"/>
          <p:cNvSpPr/>
          <p:nvPr/>
        </p:nvSpPr>
        <p:spPr>
          <a:xfrm>
            <a:off x="548640" y="4178808"/>
            <a:ext cx="54864" cy="347472"/>
          </a:xfrm>
          <a:prstGeom prst="rect">
            <a:avLst/>
          </a:prstGeom>
          <a:solidFill>
            <a:srgbClr val="0D9488"/>
          </a:solidFill>
          <a:ln w="12700">
            <a:solidFill>
              <a:srgbClr val="0D9488"/>
            </a:solidFill>
            <a:prstDash val="solid"/>
          </a:ln>
        </p:spPr>
      </p:sp>
      <p:sp>
        <p:nvSpPr>
          <p:cNvPr id="14" name="Text 12"/>
          <p:cNvSpPr/>
          <p:nvPr/>
        </p:nvSpPr>
        <p:spPr>
          <a:xfrm>
            <a:off x="749808" y="4178808"/>
            <a:ext cx="7772400" cy="384048"/>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Demonstrates the Simulation–Action Research model: identify gap → intervene → evaluate → refine</a:t>
            </a:r>
            <a:endParaRPr lang="en-US" sz="1100" dirty="0"/>
          </a:p>
        </p:txBody>
      </p:sp>
      <p:sp>
        <p:nvSpPr>
          <p:cNvPr id="15" name="Shape 13"/>
          <p:cNvSpPr/>
          <p:nvPr/>
        </p:nvSpPr>
        <p:spPr>
          <a:xfrm>
            <a:off x="548640" y="4736592"/>
            <a:ext cx="8046720" cy="0"/>
          </a:xfrm>
          <a:prstGeom prst="line">
            <a:avLst/>
          </a:prstGeom>
          <a:noFill/>
          <a:ln w="6350">
            <a:solidFill>
              <a:srgbClr val="0D9488"/>
            </a:solidFill>
            <a:prstDash val="solid"/>
          </a:ln>
        </p:spPr>
      </p:sp>
      <p:sp>
        <p:nvSpPr>
          <p:cNvPr id="16" name="Text 14"/>
          <p:cNvSpPr/>
          <p:nvPr/>
        </p:nvSpPr>
        <p:spPr>
          <a:xfrm>
            <a:off x="548640" y="4791456"/>
            <a:ext cx="8046720" cy="256032"/>
          </a:xfrm>
          <a:prstGeom prst="rect">
            <a:avLst/>
          </a:prstGeom>
          <a:noFill/>
          <a:ln/>
        </p:spPr>
        <p:txBody>
          <a:bodyPr wrap="square" rtlCol="0" anchor="ctr"/>
          <a:lstStyle/>
          <a:p>
            <a:pPr marL="0" indent="0">
              <a:buNone/>
            </a:pPr>
            <a:r>
              <a:rPr lang="en-US" sz="800" i="1" dirty="0">
                <a:solidFill>
                  <a:srgbClr val="94A3B8"/>
                </a:solidFill>
                <a:latin typeface="Calibri" pitchFamily="34" charset="0"/>
                <a:ea typeface="Calibri" pitchFamily="34" charset="-122"/>
                <a:cs typeface="Calibri" pitchFamily="34" charset="-120"/>
              </a:rPr>
              <a:t>Rooney-Varga et al. (2018). Combining role-play with interactive simulation to motivate informed climate action. PLOS ONE 13(8): e0202877. https://doi.org/10.1371/journal.pone.0202877</a:t>
            </a:r>
            <a:endParaRPr lang="en-US" sz="800" dirty="0"/>
          </a:p>
        </p:txBody>
      </p:sp>
      <p:sp>
        <p:nvSpPr>
          <p:cNvPr id="17" name="Text 15"/>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2D4E"/>
          </a:solidFill>
          <a:ln w="12700">
            <a:solidFill>
              <a:srgbClr val="0F2D4E"/>
            </a:solidFill>
            <a:prstDash val="solid"/>
          </a:ln>
        </p:spPr>
      </p:sp>
      <p:sp>
        <p:nvSpPr>
          <p:cNvPr id="3" name="Text 1"/>
          <p:cNvSpPr/>
          <p:nvPr/>
        </p:nvSpPr>
        <p:spPr>
          <a:xfrm>
            <a:off x="411480" y="164592"/>
            <a:ext cx="8321040" cy="475488"/>
          </a:xfrm>
          <a:prstGeom prst="rect">
            <a:avLst/>
          </a:prstGeom>
          <a:noFill/>
          <a:ln/>
        </p:spPr>
        <p:txBody>
          <a:bodyPr wrap="square" lIns="0" tIns="0" rIns="0" bIns="0" rtlCol="0" anchor="ctr"/>
          <a:lstStyle/>
          <a:p>
            <a:pPr marL="0" indent="0">
              <a:buNone/>
            </a:pPr>
            <a:r>
              <a:rPr lang="en-US" sz="2200" b="1" kern="0" spc="100" dirty="0">
                <a:solidFill>
                  <a:sysClr val="windowText" lastClr="000000"/>
                </a:solidFill>
                <a:latin typeface="Calibri" pitchFamily="34" charset="0"/>
                <a:ea typeface="Calibri" pitchFamily="34" charset="-122"/>
                <a:cs typeface="Calibri" pitchFamily="34" charset="-120"/>
              </a:rPr>
              <a:t>THE LEARNING MODEL: HOW WORLD CLIMATE WORKS</a:t>
            </a:r>
            <a:endParaRPr lang="en-US" sz="2200" dirty="0">
              <a:solidFill>
                <a:sysClr val="windowText" lastClr="000000"/>
              </a:solidFill>
            </a:endParaRPr>
          </a:p>
        </p:txBody>
      </p:sp>
      <p:sp>
        <p:nvSpPr>
          <p:cNvPr id="4" name="Text 2"/>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10</a:t>
            </a:r>
            <a:endParaRPr lang="en-US" sz="1000" dirty="0"/>
          </a:p>
        </p:txBody>
      </p:sp>
      <p:sp>
        <p:nvSpPr>
          <p:cNvPr id="5" name="Shape 3"/>
          <p:cNvSpPr/>
          <p:nvPr/>
        </p:nvSpPr>
        <p:spPr>
          <a:xfrm>
            <a:off x="320040" y="777240"/>
            <a:ext cx="2743200" cy="347472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777240"/>
            <a:ext cx="2743200" cy="777240"/>
          </a:xfrm>
          <a:prstGeom prst="rect">
            <a:avLst/>
          </a:prstGeom>
          <a:solidFill>
            <a:srgbClr val="0D9488"/>
          </a:solidFill>
          <a:ln w="12700">
            <a:solidFill>
              <a:srgbClr val="0D9488"/>
            </a:solidFill>
            <a:prstDash val="solid"/>
          </a:ln>
        </p:spPr>
      </p:sp>
      <p:sp>
        <p:nvSpPr>
          <p:cNvPr id="7" name="Text 5"/>
          <p:cNvSpPr/>
          <p:nvPr/>
        </p:nvSpPr>
        <p:spPr>
          <a:xfrm>
            <a:off x="429768" y="822960"/>
            <a:ext cx="457200" cy="6858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a:t>
            </a:r>
            <a:endParaRPr lang="en-US" sz="2600" dirty="0"/>
          </a:p>
        </p:txBody>
      </p:sp>
      <p:sp>
        <p:nvSpPr>
          <p:cNvPr id="8" name="Text 6"/>
          <p:cNvSpPr/>
          <p:nvPr/>
        </p:nvSpPr>
        <p:spPr>
          <a:xfrm>
            <a:off x="886968" y="822960"/>
            <a:ext cx="20574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Experiential Learning</a:t>
            </a:r>
            <a:endParaRPr lang="en-US" sz="1200" dirty="0"/>
          </a:p>
        </p:txBody>
      </p:sp>
      <p:sp>
        <p:nvSpPr>
          <p:cNvPr id="9" name="Text 7"/>
          <p:cNvSpPr/>
          <p:nvPr/>
        </p:nvSpPr>
        <p:spPr>
          <a:xfrm>
            <a:off x="886968" y="1216152"/>
            <a:ext cx="2057400" cy="256032"/>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(Kolb, 1984)</a:t>
            </a:r>
            <a:endParaRPr lang="en-US" sz="950" dirty="0"/>
          </a:p>
        </p:txBody>
      </p:sp>
      <p:sp>
        <p:nvSpPr>
          <p:cNvPr id="10" name="Text 8"/>
          <p:cNvSpPr/>
          <p:nvPr/>
        </p:nvSpPr>
        <p:spPr>
          <a:xfrm>
            <a:off x="484632" y="1691640"/>
            <a:ext cx="2423160" cy="2423160"/>
          </a:xfrm>
          <a:prstGeom prst="rect">
            <a:avLst/>
          </a:prstGeom>
          <a:noFill/>
          <a:ln/>
        </p:spPr>
        <p:txBody>
          <a:bodyPr wrap="square" rtlCol="0" anchor="t"/>
          <a:lstStyle/>
          <a:p>
            <a:pPr marL="0" indent="0">
              <a:buNone/>
            </a:pPr>
            <a:r>
              <a:rPr lang="en-US" sz="1100" dirty="0">
                <a:solidFill>
                  <a:srgbClr val="475569"/>
                </a:solidFill>
                <a:latin typeface="Calibri" pitchFamily="34" charset="0"/>
                <a:ea typeface="Calibri" pitchFamily="34" charset="-122"/>
                <a:cs typeface="Calibri" pitchFamily="34" charset="-120"/>
              </a:rPr>
              <a:t>Participants learn by doing — not by being told. Taking a negotiating role creates personal investment in the outcome and activates concrete experience.</a:t>
            </a:r>
            <a:endParaRPr lang="en-US" sz="1100" dirty="0"/>
          </a:p>
        </p:txBody>
      </p:sp>
      <p:sp>
        <p:nvSpPr>
          <p:cNvPr id="11" name="Shape 9"/>
          <p:cNvSpPr/>
          <p:nvPr/>
        </p:nvSpPr>
        <p:spPr>
          <a:xfrm>
            <a:off x="3264408" y="777240"/>
            <a:ext cx="2743200" cy="347472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2" name="Shape 10"/>
          <p:cNvSpPr/>
          <p:nvPr/>
        </p:nvSpPr>
        <p:spPr>
          <a:xfrm>
            <a:off x="3264408" y="777240"/>
            <a:ext cx="2743200" cy="777240"/>
          </a:xfrm>
          <a:prstGeom prst="rect">
            <a:avLst/>
          </a:prstGeom>
          <a:solidFill>
            <a:srgbClr val="0F2D4E"/>
          </a:solidFill>
          <a:ln w="12700">
            <a:solidFill>
              <a:srgbClr val="0F2D4E"/>
            </a:solidFill>
            <a:prstDash val="solid"/>
          </a:ln>
        </p:spPr>
      </p:sp>
      <p:sp>
        <p:nvSpPr>
          <p:cNvPr id="13" name="Text 11"/>
          <p:cNvSpPr/>
          <p:nvPr/>
        </p:nvSpPr>
        <p:spPr>
          <a:xfrm>
            <a:off x="3374136" y="822960"/>
            <a:ext cx="457200" cy="6858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II</a:t>
            </a:r>
            <a:endParaRPr lang="en-US" sz="2600" dirty="0"/>
          </a:p>
        </p:txBody>
      </p:sp>
      <p:sp>
        <p:nvSpPr>
          <p:cNvPr id="14" name="Text 12"/>
          <p:cNvSpPr/>
          <p:nvPr/>
        </p:nvSpPr>
        <p:spPr>
          <a:xfrm>
            <a:off x="3831336" y="822960"/>
            <a:ext cx="20574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Affective Engagement</a:t>
            </a:r>
            <a:endParaRPr lang="en-US" sz="1200" dirty="0"/>
          </a:p>
        </p:txBody>
      </p:sp>
      <p:sp>
        <p:nvSpPr>
          <p:cNvPr id="15" name="Text 13"/>
          <p:cNvSpPr/>
          <p:nvPr/>
        </p:nvSpPr>
        <p:spPr>
          <a:xfrm>
            <a:off x="3831336" y="1216152"/>
            <a:ext cx="2057400" cy="256032"/>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(Slovic, 1987)</a:t>
            </a:r>
            <a:endParaRPr lang="en-US" sz="950" dirty="0"/>
          </a:p>
        </p:txBody>
      </p:sp>
      <p:sp>
        <p:nvSpPr>
          <p:cNvPr id="16" name="Text 14"/>
          <p:cNvSpPr/>
          <p:nvPr/>
        </p:nvSpPr>
        <p:spPr>
          <a:xfrm>
            <a:off x="3429000" y="1691640"/>
            <a:ext cx="2423160" cy="2423160"/>
          </a:xfrm>
          <a:prstGeom prst="rect">
            <a:avLst/>
          </a:prstGeom>
          <a:noFill/>
          <a:ln/>
        </p:spPr>
        <p:txBody>
          <a:bodyPr wrap="square" rtlCol="0" anchor="t"/>
          <a:lstStyle/>
          <a:p>
            <a:pPr marL="0" indent="0">
              <a:buNone/>
            </a:pPr>
            <a:r>
              <a:rPr lang="en-US" sz="1100" dirty="0">
                <a:solidFill>
                  <a:srgbClr val="475569"/>
                </a:solidFill>
                <a:latin typeface="Calibri" pitchFamily="34" charset="0"/>
                <a:ea typeface="Calibri" pitchFamily="34" charset="-122"/>
                <a:cs typeface="Calibri" pitchFamily="34" charset="-120"/>
              </a:rPr>
              <a:t>Risk perception is shaped by emotion, not just cognition. Feeling the urgency of a 3.5°C outcome — in real time — triggers responses passive lectures cannot.</a:t>
            </a:r>
            <a:endParaRPr lang="en-US" sz="1100" dirty="0"/>
          </a:p>
        </p:txBody>
      </p:sp>
      <p:sp>
        <p:nvSpPr>
          <p:cNvPr id="17" name="Shape 15"/>
          <p:cNvSpPr/>
          <p:nvPr/>
        </p:nvSpPr>
        <p:spPr>
          <a:xfrm>
            <a:off x="6208776" y="777240"/>
            <a:ext cx="2743200" cy="347472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8" name="Shape 16"/>
          <p:cNvSpPr/>
          <p:nvPr/>
        </p:nvSpPr>
        <p:spPr>
          <a:xfrm>
            <a:off x="6208776" y="777240"/>
            <a:ext cx="2743200" cy="777240"/>
          </a:xfrm>
          <a:prstGeom prst="rect">
            <a:avLst/>
          </a:prstGeom>
          <a:solidFill>
            <a:srgbClr val="F59E0B"/>
          </a:solidFill>
          <a:ln w="12700">
            <a:solidFill>
              <a:srgbClr val="F59E0B"/>
            </a:solidFill>
            <a:prstDash val="solid"/>
          </a:ln>
        </p:spPr>
      </p:sp>
      <p:sp>
        <p:nvSpPr>
          <p:cNvPr id="19" name="Text 17"/>
          <p:cNvSpPr/>
          <p:nvPr/>
        </p:nvSpPr>
        <p:spPr>
          <a:xfrm>
            <a:off x="6318504" y="822960"/>
            <a:ext cx="457200" cy="6858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III</a:t>
            </a:r>
            <a:endParaRPr lang="en-US" sz="2600" dirty="0"/>
          </a:p>
        </p:txBody>
      </p:sp>
      <p:sp>
        <p:nvSpPr>
          <p:cNvPr id="20" name="Text 18"/>
          <p:cNvSpPr/>
          <p:nvPr/>
        </p:nvSpPr>
        <p:spPr>
          <a:xfrm>
            <a:off x="6775704" y="822960"/>
            <a:ext cx="20574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Social Learning</a:t>
            </a:r>
            <a:endParaRPr lang="en-US" sz="1200" dirty="0"/>
          </a:p>
        </p:txBody>
      </p:sp>
      <p:sp>
        <p:nvSpPr>
          <p:cNvPr id="21" name="Text 19"/>
          <p:cNvSpPr/>
          <p:nvPr/>
        </p:nvSpPr>
        <p:spPr>
          <a:xfrm>
            <a:off x="6775704" y="1216152"/>
            <a:ext cx="2057400" cy="256032"/>
          </a:xfrm>
          <a:prstGeom prst="rect">
            <a:avLst/>
          </a:prstGeom>
          <a:noFill/>
          <a:ln/>
        </p:spPr>
        <p:txBody>
          <a:bodyPr wrap="square" lIns="0" tIns="0" rIns="0" bIns="0" rtlCol="0" anchor="ctr"/>
          <a:lstStyle/>
          <a:p>
            <a:pPr marL="0" indent="0">
              <a:buNone/>
            </a:pPr>
            <a:r>
              <a:rPr lang="en-US" sz="950" i="1" dirty="0">
                <a:solidFill>
                  <a:srgbClr val="FFFFFF"/>
                </a:solidFill>
                <a:latin typeface="Calibri" pitchFamily="34" charset="0"/>
                <a:ea typeface="Calibri" pitchFamily="34" charset="-122"/>
                <a:cs typeface="Calibri" pitchFamily="34" charset="-120"/>
              </a:rPr>
              <a:t>(Bandura, 1977)</a:t>
            </a:r>
            <a:endParaRPr lang="en-US" sz="950" dirty="0"/>
          </a:p>
        </p:txBody>
      </p:sp>
      <p:sp>
        <p:nvSpPr>
          <p:cNvPr id="22" name="Text 20"/>
          <p:cNvSpPr/>
          <p:nvPr/>
        </p:nvSpPr>
        <p:spPr>
          <a:xfrm>
            <a:off x="6373368" y="1691640"/>
            <a:ext cx="2423160" cy="2423160"/>
          </a:xfrm>
          <a:prstGeom prst="rect">
            <a:avLst/>
          </a:prstGeom>
          <a:noFill/>
          <a:ln/>
        </p:spPr>
        <p:txBody>
          <a:bodyPr wrap="square" rtlCol="0" anchor="t"/>
          <a:lstStyle/>
          <a:p>
            <a:pPr marL="0" indent="0">
              <a:buNone/>
            </a:pPr>
            <a:r>
              <a:rPr lang="en-US" sz="1100" dirty="0">
                <a:solidFill>
                  <a:srgbClr val="475569"/>
                </a:solidFill>
                <a:latin typeface="Calibri" pitchFamily="34" charset="0"/>
                <a:ea typeface="Calibri" pitchFamily="34" charset="-122"/>
                <a:cs typeface="Calibri" pitchFamily="34" charset="-120"/>
              </a:rPr>
              <a:t>Face-to-face negotiation exposes participants to peers who take action. Observing similar others motivate and commit creates normative pressure to act.</a:t>
            </a:r>
            <a:endParaRPr lang="en-US" sz="1100" dirty="0"/>
          </a:p>
        </p:txBody>
      </p:sp>
      <p:sp>
        <p:nvSpPr>
          <p:cNvPr id="23" name="Shape 21"/>
          <p:cNvSpPr/>
          <p:nvPr/>
        </p:nvSpPr>
        <p:spPr>
          <a:xfrm>
            <a:off x="320040" y="4407408"/>
            <a:ext cx="8503920" cy="475488"/>
          </a:xfrm>
          <a:prstGeom prst="rect">
            <a:avLst/>
          </a:prstGeom>
          <a:solidFill>
            <a:srgbClr val="0F2D4E"/>
          </a:solidFill>
          <a:ln w="12700">
            <a:solidFill>
              <a:srgbClr val="0F2D4E"/>
            </a:solidFill>
            <a:prstDash val="solid"/>
          </a:ln>
        </p:spPr>
      </p:sp>
      <p:sp>
        <p:nvSpPr>
          <p:cNvPr id="24" name="Text 22"/>
          <p:cNvSpPr/>
          <p:nvPr/>
        </p:nvSpPr>
        <p:spPr>
          <a:xfrm>
            <a:off x="457200" y="4407408"/>
            <a:ext cx="8321040" cy="475488"/>
          </a:xfrm>
          <a:prstGeom prst="rect">
            <a:avLst/>
          </a:prstGeom>
          <a:noFill/>
          <a:ln/>
        </p:spPr>
        <p:txBody>
          <a:bodyPr wrap="square" lIns="0" tIns="0" rIns="0" bIns="0" rtlCol="0" anchor="ctr"/>
          <a:lstStyle/>
          <a:p>
            <a:pPr marL="0" indent="0" algn="ctr">
              <a:buNone/>
            </a:pPr>
            <a:r>
              <a:rPr lang="en-US" sz="1150" dirty="0">
                <a:solidFill>
                  <a:srgbClr val="CCFBF1"/>
                </a:solidFill>
                <a:latin typeface="Calibri" pitchFamily="34" charset="0"/>
                <a:ea typeface="Calibri" pitchFamily="34" charset="-122"/>
                <a:cs typeface="Calibri" pitchFamily="34" charset="-120"/>
              </a:rPr>
              <a:t>Together, these three mechanisms explain why World Climate achieves what information campaigns cannot.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2D4E"/>
          </a:solidFill>
          <a:ln w="12700">
            <a:solidFill>
              <a:srgbClr val="0F2D4E"/>
            </a:solidFill>
            <a:prstDash val="solid"/>
          </a:ln>
        </p:spPr>
      </p:sp>
      <p:sp>
        <p:nvSpPr>
          <p:cNvPr id="3" name="Text 1"/>
          <p:cNvSpPr/>
          <p:nvPr/>
        </p:nvSpPr>
        <p:spPr>
          <a:xfrm>
            <a:off x="411480" y="164592"/>
            <a:ext cx="8321040" cy="475488"/>
          </a:xfrm>
          <a:prstGeom prst="rect">
            <a:avLst/>
          </a:prstGeom>
          <a:noFill/>
          <a:ln/>
        </p:spPr>
        <p:txBody>
          <a:bodyPr wrap="square" lIns="0" tIns="0" rIns="0" bIns="0" rtlCol="0" anchor="ctr"/>
          <a:lstStyle/>
          <a:p>
            <a:pPr marL="0" indent="0">
              <a:buNone/>
            </a:pPr>
            <a:r>
              <a:rPr lang="en-US" sz="2200" b="1" kern="0" spc="100" dirty="0">
                <a:solidFill>
                  <a:sysClr val="windowText" lastClr="000000"/>
                </a:solidFill>
                <a:latin typeface="Calibri" pitchFamily="34" charset="0"/>
                <a:ea typeface="Calibri" pitchFamily="34" charset="-122"/>
                <a:cs typeface="Calibri" pitchFamily="34" charset="-120"/>
              </a:rPr>
              <a:t>VALIDITY: ADDRESSING THREATS TO EXTERNAL GENERALISABILITY</a:t>
            </a:r>
            <a:endParaRPr lang="en-US" sz="2200" dirty="0">
              <a:solidFill>
                <a:sysClr val="windowText" lastClr="000000"/>
              </a:solidFill>
            </a:endParaRPr>
          </a:p>
        </p:txBody>
      </p:sp>
      <p:sp>
        <p:nvSpPr>
          <p:cNvPr id="4" name="Text 2"/>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11</a:t>
            </a:r>
            <a:endParaRPr lang="en-US" sz="1000" dirty="0"/>
          </a:p>
        </p:txBody>
      </p:sp>
      <p:sp>
        <p:nvSpPr>
          <p:cNvPr id="5" name="Shape 3"/>
          <p:cNvSpPr/>
          <p:nvPr/>
        </p:nvSpPr>
        <p:spPr>
          <a:xfrm>
            <a:off x="320040" y="804672"/>
            <a:ext cx="8503920" cy="178308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804672"/>
            <a:ext cx="64008" cy="1783080"/>
          </a:xfrm>
          <a:prstGeom prst="rect">
            <a:avLst/>
          </a:prstGeom>
          <a:solidFill>
            <a:srgbClr val="EF4444"/>
          </a:solidFill>
          <a:ln w="12700">
            <a:solidFill>
              <a:srgbClr val="EF4444"/>
            </a:solidFill>
            <a:prstDash val="solid"/>
          </a:ln>
        </p:spPr>
      </p:sp>
      <p:sp>
        <p:nvSpPr>
          <p:cNvPr id="7" name="Text 5"/>
          <p:cNvSpPr/>
          <p:nvPr/>
        </p:nvSpPr>
        <p:spPr>
          <a:xfrm>
            <a:off x="502920" y="896112"/>
            <a:ext cx="8138160" cy="292608"/>
          </a:xfrm>
          <a:prstGeom prst="rect">
            <a:avLst/>
          </a:prstGeom>
          <a:noFill/>
          <a:ln/>
        </p:spPr>
        <p:txBody>
          <a:bodyPr wrap="square" lIns="0" tIns="0" rIns="0" bIns="0" rtlCol="0" anchor="ctr"/>
          <a:lstStyle/>
          <a:p>
            <a:pPr marL="0" indent="0">
              <a:buNone/>
            </a:pPr>
            <a:r>
              <a:rPr lang="en-US" sz="1200" b="1" dirty="0">
                <a:solidFill>
                  <a:srgbClr val="0F2D4E"/>
                </a:solidFill>
                <a:latin typeface="Calibri" pitchFamily="34" charset="0"/>
                <a:ea typeface="Calibri" pitchFamily="34" charset="-122"/>
                <a:cs typeface="Calibri" pitchFamily="34" charset="-120"/>
              </a:rPr>
              <a:t>Threat 1: Selection Bias</a:t>
            </a:r>
            <a:endParaRPr lang="en-US" sz="1200" dirty="0"/>
          </a:p>
        </p:txBody>
      </p:sp>
      <p:sp>
        <p:nvSpPr>
          <p:cNvPr id="8" name="Text 6"/>
          <p:cNvSpPr/>
          <p:nvPr/>
        </p:nvSpPr>
        <p:spPr>
          <a:xfrm>
            <a:off x="502920" y="1207008"/>
            <a:ext cx="3840480" cy="118872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  Some sessions were voluntary (participants chose to attend); others were required curriculum. Voluntary participants may already care more about climate change.</a:t>
            </a:r>
            <a:endParaRPr lang="en-US" sz="1050" dirty="0"/>
          </a:p>
        </p:txBody>
      </p:sp>
      <p:sp>
        <p:nvSpPr>
          <p:cNvPr id="9" name="Shape 7"/>
          <p:cNvSpPr/>
          <p:nvPr/>
        </p:nvSpPr>
        <p:spPr>
          <a:xfrm>
            <a:off x="4480560" y="941832"/>
            <a:ext cx="0" cy="1508760"/>
          </a:xfrm>
          <a:prstGeom prst="line">
            <a:avLst/>
          </a:prstGeom>
          <a:noFill/>
          <a:ln w="6350">
            <a:solidFill>
              <a:srgbClr val="E2E8F0"/>
            </a:solidFill>
            <a:prstDash val="solid"/>
          </a:ln>
        </p:spPr>
      </p:sp>
      <p:sp>
        <p:nvSpPr>
          <p:cNvPr id="10" name="Text 8"/>
          <p:cNvSpPr/>
          <p:nvPr/>
        </p:nvSpPr>
        <p:spPr>
          <a:xfrm>
            <a:off x="4663440" y="1207008"/>
            <a:ext cx="3931920" cy="1188720"/>
          </a:xfrm>
          <a:prstGeom prst="rect">
            <a:avLst/>
          </a:prstGeom>
          <a:noFill/>
          <a:ln/>
        </p:spPr>
        <p:txBody>
          <a:bodyPr wrap="square" lIns="0" tIns="0" rIns="0" bIns="0" rtlCol="0" anchor="t"/>
          <a:lstStyle/>
          <a:p>
            <a:pPr marL="0" indent="0">
              <a:buNone/>
            </a:pPr>
            <a:r>
              <a:rPr lang="en-US" sz="1050" dirty="0">
                <a:solidFill>
                  <a:srgbClr val="0D9488"/>
                </a:solidFill>
                <a:latin typeface="Calibri" pitchFamily="34" charset="0"/>
                <a:ea typeface="Calibri" pitchFamily="34" charset="-122"/>
                <a:cs typeface="Calibri" pitchFamily="34" charset="-120"/>
              </a:rPr>
              <a:t>✓  Response: Regression analyses run separately for voluntary vs. required groups. Gains were equally strong in both — results are not driven by self-selection.</a:t>
            </a:r>
            <a:endParaRPr lang="en-US" sz="1050" dirty="0"/>
          </a:p>
        </p:txBody>
      </p:sp>
      <p:sp>
        <p:nvSpPr>
          <p:cNvPr id="11" name="Shape 9"/>
          <p:cNvSpPr/>
          <p:nvPr/>
        </p:nvSpPr>
        <p:spPr>
          <a:xfrm>
            <a:off x="320040" y="2798064"/>
            <a:ext cx="8503920" cy="178308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2" name="Shape 10"/>
          <p:cNvSpPr/>
          <p:nvPr/>
        </p:nvSpPr>
        <p:spPr>
          <a:xfrm>
            <a:off x="320040" y="2798064"/>
            <a:ext cx="64008" cy="1783080"/>
          </a:xfrm>
          <a:prstGeom prst="rect">
            <a:avLst/>
          </a:prstGeom>
          <a:solidFill>
            <a:srgbClr val="F59E0B"/>
          </a:solidFill>
          <a:ln w="12700">
            <a:solidFill>
              <a:srgbClr val="F59E0B"/>
            </a:solidFill>
            <a:prstDash val="solid"/>
          </a:ln>
        </p:spPr>
      </p:sp>
      <p:sp>
        <p:nvSpPr>
          <p:cNvPr id="13" name="Text 11"/>
          <p:cNvSpPr/>
          <p:nvPr/>
        </p:nvSpPr>
        <p:spPr>
          <a:xfrm>
            <a:off x="502920" y="2889504"/>
            <a:ext cx="8138160" cy="292608"/>
          </a:xfrm>
          <a:prstGeom prst="rect">
            <a:avLst/>
          </a:prstGeom>
          <a:noFill/>
          <a:ln/>
        </p:spPr>
        <p:txBody>
          <a:bodyPr wrap="square" lIns="0" tIns="0" rIns="0" bIns="0" rtlCol="0" anchor="ctr"/>
          <a:lstStyle/>
          <a:p>
            <a:pPr marL="0" indent="0">
              <a:buNone/>
            </a:pPr>
            <a:r>
              <a:rPr lang="en-US" sz="1200" b="1" dirty="0">
                <a:solidFill>
                  <a:srgbClr val="0F2D4E"/>
                </a:solidFill>
                <a:latin typeface="Calibri" pitchFamily="34" charset="0"/>
                <a:ea typeface="Calibri" pitchFamily="34" charset="-122"/>
                <a:cs typeface="Calibri" pitchFamily="34" charset="-120"/>
              </a:rPr>
              <a:t>Threat 2: Voluntary Response Sampling</a:t>
            </a:r>
            <a:endParaRPr lang="en-US" sz="1200" dirty="0"/>
          </a:p>
        </p:txBody>
      </p:sp>
      <p:sp>
        <p:nvSpPr>
          <p:cNvPr id="14" name="Text 12"/>
          <p:cNvSpPr/>
          <p:nvPr/>
        </p:nvSpPr>
        <p:spPr>
          <a:xfrm>
            <a:off x="502920" y="3200400"/>
            <a:ext cx="3840480" cy="1188720"/>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  Facilitators collected data themselves, raising concerns about social desirability bias and incomplete survey returns skewing results upward.</a:t>
            </a:r>
            <a:endParaRPr lang="en-US" sz="1050" dirty="0"/>
          </a:p>
        </p:txBody>
      </p:sp>
      <p:sp>
        <p:nvSpPr>
          <p:cNvPr id="15" name="Shape 13"/>
          <p:cNvSpPr/>
          <p:nvPr/>
        </p:nvSpPr>
        <p:spPr>
          <a:xfrm>
            <a:off x="4480560" y="2935224"/>
            <a:ext cx="0" cy="1508760"/>
          </a:xfrm>
          <a:prstGeom prst="line">
            <a:avLst/>
          </a:prstGeom>
          <a:noFill/>
          <a:ln w="6350">
            <a:solidFill>
              <a:srgbClr val="E2E8F0"/>
            </a:solidFill>
            <a:prstDash val="solid"/>
          </a:ln>
        </p:spPr>
      </p:sp>
      <p:sp>
        <p:nvSpPr>
          <p:cNvPr id="16" name="Text 14"/>
          <p:cNvSpPr/>
          <p:nvPr/>
        </p:nvSpPr>
        <p:spPr>
          <a:xfrm>
            <a:off x="4663440" y="3200400"/>
            <a:ext cx="3931920" cy="1188720"/>
          </a:xfrm>
          <a:prstGeom prst="rect">
            <a:avLst/>
          </a:prstGeom>
          <a:noFill/>
          <a:ln/>
        </p:spPr>
        <p:txBody>
          <a:bodyPr wrap="square" lIns="0" tIns="0" rIns="0" bIns="0" rtlCol="0" anchor="t"/>
          <a:lstStyle/>
          <a:p>
            <a:pPr marL="0" indent="0">
              <a:buNone/>
            </a:pPr>
            <a:r>
              <a:rPr lang="en-US" sz="1050" dirty="0">
                <a:solidFill>
                  <a:srgbClr val="0D9488"/>
                </a:solidFill>
                <a:latin typeface="Calibri" pitchFamily="34" charset="0"/>
                <a:ea typeface="Calibri" pitchFamily="34" charset="-122"/>
                <a:cs typeface="Calibri" pitchFamily="34" charset="-120"/>
              </a:rPr>
              <a:t>✓  Response: Sensitivity analyses excluded sessions with low response rates and outlier facilitators. Core findings remained robust across all subsets tested.</a:t>
            </a:r>
            <a:endParaRPr lang="en-US" sz="1050" dirty="0"/>
          </a:p>
        </p:txBody>
      </p:sp>
      <p:sp>
        <p:nvSpPr>
          <p:cNvPr id="17" name="Shape 15"/>
          <p:cNvSpPr/>
          <p:nvPr/>
        </p:nvSpPr>
        <p:spPr>
          <a:xfrm>
            <a:off x="320040" y="4626864"/>
            <a:ext cx="8503920" cy="347472"/>
          </a:xfrm>
          <a:prstGeom prst="rect">
            <a:avLst/>
          </a:prstGeom>
          <a:solidFill>
            <a:srgbClr val="CCFBF1"/>
          </a:solidFill>
          <a:ln w="10160">
            <a:solidFill>
              <a:srgbClr val="0D9488"/>
            </a:solidFill>
            <a:prstDash val="solid"/>
          </a:ln>
        </p:spPr>
      </p:sp>
      <p:sp>
        <p:nvSpPr>
          <p:cNvPr id="18" name="Text 16"/>
          <p:cNvSpPr/>
          <p:nvPr/>
        </p:nvSpPr>
        <p:spPr>
          <a:xfrm>
            <a:off x="457200" y="4626864"/>
            <a:ext cx="8321040" cy="347472"/>
          </a:xfrm>
          <a:prstGeom prst="rect">
            <a:avLst/>
          </a:prstGeom>
          <a:noFill/>
          <a:ln/>
        </p:spPr>
        <p:txBody>
          <a:bodyPr wrap="square" rtlCol="0" anchor="ctr"/>
          <a:lstStyle/>
          <a:p>
            <a:pPr marL="0" indent="0">
              <a:buNone/>
            </a:pPr>
            <a:r>
              <a:rPr lang="en-US" sz="1100" b="1" dirty="0">
                <a:solidFill>
                  <a:srgbClr val="0F2D4E"/>
                </a:solidFill>
                <a:latin typeface="Calibri" pitchFamily="34" charset="0"/>
                <a:ea typeface="Calibri" pitchFamily="34" charset="-122"/>
                <a:cs typeface="Calibri" pitchFamily="34" charset="-120"/>
              </a:rPr>
              <a:t>Verdict: Findings are robust to both sampling threats — internal validity is well-supported.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2D4E"/>
          </a:solidFill>
          <a:ln w="12700">
            <a:solidFill>
              <a:srgbClr val="0F2D4E"/>
            </a:solidFill>
            <a:prstDash val="solid"/>
          </a:ln>
        </p:spPr>
      </p:sp>
      <p:sp>
        <p:nvSpPr>
          <p:cNvPr id="3" name="Text 1"/>
          <p:cNvSpPr/>
          <p:nvPr/>
        </p:nvSpPr>
        <p:spPr>
          <a:xfrm>
            <a:off x="411480" y="164592"/>
            <a:ext cx="8321040" cy="475488"/>
          </a:xfrm>
          <a:prstGeom prst="rect">
            <a:avLst/>
          </a:prstGeom>
          <a:noFill/>
          <a:ln/>
        </p:spPr>
        <p:txBody>
          <a:bodyPr wrap="square" lIns="0" tIns="0" rIns="0" bIns="0" rtlCol="0" anchor="ctr"/>
          <a:lstStyle/>
          <a:p>
            <a:pPr marL="0" indent="0">
              <a:buNone/>
            </a:pPr>
            <a:r>
              <a:rPr lang="en-US" sz="2200" b="1" kern="0" spc="100" dirty="0">
                <a:solidFill>
                  <a:sysClr val="windowText" lastClr="000000"/>
                </a:solidFill>
                <a:latin typeface="Calibri" pitchFamily="34" charset="0"/>
                <a:ea typeface="Calibri" pitchFamily="34" charset="-122"/>
                <a:cs typeface="Calibri" pitchFamily="34" charset="-120"/>
              </a:rPr>
              <a:t>LIMITATIONS &amp; FUTURE DIRECTIONS</a:t>
            </a:r>
            <a:endParaRPr lang="en-US" sz="2200" dirty="0">
              <a:solidFill>
                <a:sysClr val="windowText" lastClr="000000"/>
              </a:solidFill>
            </a:endParaRPr>
          </a:p>
        </p:txBody>
      </p:sp>
      <p:sp>
        <p:nvSpPr>
          <p:cNvPr id="4" name="Text 2"/>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12</a:t>
            </a:r>
            <a:endParaRPr lang="en-US" sz="1000" dirty="0"/>
          </a:p>
        </p:txBody>
      </p:sp>
      <p:sp>
        <p:nvSpPr>
          <p:cNvPr id="5" name="Shape 3"/>
          <p:cNvSpPr/>
          <p:nvPr/>
        </p:nvSpPr>
        <p:spPr>
          <a:xfrm>
            <a:off x="320040" y="777240"/>
            <a:ext cx="4114800" cy="41148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6" name="Shape 4"/>
          <p:cNvSpPr/>
          <p:nvPr/>
        </p:nvSpPr>
        <p:spPr>
          <a:xfrm>
            <a:off x="320040" y="777240"/>
            <a:ext cx="4114800" cy="347472"/>
          </a:xfrm>
          <a:prstGeom prst="rect">
            <a:avLst/>
          </a:prstGeom>
          <a:solidFill>
            <a:srgbClr val="EF4444"/>
          </a:solidFill>
          <a:ln w="12700">
            <a:solidFill>
              <a:srgbClr val="EF4444"/>
            </a:solidFill>
            <a:prstDash val="solid"/>
          </a:ln>
        </p:spPr>
      </p:sp>
      <p:sp>
        <p:nvSpPr>
          <p:cNvPr id="7" name="Text 5"/>
          <p:cNvSpPr/>
          <p:nvPr/>
        </p:nvSpPr>
        <p:spPr>
          <a:xfrm>
            <a:off x="457200" y="777240"/>
            <a:ext cx="3840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Limitations</a:t>
            </a:r>
            <a:endParaRPr lang="en-US" sz="1300" dirty="0"/>
          </a:p>
        </p:txBody>
      </p:sp>
      <p:sp>
        <p:nvSpPr>
          <p:cNvPr id="8" name="Text 6"/>
          <p:cNvSpPr/>
          <p:nvPr/>
        </p:nvSpPr>
        <p:spPr>
          <a:xfrm>
            <a:off x="475488" y="1234440"/>
            <a:ext cx="3794760" cy="566928"/>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 No random assignment to treatment vs. control — quasi-experimental design limits causal inference.</a:t>
            </a:r>
            <a:endParaRPr lang="en-US" sz="1050" dirty="0"/>
          </a:p>
        </p:txBody>
      </p:sp>
      <p:sp>
        <p:nvSpPr>
          <p:cNvPr id="9" name="Text 7"/>
          <p:cNvSpPr/>
          <p:nvPr/>
        </p:nvSpPr>
        <p:spPr>
          <a:xfrm>
            <a:off x="475488" y="1856232"/>
            <a:ext cx="3794760" cy="566928"/>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 Self-reported outcomes only — no behavioural follow-up data to confirm actual real-world action.</a:t>
            </a:r>
            <a:endParaRPr lang="en-US" sz="1050" dirty="0"/>
          </a:p>
        </p:txBody>
      </p:sp>
      <p:sp>
        <p:nvSpPr>
          <p:cNvPr id="10" name="Text 8"/>
          <p:cNvSpPr/>
          <p:nvPr/>
        </p:nvSpPr>
        <p:spPr>
          <a:xfrm>
            <a:off x="475488" y="2478024"/>
            <a:ext cx="3794760" cy="566928"/>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 Pre/post design without delayed post-test makes it unclear how long gains persist.</a:t>
            </a:r>
            <a:endParaRPr lang="en-US" sz="1050" dirty="0"/>
          </a:p>
        </p:txBody>
      </p:sp>
      <p:sp>
        <p:nvSpPr>
          <p:cNvPr id="11" name="Text 9"/>
          <p:cNvSpPr/>
          <p:nvPr/>
        </p:nvSpPr>
        <p:spPr>
          <a:xfrm>
            <a:off x="475488" y="3099816"/>
            <a:ext cx="3794760" cy="566928"/>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 Facilitator variation not fully controlled — delivery quality differed across 39 sessions.</a:t>
            </a:r>
            <a:endParaRPr lang="en-US" sz="1050" dirty="0"/>
          </a:p>
        </p:txBody>
      </p:sp>
      <p:sp>
        <p:nvSpPr>
          <p:cNvPr id="12" name="Text 10"/>
          <p:cNvSpPr/>
          <p:nvPr/>
        </p:nvSpPr>
        <p:spPr>
          <a:xfrm>
            <a:off x="475488" y="3721608"/>
            <a:ext cx="3794760" cy="566928"/>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 C-ROADS simplifies some climate feedbacks; participants may over-generalise model outputs.</a:t>
            </a:r>
            <a:endParaRPr lang="en-US" sz="1050" dirty="0"/>
          </a:p>
        </p:txBody>
      </p:sp>
      <p:sp>
        <p:nvSpPr>
          <p:cNvPr id="13" name="Shape 11"/>
          <p:cNvSpPr/>
          <p:nvPr/>
        </p:nvSpPr>
        <p:spPr>
          <a:xfrm>
            <a:off x="4663440" y="777240"/>
            <a:ext cx="4160520" cy="4114800"/>
          </a:xfrm>
          <a:prstGeom prst="rect">
            <a:avLst/>
          </a:prstGeom>
          <a:solidFill>
            <a:srgbClr val="FFFFFF"/>
          </a:solidFill>
          <a:ln w="6350">
            <a:solidFill>
              <a:srgbClr val="E2E8F0"/>
            </a:solidFill>
            <a:prstDash val="solid"/>
          </a:ln>
          <a:effectLst>
            <a:outerShdw blurRad="101600" dist="38100" dir="8100000" algn="bl" rotWithShape="0">
              <a:srgbClr val="000000">
                <a:alpha val="12000"/>
              </a:srgbClr>
            </a:outerShdw>
          </a:effectLst>
        </p:spPr>
      </p:sp>
      <p:sp>
        <p:nvSpPr>
          <p:cNvPr id="14" name="Shape 12"/>
          <p:cNvSpPr/>
          <p:nvPr/>
        </p:nvSpPr>
        <p:spPr>
          <a:xfrm>
            <a:off x="4663440" y="777240"/>
            <a:ext cx="4160520" cy="347472"/>
          </a:xfrm>
          <a:prstGeom prst="rect">
            <a:avLst/>
          </a:prstGeom>
          <a:solidFill>
            <a:srgbClr val="0D9488"/>
          </a:solidFill>
          <a:ln w="12700">
            <a:solidFill>
              <a:srgbClr val="0D9488"/>
            </a:solidFill>
            <a:prstDash val="solid"/>
          </a:ln>
        </p:spPr>
      </p:sp>
      <p:sp>
        <p:nvSpPr>
          <p:cNvPr id="15" name="Text 13"/>
          <p:cNvSpPr/>
          <p:nvPr/>
        </p:nvSpPr>
        <p:spPr>
          <a:xfrm>
            <a:off x="4800600" y="777240"/>
            <a:ext cx="38862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Future Directions</a:t>
            </a:r>
            <a:endParaRPr lang="en-US" sz="1300" dirty="0"/>
          </a:p>
        </p:txBody>
      </p:sp>
      <p:sp>
        <p:nvSpPr>
          <p:cNvPr id="16" name="Shape 14"/>
          <p:cNvSpPr/>
          <p:nvPr/>
        </p:nvSpPr>
        <p:spPr>
          <a:xfrm>
            <a:off x="4800600" y="1261872"/>
            <a:ext cx="201168" cy="201168"/>
          </a:xfrm>
          <a:prstGeom prst="ellipse">
            <a:avLst/>
          </a:prstGeom>
          <a:solidFill>
            <a:srgbClr val="0D9488"/>
          </a:solidFill>
          <a:ln w="12700">
            <a:solidFill>
              <a:srgbClr val="0D9488"/>
            </a:solidFill>
            <a:prstDash val="solid"/>
          </a:ln>
        </p:spPr>
      </p:sp>
      <p:sp>
        <p:nvSpPr>
          <p:cNvPr id="17" name="Text 15"/>
          <p:cNvSpPr/>
          <p:nvPr/>
        </p:nvSpPr>
        <p:spPr>
          <a:xfrm>
            <a:off x="5084064" y="1234440"/>
            <a:ext cx="3611880" cy="566928"/>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Randomised controlled trials to isolate simulation effect from facilitator and setting.</a:t>
            </a:r>
            <a:endParaRPr lang="en-US" sz="1050" dirty="0"/>
          </a:p>
        </p:txBody>
      </p:sp>
      <p:sp>
        <p:nvSpPr>
          <p:cNvPr id="18" name="Shape 16"/>
          <p:cNvSpPr/>
          <p:nvPr/>
        </p:nvSpPr>
        <p:spPr>
          <a:xfrm>
            <a:off x="4800600" y="1883664"/>
            <a:ext cx="201168" cy="201168"/>
          </a:xfrm>
          <a:prstGeom prst="ellipse">
            <a:avLst/>
          </a:prstGeom>
          <a:solidFill>
            <a:srgbClr val="0D9488"/>
          </a:solidFill>
          <a:ln w="12700">
            <a:solidFill>
              <a:srgbClr val="0D9488"/>
            </a:solidFill>
            <a:prstDash val="solid"/>
          </a:ln>
        </p:spPr>
      </p:sp>
      <p:sp>
        <p:nvSpPr>
          <p:cNvPr id="19" name="Text 17"/>
          <p:cNvSpPr/>
          <p:nvPr/>
        </p:nvSpPr>
        <p:spPr>
          <a:xfrm>
            <a:off x="5084064" y="1856232"/>
            <a:ext cx="3611880" cy="566928"/>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Delayed post-test (6-month, 12-month) to measure long-term knowledge and affect retention.</a:t>
            </a:r>
            <a:endParaRPr lang="en-US" sz="1050" dirty="0"/>
          </a:p>
        </p:txBody>
      </p:sp>
      <p:sp>
        <p:nvSpPr>
          <p:cNvPr id="20" name="Shape 18"/>
          <p:cNvSpPr/>
          <p:nvPr/>
        </p:nvSpPr>
        <p:spPr>
          <a:xfrm>
            <a:off x="4800600" y="2505456"/>
            <a:ext cx="201168" cy="201168"/>
          </a:xfrm>
          <a:prstGeom prst="ellipse">
            <a:avLst/>
          </a:prstGeom>
          <a:solidFill>
            <a:srgbClr val="0D9488"/>
          </a:solidFill>
          <a:ln w="12700">
            <a:solidFill>
              <a:srgbClr val="0D9488"/>
            </a:solidFill>
            <a:prstDash val="solid"/>
          </a:ln>
        </p:spPr>
      </p:sp>
      <p:sp>
        <p:nvSpPr>
          <p:cNvPr id="21" name="Text 19"/>
          <p:cNvSpPr/>
          <p:nvPr/>
        </p:nvSpPr>
        <p:spPr>
          <a:xfrm>
            <a:off x="5084064" y="2478024"/>
            <a:ext cx="3611880" cy="566928"/>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Behavioural tracking: emissions audits, civic engagement records, voting patterns.</a:t>
            </a:r>
            <a:endParaRPr lang="en-US" sz="1050" dirty="0"/>
          </a:p>
        </p:txBody>
      </p:sp>
      <p:sp>
        <p:nvSpPr>
          <p:cNvPr id="22" name="Shape 20"/>
          <p:cNvSpPr/>
          <p:nvPr/>
        </p:nvSpPr>
        <p:spPr>
          <a:xfrm>
            <a:off x="4800600" y="3127248"/>
            <a:ext cx="201168" cy="201168"/>
          </a:xfrm>
          <a:prstGeom prst="ellipse">
            <a:avLst/>
          </a:prstGeom>
          <a:solidFill>
            <a:srgbClr val="0D9488"/>
          </a:solidFill>
          <a:ln w="12700">
            <a:solidFill>
              <a:srgbClr val="0D9488"/>
            </a:solidFill>
            <a:prstDash val="solid"/>
          </a:ln>
        </p:spPr>
      </p:sp>
      <p:sp>
        <p:nvSpPr>
          <p:cNvPr id="23" name="Text 21"/>
          <p:cNvSpPr/>
          <p:nvPr/>
        </p:nvSpPr>
        <p:spPr>
          <a:xfrm>
            <a:off x="5084064" y="3099816"/>
            <a:ext cx="3611880" cy="566928"/>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Adaptation for K–12 and non-university audiences with simplified C-ROADS interface.</a:t>
            </a:r>
            <a:endParaRPr lang="en-US" sz="1050" dirty="0"/>
          </a:p>
        </p:txBody>
      </p:sp>
      <p:sp>
        <p:nvSpPr>
          <p:cNvPr id="24" name="Shape 22"/>
          <p:cNvSpPr/>
          <p:nvPr/>
        </p:nvSpPr>
        <p:spPr>
          <a:xfrm>
            <a:off x="4800600" y="3749040"/>
            <a:ext cx="201168" cy="201168"/>
          </a:xfrm>
          <a:prstGeom prst="ellipse">
            <a:avLst/>
          </a:prstGeom>
          <a:solidFill>
            <a:srgbClr val="0D9488"/>
          </a:solidFill>
          <a:ln w="12700">
            <a:solidFill>
              <a:srgbClr val="0D9488"/>
            </a:solidFill>
            <a:prstDash val="solid"/>
          </a:ln>
        </p:spPr>
      </p:sp>
      <p:sp>
        <p:nvSpPr>
          <p:cNvPr id="25" name="Text 23"/>
          <p:cNvSpPr/>
          <p:nvPr/>
        </p:nvSpPr>
        <p:spPr>
          <a:xfrm>
            <a:off x="5084064" y="3721608"/>
            <a:ext cx="3611880" cy="566928"/>
          </a:xfrm>
          <a:prstGeom prst="rect">
            <a:avLst/>
          </a:prstGeom>
          <a:noFill/>
          <a:ln/>
        </p:spPr>
        <p:txBody>
          <a:bodyPr wrap="square" lIns="0" tIns="0" rIns="0" bIns="0" rtlCol="0" anchor="t"/>
          <a:lstStyle/>
          <a:p>
            <a:pPr marL="0" indent="0">
              <a:buNone/>
            </a:pPr>
            <a:r>
              <a:rPr lang="en-US" sz="1050" dirty="0">
                <a:solidFill>
                  <a:srgbClr val="475569"/>
                </a:solidFill>
                <a:latin typeface="Calibri" pitchFamily="34" charset="0"/>
                <a:ea typeface="Calibri" pitchFamily="34" charset="-122"/>
                <a:cs typeface="Calibri" pitchFamily="34" charset="-120"/>
              </a:rPr>
              <a:t>VR/immersive simulation version — heightened embodied experience may amplify affect gains.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F2D4E"/>
          </a:solidFill>
          <a:ln w="12700">
            <a:solidFill>
              <a:srgbClr val="0F2D4E"/>
            </a:solidFill>
            <a:prstDash val="solid"/>
          </a:ln>
        </p:spPr>
      </p:sp>
      <p:sp>
        <p:nvSpPr>
          <p:cNvPr id="3" name="Text 1"/>
          <p:cNvSpPr/>
          <p:nvPr/>
        </p:nvSpPr>
        <p:spPr>
          <a:xfrm>
            <a:off x="411480" y="164592"/>
            <a:ext cx="8321040" cy="475488"/>
          </a:xfrm>
          <a:prstGeom prst="rect">
            <a:avLst/>
          </a:prstGeom>
          <a:noFill/>
          <a:ln/>
        </p:spPr>
        <p:txBody>
          <a:bodyPr wrap="square" lIns="0" tIns="0" rIns="0" bIns="0" rtlCol="0" anchor="ctr"/>
          <a:lstStyle/>
          <a:p>
            <a:pPr marL="0" indent="0">
              <a:buNone/>
            </a:pPr>
            <a:r>
              <a:rPr lang="en-US" sz="2200" b="1" kern="0" spc="100" dirty="0">
                <a:solidFill>
                  <a:sysClr val="windowText" lastClr="000000"/>
                </a:solidFill>
                <a:latin typeface="Calibri" pitchFamily="34" charset="0"/>
                <a:ea typeface="Calibri" pitchFamily="34" charset="-122"/>
                <a:cs typeface="Calibri" pitchFamily="34" charset="-120"/>
              </a:rPr>
              <a:t>REFERENCES</a:t>
            </a:r>
            <a:endParaRPr lang="en-US" sz="2200" dirty="0">
              <a:solidFill>
                <a:sysClr val="windowText" lastClr="000000"/>
              </a:solidFill>
            </a:endParaRPr>
          </a:p>
        </p:txBody>
      </p:sp>
      <p:sp>
        <p:nvSpPr>
          <p:cNvPr id="4" name="Text 2"/>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13</a:t>
            </a:r>
            <a:endParaRPr lang="en-US" sz="1000" dirty="0"/>
          </a:p>
        </p:txBody>
      </p:sp>
      <p:sp>
        <p:nvSpPr>
          <p:cNvPr id="5" name="Shape 3"/>
          <p:cNvSpPr/>
          <p:nvPr/>
        </p:nvSpPr>
        <p:spPr>
          <a:xfrm>
            <a:off x="320040" y="749808"/>
            <a:ext cx="256032" cy="256032"/>
          </a:xfrm>
          <a:prstGeom prst="rect">
            <a:avLst/>
          </a:prstGeom>
          <a:solidFill>
            <a:srgbClr val="0D9488"/>
          </a:solidFill>
          <a:ln w="12700">
            <a:solidFill>
              <a:srgbClr val="0D9488"/>
            </a:solidFill>
            <a:prstDash val="solid"/>
          </a:ln>
        </p:spPr>
      </p:sp>
      <p:sp>
        <p:nvSpPr>
          <p:cNvPr id="6" name="Text 4"/>
          <p:cNvSpPr/>
          <p:nvPr/>
        </p:nvSpPr>
        <p:spPr>
          <a:xfrm>
            <a:off x="320040" y="74980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1</a:t>
            </a:r>
            <a:endParaRPr lang="en-US" sz="900" dirty="0"/>
          </a:p>
        </p:txBody>
      </p:sp>
      <p:sp>
        <p:nvSpPr>
          <p:cNvPr id="7" name="Text 5"/>
          <p:cNvSpPr/>
          <p:nvPr/>
        </p:nvSpPr>
        <p:spPr>
          <a:xfrm>
            <a:off x="658368" y="740664"/>
            <a:ext cx="8229600" cy="475488"/>
          </a:xfrm>
          <a:prstGeom prst="rect">
            <a:avLst/>
          </a:prstGeom>
          <a:noFill/>
          <a:ln/>
        </p:spPr>
        <p:txBody>
          <a:bodyPr wrap="square" lIns="0" tIns="0" rIns="0" bIns="0" rtlCol="0" anchor="t"/>
          <a:lstStyle/>
          <a:p>
            <a:pPr marL="0" indent="0">
              <a:buNone/>
            </a:pPr>
            <a:r>
              <a:rPr lang="en-US" sz="900" dirty="0">
                <a:solidFill>
                  <a:srgbClr val="475569"/>
                </a:solidFill>
                <a:latin typeface="Calibri" pitchFamily="34" charset="0"/>
                <a:ea typeface="Calibri" pitchFamily="34" charset="-122"/>
                <a:cs typeface="Calibri" pitchFamily="34" charset="-120"/>
              </a:rPr>
              <a:t>Rooney-Varga, J. N., Sterman, J. D., Fracassi, E., Franck, T., Kapmeier, F., Kurker, V., ... &amp; Rath, K. (2018). Combining role-play with interactive simulation to motivate informed climate action: Evidence from the World Climate simulation. PLOS ONE, 13(8), e0202877. https://doi.org/10.1371/journal.pone.0202877</a:t>
            </a:r>
            <a:endParaRPr lang="en-US" sz="900" dirty="0"/>
          </a:p>
        </p:txBody>
      </p:sp>
      <p:sp>
        <p:nvSpPr>
          <p:cNvPr id="8" name="Shape 6"/>
          <p:cNvSpPr/>
          <p:nvPr/>
        </p:nvSpPr>
        <p:spPr>
          <a:xfrm>
            <a:off x="320040" y="1289304"/>
            <a:ext cx="256032" cy="256032"/>
          </a:xfrm>
          <a:prstGeom prst="rect">
            <a:avLst/>
          </a:prstGeom>
          <a:solidFill>
            <a:srgbClr val="0D9488"/>
          </a:solidFill>
          <a:ln w="12700">
            <a:solidFill>
              <a:srgbClr val="0D9488"/>
            </a:solidFill>
            <a:prstDash val="solid"/>
          </a:ln>
        </p:spPr>
      </p:sp>
      <p:sp>
        <p:nvSpPr>
          <p:cNvPr id="9" name="Text 7"/>
          <p:cNvSpPr/>
          <p:nvPr/>
        </p:nvSpPr>
        <p:spPr>
          <a:xfrm>
            <a:off x="320040" y="128930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2</a:t>
            </a:r>
            <a:endParaRPr lang="en-US" sz="900" dirty="0"/>
          </a:p>
        </p:txBody>
      </p:sp>
      <p:sp>
        <p:nvSpPr>
          <p:cNvPr id="11" name="Shape 9"/>
          <p:cNvSpPr/>
          <p:nvPr/>
        </p:nvSpPr>
        <p:spPr>
          <a:xfrm>
            <a:off x="320040" y="1828800"/>
            <a:ext cx="256032" cy="256032"/>
          </a:xfrm>
          <a:prstGeom prst="rect">
            <a:avLst/>
          </a:prstGeom>
          <a:solidFill>
            <a:srgbClr val="0D9488"/>
          </a:solidFill>
          <a:ln w="12700">
            <a:solidFill>
              <a:srgbClr val="0D9488"/>
            </a:solidFill>
            <a:prstDash val="solid"/>
          </a:ln>
        </p:spPr>
      </p:sp>
      <p:sp>
        <p:nvSpPr>
          <p:cNvPr id="12" name="Text 10"/>
          <p:cNvSpPr/>
          <p:nvPr/>
        </p:nvSpPr>
        <p:spPr>
          <a:xfrm>
            <a:off x="320040" y="182880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3</a:t>
            </a:r>
            <a:endParaRPr lang="en-US" sz="900" dirty="0"/>
          </a:p>
        </p:txBody>
      </p:sp>
      <p:sp>
        <p:nvSpPr>
          <p:cNvPr id="13" name="Text 11"/>
          <p:cNvSpPr/>
          <p:nvPr/>
        </p:nvSpPr>
        <p:spPr>
          <a:xfrm>
            <a:off x="658368" y="1341062"/>
            <a:ext cx="8229600" cy="475488"/>
          </a:xfrm>
          <a:prstGeom prst="rect">
            <a:avLst/>
          </a:prstGeom>
          <a:noFill/>
          <a:ln/>
        </p:spPr>
        <p:txBody>
          <a:bodyPr wrap="square" lIns="0" tIns="0" rIns="0" bIns="0" rtlCol="0" anchor="t"/>
          <a:lstStyle/>
          <a:p>
            <a:pPr marL="0" indent="0">
              <a:buNone/>
            </a:pPr>
            <a:r>
              <a:rPr lang="en-US" sz="900" dirty="0">
                <a:solidFill>
                  <a:srgbClr val="475569"/>
                </a:solidFill>
                <a:latin typeface="Calibri" pitchFamily="34" charset="0"/>
                <a:ea typeface="Calibri" pitchFamily="34" charset="-122"/>
                <a:cs typeface="Calibri" pitchFamily="34" charset="-120"/>
              </a:rPr>
              <a:t>Kolb, D. A. (1984). Experiential Learning: Experience as the Source of Learning and Development. Prentice-Hall.</a:t>
            </a:r>
            <a:endParaRPr lang="en-US" sz="900" dirty="0"/>
          </a:p>
        </p:txBody>
      </p:sp>
      <p:sp>
        <p:nvSpPr>
          <p:cNvPr id="14" name="Shape 12"/>
          <p:cNvSpPr/>
          <p:nvPr/>
        </p:nvSpPr>
        <p:spPr>
          <a:xfrm>
            <a:off x="320040" y="2368296"/>
            <a:ext cx="256032" cy="256032"/>
          </a:xfrm>
          <a:prstGeom prst="rect">
            <a:avLst/>
          </a:prstGeom>
          <a:solidFill>
            <a:srgbClr val="0D9488"/>
          </a:solidFill>
          <a:ln w="12700">
            <a:solidFill>
              <a:srgbClr val="0D9488"/>
            </a:solidFill>
            <a:prstDash val="solid"/>
          </a:ln>
        </p:spPr>
      </p:sp>
      <p:sp>
        <p:nvSpPr>
          <p:cNvPr id="15" name="Text 13"/>
          <p:cNvSpPr/>
          <p:nvPr/>
        </p:nvSpPr>
        <p:spPr>
          <a:xfrm>
            <a:off x="320040" y="236829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4</a:t>
            </a:r>
            <a:endParaRPr lang="en-US" sz="900" dirty="0"/>
          </a:p>
        </p:txBody>
      </p:sp>
      <p:sp>
        <p:nvSpPr>
          <p:cNvPr id="16" name="Text 14"/>
          <p:cNvSpPr/>
          <p:nvPr/>
        </p:nvSpPr>
        <p:spPr>
          <a:xfrm>
            <a:off x="658368" y="1886252"/>
            <a:ext cx="8229600" cy="475488"/>
          </a:xfrm>
          <a:prstGeom prst="rect">
            <a:avLst/>
          </a:prstGeom>
          <a:noFill/>
          <a:ln/>
        </p:spPr>
        <p:txBody>
          <a:bodyPr wrap="square" lIns="0" tIns="0" rIns="0" bIns="0" rtlCol="0" anchor="t"/>
          <a:lstStyle/>
          <a:p>
            <a:pPr marL="0" indent="0">
              <a:buNone/>
            </a:pPr>
            <a:r>
              <a:rPr lang="en-US" sz="900" dirty="0">
                <a:solidFill>
                  <a:srgbClr val="475569"/>
                </a:solidFill>
                <a:latin typeface="Calibri" pitchFamily="34" charset="0"/>
                <a:ea typeface="Calibri" pitchFamily="34" charset="-122"/>
                <a:cs typeface="Calibri" pitchFamily="34" charset="-120"/>
              </a:rPr>
              <a:t>Slovic, P. (1987). Perception of risk. Science, 236(4799), 280–285.</a:t>
            </a:r>
            <a:endParaRPr lang="en-US" sz="900" dirty="0"/>
          </a:p>
        </p:txBody>
      </p:sp>
      <p:sp>
        <p:nvSpPr>
          <p:cNvPr id="18" name="Text 16"/>
          <p:cNvSpPr/>
          <p:nvPr/>
        </p:nvSpPr>
        <p:spPr>
          <a:xfrm>
            <a:off x="320040" y="290779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5</a:t>
            </a:r>
            <a:endParaRPr lang="en-US" sz="900" dirty="0"/>
          </a:p>
        </p:txBody>
      </p:sp>
      <p:sp>
        <p:nvSpPr>
          <p:cNvPr id="19" name="Text 17"/>
          <p:cNvSpPr/>
          <p:nvPr/>
        </p:nvSpPr>
        <p:spPr>
          <a:xfrm>
            <a:off x="658368" y="2386584"/>
            <a:ext cx="8229600" cy="475488"/>
          </a:xfrm>
          <a:prstGeom prst="rect">
            <a:avLst/>
          </a:prstGeom>
          <a:noFill/>
          <a:ln/>
        </p:spPr>
        <p:txBody>
          <a:bodyPr wrap="square" lIns="0" tIns="0" rIns="0" bIns="0" rtlCol="0" anchor="t"/>
          <a:lstStyle/>
          <a:p>
            <a:pPr marL="0" indent="0">
              <a:buNone/>
            </a:pPr>
            <a:r>
              <a:rPr lang="en-US" sz="900" dirty="0">
                <a:solidFill>
                  <a:srgbClr val="475569"/>
                </a:solidFill>
                <a:latin typeface="Calibri" pitchFamily="34" charset="0"/>
                <a:ea typeface="Calibri" pitchFamily="34" charset="-122"/>
                <a:cs typeface="Calibri" pitchFamily="34" charset="-120"/>
              </a:rPr>
              <a:t>Bandura, A. (1977). Social Learning Theory. Prentice-Hall.</a:t>
            </a:r>
            <a:endParaRPr lang="en-US" sz="900" dirty="0"/>
          </a:p>
        </p:txBody>
      </p:sp>
      <p:sp>
        <p:nvSpPr>
          <p:cNvPr id="21" name="Text 19"/>
          <p:cNvSpPr/>
          <p:nvPr/>
        </p:nvSpPr>
        <p:spPr>
          <a:xfrm>
            <a:off x="320040" y="344728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6</a:t>
            </a:r>
            <a:endParaRPr lang="en-US" sz="900" dirty="0"/>
          </a:p>
        </p:txBody>
      </p:sp>
      <p:sp>
        <p:nvSpPr>
          <p:cNvPr id="24" name="Text 22"/>
          <p:cNvSpPr/>
          <p:nvPr/>
        </p:nvSpPr>
        <p:spPr>
          <a:xfrm>
            <a:off x="320040" y="398678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7</a:t>
            </a:r>
            <a:endParaRPr lang="en-US" sz="900" dirty="0"/>
          </a:p>
        </p:txBody>
      </p:sp>
      <p:sp>
        <p:nvSpPr>
          <p:cNvPr id="27" name="Text 25"/>
          <p:cNvSpPr/>
          <p:nvPr/>
        </p:nvSpPr>
        <p:spPr>
          <a:xfrm>
            <a:off x="320040" y="452628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rPr>
              <a:t>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F2D4E"/>
        </a:solidFill>
        <a:effectLst/>
      </p:bgPr>
    </p:bg>
    <p:spTree>
      <p:nvGrpSpPr>
        <p:cNvPr id="1" name=""/>
        <p:cNvGrpSpPr/>
        <p:nvPr/>
      </p:nvGrpSpPr>
      <p:grpSpPr>
        <a:xfrm>
          <a:off x="0" y="0"/>
          <a:ext cx="0" cy="0"/>
          <a:chOff x="0" y="0"/>
          <a:chExt cx="0" cy="0"/>
        </a:xfrm>
      </p:grpSpPr>
      <p:sp>
        <p:nvSpPr>
          <p:cNvPr id="2" name="Shape 0"/>
          <p:cNvSpPr/>
          <p:nvPr/>
        </p:nvSpPr>
        <p:spPr>
          <a:xfrm>
            <a:off x="0" y="2651760"/>
            <a:ext cx="9144000" cy="73152"/>
          </a:xfrm>
          <a:prstGeom prst="rect">
            <a:avLst/>
          </a:prstGeom>
          <a:solidFill>
            <a:srgbClr val="0D9488"/>
          </a:solidFill>
          <a:ln w="12700">
            <a:solidFill>
              <a:srgbClr val="0D9488"/>
            </a:solidFill>
            <a:prstDash val="solid"/>
          </a:ln>
        </p:spPr>
      </p:sp>
      <p:sp>
        <p:nvSpPr>
          <p:cNvPr id="3" name="Shape 1"/>
          <p:cNvSpPr/>
          <p:nvPr/>
        </p:nvSpPr>
        <p:spPr>
          <a:xfrm>
            <a:off x="0" y="2761488"/>
            <a:ext cx="9144000" cy="27432"/>
          </a:xfrm>
          <a:prstGeom prst="rect">
            <a:avLst/>
          </a:prstGeom>
          <a:solidFill>
            <a:srgbClr val="14B8A6"/>
          </a:solidFill>
          <a:ln w="12700">
            <a:solidFill>
              <a:srgbClr val="14B8A6"/>
            </a:solidFill>
            <a:prstDash val="solid"/>
          </a:ln>
        </p:spPr>
      </p:sp>
      <p:sp>
        <p:nvSpPr>
          <p:cNvPr id="4" name="Text 2"/>
          <p:cNvSpPr/>
          <p:nvPr/>
        </p:nvSpPr>
        <p:spPr>
          <a:xfrm>
            <a:off x="457200" y="502920"/>
            <a:ext cx="8229600" cy="1371600"/>
          </a:xfrm>
          <a:prstGeom prst="rect">
            <a:avLst/>
          </a:prstGeom>
          <a:noFill/>
          <a:ln/>
        </p:spPr>
        <p:txBody>
          <a:bodyPr wrap="square" rtlCol="0" anchor="ctr"/>
          <a:lstStyle/>
          <a:p>
            <a:pPr marL="0" indent="0" algn="ctr">
              <a:buNone/>
            </a:pPr>
            <a:r>
              <a:rPr lang="en-US" sz="6800" b="1" dirty="0">
                <a:solidFill>
                  <a:srgbClr val="FFFFFF"/>
                </a:solidFill>
                <a:latin typeface="Calibri" pitchFamily="34" charset="0"/>
                <a:ea typeface="Calibri" pitchFamily="34" charset="-122"/>
                <a:cs typeface="Calibri" pitchFamily="34" charset="-120"/>
              </a:rPr>
              <a:t>Questions?</a:t>
            </a:r>
            <a:endParaRPr lang="en-US" sz="6800" dirty="0"/>
          </a:p>
        </p:txBody>
      </p:sp>
      <p:sp>
        <p:nvSpPr>
          <p:cNvPr id="5" name="Text 3"/>
          <p:cNvSpPr/>
          <p:nvPr/>
        </p:nvSpPr>
        <p:spPr>
          <a:xfrm>
            <a:off x="457200" y="1828800"/>
            <a:ext cx="8229600" cy="548640"/>
          </a:xfrm>
          <a:prstGeom prst="rect">
            <a:avLst/>
          </a:prstGeom>
          <a:noFill/>
          <a:ln/>
        </p:spPr>
        <p:txBody>
          <a:bodyPr wrap="square" rtlCol="0" anchor="ctr"/>
          <a:lstStyle/>
          <a:p>
            <a:pPr marL="0" indent="0" algn="ctr">
              <a:buNone/>
            </a:pPr>
            <a:r>
              <a:rPr lang="en-US" sz="2600" dirty="0">
                <a:solidFill>
                  <a:srgbClr val="14B8A6"/>
                </a:solidFill>
                <a:latin typeface="Calibri" pitchFamily="34" charset="0"/>
                <a:ea typeface="Calibri" pitchFamily="34" charset="-122"/>
                <a:cs typeface="Calibri" pitchFamily="34" charset="-120"/>
              </a:rPr>
              <a:t>Thank you for listening.</a:t>
            </a:r>
            <a:endParaRPr lang="en-US" sz="2600" dirty="0"/>
          </a:p>
        </p:txBody>
      </p:sp>
      <p:sp>
        <p:nvSpPr>
          <p:cNvPr id="6" name="Text 4"/>
          <p:cNvSpPr/>
          <p:nvPr/>
        </p:nvSpPr>
        <p:spPr>
          <a:xfrm>
            <a:off x="457200" y="2944368"/>
            <a:ext cx="8229600" cy="402336"/>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Oğuz Kaan Tuğlu</a:t>
            </a:r>
            <a:endParaRPr lang="en-US" sz="1600" dirty="0"/>
          </a:p>
        </p:txBody>
      </p:sp>
      <p:sp>
        <p:nvSpPr>
          <p:cNvPr id="7" name="Text 5"/>
          <p:cNvSpPr/>
          <p:nvPr/>
        </p:nvSpPr>
        <p:spPr>
          <a:xfrm>
            <a:off x="457200" y="3337560"/>
            <a:ext cx="8229600" cy="292608"/>
          </a:xfrm>
          <a:prstGeom prst="rect">
            <a:avLst/>
          </a:prstGeom>
          <a:noFill/>
          <a:ln/>
        </p:spPr>
        <p:txBody>
          <a:bodyPr wrap="square"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SEN601  ·  Rooney-Varga et al. (2018)  ·  PLOS ONE</a:t>
            </a:r>
            <a:endParaRPr lang="en-US" sz="1200" dirty="0"/>
          </a:p>
        </p:txBody>
      </p:sp>
      <p:sp>
        <p:nvSpPr>
          <p:cNvPr id="8" name="Shape 6"/>
          <p:cNvSpPr/>
          <p:nvPr/>
        </p:nvSpPr>
        <p:spPr>
          <a:xfrm>
            <a:off x="1371600" y="3886200"/>
            <a:ext cx="6400800" cy="868680"/>
          </a:xfrm>
          <a:prstGeom prst="rect">
            <a:avLst/>
          </a:prstGeom>
          <a:solidFill>
            <a:srgbClr val="FFFFFF">
              <a:alpha val="8000"/>
            </a:srgbClr>
          </a:solidFill>
          <a:ln w="10160">
            <a:solidFill>
              <a:srgbClr val="0D9488"/>
            </a:solidFill>
            <a:prstDash val="solid"/>
          </a:ln>
        </p:spPr>
      </p:sp>
      <p:sp>
        <p:nvSpPr>
          <p:cNvPr id="9" name="Text 7"/>
          <p:cNvSpPr/>
          <p:nvPr/>
        </p:nvSpPr>
        <p:spPr>
          <a:xfrm>
            <a:off x="1508760" y="3913632"/>
            <a:ext cx="6126480" cy="804672"/>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Key message: </a:t>
            </a:r>
            <a:r>
              <a:rPr lang="en-US" sz="1100" dirty="0">
                <a:solidFill>
                  <a:srgbClr val="FFFFFF"/>
                </a:solidFill>
                <a:latin typeface="Calibri" pitchFamily="34" charset="0"/>
                <a:ea typeface="Calibri" pitchFamily="34" charset="-122"/>
                <a:cs typeface="Calibri" pitchFamily="34" charset="-120"/>
              </a:rPr>
              <a:t>Urgency + Hope → Action.  Simulation is not just a teaching tool — it is a catalyst for science-informed behaviour change.</a:t>
            </a:r>
            <a:endParaRPr lang="en-US" sz="1100" dirty="0"/>
          </a:p>
        </p:txBody>
      </p:sp>
      <p:sp>
        <p:nvSpPr>
          <p:cNvPr id="10" name="Text 8"/>
          <p:cNvSpPr/>
          <p:nvPr/>
        </p:nvSpPr>
        <p:spPr>
          <a:xfrm>
            <a:off x="8503920" y="4800600"/>
            <a:ext cx="502920" cy="228600"/>
          </a:xfrm>
          <a:prstGeom prst="rect">
            <a:avLst/>
          </a:prstGeom>
          <a:noFill/>
          <a:ln/>
        </p:spPr>
        <p:txBody>
          <a:bodyPr wrap="square" lIns="0" tIns="0" rIns="0" bIns="0" rtlCol="0" anchor="ctr"/>
          <a:lstStyle/>
          <a:p>
            <a:pPr marL="0" indent="0" algn="r">
              <a:buNone/>
            </a:pPr>
            <a:r>
              <a:rPr lang="en-US" sz="1000" b="1" dirty="0">
                <a:solidFill>
                  <a:srgbClr val="94A3B8"/>
                </a:solidFill>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723</TotalTime>
  <Words>2675</Words>
  <Application>Microsoft Macintosh PowerPoint</Application>
  <PresentationFormat>On-screen Show (16:9)</PresentationFormat>
  <Paragraphs>223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World Climate Simulation</dc:title>
  <dc:subject>PptxGenJS Presentation</dc:subject>
  <dc:creator>PptxGenJS</dc:creator>
  <cp:lastModifiedBy>Microsoft Office User</cp:lastModifiedBy>
  <cp:revision>4</cp:revision>
  <dcterms:created xsi:type="dcterms:W3CDTF">2026-04-07T19:58:41Z</dcterms:created>
  <dcterms:modified xsi:type="dcterms:W3CDTF">2026-04-09T07:13:19Z</dcterms:modified>
</cp:coreProperties>
</file>