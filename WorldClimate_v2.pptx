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7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Pre-Session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2D4E"/>
                    </a:solidFill>
                    <a:latin typeface="Arial"/>
                  </a:defRPr>
                </a:pPr>
                <a:endParaRPr lang="en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Knowledge</c:v>
                </c:pt>
                <c:pt idx="1">
                  <c:v>Affect / Urgency</c:v>
                </c:pt>
                <c:pt idx="2">
                  <c:v>Intent to Act</c:v>
                </c:pt>
                <c:pt idx="3">
                  <c:v>Desire to Learn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48</c:v>
                </c:pt>
                <c:pt idx="2">
                  <c:v>55</c:v>
                </c:pt>
                <c:pt idx="3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DA-574A-BC8B-7CF85B4362F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Post-Session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2D4E"/>
                    </a:solidFill>
                    <a:latin typeface="Arial"/>
                  </a:defRPr>
                </a:pPr>
                <a:endParaRPr lang="en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Knowledge</c:v>
                </c:pt>
                <c:pt idx="1">
                  <c:v>Affect / Urgency</c:v>
                </c:pt>
                <c:pt idx="2">
                  <c:v>Intent to Act</c:v>
                </c:pt>
                <c:pt idx="3">
                  <c:v>Desire to Learn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</c:v>
                </c:pt>
                <c:pt idx="1">
                  <c:v>78</c:v>
                </c:pt>
                <c:pt idx="2">
                  <c:v>74</c:v>
                </c:pt>
                <c:pt idx="3">
                  <c:v>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5DA-574A-BC8B-7CF85B4362F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T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TR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75569"/>
              </a:solidFill>
            </a:defRPr>
          </a:pPr>
          <a:endParaRPr lang="en-TR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4648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8229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Role-Play with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48640" y="14173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Simulation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48640" y="21945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Motivate Informed Climate Action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2286000" y="2834640"/>
            <a:ext cx="45720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99923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Rooney-Varga et al. (2018)  ·  PLOS ONE  ·  DOI: 10.1371/journal.pone.0202877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3337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Oğuz Kaan Tuğlu  ·  SEN601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89120"/>
            <a:ext cx="2743200" cy="411480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43891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+ Action Research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868680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886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traditional climate communication fails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572768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57276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157276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86968" y="159105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Simulation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Climate: role-play + C-ROADS model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276856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276856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2276856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86968" y="22951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design, sample &amp; measures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868680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868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57800" y="868680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67528" y="88696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affect &amp; intent to act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1572768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572768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57800" y="157276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67528" y="159105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Research Link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improvement cycle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2276856"/>
            <a:ext cx="384048" cy="4572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276856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06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2276856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367528" y="22951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education &amp; policy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WHY INFORMATION ALONE FAILS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8503920" cy="804672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749808"/>
            <a:ext cx="54864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scientific and public understanding of climate change remains wide — </a:t>
            </a:r>
            <a:r>
              <a:rPr lang="en-US" sz="13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decades of information campaigns.</a:t>
            </a: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" y="1719072"/>
            <a:ext cx="27432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719072"/>
            <a:ext cx="27432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" y="1828800"/>
            <a:ext cx="347472" cy="347472"/>
          </a:xfrm>
          <a:prstGeom prst="ellipse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392" y="1828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Limits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9424"/>
            <a:ext cx="2468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33172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can only process 2-3 interacting variables at once — far less than climate dynamics require.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64408" y="1719072"/>
            <a:ext cx="27432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64408" y="1719072"/>
            <a:ext cx="27432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74136" y="1828800"/>
            <a:ext cx="347472" cy="347472"/>
          </a:xfrm>
          <a:prstGeom prst="ellipse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74136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794760" y="1828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Affect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01568" y="2249424"/>
            <a:ext cx="2468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01568" y="233172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presentations fail to trigger the emotional urgency needed for behaviour change.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08776" y="1719072"/>
            <a:ext cx="27432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08776" y="1719072"/>
            <a:ext cx="27432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18504" y="1828800"/>
            <a:ext cx="347472" cy="347472"/>
          </a:xfrm>
          <a:prstGeom prst="ellipse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18504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39128" y="1828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Forces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45936" y="2249424"/>
            <a:ext cx="2468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45936" y="2331720"/>
            <a:ext cx="2468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Identity-based belief systems and social networks shape acceptance more than facts alone.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548640"/>
          </a:xfrm>
          <a:prstGeom prst="rect">
            <a:avLst/>
          </a:prstGeom>
          <a:solidFill>
            <a:srgbClr val="CCFBF1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31596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Let people learn for themselves through simulation and experiential engagement.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CLIMATE SIMULATION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148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49808"/>
            <a:ext cx="41148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59436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98448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ASSIGN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43000" y="128016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receive country/bloc roles: USA, EU, China, India, Other Developed, Other Developing.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194560"/>
            <a:ext cx="59436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NEGOTIATE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43000" y="2176272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Face-to-face talks: each delegation sets Nationally Determined Contributions (NDCs).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090672"/>
            <a:ext cx="59436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9067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SIMULATE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43000" y="3072384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entered into C-ROADS — a system-dynamics climate model — for instant feedback.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438144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986784"/>
            <a:ext cx="59436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986784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DEBRIEF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" y="3968496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Facilitator-led reflection on results, gaps to 2°C target, and emotional responses.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749808"/>
            <a:ext cx="4160520" cy="411480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00600" y="877824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C-ROADS: The Science Engine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1316736"/>
            <a:ext cx="457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129844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Dynamics Model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19472" y="15361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equations model carbon cycle, GHG stocks, radiative forcing, ocean heat exchange, and sea-level rise.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00600" y="1984248"/>
            <a:ext cx="457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1965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Feedback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19472" y="22037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entered → model runs in ~1 second, showing temperature and CO₂ trajectories through 2100.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00600" y="2651760"/>
            <a:ext cx="457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9472" y="263347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&amp; Adjustable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19472" y="287121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tweak climate sensitivity, CO₂ feedbacks, Arctic methane — no black box.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00600" y="3319272"/>
            <a:ext cx="457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9472" y="33009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919472" y="35387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Closely replicates historical data from 1850 and CMIP5 model projections across multiple RCPs.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3986784"/>
            <a:ext cx="4572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19472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Freely Available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19472" y="4206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runs online or offline on any laptop: climateinteractive.org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RESEARCH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1965960" cy="86868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8046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20040" y="1252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Participants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8880" y="749808"/>
            <a:ext cx="1965960" cy="86868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8046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1252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Analyzed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749808"/>
            <a:ext cx="1965960" cy="86868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8046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17720" y="1252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66560" y="749808"/>
            <a:ext cx="1965960" cy="86868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66560" y="8046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766560" y="1252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Design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0040" y="17830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Constructs (Exploratory Factor Analysis)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21408"/>
          <a:ext cx="8503920" cy="21945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Understanding of causes, dynamics, and impacts of climate 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"GHG emissions cause warming over decades"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Affective Engagement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Urgency, hope, concern — emotional responses to climate 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 feel a sense of urgency about climate change"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 to 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Desire to take personal, civic, or political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 intend to reduce my own carbon footprint"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Desire to Learn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Motivation to seek more information about climate 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 want to learn more about what I can do"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320040" y="4572000"/>
            <a:ext cx="8503920" cy="347472"/>
          </a:xfrm>
          <a:prstGeom prst="rect">
            <a:avLst/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4572000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analyses examined whether gains in knowledge vs. affect drove desire to learn and intent to act.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FINDINGS: STATISTICALLY SIGNIFICANT GAINS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06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749808"/>
          <a:ext cx="484632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394960" y="777240"/>
            <a:ext cx="3429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394960" y="777240"/>
            <a:ext cx="54864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41264" y="868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Affect, not Knowledge, drives action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541264" y="118872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in urgency and hope predicted intent to act and desire to learn — but gains in knowledge alone did not.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394960" y="2093976"/>
            <a:ext cx="3429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394960" y="2093976"/>
            <a:ext cx="54864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41264" y="21854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  Crosses political divides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541264" y="250545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opposing government regulation of free markets gained equally — suggesting potential to reach climate skeptics.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94960" y="3410712"/>
            <a:ext cx="342900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394960" y="3410712"/>
            <a:ext cx="54864" cy="11887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41264" y="35021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Consistent across groups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541264" y="382219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were robust across 8 nations, diverse audiences (students, professionals, educators), and voluntary vs. required participation.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RESEARCH LINK: ITERATIVE IMPROVEMENT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0" y="2194560"/>
            <a:ext cx="2743200" cy="105156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2194560"/>
            <a:ext cx="2743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Research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397764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417320"/>
            <a:ext cx="3977640" cy="54864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" y="1545336"/>
            <a:ext cx="347472" cy="347472"/>
          </a:xfrm>
          <a:prstGeom prst="ellipse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545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527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8745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public climate understanding lags science. Existing info campaigns insufficient.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80560" y="914400"/>
            <a:ext cx="397764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914400"/>
            <a:ext cx="397764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1042416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1024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90288" y="13716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World Climate: role-play + C-ROADS. Deploy across 39 sessions in 8 countries.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788920"/>
            <a:ext cx="397764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788920"/>
            <a:ext cx="397764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56048" y="2916936"/>
            <a:ext cx="347472" cy="34747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56048" y="2916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94960" y="2898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56048" y="3246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 surveys + EFA factor analysis + regression. 2,042 participants assessed across four constructs.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3474720"/>
            <a:ext cx="397764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474720"/>
            <a:ext cx="3977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" y="3602736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" y="35844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&amp; REFINE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9768" y="39319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 (not knowledge) drives intent. Simulation iterated: emphasis shifted to emotional engagement &amp; urgency.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rot="-1800000">
            <a:off x="4297680" y="1920240"/>
            <a:ext cx="73152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rot="5400000">
            <a:off x="5943600" y="2066544"/>
            <a:ext cx="73152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 rot="9000000">
            <a:off x="4114800" y="4041648"/>
            <a:ext cx="73152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rot="16200000">
            <a:off x="1965960" y="2834640"/>
            <a:ext cx="73152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  <a:tailEnd type="non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EDUCATION &amp; POLICY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9509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Rethink Communication Strategy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" y="1353312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444752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beyond the information deficit model. Affective engagement and experiential learning produce lasting behaviour change where facts alone cannot.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822960"/>
            <a:ext cx="41605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822960"/>
            <a:ext cx="4160520" cy="6400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95097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 Pedagogical Tool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19472" y="1353312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444752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+ interactive models enable learners to experience complex systems personally. The 'learn for yourself' effect is more powerful than passive reception.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788920"/>
            <a:ext cx="41605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788920"/>
            <a:ext cx="41605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2916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Cross-Political Reach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" y="3319272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3410712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were equally strong among participants opposing government regulation — a rare finding suggesting simulations can bridge political divides on contested topics.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2788920"/>
            <a:ext cx="41605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788920"/>
            <a:ext cx="4160520" cy="640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9472" y="2916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19472" y="3319272"/>
            <a:ext cx="38404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3410712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42,000+ participants in 77 countries by 2018. Designated official resource in France, Germany, and South Korea. Free and open source.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2004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Urgency + Hope → Action.   Neither knowledge alone nor despair is sufficient.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D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"Effective climate change communication must not only inform — </a:t>
            </a: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engage people emotionally and socially.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864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7452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Climate = role-play + system-dynamics simulation, deployed across 8 nations with 2,042 participants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54864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50592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pre→post gains in climate knowledge, affect, intent to act, and desire to learn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54864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02666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 — not knowledge — predicts action intent: urgency and hope are the critical levers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54864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60273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the political divide: equally effective with those who oppose government regulation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178808"/>
            <a:ext cx="54864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17880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the Simulation–Action Research model: identify gap → intervene → evaluate → refine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791456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Rooney-Varga et al. (2018). Combining role-play with interactive simulation to motivate informed climate action. PLOS ONE 13(8): e0202877. https://doi.org/10.1371/journal.pone.0202877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LEARNING MODEL: HOW WORLD CLIMATE WORKS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2743200" cy="777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2296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Experiential Learning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121615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(Kolb, 1984)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" y="1691640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learn by doing — not by being told. Taking a negotiating role creates personal investment in the outcome and activates concrete experience.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64408" y="77724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64408" y="777240"/>
            <a:ext cx="2743200" cy="777240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74136" y="82296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831336" y="822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Affective Engagement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31336" y="121615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(Slovic, 1987)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29000" y="1691640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perception is shaped by emotion, not just cognition. Feeling the urgency of a 3.5°C outcome — in real time — triggers responses passive lectures cannot.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08776" y="777240"/>
            <a:ext cx="27432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08776" y="777240"/>
            <a:ext cx="274320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18504" y="82296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775704" y="822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Learning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75704" y="121615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(Bandura, 1977)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73368" y="1691640"/>
            <a:ext cx="242316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Face-to-face negotiation exposes participants to peers who take action. Observing similar others motivate and commit creates normative pressure to act.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407408"/>
            <a:ext cx="8503920" cy="47548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407408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three mechanisms explain why World Climate achieves what information campaigns cannot.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VALIDITY: ADDRESSING THREATS TO EXTERNAL GENERALISABILITY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64008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89611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1: Selection Bias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207008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Some sessions were voluntary (participants chose to attend); others were required curriculum. Voluntary participants may already care more about climate change.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941832"/>
            <a:ext cx="0" cy="15087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20700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Response: Regression analyses run separately for voluntary vs. required groups. Gains were equally strong in both — results are not driven by self-selection.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798064"/>
            <a:ext cx="85039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798064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8950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2: Voluntary Response Sampling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32004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Facilitators collected data themselves, raising concerns about social desirability bias and incomplete survey returns skewing results upward.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0560" y="2935224"/>
            <a:ext cx="0" cy="15087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2004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Response: Sensitivity analyses excluded sessions with low response rates and outlier facilitators. Core findings remained robust across all subsets tested.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4626864"/>
            <a:ext cx="8503920" cy="347472"/>
          </a:xfrm>
          <a:prstGeom prst="rect">
            <a:avLst/>
          </a:prstGeom>
          <a:solidFill>
            <a:srgbClr val="CCFBF1"/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626864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Findings are robust to both sampling threats — internal validity is well-supported.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DIRECTIONS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11480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777240"/>
            <a:ext cx="411480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" y="12344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random assignment to treatment vs. control — quasi-experimental design limits causal inference.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5488" y="1856232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Self-reported outcomes only — no behavioural follow-up data to confirm actual real-world action.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2478024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Pre/post design without delayed post-test makes it unclear how long gains persist.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" y="309981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Facilitator variation not fully controlled — delivery quality differed across 39 sessions.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372160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C-ROADS simplifies some climate feedbacks; participants may over-generalise model outputs.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777240"/>
            <a:ext cx="41605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777240"/>
            <a:ext cx="41605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7772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00600" y="1261872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4064" y="12344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controlled trials to isolate simulation effect from facilitator and setting.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0600" y="1883664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4064" y="185623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post-test (6-month, 12-month) to measure long-term knowledge and affect retention.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505456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47802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tracking: emissions audits, civic engagement records, voting patterns.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00600" y="3127248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84064" y="3099816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for K–12 and non-university audiences with simplified C-ROADS interface.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00600" y="3749040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7216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VR/immersive simulation version — heightened embodied experience may amplify affect gains.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DISCUSSION: STRENGTHS &amp; OPEN QUESTIONS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1148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7498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70432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252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Reach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2,042 participants across 8 nations gives unusually high external validity for an educational intervention study.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2084832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396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Cross-political robustness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4140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that climate skeptics gain equally is politically important and rarely demonstrated in education research.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999232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clarity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284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Distinguishing affect from knowledge as the driver of intent is a theoretically grounded contribution, not just 'it worked'.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913632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968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access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242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available on Dryad; simulation freely available — high reproducibility and replication potential.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749808"/>
            <a:ext cx="416052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7498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 Open Questions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170432"/>
            <a:ext cx="41605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2252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action vs. intent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14996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intent to act measured immediately post-simulation translate into actual behaviour weeks or months later?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2084832"/>
            <a:ext cx="41605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1396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dependency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00600" y="24140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effect is World Climate vs. a skilled facilitator? Can low-resource settings replicate gains?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999232"/>
            <a:ext cx="41605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validity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33284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EFA-derived constructs reflect researcher choices. Would alternative factor structures produce different conclusions?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913632"/>
            <a:ext cx="41605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9684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D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affect decay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00600" y="424281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and hope may fade without sustained reinforcement. Is a one-shot simulation enough?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F2D4E"/>
          </a:solidFill>
          <a:ln w="12700">
            <a:solidFill>
              <a:srgbClr val="0F2D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749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74066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Rooney-Varga, J. N., Sterman, J. D., Fracassi, E., Franck, T., Kapmeier, F., Kurker, V., ... &amp; Rath, K. (2018). Combining role-play with interactive simulation to motivate informed climate action: Evidence from the World Climate simulation. PLOS ONE, 13(8), e0202877. https://doi.org/10.1371/journal.pone.0202877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289304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289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8368" y="12801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Sterman, J. D., Franck, T., Jones, A., Siegel, L., &amp; Rooney-Varga, J. N. (2015). World Climate: A role-play simulation of climate negotiations. Simulation &amp; Gaming, 46(3–4), 348–382.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1828800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" y="181965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Kolb, D. A. (1984). Experiential Learning: Experience as the Source of Learning and Development. Prentice-Hall.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2368296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368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8368" y="235915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Slovic, P. (1987). Perception of risk. Science, 236(4799), 280–285.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2907792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907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89864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Bandura, A. (1977). Social Learning Theory. Prentice-Hall.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3447288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4472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3438144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Posner, G. J., Strike, K. A., Hewson, P. W., &amp; Gertzog, W. A. (1982). Accommodation of a scientific conception: Toward a theory of conceptual change. Science Education, 66(2), 211–227.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3986784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9776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Nisbet, M. C., &amp; Scheufele, D. A. (2009). What's next for science communication? Promising directions and lingering distractions. American Journal of Botany, 96(10), 1767–1778.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4526280"/>
            <a:ext cx="256032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526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51713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IPCC (2014). Climate Change 2014: Synthesis Report. Contribution of Working Groups I, II and III to the Fifth Assessment Report. IPCC, Geneva.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D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65176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761488"/>
            <a:ext cx="914400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Oğuz Kaan Tuğlu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SEN601  ·  Rooney-Varga et al. (2018)  ·  PLOS 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71600" y="3886200"/>
            <a:ext cx="6400800" cy="868680"/>
          </a:xfrm>
          <a:prstGeom prst="rect">
            <a:avLst/>
          </a:prstGeom>
          <a:solidFill>
            <a:srgbClr val="FFFFFF">
              <a:alpha val="8000"/>
            </a:srgbClr>
          </a:solidFill>
          <a:ln w="1016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3913632"/>
            <a:ext cx="6126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+ Hope → Action.  Simulation is not just a teaching tool — it is a catalyst for science-informed behaviour change.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03920" y="48006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4A3B8"/>
                </a:solidFill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1878</Words>
  <Application>Microsoft Macintosh PowerPoint</Application>
  <PresentationFormat>On-screen Show (16:9)</PresentationFormat>
  <Paragraphs>230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World Climate Simulation</dc:title>
  <dc:subject>PptxGenJS Presentation</dc:subject>
  <dc:creator>PptxGenJS</dc:creator>
  <cp:lastModifiedBy>Microsoft Office User</cp:lastModifiedBy>
  <cp:revision>1</cp:revision>
  <dcterms:created xsi:type="dcterms:W3CDTF">2026-04-07T19:58:41Z</dcterms:created>
  <dcterms:modified xsi:type="dcterms:W3CDTF">2026-04-08T03:50:51Z</dcterms:modified>
</cp:coreProperties>
</file>