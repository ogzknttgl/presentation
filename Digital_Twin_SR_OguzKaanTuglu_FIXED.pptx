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74"/>
    <p:restoredTop sz="86552"/>
  </p:normalViewPr>
  <p:slideViewPr>
    <p:cSldViewPr snapToGrid="0" snapToObjects="1">
      <p:cViewPr varScale="1">
        <p:scale>
          <a:sx n="144" d="100"/>
          <a:sy n="144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D8-9B49-B0A5-DB078E1907D6}"/>
              </c:ext>
            </c:extLst>
          </c:dPt>
          <c:dPt>
            <c:idx val="1"/>
            <c:invertIfNegative val="0"/>
            <c:bubble3D val="0"/>
            <c:spPr>
              <a:solidFill>
                <a:srgbClr val="2A4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D8-9B49-B0A5-DB078E1907D6}"/>
              </c:ext>
            </c:extLst>
          </c:dPt>
          <c:dPt>
            <c:idx val="2"/>
            <c:invertIfNegative val="0"/>
            <c:bubble3D val="0"/>
            <c:spPr>
              <a:solidFill>
                <a:srgbClr val="4A6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D8-9B49-B0A5-DB078E1907D6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D8-9B49-B0A5-DB078E1907D6}"/>
              </c:ext>
            </c:extLst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D8-9B49-B0A5-DB078E1907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Order picking</c:v>
                </c:pt>
                <c:pt idx="1">
                  <c:v>Prod-log. sync</c:v>
                </c:pt>
                <c:pt idx="2">
                  <c:v>Internal transport</c:v>
                </c:pt>
                <c:pt idx="3">
                  <c:v>Smart WH control</c:v>
                </c:pt>
                <c:pt idx="4">
                  <c:v>AGV/AMR dispatch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D8-9B49-B0A5-DB078E190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30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68"/>
            <a:ext cx="3474720" cy="51435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300" dirty="0"/>
          </a:p>
          <a:p>
            <a:pPr marL="0" indent="0">
              <a:buNone/>
            </a:pPr>
            <a:r>
              <a:rPr lang="en-US" sz="1300" b="1" kern="0" spc="30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965960"/>
            <a:ext cx="265176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Oğuz Kaan Tuğlu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2359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Systems Engineering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Informatics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Hacettepe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3063240"/>
            <a:ext cx="265176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SEN601 Research Techniques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Publication Ethics  ·  May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49040" y="9144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Intralogistics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Warehouse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Systems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749040" y="3337560"/>
            <a:ext cx="155448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3383280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3712464"/>
            <a:ext cx="14630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Studies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40680" y="3337560"/>
            <a:ext cx="1554480" cy="749808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3383280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3712464"/>
            <a:ext cx="14630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Reviews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32320" y="3337560"/>
            <a:ext cx="1554480" cy="7498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3383280"/>
            <a:ext cx="1463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3712464"/>
            <a:ext cx="146304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77824"/>
            <a:ext cx="411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778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877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5528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 twins for warehouse control?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536192"/>
            <a:ext cx="411480" cy="50292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361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PICOS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framework guiding the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411480" cy="5029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94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Search Strategy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5528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string, database logic, screening scope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852928"/>
            <a:ext cx="4114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529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Selection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5528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flow and eligibility process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4114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112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Characteristics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5528" y="3758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primary studies + 5 supporting reviews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877824"/>
            <a:ext cx="411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778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877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30368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7-criterion appraisal and evidence strength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536192"/>
            <a:ext cx="4114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53619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RQ1/RQ2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30368" y="1783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areas and enabling technologies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194560"/>
            <a:ext cx="411480" cy="50292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1945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0368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RQ3/RQ4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30368" y="2441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objectives and research maturity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2852928"/>
            <a:ext cx="411480" cy="5029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85292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30368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Discussion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30368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interpretation, systems view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511296"/>
            <a:ext cx="4114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5112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30368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30368" y="3758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Implications, limitations, and future research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·  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68680"/>
            <a:ext cx="8321040" cy="62179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warehouses operate as cyber-physical intralogistics systems: material flows, sensors, robots, WMS/WCS data, operators, and control decisions interact continuously.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269748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2697480" cy="914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1929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picking, storage assignment, routing, batching, congestion, and outbound loading interact dynamically.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72968" y="1581912"/>
            <a:ext cx="269748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1581912"/>
            <a:ext cx="2697480" cy="9144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1929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Data-Rich Environment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RFID, IoT sensors, PLCs, AGVs/AMRs, robot telemetry, and WMS logs create continuous operational traces.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25896" y="1581912"/>
            <a:ext cx="2697480" cy="105156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5896" y="1581912"/>
            <a:ext cx="2697480" cy="914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35624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35624" y="1929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Evidence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35624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DT literature is dispersed across logistics, simulation, AI, systems engineering, and Industry 4.0 research.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8503920" cy="100584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889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this Systematic Review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0358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digital twins are applied in intralogistics and warehouse control.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2461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enabling technologies, architectures, performance objectives, and maturity levels.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456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systems engineering implications: lifecycle, V&amp;V, interoperability, human-in-the-loop, and governance.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82219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synthesized from the revised systematic review paper and its included study matrix.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&amp; PICOS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&amp; PICOS  ·  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4114800" cy="80467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59436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686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78408" y="941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78408" y="11430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application areas of digital twins in intralogistics and warehouse control systems?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45152" y="868680"/>
            <a:ext cx="4114800" cy="80467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868680"/>
            <a:ext cx="594360" cy="8046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8686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0" y="941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Technologies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0" y="11430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technologies and architectures are most frequently used in warehouse and intralogistics DT implementations?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783080"/>
            <a:ext cx="4114800" cy="80467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783080"/>
            <a:ext cx="594360" cy="8046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7830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8408" y="18562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Objectives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8408" y="2057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operational performance objectives are targeted, such as throughput, picking time, travel distance, congestion, utilization, cost, and energy?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45152" y="1783080"/>
            <a:ext cx="4114800" cy="80467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1783080"/>
            <a:ext cx="59436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78308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18562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&amp; Gaps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205740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maturity level of current evidence and what research gaps remain for real-time industrial warehouse control?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2641321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Framework</a:t>
            </a:r>
            <a:endParaRPr 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3771"/>
              </p:ext>
            </p:extLst>
          </p:nvPr>
        </p:nvGraphicFramePr>
        <p:xfrm>
          <a:off x="320040" y="2875787"/>
          <a:ext cx="850392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Operationalization in this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/ Context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Warehouse, intralogistics, production logistics, order picking, AGV/AMR and material handling systems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 / Technology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twins, digital shadows, CPS models, simulation-based DTs, AI-enhanced DTs, DT-enabled control frameworks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simulation, conventional warehouse control, baseline routing/dispatching rules, or non-DT decision support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Throughput, picking time, travel distance, waiting time, congestion, utilization, cost, energy, resilience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studies, case studies, laboratory prototypes, architecture papers, optimization and implementation studies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320040" y="4576571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RQs are aligned with the result sections: RQ1/RQ2 address what is used and where; RQ3/RQ4 address impact, maturity, and gaps.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Search Strategy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Search  ·  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402336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64008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932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Protocol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112471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abstract-level protocol following systematic review logic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structured using PICOS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deviations and limitations recorded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868680"/>
            <a:ext cx="429768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868680"/>
            <a:ext cx="64008" cy="107899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932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Scope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54296" y="112471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(single database) — reproducible, complete, peer-reviewed coverage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English only  ·  Core range: 2021–2026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057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 Logic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8503920" cy="47548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59152"/>
            <a:ext cx="64008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95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Digital twin concept: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"digital twin" OR "digital shadow"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8503920" cy="47548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907792"/>
            <a:ext cx="64008" cy="475488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44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Intralogistics context: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127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"warehouse" OR "intralogistics" OR "material handling" OR "warehouse control" OR "smart warehouse" OR "AS/RS"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8503920" cy="47548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56432"/>
            <a:ext cx="64008" cy="47548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 — Operational resources: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6758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 picking" OR "AGV" OR "automated guided vehicle" OR "AMR" OR "autonomous mobile robot"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8503920" cy="274320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as:  (Group A) AND (Group B OR Group C)  |  Scopus filters: Article, English, 2021–2026, Digital Twins subject area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433425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executed on Scopus. 117 articles retrieved after subject-area filter: "Digital Twins".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Exclusion Criteria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Selection  ·  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402336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Inclusion Criteria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40233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68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Exclusion Criteria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216152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216152"/>
            <a:ext cx="457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2161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12710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English-language studies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80136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801368"/>
            <a:ext cx="457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01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" y="18562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relevance to warehouse logistics, intralogistics, material handling, order picking, AGV/AMR coordination, production logistics, or warehouse control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386584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386584"/>
            <a:ext cx="457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3865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244144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DT / digital shadow / CPS concept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971800"/>
            <a:ext cx="457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" y="30266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model, architecture, simulation, prototype, case study, or implementation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557016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57016"/>
            <a:ext cx="457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57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1248" y="36118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performance, control, decision-support, or operational improvement purpose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1216152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1216152"/>
            <a:ext cx="4572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2161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1808" y="12710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Industry 4.0 DT papers with no intralogistics relevance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180136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1801368"/>
            <a:ext cx="4572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8013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21808" y="18562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Macro-level supply chain strategy only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2386584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386584"/>
            <a:ext cx="4572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3865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21808" y="244144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Non-peer-reviewed webpages, editorials, or commercial material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297180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2971800"/>
            <a:ext cx="4572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21808" y="302666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mentioned superficially with no model, architecture, data link, or control purpose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00600" y="3557016"/>
            <a:ext cx="402336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3557016"/>
            <a:ext cx="4572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557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21808" y="36118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relevance after abstract screening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Selection — PRISMA 2020 Flow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Flow  ·  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9326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133856"/>
            <a:ext cx="310896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956816"/>
            <a:ext cx="3108960" cy="658368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78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3108960" cy="6583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31089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133856"/>
            <a:ext cx="3108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identified through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search engine queries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1956816"/>
            <a:ext cx="3108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screened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Abstract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97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779776"/>
            <a:ext cx="3108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records classified by role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602736"/>
            <a:ext cx="31089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included in qualitative synthesis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primary studies (S1–S15)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57400" y="179222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261518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3438144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1133856"/>
            <a:ext cx="34747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133856"/>
            <a:ext cx="3474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removed before screening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topics removed (medical, nuclear, construction)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11880" y="146304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166360" y="1956816"/>
            <a:ext cx="34747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956816"/>
            <a:ext cx="3474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excluded after abstract screening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EC1–EC5: generic DT, supply chain only, no intralogistics model, superficial DT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11880" y="228600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166360" y="2779776"/>
            <a:ext cx="3474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779776"/>
            <a:ext cx="347472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reviews retained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(R1–R5)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context and comparison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310896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20040" y="44805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flow. Scopus single-database search, 117 articles. 15 primary studies (S1–S15) + 5 supporting reviews (R1–R5).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Included Studies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Characteristics  ·  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82880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91440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280160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studies included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31720" y="868680"/>
            <a:ext cx="1828800" cy="82296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914400"/>
            <a:ext cx="17373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77440" y="1280160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review papers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868680"/>
            <a:ext cx="2011680" cy="8229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914400"/>
            <a:ext cx="19202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1280160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publication range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37960" y="868680"/>
            <a:ext cx="20116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914400"/>
            <a:ext cx="19202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1280160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relevance after selection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/ Study Type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84832"/>
          <a:ext cx="5120640" cy="1783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Study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Studies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/ case study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S9, S10, S11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/ optimization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S1, S2, S4, S5, S6, S7, S8, S14, S15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/ laboratory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S12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/ roadmap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review papers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R1–R5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623560" y="1847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Coverage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23560" y="2084832"/>
            <a:ext cx="3200400" cy="17830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15000" y="2176272"/>
            <a:ext cx="64008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21762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picking and fulfillment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715000" y="2505456"/>
            <a:ext cx="64008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0" y="2505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AGV/AMR routing, capacity and dispatching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715000" y="2834640"/>
            <a:ext cx="64008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2834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transport and material handling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715000" y="3163824"/>
            <a:ext cx="64008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52160" y="3163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Production–logistics synchronization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715000" y="3493008"/>
            <a:ext cx="64008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52160" y="34930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warehouse opti-state control and production sync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20040" y="44805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study types and topics from the revised review's study matrix.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Included Studies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75488" y="47548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Studies (S1–S15) — 15 primary studies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Characteristics  ·  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4160520" cy="2551176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AGV dispatching &amp; routing with DRL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Guerrazzi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SBS/RS picking–outbound loading 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DT-based modularized smart warehouse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 et al. (2021)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joint optimisation: packing &amp; storage in AS/RS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Coelho et al. (2021)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Simulation-based DT for in-house logistics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Jaoua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DT+RL framework for AMR dispatching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Bao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dynamic path planning for multiple AGVs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Gao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decision support for AGV scheduling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68680"/>
          <a:ext cx="4160520" cy="2368296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opti-state control for smart warehousing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multi-granularity sync: production-warehousing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et al. (2025)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multi-dim control: production-intralogistics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Glatt et al. (2021)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of material flows via physics simulation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Pawlewski et al. (2021)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 lean intralogistics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AGV scheduling via digital twin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Félix-Cigalat &amp; Domingo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warehouse: internal transport optimization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20040" y="44805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labels used throughout the deck. Full references provided at the end.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 ·  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8778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extraction form was designed to support cross-study comparison.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152144"/>
            <a:ext cx="1673352" cy="25420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52144"/>
            <a:ext cx="1673352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15214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1: Bibliographic Information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1554480"/>
            <a:ext cx="54864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ID (S1–S15)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1956816"/>
            <a:ext cx="54864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and publication year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359152"/>
            <a:ext cx="54864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venue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1480" y="2761488"/>
            <a:ext cx="54864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2761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domain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66544" y="1152144"/>
            <a:ext cx="1673352" cy="25420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6544" y="1152144"/>
            <a:ext cx="1673352" cy="310896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15214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2: Study Characteristics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57984" y="1554480"/>
            <a:ext cx="54864" cy="18288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57984" y="1956816"/>
            <a:ext cx="54864" cy="18288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intralogistics context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57984" y="2359152"/>
            <a:ext cx="54864" cy="18288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67712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boundaries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57984" y="2761488"/>
            <a:ext cx="54864" cy="18288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761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13048" y="1152144"/>
            <a:ext cx="1673352" cy="25420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3048" y="1152144"/>
            <a:ext cx="1673352" cy="3108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115214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3: DT Architecture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904488" y="1554480"/>
            <a:ext cx="54864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14216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/ shadow type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04488" y="1956816"/>
            <a:ext cx="54864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4216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and synchronization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904488" y="2359152"/>
            <a:ext cx="54864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14216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CPS / AI components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904488" y="2761488"/>
            <a:ext cx="54864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14216" y="2761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WMS/WCS/ERP if stated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59552" y="1152144"/>
            <a:ext cx="1673352" cy="25420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59552" y="1152144"/>
            <a:ext cx="1673352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2704" y="115214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4: Outcomes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650992" y="1554480"/>
            <a:ext cx="54864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objective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50992" y="1956816"/>
            <a:ext cx="54864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50992" y="2359152"/>
            <a:ext cx="54864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improvement direction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50992" y="2761488"/>
            <a:ext cx="54864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2761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relevance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306056" y="1152144"/>
            <a:ext cx="1673352" cy="25420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06056" y="1152144"/>
            <a:ext cx="1673352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79208" y="1152144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5: Quality Indicators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97496" y="1554480"/>
            <a:ext cx="54864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07224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clarity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97496" y="1956816"/>
            <a:ext cx="54864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07224" y="1956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description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397496" y="2359152"/>
            <a:ext cx="54864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07224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97496" y="2761488"/>
            <a:ext cx="54864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07224" y="2761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metrics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397496" y="3163824"/>
            <a:ext cx="54864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07224" y="31638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reported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0040" y="3785616"/>
            <a:ext cx="8503920" cy="548640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inferable from context → recorded with note   ·   If absent → recorded as 'not specified'   ·   No effect-size meta-analysis attempted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Evidence Strength Assessment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 ·  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8778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7-criterion assessment was applied to each included primary study. Scoring: 0 = not addressed, 1 = partial, 2 = clear; maximum = 14.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5303520" cy="270662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Assessment Criterion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objectives / research questions clearly defined?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digital twin scope clearly described?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architecture or model described sufficiently?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data connection / synchronization addressed?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evaluation technique clearly described?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performance metrics reported?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limitations / threats discussed?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9"/>
          <p:cNvSpPr/>
          <p:nvPr/>
        </p:nvSpPr>
        <p:spPr>
          <a:xfrm>
            <a:off x="5897880" y="1143000"/>
            <a:ext cx="292608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1197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8932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 description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97880" y="1920240"/>
            <a:ext cx="292608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8932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evidence description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97880" y="2697480"/>
            <a:ext cx="292608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98932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insufficient evidence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3931920"/>
            <a:ext cx="8503920" cy="438912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95020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outcome: no included study was excluded solely by quality score; scoring is suggestive due to abstract-level screening.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criteria from Appendix B of the revised review paper.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RQ1: Main Application Areas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Results  ·  11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5303520" cy="186537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Studies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AGV/AMR routing &amp; dispatching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S1, S6, S7, S8, S14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transport / material handling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S5, S12, S13, S15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picking &amp; storage optimization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S2, S4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Production-intralogistics sync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S10, S11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warehouse opti-state control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S9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Chart 0"/>
          <p:cNvGraphicFramePr/>
          <p:nvPr/>
        </p:nvGraphicFramePr>
        <p:xfrm>
          <a:off x="5806440" y="822960"/>
          <a:ext cx="3017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2834640"/>
            <a:ext cx="8503920" cy="105156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10" name="Text 9"/>
          <p:cNvSpPr/>
          <p:nvPr/>
        </p:nvSpPr>
        <p:spPr>
          <a:xfrm>
            <a:off x="50292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2920" y="3108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AGV/AMR routing dominates (5 studies), followed by internal transport and material handling (4 studies). DTs are applied primarily to closed-loop control, scenario testing, and AI-driven dispatching optimization.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20040" y="395020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studies: Zhang et al. (2024, JMS), Guerrazzi et al. (2024, FSMJ), Leng et al. (2021, IJCIM), Coelho et al. (2021, CIE), Zhang et al. (2026, RCIM).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RQ2: Enabling Technologies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Results  ·  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96596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DES base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foundation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6312" y="868680"/>
            <a:ext cx="1965960" cy="749808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42032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RFID / PLC 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connection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868680"/>
            <a:ext cx="1965960" cy="7498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optimization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control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48856" y="868680"/>
            <a:ext cx="196596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/ WCS linkage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19072"/>
          <a:ext cx="850392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Studies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Discrete-event / 3D simulation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S2, S3, S4, S5, S12, S13, S14, S15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 for scenario comparison and operational experimentation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IoT, RFID, PLC, sensors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S5, S9, S10, S11, S12, S15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static models into synchronized digital shadows / twins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learning, DRL, GA, knowledge graphs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S1, S6, S7, S8, S14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DTs from descriptive monitoring toward adaptive optimization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WMS/WCS/ERP-related structures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S3, S4, S9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but often partially specified in current studies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20040" y="44805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synthesis from S1–S15; review context from Aretoulaki et al. (2024, IJCIM, R2) and Ferrari et al. (2024, IJAMT, R3).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RQ3: Performance Objectives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Results  ·  13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73152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932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picking &amp; storage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1143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S2, S4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950976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efficiency, outbound loading balance, storage utilization, packing efficiency, throughput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453896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453896"/>
            <a:ext cx="73152" cy="53035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5179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transport / material handling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7282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S5, S12, S13, S15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1536192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utilization, material flow accuracy, lean waste reduction, travel distance, cost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039112"/>
            <a:ext cx="85039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039112"/>
            <a:ext cx="73152" cy="5303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103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AGV/AMR routing &amp; dispatching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S6, S7, S8, S14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1760" y="212140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time, dispatching efficiency, path length, conflict-free routing, throughput, energy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624328"/>
            <a:ext cx="8503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624328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688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warehouse opti-state control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2898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51760" y="2706624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Reconfigurability, opti-state maintenance, cost, energy, resilience under disturbances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209544"/>
            <a:ext cx="8503920" cy="53035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09544"/>
            <a:ext cx="73152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Production-intralogistics sync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3483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S10, S11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51760" y="329184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accuracy, batch completion time, WIP congestion, disturbance response latency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858768"/>
            <a:ext cx="8503920" cy="502920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DTs are evaluated by operational KPIs rather than strategic business metrics; sustainability, human workload, cybersecurity, and lifecycle cost are still underrepresented.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RQ4: Research Maturity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Results  ·  14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196596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/ industrial studies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operational relevance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96312" y="868680"/>
            <a:ext cx="196596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42032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optimization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evidence mode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868680"/>
            <a:ext cx="1965960" cy="749808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18304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lab studies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48856" y="868680"/>
            <a:ext cx="196596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914400"/>
            <a:ext cx="187452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94576" y="1243584"/>
            <a:ext cx="187452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/ roadmap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maturity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Interpretation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029968"/>
            <a:ext cx="850392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029968"/>
            <a:ext cx="64008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" y="212140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optimization studies dominate (9/15), confirming DT-based analysis as the primary mode of evidence. Industrial deployments with closed-loop control are still the minority.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633472"/>
            <a:ext cx="850392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633472"/>
            <a:ext cx="64008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2724912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studies (S9, S10, S11) demonstrate industrial-scale production-warehousing synchronization with real data integration.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236976"/>
            <a:ext cx="8503920" cy="53035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236976"/>
            <a:ext cx="64008" cy="5303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3328416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studies use DRL/RL (S1, S6, S7, S8, S14), signaling a shift from descriptive to prescriptive DT control; V&amp;V and interoperability remain weakly addressed.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877056"/>
            <a:ext cx="8503920" cy="484632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77056"/>
            <a:ext cx="8229600" cy="4846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is transitioning from simulation-based scenario testing toward real-time adaptive DT control — but industrial-scale closed-loop maturity remains limited.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Key Findings per Application Cluster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RQ1–RQ4 Findings  ·  15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850392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AGV/AMR Routing &amp; Dispatching  (S1, S6, S7, S8, S14)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1612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DRL-based DTs outperform rule-based dispatching; physics-accurate simulation enables real-time path planning and conflict-free routing for multi-AGV/AMR systems.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(2024, JMS); Jaoua et al. (2024, IJCIM); Bao et al. (2024); Gao et al. (2024, EAAI); Wu et al. (2023)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801368"/>
            <a:ext cx="850392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01368"/>
            <a:ext cx="8503920" cy="25603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01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Picking &amp; Internal Transport  (S2, S4, S5, S12, S13, S15)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0939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and DES-driven DTs optimize storage assignment, picking-outbound balance, and internal transport; Lean DT paradigm emerges as a framework for waste elimination.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Guerrazzi et al. (2024); Leng et al. (2021, IJCIM); Coelho et al. (2021, CIE); Glatt et al. (2021, JMS); Félix-Cigalat &amp; Domingo (2023)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734056"/>
            <a:ext cx="850392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34056"/>
            <a:ext cx="8503920" cy="2560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340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Production-Intralogistics Synchronization  (S10, S11)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266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Multi-granularity and multi-dimensional DT control frameworks reduce batch WIP congestion and improve production-warehousing coordination under dynamic disturbances.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(2024, IJPR); Su et al. (2025, JMS)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666744"/>
            <a:ext cx="8503920" cy="86868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66744"/>
            <a:ext cx="8503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66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Warehouse Opti-State Control  (S3, S9)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593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DT design (Wu et al.) enables rapid warehouse reconfiguration; Zhang et al. (RCIM) demonstrates opti-state DT sustaining performance under real-time dynamic disturbances.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(2024, IJCIM); Zhang et al. (2026, RCIM)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Key Findings &amp; Interpretation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16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502920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686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9601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 are shifting from decision-support to prescriptive control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12344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studies (Coelho, Pawlewski) used DTs for logistics decision support; recent work (Zhang 2026 RCIM, Su 2025) demonstrates real-time adaptive closed-loop control.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68680"/>
            <a:ext cx="502920" cy="107899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6868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39512" y="9601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DRL are the dual methodological pillars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39512" y="123444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and physics simulation (9 studies) remain the dominant DT foundation; 5 studies integrate DRL (S1, S6, S7, S8, S14), marking a clear methodological shift.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039112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039112"/>
            <a:ext cx="502920" cy="10789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03911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213055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adaptive control is the leading trend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6112" y="240487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DRL-based DTs (Zhang 2024 JMS, Jaoua 2024, Bao 2024, Gao 2024) outperform rule-based dispatching in AGV/AMR routing — the fieldâs strongest evidence cluster.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039112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039112"/>
            <a:ext cx="502920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3911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9512" y="213055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V&amp;V and interoperability remain major gaps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9512" y="2404872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provides formal V&amp;V protocols or reference architectures; WMS/WCS integration is partial in most implementations (S3, S4, S9 as exceptions).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209544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09544"/>
            <a:ext cx="50292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0954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330098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sustainability are major gaps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6112" y="3575304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Drissi Elbouzidi et al. (2025, R5) addresses sustainability; no primary study centers the human operator in DT evaluation design.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209544"/>
            <a:ext cx="4114800" cy="107899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209544"/>
            <a:ext cx="502920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0954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9512" y="330098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Industrial-scale closed-loop deployment is still rare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39512" y="3575304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S9, S10, S11 demonstrate industrial synchronization with real data; most evidence remains simulation-based, limiting generalizability.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Systems Engineering-Oriented DT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· 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4572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68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8686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racks, conveyors, AGVs/AMRs, workers, docks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0" cy="548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380744"/>
            <a:ext cx="83210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380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13807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RFID, barcode, IoT sensors, PLCs, WMS logs, robot telemetry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34840" y="1837944"/>
            <a:ext cx="0" cy="548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92808"/>
            <a:ext cx="8138160" cy="457200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892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0" y="18928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streaming, APIs, databases, semantic mapping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34840" y="2350008"/>
            <a:ext cx="0" cy="548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7955280" cy="4572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4048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34640" y="2404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DES, 3D simulation, process/resource/spatial models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2862072"/>
            <a:ext cx="0" cy="548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16936"/>
            <a:ext cx="77724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9169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control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0" y="29169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optimization, routing, dispatching, adaptive rescheduling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34840" y="3374136"/>
            <a:ext cx="0" cy="548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429000"/>
            <a:ext cx="75895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lifecycle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0" y="3429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cybersecurity, validation, traceability, requirements, maintenance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005072"/>
            <a:ext cx="8503920" cy="457200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implication: a mature warehouse DT must be traceable, validated, interoperable, secure, usable, and embedded across lifecycle stages — not only a visualization or simulation model.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and Future Directions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 ·  18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3776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Limitation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Research Direction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synchronization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9/15 studies are simulation-based; only 3 show industrial real-time data integration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pipelines connecting WMS/WCS to physics-accurate simulation models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&amp;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primary study defines formal V&amp;V; Ferrari et al. (R3) proposes AS/RS model 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accuracy, scenario validity, confidence thresholds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 coupling present in S3, S4, S9 only; no full WCS/ERP integration demonstrated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DT reference architecture with standardized WMS/WCS interfaces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primary study evaluates human-in-the-loop or operator trust in DT-driven decisions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Human-centered DT evaluation: usability, trust calibration, and decision authority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&amp; governance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IoT and data integration raises cybersecurity and privacy risks; not addressed in corpus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control, auditability, traceability, privacy-by-design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metrics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Drissi Elbouzidi et al. (R5) addresses carbon accounting; S9 includes energy as KPI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energy, emission, and resilience KPIs across warehouse DT implementations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Threats to Validity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19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68680"/>
            <a:ext cx="594360" cy="6035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6868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92354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Abstract-level screening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is coursework-level and based primarily on bibliographic metadata and accessible abstract-level evidence.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545336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545336"/>
            <a:ext cx="594360" cy="603504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545336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160020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scope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18196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used Scopus as the single database (117 articles). Multi-database replication (WoS, IEEE Xplore, ACM DL) would improve completeness.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21992"/>
            <a:ext cx="8503920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221992"/>
            <a:ext cx="594360" cy="60350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2199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27685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5840" y="2496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studies differ in domains, methods, outcomes, validation depth and maturity, limiting direct comparison.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898648"/>
            <a:ext cx="8503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898648"/>
            <a:ext cx="594360" cy="603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98648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295351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 quality scoring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31729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may change after detailed full-text appraisal of every study.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75304"/>
            <a:ext cx="8503920" cy="603504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75304"/>
            <a:ext cx="59436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75304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3016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05840" y="38496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included studies address production-logistics synchronization rather than pure warehouse control, but support intralogistics SE insights.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Implications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·  20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96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Scopus-based review of 15 primary studies confirms that DTs improve intralogistics through simulation-driven scenario testing (9 studies), AI-enhanced AGV/AMR dispatching (5 DRL studies), and production-warehousing synchronization (3 industrial studies). Evidence quality is predominantly moderate-to-strong, but industrial closed-loop deployment at scale remains rare.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1847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Practitioners &amp; Managers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835658"/>
            <a:ext cx="8412480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847088"/>
            <a:ext cx="84124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1847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2176272"/>
            <a:ext cx="8238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industrial studies with production-connected DTs measuring operational and economic impact.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2578608"/>
            <a:ext cx="8238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V&amp;V protocols and open reference architectures enabling WMS/WCS/AGV DT interoperability.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29768" y="2980944"/>
            <a:ext cx="8238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DT design for trust, usability, and decision authority.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547872"/>
            <a:ext cx="8503920" cy="566928"/>
          </a:xfrm>
          <a:prstGeom prst="rect">
            <a:avLst/>
          </a:prstGeom>
          <a:solidFill>
            <a:srgbClr val="E8EEF8"/>
          </a:solidFill>
          <a:ln w="9525">
            <a:solidFill>
              <a:srgbClr val="C5D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75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 &amp; Reporting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785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using a transparent systematic review structure: RQs, PICOS, search logic, selection criteria, PRISMA flow, data extraction, quality appraisal, synthesis, limitations, and research implications.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Primary Studies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·  21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877824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studies cited in the synthesis (S1–S15)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152144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52144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5214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18872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(2024). AGV dispatching and routing integration via DT with deep reinforcement learning. Journal of Manufacturing Systems. DOI: 10.1016/j.jmsy.2023.12.008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1545336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545336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5453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15819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Guerrazzi et al. (2024). Balancing picking and outbound loading efficiency in an SBS/RS through a digital twin. Flexible Services &amp; Manufacturing Journal. DOI: 10.1007/s10696-024-09554-w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938528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938528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3852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197510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(2024). A digital twin-based modularized design approach for smart warehouses. Int. J. Computer Integrated Manufacturing. DOI: 10.1080/0951192X.2023.2278100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331720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331720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317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236829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 et al. (2021). Digital twin-driven joint optimisation of packing and storage assignment in large-scale AS/RS. IJCIM. DOI: 10.1080/0951192X.2019.1667032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724912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724912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276148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Coelho et al. (2021). Simulation-based decision support tool for in-house logistics: the basis for a DT. Computers &amp; Industrial Engineering. DOI: 10.1016/j.cie.2020.107094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118104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118104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181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" y="3154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Jaoua et al. (2024). DT-based reinforcement learning framework: application to AMR dispatching. IJCIM. DOI: 10.1080/0951192X.2024.2314787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3511296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511296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112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" y="35478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et al. (2024). A DT-driven dynamic path planning approach for multiple AGVs. Proc. IMechE Part B. DOI: 10.1177/09544054231180513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3904488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904488"/>
            <a:ext cx="43891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9044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394106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et al. (2024). A digital twin-based decision support approach for AGV scheduling. Engineering Applications of AI. DOI: 10.1016/j.engappai.2023.107687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54864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0972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Primary and Supporting Studies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5D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·  22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03920" y="48508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896112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896112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961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93268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(2026). DT driven opti-state control for smart warehousing. Robotics &amp; Computer-Integrated Manufacturing. DOI: 10.1016/j.rcim.2025.103099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289304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289304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2893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822960" y="13258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(2024). DT multi-granularity synchronisation for production-warehousing. Int. J. Production Research. DOI: 10.1080/00207543.2024.2408671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682496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682496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6824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22960" y="17190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 (2025). DT multi-dimensional control for dualistic production-intralogistics synchronisation. JMS. DOI: 10.1016/j.jmsy.2025.07.020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075688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075688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0756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22960" y="2112264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Glatt et al. (2021). Modeling and implementation of a DT of material flows via physics simulation. JMS. DOI: 10.1016/j.jmsy.2020.04.015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468880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2468880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46888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22960" y="250545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Pawlewski et al. (2021). Digital twin lean intralogistics: research implications. Applied Sciences. DOI: 10.3390/app11041495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862072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862072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6207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22960" y="289864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 et al. (2023). Dynamic scheduling and optimization of AGV in factory logistics via DT. Applied Sciences. DOI: 10.3390/app13031762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255264"/>
            <a:ext cx="8503920" cy="347472"/>
          </a:xfrm>
          <a:prstGeom prst="rect">
            <a:avLst/>
          </a:prstGeom>
          <a:solidFill>
            <a:srgbClr val="E8EE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255264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25526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822960" y="329184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Félix-Cigalat &amp; Domingo (2023). Towards a DT warehouse through optimization of internal transport. Applied Sciences. DOI: 10.3390/app13084652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3648456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648456"/>
            <a:ext cx="438912" cy="347472"/>
          </a:xfrm>
          <a:prstGeom prst="rect">
            <a:avLst/>
          </a:prstGeom>
          <a:solidFill>
            <a:srgbClr val="2A4F8A"/>
          </a:solidFill>
          <a:ln w="12700">
            <a:solidFill>
              <a:srgbClr val="2A4F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64845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R1–R5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22960" y="368503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Stączek et al. (2021) Sensors | R2: Aretoulaki et al. (2024) IJCIM | R3: Ferrari et al. (2024) IJAMT | R4: Lee et al. (2026) IJPR | R5: Drissi Elbouzidi et al. (2025) Cleaner Logistics &amp; Supply Chain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424281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Study codes (S1–S15 / R1–R5) are used on result slides to keep academic references visible without overcrowding the presentation.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005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7490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are welcome.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2240280"/>
            <a:ext cx="5074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3774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and Warehouse Control Systems: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Literature Review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Oğuz Kaan Tuğlu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26464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Systems Engineering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Informatics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Hacettepe University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SEN601 Research Techniques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Publication Ethics · May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265176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ogzknttgl@gmail.com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473659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Twin-Enabled Intralogistics — Systematic Review  |  SEN601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4210</Words>
  <Application>Microsoft Macintosh PowerPoint</Application>
  <PresentationFormat>On-screen Show (16:9)</PresentationFormat>
  <Paragraphs>622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Twin-Enabled Intralogistics — Systematic Review</dc:title>
  <dc:subject>PptxGenJS Presentation</dc:subject>
  <dc:creator>Oğuz Kaan Tuğlu</dc:creator>
  <cp:lastModifiedBy>Microsoft Office User</cp:lastModifiedBy>
  <cp:revision>8</cp:revision>
  <dcterms:created xsi:type="dcterms:W3CDTF">2026-05-19T08:10:56Z</dcterms:created>
  <dcterms:modified xsi:type="dcterms:W3CDTF">2026-06-07T18:59:34Z</dcterms:modified>
</cp:coreProperties>
</file>